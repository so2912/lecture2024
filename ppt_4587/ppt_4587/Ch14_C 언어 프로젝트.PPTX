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56" r:id="rId2"/>
    <p:sldId id="257" r:id="rId3"/>
    <p:sldId id="259" r:id="rId4"/>
    <p:sldId id="260" r:id="rId5"/>
    <p:sldId id="459" r:id="rId6"/>
    <p:sldId id="490" r:id="rId7"/>
    <p:sldId id="491" r:id="rId8"/>
    <p:sldId id="493" r:id="rId9"/>
    <p:sldId id="495" r:id="rId10"/>
    <p:sldId id="496" r:id="rId11"/>
    <p:sldId id="498" r:id="rId12"/>
    <p:sldId id="497" r:id="rId13"/>
    <p:sldId id="500" r:id="rId14"/>
    <p:sldId id="501" r:id="rId15"/>
    <p:sldId id="502" r:id="rId16"/>
    <p:sldId id="504" r:id="rId17"/>
    <p:sldId id="261" r:id="rId18"/>
    <p:sldId id="273" r:id="rId19"/>
    <p:sldId id="505" r:id="rId20"/>
    <p:sldId id="506" r:id="rId21"/>
    <p:sldId id="507" r:id="rId22"/>
    <p:sldId id="508" r:id="rId23"/>
    <p:sldId id="287" r:id="rId24"/>
    <p:sldId id="514" r:id="rId25"/>
    <p:sldId id="288" r:id="rId26"/>
    <p:sldId id="510" r:id="rId27"/>
    <p:sldId id="511" r:id="rId28"/>
    <p:sldId id="512" r:id="rId29"/>
    <p:sldId id="513" r:id="rId30"/>
    <p:sldId id="267" r:id="rId3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190">
          <p15:clr>
            <a:srgbClr val="A4A3A4"/>
          </p15:clr>
        </p15:guide>
        <p15:guide id="4" pos="288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4" roundtripDataSignature="AMtx7minI3MDKZStEEFPCD0pd8mEwA/T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CC"/>
    <a:srgbClr val="00FFCC"/>
    <a:srgbClr val="FDE2CB"/>
    <a:srgbClr val="F7F47C"/>
    <a:srgbClr val="FBFBD1"/>
    <a:srgbClr val="9D87B7"/>
    <a:srgbClr val="B4A4C8"/>
    <a:srgbClr val="8AC9DA"/>
    <a:srgbClr val="F1D8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70F0E0B-0B7A-4AD7-8269-C2576374BDFF}">
  <a:tblStyle styleId="{270F0E0B-0B7A-4AD7-8269-C2576374BDFF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82" autoAdjust="0"/>
    <p:restoredTop sz="94464" autoAdjust="0"/>
  </p:normalViewPr>
  <p:slideViewPr>
    <p:cSldViewPr snapToGrid="0">
      <p:cViewPr varScale="1">
        <p:scale>
          <a:sx n="105" d="100"/>
          <a:sy n="105" d="100"/>
        </p:scale>
        <p:origin x="1980" y="114"/>
      </p:cViewPr>
      <p:guideLst>
        <p:guide orient="horz" pos="2160"/>
        <p:guide pos="2880"/>
        <p:guide orient="horz" pos="2190"/>
        <p:guide pos="288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9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94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Relationship Id="rId98" Type="http://schemas.openxmlformats.org/officeDocument/2006/relationships/tableStyles" Target="tableStyles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F64742-9361-41AF-BEB5-9C4A02623FAB}" type="datetimeFigureOut">
              <a:rPr lang="ko-KR" altLang="en-US" smtClean="0"/>
              <a:t>2022-02-22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A8AF58-5242-4D16-97DC-D8C5673ED1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236044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44088840"/>
      </p:ext>
    </p:extLst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312535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슬라이드1">
  <p:cSld name="1_제목 슬라이드1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/>
          <p:nvPr/>
        </p:nvSpPr>
        <p:spPr>
          <a:xfrm>
            <a:off x="0" y="5373216"/>
            <a:ext cx="9144000" cy="1484784"/>
          </a:xfrm>
          <a:prstGeom prst="rect">
            <a:avLst/>
          </a:prstGeom>
          <a:solidFill>
            <a:srgbClr val="E524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7" name="Google Shape;17;p14" descr="C:\Users\김현용\Desktop\제호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81257" y="320688"/>
            <a:ext cx="1800000" cy="3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82894" y="329071"/>
            <a:ext cx="3978211" cy="4684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목차">
  <p:cSld name="목차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/>
          <p:nvPr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 err="1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목차</a:t>
            </a:r>
            <a:endParaRPr dirty="0"/>
          </a:p>
        </p:txBody>
      </p:sp>
      <p:sp>
        <p:nvSpPr>
          <p:cNvPr id="21" name="Google Shape;21;p15"/>
          <p:cNvSpPr txBox="1">
            <a:spLocks noGrp="1"/>
          </p:cNvSpPr>
          <p:nvPr>
            <p:ph type="body" idx="1"/>
          </p:nvPr>
        </p:nvSpPr>
        <p:spPr>
          <a:xfrm>
            <a:off x="755576" y="1851323"/>
            <a:ext cx="7615014" cy="4104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AutoNum type="arabicPeriod"/>
              <a:defRPr sz="2000" b="1">
                <a:solidFill>
                  <a:schemeClr val="dk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5"/>
          <p:cNvSpPr/>
          <p:nvPr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사용자 지정 레이아웃">
  <p:cSld name="2_사용자 지정 레이아웃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/>
          <p:nvPr/>
        </p:nvSpPr>
        <p:spPr>
          <a:xfrm>
            <a:off x="323057" y="404813"/>
            <a:ext cx="8497887" cy="6048375"/>
          </a:xfrm>
          <a:prstGeom prst="roundRect">
            <a:avLst>
              <a:gd name="adj" fmla="val 5013"/>
            </a:avLst>
          </a:prstGeom>
          <a:solidFill>
            <a:srgbClr val="F29B8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999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" name="Google Shape;29;p17"/>
          <p:cNvSpPr/>
          <p:nvPr/>
        </p:nvSpPr>
        <p:spPr>
          <a:xfrm>
            <a:off x="719101" y="341260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" name="Google Shape;30;p17"/>
          <p:cNvSpPr/>
          <p:nvPr/>
        </p:nvSpPr>
        <p:spPr>
          <a:xfrm>
            <a:off x="719101" y="2348880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" name="Google Shape;31;p17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Malgun Gothic"/>
              <a:buNone/>
              <a:defRPr sz="4800" b="1">
                <a:solidFill>
                  <a:schemeClr val="lt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body" idx="2"/>
          </p:nvPr>
        </p:nvSpPr>
        <p:spPr>
          <a:xfrm>
            <a:off x="719572" y="2348880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Malgun Gothic"/>
              <a:buNone/>
              <a:defRPr sz="5400" b="1">
                <a:solidFill>
                  <a:schemeClr val="lt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섹션 목차">
  <p:cSld name="섹션 목차">
    <p:bg>
      <p:bgPr>
        <a:solidFill>
          <a:schemeClr val="lt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6840760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5" name="Google Shape;35;p18"/>
          <p:cNvCxnSpPr/>
          <p:nvPr/>
        </p:nvCxnSpPr>
        <p:spPr>
          <a:xfrm>
            <a:off x="2124744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" name="Google Shape;36;p18"/>
          <p:cNvCxnSpPr/>
          <p:nvPr/>
        </p:nvCxnSpPr>
        <p:spPr>
          <a:xfrm>
            <a:off x="4464496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8"/>
          <p:cNvCxnSpPr/>
          <p:nvPr/>
        </p:nvCxnSpPr>
        <p:spPr>
          <a:xfrm>
            <a:off x="6804248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8"/>
          <p:cNvCxnSpPr/>
          <p:nvPr/>
        </p:nvCxnSpPr>
        <p:spPr>
          <a:xfrm>
            <a:off x="0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" name="Google Shape;39;p18"/>
          <p:cNvSpPr txBox="1">
            <a:spLocks noGrp="1"/>
          </p:cNvSpPr>
          <p:nvPr>
            <p:ph type="body" idx="1"/>
          </p:nvPr>
        </p:nvSpPr>
        <p:spPr>
          <a:xfrm>
            <a:off x="539552" y="1196752"/>
            <a:ext cx="8208912" cy="54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2800"/>
              <a:buFont typeface="Noto Sans Symbols"/>
              <a:buChar char="■"/>
              <a:defRPr sz="2800" b="1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rgbClr val="F29B87"/>
              </a:buClr>
              <a:buSzPts val="2400"/>
              <a:buFont typeface="Noto Sans Symbols"/>
              <a:buChar char="▪"/>
              <a:defRPr sz="2400"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/>
            </a:lvl3pPr>
            <a:lvl4pPr marL="1828800" lvl="3" indent="-326136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536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/>
          <p:nvPr/>
        </p:nvSpPr>
        <p:spPr>
          <a:xfrm>
            <a:off x="8553698" y="6525344"/>
            <a:ext cx="648072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/ 30</a:t>
            </a:r>
            <a:endParaRPr sz="1600" b="0" i="0" u="none" strike="noStrike" cap="none" dirty="0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41;p18"/>
          <p:cNvSpPr txBox="1"/>
          <p:nvPr/>
        </p:nvSpPr>
        <p:spPr>
          <a:xfrm>
            <a:off x="8244408" y="6525344"/>
            <a:ext cx="648072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600" b="0" i="0" u="none" strike="noStrike" cap="none">
              <a:solidFill>
                <a:srgbClr val="7F7F7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끝">
  <p:cSld name="1_끝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9"/>
          <p:cNvSpPr/>
          <p:nvPr/>
        </p:nvSpPr>
        <p:spPr>
          <a:xfrm>
            <a:off x="-1" y="6165304"/>
            <a:ext cx="9144001" cy="692696"/>
          </a:xfrm>
          <a:prstGeom prst="rect">
            <a:avLst/>
          </a:prstGeom>
          <a:solidFill>
            <a:srgbClr val="E524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" name="Google Shape;44;p19"/>
          <p:cNvSpPr/>
          <p:nvPr/>
        </p:nvSpPr>
        <p:spPr>
          <a:xfrm>
            <a:off x="0" y="6092750"/>
            <a:ext cx="9144000" cy="72554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5" name="Google Shape;45;p19" descr="C:\Users\김현용\Desktop\제호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020272" y="5631234"/>
            <a:ext cx="1905001" cy="317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9"/>
          <p:cNvSpPr txBox="1"/>
          <p:nvPr/>
        </p:nvSpPr>
        <p:spPr>
          <a:xfrm>
            <a:off x="3084944" y="6309320"/>
            <a:ext cx="283282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Copyright© 2021 Hanbit Academy, Inc.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rights reserved.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9"/>
          <p:cNvSpPr txBox="1"/>
          <p:nvPr/>
        </p:nvSpPr>
        <p:spPr>
          <a:xfrm>
            <a:off x="2933818" y="2492896"/>
            <a:ext cx="327636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E5242C"/>
                </a:solidFill>
                <a:latin typeface="Verdana"/>
                <a:ea typeface="Verdana"/>
                <a:cs typeface="Verdana"/>
                <a:sym typeface="Verdana"/>
              </a:rPr>
              <a:t>Thank you!</a:t>
            </a:r>
            <a:endParaRPr sz="4000" b="1">
              <a:solidFill>
                <a:srgbClr val="E5242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저작권">
  <p:cSld name="1_저작권">
    <p:bg>
      <p:bgPr>
        <a:solidFill>
          <a:schemeClr val="lt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/>
          <p:nvPr/>
        </p:nvSpPr>
        <p:spPr>
          <a:xfrm>
            <a:off x="612452" y="981075"/>
            <a:ext cx="799147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난생처음 C 언어 프로그래밍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0"/>
          <p:cNvSpPr txBox="1"/>
          <p:nvPr/>
        </p:nvSpPr>
        <p:spPr>
          <a:xfrm>
            <a:off x="612453" y="1700213"/>
            <a:ext cx="7991475" cy="1446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>
              <a:solidFill>
                <a:srgbClr val="22222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0C0C0C"/>
                </a:solidFill>
                <a:latin typeface="Malgun Gothic"/>
                <a:ea typeface="Malgun Gothic"/>
                <a:cs typeface="Malgun Gothic"/>
                <a:sym typeface="Malgun Gothic"/>
              </a:rPr>
              <a:t>[강의교안 이용 안내]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 강의교안의 저작권은 한빛아카데미㈜에 있습니다.</a:t>
            </a:r>
            <a:r>
              <a:rPr lang="en-US"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sz="1100">
              <a:solidFill>
                <a:srgbClr val="22222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Arial"/>
              <a:buChar char="•"/>
            </a:pPr>
            <a:r>
              <a:rPr lang="en-US" sz="1100" u="sng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자료를 무단으로 전제하거나 배포할 경우 저작권법 136조에 의거하여 최고 5년 이하의 징역 또는 5천만원 이하의 벌금에 처할 수 있고 이를 병과(倂科)할 수도 있습니다.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" name="Google Shape;51;p20"/>
          <p:cNvSpPr/>
          <p:nvPr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본문2">
  <p:cSld name="본문2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1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560840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1"/>
          <p:cNvSpPr txBox="1">
            <a:spLocks noGrp="1"/>
          </p:cNvSpPr>
          <p:nvPr>
            <p:ph type="body" idx="1"/>
          </p:nvPr>
        </p:nvSpPr>
        <p:spPr>
          <a:xfrm>
            <a:off x="539552" y="1196752"/>
            <a:ext cx="3924944" cy="54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1600"/>
              <a:buFont typeface="Noto Sans Symbols"/>
              <a:buChar char="■"/>
              <a:defRPr sz="1600" b="1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  <a:defRPr sz="1200"/>
            </a:lvl2pPr>
            <a:lvl3pPr marL="1371600" lvl="2" indent="-3048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Char char="•"/>
              <a:defRPr sz="1200"/>
            </a:lvl3pPr>
            <a:lvl4pPr marL="1828800" lvl="3" indent="-295656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56"/>
              <a:buChar char="–"/>
              <a:defRPr sz="1100"/>
            </a:lvl4pPr>
            <a:lvl5pPr marL="2286000" lvl="4" indent="-2984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21"/>
          <p:cNvSpPr txBox="1">
            <a:spLocks noGrp="1"/>
          </p:cNvSpPr>
          <p:nvPr>
            <p:ph type="body" idx="2"/>
          </p:nvPr>
        </p:nvSpPr>
        <p:spPr>
          <a:xfrm>
            <a:off x="4644008" y="1196752"/>
            <a:ext cx="3924944" cy="54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0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242C"/>
              </a:buClr>
              <a:buSzPts val="1600"/>
              <a:buFont typeface="Noto Sans Symbols"/>
              <a:buChar char="■"/>
              <a:defRPr sz="1600" b="1"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  <a:defRPr sz="1200"/>
            </a:lvl2pPr>
            <a:lvl3pPr marL="1371600" lvl="2" indent="-304800" algn="l"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Char char="•"/>
              <a:defRPr sz="1200"/>
            </a:lvl3pPr>
            <a:lvl4pPr marL="1828800" lvl="3" indent="-295656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56"/>
              <a:buChar char="–"/>
              <a:defRPr sz="1100"/>
            </a:lvl4pPr>
            <a:lvl5pPr marL="2286000" lvl="4" indent="-2984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56" name="Google Shape;56;p21" descr="쿡북로고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68344" y="485909"/>
            <a:ext cx="1216025" cy="3222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" name="Google Shape;57;p21"/>
          <p:cNvCxnSpPr/>
          <p:nvPr/>
        </p:nvCxnSpPr>
        <p:spPr>
          <a:xfrm>
            <a:off x="2124744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8" name="Google Shape;58;p21"/>
          <p:cNvCxnSpPr/>
          <p:nvPr/>
        </p:nvCxnSpPr>
        <p:spPr>
          <a:xfrm>
            <a:off x="4464496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" name="Google Shape;59;p21"/>
          <p:cNvCxnSpPr/>
          <p:nvPr/>
        </p:nvCxnSpPr>
        <p:spPr>
          <a:xfrm>
            <a:off x="6804248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" name="Google Shape;60;p21"/>
          <p:cNvCxnSpPr/>
          <p:nvPr/>
        </p:nvCxnSpPr>
        <p:spPr>
          <a:xfrm>
            <a:off x="0" y="908051"/>
            <a:ext cx="2339752" cy="0"/>
          </a:xfrm>
          <a:prstGeom prst="straightConnector1">
            <a:avLst/>
          </a:prstGeom>
          <a:noFill/>
          <a:ln w="762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251520" y="274638"/>
            <a:ext cx="8712968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251520" y="1600200"/>
            <a:ext cx="8712968" cy="4853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"/>
          <p:cNvSpPr txBox="1">
            <a:spLocks noGrp="1"/>
          </p:cNvSpPr>
          <p:nvPr>
            <p:ph type="title" idx="4294967295"/>
          </p:nvPr>
        </p:nvSpPr>
        <p:spPr>
          <a:xfrm>
            <a:off x="395536" y="6173660"/>
            <a:ext cx="8306320" cy="321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lt1"/>
                </a:solidFill>
              </a:rPr>
              <a:t>Chapter 14. </a:t>
            </a:r>
            <a:r>
              <a:rPr lang="en-US" altLang="ko-KR" sz="3600" b="1" dirty="0">
                <a:solidFill>
                  <a:schemeClr val="lt1"/>
                </a:solidFill>
              </a:rPr>
              <a:t>C </a:t>
            </a:r>
            <a:r>
              <a:rPr lang="ko-KR" altLang="en-US" sz="3600" b="1" dirty="0">
                <a:solidFill>
                  <a:schemeClr val="lt1"/>
                </a:solidFill>
              </a:rPr>
              <a:t>언어 프로젝트</a:t>
            </a:r>
            <a:endParaRPr dirty="0"/>
          </a:p>
        </p:txBody>
      </p:sp>
      <p:sp>
        <p:nvSpPr>
          <p:cNvPr id="66" name="Google Shape;66;p1"/>
          <p:cNvSpPr txBox="1"/>
          <p:nvPr/>
        </p:nvSpPr>
        <p:spPr>
          <a:xfrm>
            <a:off x="418840" y="5517232"/>
            <a:ext cx="8306320" cy="625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Part 03. C </a:t>
            </a:r>
            <a:r>
              <a:rPr lang="en-US" sz="2000" b="1" i="0" u="none" strike="noStrike" cap="none" dirty="0" err="1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언어</a:t>
            </a:r>
            <a:r>
              <a:rPr lang="en-US" sz="2000" b="1" i="0" u="none" strike="noStrike" cap="none" dirty="0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2000" b="1" dirty="0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심화</a:t>
            </a:r>
            <a:r>
              <a:rPr lang="en-US" sz="2000" b="1" i="0" u="none" strike="noStrike" cap="none" dirty="0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2000" b="1" i="0" u="none" strike="noStrike" cap="none" dirty="0" err="1">
                <a:solidFill>
                  <a:srgbClr val="D8D8D8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"/>
          <p:cNvSpPr txBox="1"/>
          <p:nvPr/>
        </p:nvSpPr>
        <p:spPr>
          <a:xfrm>
            <a:off x="785292" y="908720"/>
            <a:ext cx="6739458" cy="504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lang="en-US"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lang="en-US" sz="20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lang="en-US"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endParaRPr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457200">
              <a:lnSpc>
                <a:spcPct val="150000"/>
              </a:lnSpc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달력 출력 프로그램</a:t>
            </a:r>
            <a:endParaRPr lang="en-US" altLang="ko-KR" sz="20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457200">
              <a:lnSpc>
                <a:spcPct val="150000"/>
              </a:lnSpc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ko-KR" altLang="en-US" sz="20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문자열 검색 프로그램</a:t>
            </a:r>
            <a:endParaRPr lang="en-US" altLang="ko-KR" sz="20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AutoNum type="arabicPeriod"/>
            </a:pPr>
            <a:r>
              <a:rPr lang="ko-KR" altLang="en-US" sz="20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로또</a:t>
            </a:r>
            <a:r>
              <a:rPr lang="ko-KR" altLang="en-US" sz="2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번호 생성 프로그램</a:t>
            </a:r>
            <a:endParaRPr lang="en-US" altLang="ko-KR" sz="20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algun Gothic"/>
              <a:buNone/>
            </a:pPr>
            <a:r>
              <a:rPr lang="ko-KR" altLang="en-US" dirty="0"/>
              <a:t>달력 출력 프로그램</a:t>
            </a:r>
            <a:endParaRPr dirty="0"/>
          </a:p>
        </p:txBody>
      </p:sp>
      <p:sp>
        <p:nvSpPr>
          <p:cNvPr id="82" name="Google Shape;82;p4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/>
              <a:t>01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달력 출력 프로그램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01501"/>
            <a:ext cx="8424936" cy="5251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/>
            </a:pPr>
            <a:r>
              <a:rPr lang="ko-KR" altLang="en-US" sz="2400" dirty="0"/>
              <a:t>그레고리력</a:t>
            </a:r>
            <a:endParaRPr lang="en-US" altLang="ko-KR" b="1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b="1" dirty="0"/>
              <a:t>달력 출력 프로그램</a:t>
            </a:r>
            <a:endParaRPr lang="en-US" altLang="ko-KR" b="1" dirty="0"/>
          </a:p>
          <a:p>
            <a:pPr marL="1190625" lvl="3" indent="-285750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  <a:buSzPts val="1800"/>
              <a:buFont typeface="Malgun Gothic" panose="020B0503020000020004" pitchFamily="50" charset="-127"/>
              <a:buChar char="→"/>
            </a:pPr>
            <a:r>
              <a:rPr lang="ko-KR" altLang="en-US" dirty="0"/>
              <a:t>특정 연도와 월을 입력하면 달력을 출력하는 프로그램</a:t>
            </a:r>
            <a:endParaRPr lang="en-US" altLang="ko-KR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b="1" dirty="0"/>
              <a:t>그레고리력의 개념</a:t>
            </a:r>
            <a:endParaRPr lang="en-US" altLang="ko-KR" b="1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/>
              <a:t>1</a:t>
            </a:r>
            <a:r>
              <a:rPr lang="ko-KR" altLang="en-US" dirty="0"/>
              <a:t>년을 </a:t>
            </a:r>
            <a:r>
              <a:rPr lang="en-US" altLang="ko-KR" dirty="0"/>
              <a:t>365.2425</a:t>
            </a:r>
            <a:r>
              <a:rPr lang="ko-KR" altLang="en-US" dirty="0"/>
              <a:t>일로 규정함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/>
              <a:t>1</a:t>
            </a:r>
            <a:r>
              <a:rPr lang="ko-KR" altLang="en-US" dirty="0"/>
              <a:t>년을 </a:t>
            </a:r>
            <a:r>
              <a:rPr lang="en-US" altLang="ko-KR" dirty="0"/>
              <a:t>365.25</a:t>
            </a:r>
            <a:r>
              <a:rPr lang="ko-KR" altLang="en-US" dirty="0"/>
              <a:t>일로 규정하는 율리우스력을 보완하여 계승함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ko-KR" altLang="en-US" dirty="0"/>
          </a:p>
        </p:txBody>
      </p:sp>
      <p:pic>
        <p:nvPicPr>
          <p:cNvPr id="1026" name="Picture 2" descr="C:\Users\변소현\Desktop\난생처음 C 언어 프로그래밍\그림\Ch14\그림 14-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1220" y="4163949"/>
            <a:ext cx="5181600" cy="118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달력 출력 프로그램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01502"/>
            <a:ext cx="8424936" cy="4651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2"/>
            </a:pPr>
            <a:r>
              <a:rPr lang="en-US" altLang="ko-KR" sz="2400" dirty="0"/>
              <a:t>stuck tm</a:t>
            </a:r>
            <a:r>
              <a:rPr lang="ko-KR" altLang="en-US" sz="2400" dirty="0"/>
              <a:t>과 </a:t>
            </a:r>
            <a:r>
              <a:rPr lang="en-US" altLang="ko-KR" sz="2400" dirty="0" err="1"/>
              <a:t>mktime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b="1" dirty="0"/>
              <a:t>구조체 </a:t>
            </a:r>
            <a:r>
              <a:rPr lang="en-US" altLang="ko-KR" b="1" dirty="0"/>
              <a:t>tm</a:t>
            </a:r>
            <a:endParaRPr lang="en-US" sz="500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그레고리력 기준의 날짜와 시간을 표현하기 위한 타입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멤버는 기본적인 연</a:t>
            </a:r>
            <a:r>
              <a:rPr lang="en-US" altLang="ko-KR" dirty="0"/>
              <a:t>, </a:t>
            </a:r>
            <a:r>
              <a:rPr lang="ko-KR" altLang="en-US" dirty="0"/>
              <a:t>월</a:t>
            </a:r>
            <a:r>
              <a:rPr lang="en-US" altLang="ko-KR" dirty="0"/>
              <a:t>, </a:t>
            </a:r>
            <a:r>
              <a:rPr lang="ko-KR" altLang="en-US" dirty="0"/>
              <a:t>일</a:t>
            </a:r>
            <a:r>
              <a:rPr lang="en-US" altLang="ko-KR" dirty="0"/>
              <a:t>, </a:t>
            </a:r>
            <a:r>
              <a:rPr lang="ko-KR" altLang="en-US" dirty="0"/>
              <a:t>시</a:t>
            </a:r>
            <a:r>
              <a:rPr lang="en-US" altLang="ko-KR" dirty="0"/>
              <a:t>, </a:t>
            </a:r>
            <a:r>
              <a:rPr lang="ko-KR" altLang="en-US" dirty="0"/>
              <a:t>분</a:t>
            </a:r>
            <a:r>
              <a:rPr lang="en-US" altLang="ko-KR" dirty="0"/>
              <a:t>, </a:t>
            </a:r>
            <a:r>
              <a:rPr lang="ko-KR" altLang="en-US" dirty="0"/>
              <a:t>초가 있으며 요일과 연중 날짜도 표현 가능함</a:t>
            </a:r>
            <a:endParaRPr lang="en-US" altLang="ko-K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963" y="3181350"/>
            <a:ext cx="6990674" cy="3241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2401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달력 출력 프로그램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01502"/>
            <a:ext cx="8424936" cy="4651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2"/>
            </a:pPr>
            <a:r>
              <a:rPr lang="en-US" altLang="ko-KR" sz="2400" dirty="0"/>
              <a:t>stuck tm</a:t>
            </a:r>
            <a:r>
              <a:rPr lang="ko-KR" altLang="en-US" sz="2400" dirty="0"/>
              <a:t>과 </a:t>
            </a:r>
            <a:r>
              <a:rPr lang="en-US" altLang="ko-KR" sz="2400" dirty="0" err="1"/>
              <a:t>mktime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en-US" altLang="ko-KR" b="1" dirty="0" err="1"/>
              <a:t>mktime</a:t>
            </a:r>
            <a:endParaRPr lang="en-US" sz="500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/>
              <a:t>UTC(</a:t>
            </a:r>
            <a:r>
              <a:rPr lang="ko-KR" altLang="en-US" dirty="0"/>
              <a:t>협정 </a:t>
            </a:r>
            <a:r>
              <a:rPr lang="ko-KR" altLang="en-US" dirty="0" err="1"/>
              <a:t>세계표준시</a:t>
            </a:r>
            <a:r>
              <a:rPr lang="en-US" altLang="ko-KR" dirty="0"/>
              <a:t>) </a:t>
            </a:r>
            <a:r>
              <a:rPr lang="ko-KR" altLang="en-US" dirty="0"/>
              <a:t>기준으로 </a:t>
            </a:r>
            <a:r>
              <a:rPr lang="en-US" altLang="ko-KR" dirty="0"/>
              <a:t>1970</a:t>
            </a:r>
            <a:r>
              <a:rPr lang="ko-KR" altLang="en-US" dirty="0"/>
              <a:t>년 </a:t>
            </a:r>
            <a:r>
              <a:rPr lang="en-US" altLang="ko-KR" dirty="0"/>
              <a:t>1</a:t>
            </a:r>
            <a:r>
              <a:rPr lang="ko-KR" altLang="en-US" dirty="0"/>
              <a:t>월 </a:t>
            </a:r>
            <a:r>
              <a:rPr lang="en-US" altLang="ko-KR" dirty="0"/>
              <a:t>1</a:t>
            </a:r>
            <a:r>
              <a:rPr lang="ko-KR" altLang="en-US" dirty="0"/>
              <a:t>일 </a:t>
            </a:r>
            <a:r>
              <a:rPr lang="en-US" altLang="ko-KR" dirty="0"/>
              <a:t>0</a:t>
            </a:r>
            <a:r>
              <a:rPr lang="ko-KR" altLang="en-US" dirty="0"/>
              <a:t>시 </a:t>
            </a:r>
            <a:r>
              <a:rPr lang="en-US" altLang="ko-KR" dirty="0"/>
              <a:t>0</a:t>
            </a:r>
            <a:r>
              <a:rPr lang="ko-KR" altLang="en-US" dirty="0"/>
              <a:t>분 </a:t>
            </a:r>
            <a:r>
              <a:rPr lang="en-US" altLang="ko-KR" dirty="0"/>
              <a:t>0</a:t>
            </a:r>
            <a:r>
              <a:rPr lang="ko-KR" altLang="en-US" dirty="0"/>
              <a:t>초부터 매개변수 </a:t>
            </a:r>
            <a:r>
              <a:rPr lang="en-US" altLang="ko-KR" dirty="0"/>
              <a:t>time</a:t>
            </a:r>
            <a:r>
              <a:rPr lang="ko-KR" altLang="en-US" dirty="0"/>
              <a:t>이 가리키는 구조체 </a:t>
            </a:r>
            <a:r>
              <a:rPr lang="en-US" altLang="ko-KR" dirty="0"/>
              <a:t>tm </a:t>
            </a:r>
            <a:r>
              <a:rPr lang="ko-KR" altLang="en-US" dirty="0"/>
              <a:t>객체가 나타내는 시간까지 흐른 초</a:t>
            </a:r>
            <a:r>
              <a:rPr lang="en-US" altLang="ko-KR" dirty="0"/>
              <a:t>(</a:t>
            </a: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윤초는 반영하지 않음</a:t>
            </a:r>
            <a:r>
              <a:rPr lang="en-US" altLang="ko-KR" dirty="0"/>
              <a:t>)</a:t>
            </a:r>
            <a:r>
              <a:rPr lang="ko-KR" altLang="en-US" dirty="0"/>
              <a:t>를 반환함</a:t>
            </a:r>
            <a:endParaRPr lang="en-US" altLang="ko-K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9081" y="3463079"/>
            <a:ext cx="6460163" cy="51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9356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달력 출력 프로그램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01502"/>
            <a:ext cx="8424936" cy="4651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2"/>
            </a:pPr>
            <a:r>
              <a:rPr lang="en-US" altLang="ko-KR" sz="2400" dirty="0"/>
              <a:t>stuck tm</a:t>
            </a:r>
            <a:r>
              <a:rPr lang="ko-KR" altLang="en-US" sz="2400" dirty="0"/>
              <a:t>과 </a:t>
            </a:r>
            <a:r>
              <a:rPr lang="en-US" altLang="ko-KR" sz="2400" dirty="0" err="1"/>
              <a:t>mktime</a:t>
            </a:r>
            <a:endParaRPr sz="2400" dirty="0"/>
          </a:p>
        </p:txBody>
      </p:sp>
      <p:sp>
        <p:nvSpPr>
          <p:cNvPr id="5" name="Google Shape;102;p7"/>
          <p:cNvSpPr txBox="1"/>
          <p:nvPr/>
        </p:nvSpPr>
        <p:spPr>
          <a:xfrm>
            <a:off x="978033" y="1746123"/>
            <a:ext cx="3995251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14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-1]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요일 알아내기</a:t>
            </a:r>
            <a:endParaRPr dirty="0"/>
          </a:p>
        </p:txBody>
      </p:sp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488777846"/>
              </p:ext>
            </p:extLst>
          </p:nvPr>
        </p:nvGraphicFramePr>
        <p:xfrm>
          <a:off x="1068069" y="2109476"/>
          <a:ext cx="6779261" cy="4169674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16 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time.h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dirty="0">
                          <a:latin typeface="Consolas" panose="020B0609020204030204" pitchFamily="49" charset="0"/>
                        </a:rPr>
                        <a:t> main()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struct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aseline="0" dirty="0">
                          <a:solidFill>
                            <a:srgbClr val="33CCCC"/>
                          </a:solidFill>
                          <a:latin typeface="Consolas" panose="020B0609020204030204" pitchFamily="49" charset="0"/>
                        </a:rPr>
                        <a:t>tm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memset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(&amp;t, 0, </a:t>
                      </a:r>
                      <a:r>
                        <a:rPr lang="en-US" altLang="ko-KR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sizeof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(t));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t.tm_year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= 2022 - 1900;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t.tm_mon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= 0;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t.tm_mday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= 1;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mktime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(&amp;t);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char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*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wday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[7] = {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일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 "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월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 "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화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 "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수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 "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목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 "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금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 "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토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};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"%s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요일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wday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t.tm_wday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]);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350"/>
          <a:stretch/>
        </p:blipFill>
        <p:spPr bwMode="auto">
          <a:xfrm>
            <a:off x="5442587" y="2223332"/>
            <a:ext cx="2307649" cy="637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2153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달력 출력 프로그램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01502"/>
            <a:ext cx="8424936" cy="4651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3"/>
            </a:pPr>
            <a:r>
              <a:rPr lang="ko-KR" altLang="en-US" sz="2400" dirty="0"/>
              <a:t>달력 출력 프로그램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b="1" dirty="0"/>
              <a:t>요일 및 월별 날짜 반환 함수</a:t>
            </a:r>
            <a:endParaRPr lang="en-US" sz="500" dirty="0"/>
          </a:p>
          <a:p>
            <a:pPr marL="971550" lvl="3" indent="-342900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  <a:buFont typeface="+mj-lt"/>
              <a:buAutoNum type="arabicParenR"/>
            </a:pPr>
            <a:r>
              <a:rPr lang="ko-KR" altLang="en-US" dirty="0"/>
              <a:t>해당 월 </a:t>
            </a:r>
            <a:r>
              <a:rPr lang="en-US" altLang="ko-KR" dirty="0"/>
              <a:t>1</a:t>
            </a:r>
            <a:r>
              <a:rPr lang="ko-KR" altLang="en-US" dirty="0"/>
              <a:t>일의 요일과 해당 월의 마지막 날짜를 알아내는 함수를 만들기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733C62F-7D61-4010-B27F-341D3C18ADAF}"/>
              </a:ext>
            </a:extLst>
          </p:cNvPr>
          <p:cNvGrpSpPr/>
          <p:nvPr/>
        </p:nvGrpSpPr>
        <p:grpSpPr>
          <a:xfrm>
            <a:off x="1178058" y="2692889"/>
            <a:ext cx="6869297" cy="3692859"/>
            <a:chOff x="1178058" y="2619737"/>
            <a:chExt cx="6869297" cy="3692859"/>
          </a:xfrm>
        </p:grpSpPr>
        <p:sp>
          <p:nvSpPr>
            <p:cNvPr id="5" name="Google Shape;102;p7"/>
            <p:cNvSpPr txBox="1"/>
            <p:nvPr/>
          </p:nvSpPr>
          <p:spPr>
            <a:xfrm>
              <a:off x="1178058" y="2619737"/>
              <a:ext cx="3995251" cy="3181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14</a:t>
              </a:r>
              <a:r>
                <a:rPr lang="en-US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-2] </a:t>
              </a:r>
              <a:r>
                <a:rPr lang="ko-KR" altLang="en-US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요일 반환 함수</a:t>
              </a:r>
              <a:endParaRPr sz="1200" dirty="0"/>
            </a:p>
          </p:txBody>
        </p:sp>
        <p:graphicFrame>
          <p:nvGraphicFramePr>
            <p:cNvPr id="6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1573368277"/>
                </p:ext>
              </p:extLst>
            </p:nvPr>
          </p:nvGraphicFramePr>
          <p:xfrm>
            <a:off x="1268094" y="2944990"/>
            <a:ext cx="6779261" cy="3367606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39491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384351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1180022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  <a:endParaRPr sz="120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02 </a:t>
                        </a:r>
                        <a:endParaRPr sz="120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03 </a:t>
                        </a:r>
                        <a:endParaRPr sz="120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15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#define _CRT_SECURE_NO_WARNINGS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sz="120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sz="1200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time.h</a:t>
                        </a:r>
                        <a:r>
                          <a:rPr lang="en-US" altLang="ko-KR" sz="120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20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200" dirty="0"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sz="1200" dirty="0" err="1">
                            <a:latin typeface="Consolas" panose="020B0609020204030204" pitchFamily="49" charset="0"/>
                          </a:rPr>
                          <a:t>GetWDay</a:t>
                        </a:r>
                        <a:r>
                          <a:rPr lang="en-US" altLang="ko-KR" sz="1200" dirty="0"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20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200" dirty="0">
                            <a:latin typeface="Consolas" panose="020B0609020204030204" pitchFamily="49" charset="0"/>
                          </a:rPr>
                          <a:t> year, </a:t>
                        </a:r>
                        <a:r>
                          <a:rPr lang="en-US" altLang="ko-KR" sz="120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200" dirty="0">
                            <a:latin typeface="Consolas" panose="020B0609020204030204" pitchFamily="49" charset="0"/>
                          </a:rPr>
                          <a:t> month, </a:t>
                        </a:r>
                        <a:r>
                          <a:rPr lang="en-US" altLang="ko-KR" sz="120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200" dirty="0">
                            <a:latin typeface="Consolas" panose="020B0609020204030204" pitchFamily="49" charset="0"/>
                          </a:rPr>
                          <a:t> day)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aseline="0" dirty="0"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20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struct</a:t>
                        </a:r>
                        <a:r>
                          <a:rPr lang="en-US" altLang="ko-KR" sz="1200" baseline="0" dirty="0"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sz="1200" baseline="0" dirty="0">
                            <a:solidFill>
                              <a:srgbClr val="33CCCC"/>
                            </a:solidFill>
                            <a:latin typeface="Consolas" panose="020B0609020204030204" pitchFamily="49" charset="0"/>
                          </a:rPr>
                          <a:t>tm</a:t>
                        </a:r>
                        <a:r>
                          <a:rPr lang="en-US" altLang="ko-KR" sz="1200" baseline="0" dirty="0">
                            <a:latin typeface="Consolas" panose="020B0609020204030204" pitchFamily="49" charset="0"/>
                          </a:rPr>
                          <a:t> 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200" baseline="0" dirty="0" err="1">
                            <a:latin typeface="Consolas" panose="020B0609020204030204" pitchFamily="49" charset="0"/>
                          </a:rPr>
                          <a:t>memset</a:t>
                        </a:r>
                        <a:r>
                          <a:rPr lang="en-US" altLang="ko-KR" sz="1200" baseline="0" dirty="0">
                            <a:latin typeface="Consolas" panose="020B0609020204030204" pitchFamily="49" charset="0"/>
                          </a:rPr>
                          <a:t>(&amp;t, 0, </a:t>
                        </a:r>
                        <a:r>
                          <a:rPr lang="en-US" altLang="ko-KR" sz="1200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sizeof</a:t>
                        </a:r>
                        <a:r>
                          <a:rPr lang="en-US" altLang="ko-KR" sz="1200" baseline="0" dirty="0">
                            <a:latin typeface="Consolas" panose="020B0609020204030204" pitchFamily="49" charset="0"/>
                          </a:rPr>
                          <a:t>(t));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200" baseline="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200" baseline="0" dirty="0" err="1">
                            <a:latin typeface="Consolas" panose="020B0609020204030204" pitchFamily="49" charset="0"/>
                          </a:rPr>
                          <a:t>t.tm_year</a:t>
                        </a:r>
                        <a:r>
                          <a:rPr lang="en-US" altLang="ko-KR" sz="1200" baseline="0" dirty="0">
                            <a:latin typeface="Consolas" panose="020B0609020204030204" pitchFamily="49" charset="0"/>
                          </a:rPr>
                          <a:t> = year - 1900;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200" baseline="0" dirty="0" err="1">
                            <a:latin typeface="Consolas" panose="020B0609020204030204" pitchFamily="49" charset="0"/>
                          </a:rPr>
                          <a:t>t.tm_mon</a:t>
                        </a:r>
                        <a:r>
                          <a:rPr lang="en-US" altLang="ko-KR" sz="1200" baseline="0" dirty="0">
                            <a:latin typeface="Consolas" panose="020B0609020204030204" pitchFamily="49" charset="0"/>
                          </a:rPr>
                          <a:t> = month - 1;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200" baseline="0" dirty="0" err="1">
                            <a:latin typeface="Consolas" panose="020B0609020204030204" pitchFamily="49" charset="0"/>
                          </a:rPr>
                          <a:t>t.tm_mday</a:t>
                        </a:r>
                        <a:r>
                          <a:rPr lang="en-US" altLang="ko-KR" sz="1200" baseline="0" dirty="0">
                            <a:latin typeface="Consolas" panose="020B0609020204030204" pitchFamily="49" charset="0"/>
                          </a:rPr>
                          <a:t> = day;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200" baseline="0" dirty="0" err="1">
                            <a:latin typeface="Consolas" panose="020B0609020204030204" pitchFamily="49" charset="0"/>
                          </a:rPr>
                          <a:t>mktime</a:t>
                        </a:r>
                        <a:r>
                          <a:rPr lang="en-US" altLang="ko-KR" sz="1200" baseline="0" dirty="0">
                            <a:latin typeface="Consolas" panose="020B0609020204030204" pitchFamily="49" charset="0"/>
                          </a:rPr>
                          <a:t>(&amp;t);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200" baseline="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200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return</a:t>
                        </a:r>
                        <a:r>
                          <a:rPr lang="en-US" altLang="ko-KR" sz="1200" baseline="0" dirty="0"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sz="1200" baseline="0" dirty="0" err="1">
                            <a:latin typeface="Consolas" panose="020B0609020204030204" pitchFamily="49" charset="0"/>
                          </a:rPr>
                          <a:t>t.tm_wday</a:t>
                        </a:r>
                        <a:r>
                          <a:rPr lang="en-US" altLang="ko-KR" sz="1200" baseline="0" dirty="0">
                            <a:latin typeface="Consolas" panose="020B0609020204030204" pitchFamily="49" charset="0"/>
                          </a:rPr>
                          <a:t>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aseline="0" dirty="0"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343060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달력 출력 프로그램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01502"/>
            <a:ext cx="8424936" cy="4651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3"/>
            </a:pPr>
            <a:r>
              <a:rPr lang="ko-KR" altLang="en-US" sz="2400" dirty="0"/>
              <a:t>달력 출력 프로그램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b="1" dirty="0"/>
              <a:t>요일 및 월별 날짜 반환 함수</a:t>
            </a:r>
          </a:p>
          <a:p>
            <a:pPr marL="971550" lvl="3" indent="-342900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  <a:buFont typeface="+mj-lt"/>
              <a:buAutoNum type="arabicParenR" startAt="2"/>
            </a:pPr>
            <a:r>
              <a:rPr lang="ko-KR" altLang="en-US" dirty="0"/>
              <a:t>매개변수로 연도와 월을 받는 함수 </a:t>
            </a:r>
            <a:r>
              <a:rPr lang="en-US" altLang="ko-KR" dirty="0" err="1">
                <a:latin typeface="Consolas" panose="020B0609020204030204" pitchFamily="49" charset="0"/>
              </a:rPr>
              <a:t>GetLastDay</a:t>
            </a:r>
            <a:r>
              <a:rPr lang="ko-KR" altLang="en-US" dirty="0"/>
              <a:t>를 작성하기</a:t>
            </a:r>
            <a:r>
              <a:rPr lang="en-US" altLang="ko-KR" dirty="0"/>
              <a:t> </a:t>
            </a:r>
            <a:br>
              <a:rPr lang="en-US" altLang="ko-KR" dirty="0"/>
            </a:br>
            <a:r>
              <a:rPr lang="en-US" altLang="ko-KR" dirty="0">
                <a:solidFill>
                  <a:schemeClr val="accent1">
                    <a:lumMod val="50000"/>
                  </a:schemeClr>
                </a:solidFill>
              </a:rPr>
              <a:t>1)</a:t>
            </a:r>
            <a:r>
              <a:rPr lang="ko-KR" altLang="en-US" dirty="0"/>
              <a:t>에서 작성한 코드 밑에 이어서 작성함</a:t>
            </a:r>
          </a:p>
        </p:txBody>
      </p:sp>
    </p:spTree>
    <p:extLst>
      <p:ext uri="{BB962C8B-B14F-4D97-AF65-F5344CB8AC3E}">
        <p14:creationId xmlns:p14="http://schemas.microsoft.com/office/powerpoint/2010/main" val="616046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달력 출력 프로그램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01502"/>
            <a:ext cx="8424936" cy="4651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3"/>
            </a:pPr>
            <a:r>
              <a:rPr lang="ko-KR" altLang="en-US" sz="2400" dirty="0"/>
              <a:t>달력 출력 프로그램</a:t>
            </a:r>
            <a:endParaRPr sz="2400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A7CEA1F-296D-489D-9CDE-3C952998B87D}"/>
              </a:ext>
            </a:extLst>
          </p:cNvPr>
          <p:cNvGrpSpPr/>
          <p:nvPr/>
        </p:nvGrpSpPr>
        <p:grpSpPr>
          <a:xfrm>
            <a:off x="1137351" y="1921303"/>
            <a:ext cx="6869297" cy="4389327"/>
            <a:chOff x="1282833" y="3042628"/>
            <a:chExt cx="6869297" cy="4389327"/>
          </a:xfrm>
        </p:grpSpPr>
        <p:sp>
          <p:nvSpPr>
            <p:cNvPr id="5" name="Google Shape;102;p7"/>
            <p:cNvSpPr txBox="1"/>
            <p:nvPr/>
          </p:nvSpPr>
          <p:spPr>
            <a:xfrm>
              <a:off x="1282833" y="3042628"/>
              <a:ext cx="3995251" cy="3181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/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14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-3] </a:t>
              </a:r>
              <a:r>
                <a:rPr lang="ko-KR" alt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월별 날짜 반환 함수</a:t>
              </a:r>
              <a:endParaRPr dirty="0"/>
            </a:p>
          </p:txBody>
        </p:sp>
        <p:graphicFrame>
          <p:nvGraphicFramePr>
            <p:cNvPr id="6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2636444113"/>
                </p:ext>
              </p:extLst>
            </p:nvPr>
          </p:nvGraphicFramePr>
          <p:xfrm>
            <a:off x="1372869" y="3405981"/>
            <a:ext cx="6779261" cy="4025974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39491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384351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1180022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  <a:endParaRPr lang="en-US" altLang="ko-KR" sz="120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02 </a:t>
                        </a:r>
                        <a:endParaRPr lang="en-US" altLang="ko-KR" sz="120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03 </a:t>
                        </a:r>
                        <a:endParaRPr lang="en-US" altLang="ko-KR" sz="120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2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18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2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sz="120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GetLastDay</a:t>
                        </a:r>
                        <a:r>
                          <a:rPr lang="en-US" altLang="ko-KR" sz="12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20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2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year, </a:t>
                        </a:r>
                        <a:r>
                          <a:rPr lang="en-US" altLang="ko-KR" sz="120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2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month)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20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2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sz="120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lastday</a:t>
                        </a:r>
                        <a:r>
                          <a:rPr lang="en-US" altLang="ko-KR" sz="12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[12] = { 31, 28, 31, 30, 31, 30, 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                 </a:t>
                        </a:r>
                        <a:r>
                          <a:rPr lang="en-US" altLang="ko-KR" sz="12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31, 31, 30, 31, 30, 31 };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20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2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Leap = 0;</a:t>
                        </a:r>
                        <a:endParaRPr lang="en-US" altLang="ko-KR" sz="1200" baseline="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20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if</a:t>
                        </a:r>
                        <a:r>
                          <a:rPr lang="en-US" altLang="ko-KR" sz="12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(month == 2)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2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sz="120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if</a:t>
                        </a:r>
                        <a:r>
                          <a:rPr lang="en-US" altLang="ko-KR" sz="12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(year % 400 == 0)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   Leap = 1;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sz="120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else if</a:t>
                        </a:r>
                        <a:r>
                          <a:rPr lang="en-US" altLang="ko-KR" sz="12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(year % 100 == 0)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   Leap = 0;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sz="120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else if</a:t>
                        </a:r>
                        <a:r>
                          <a:rPr lang="en-US" altLang="ko-KR" sz="12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(year % 4 == 0)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      Leap = 1;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}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20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return</a:t>
                        </a:r>
                        <a:r>
                          <a:rPr lang="en-US" altLang="ko-KR" sz="12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sz="1200" dirty="0" err="1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lastday</a:t>
                        </a:r>
                        <a:r>
                          <a:rPr lang="en-US" altLang="ko-KR" sz="12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[month - 1] + Leap;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2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}</a:t>
                        </a:r>
                        <a:endParaRPr lang="en-US" altLang="ko-KR" sz="1200" baseline="0" dirty="0">
                          <a:latin typeface="Consolas" panose="020B0609020204030204" pitchFamily="49" charset="0"/>
                        </a:endParaRP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880412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달력 출력 프로그램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01502"/>
            <a:ext cx="8424936" cy="4651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3"/>
            </a:pPr>
            <a:r>
              <a:rPr lang="ko-KR" altLang="en-US" sz="2400" dirty="0"/>
              <a:t>달력 출력 프로그램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b="1" dirty="0"/>
              <a:t>달력 출력 함수</a:t>
            </a:r>
            <a:endParaRPr lang="en-US" sz="500" dirty="0"/>
          </a:p>
          <a:p>
            <a:pPr marL="971550" lvl="3" indent="-342900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  <a:buFont typeface="+mj-lt"/>
              <a:buAutoNum type="arabicParenR" startAt="3"/>
            </a:pPr>
            <a:r>
              <a:rPr lang="ko-KR" altLang="en-US" dirty="0"/>
              <a:t>해당 연도와 월을 인자로 받아서 달력을 출력하는 함수를 작성하기</a:t>
            </a:r>
            <a:br>
              <a:rPr lang="en-US" altLang="ko-KR" dirty="0"/>
            </a:br>
            <a:r>
              <a:rPr lang="en-US" altLang="ko-KR" dirty="0">
                <a:solidFill>
                  <a:schemeClr val="accent1">
                    <a:lumMod val="50000"/>
                  </a:schemeClr>
                </a:solidFill>
              </a:rPr>
              <a:t>2)</a:t>
            </a:r>
            <a:r>
              <a:rPr lang="ko-KR" altLang="en-US" dirty="0"/>
              <a:t>에서 작성한 코드 밑에 이어서 작성함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3E27F4C4-B383-41A4-913A-AB7FB7B8067F}"/>
              </a:ext>
            </a:extLst>
          </p:cNvPr>
          <p:cNvGrpSpPr/>
          <p:nvPr/>
        </p:nvGrpSpPr>
        <p:grpSpPr>
          <a:xfrm>
            <a:off x="1282833" y="3066250"/>
            <a:ext cx="6869297" cy="3290777"/>
            <a:chOff x="1282833" y="3175978"/>
            <a:chExt cx="6869297" cy="3290777"/>
          </a:xfrm>
        </p:grpSpPr>
        <p:sp>
          <p:nvSpPr>
            <p:cNvPr id="10" name="Google Shape;102;p7">
              <a:extLst>
                <a:ext uri="{FF2B5EF4-FFF2-40B4-BE49-F238E27FC236}">
                  <a16:creationId xmlns:a16="http://schemas.microsoft.com/office/drawing/2014/main" id="{0B0E5100-638E-48A8-97BB-815743D95D18}"/>
                </a:ext>
              </a:extLst>
            </p:cNvPr>
            <p:cNvSpPr txBox="1"/>
            <p:nvPr/>
          </p:nvSpPr>
          <p:spPr>
            <a:xfrm>
              <a:off x="1282833" y="3175978"/>
              <a:ext cx="3995251" cy="3181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/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14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-4] </a:t>
              </a:r>
              <a:r>
                <a:rPr lang="ko-KR" alt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달력 출력 함수</a:t>
              </a:r>
              <a:endParaRPr dirty="0"/>
            </a:p>
          </p:txBody>
        </p:sp>
        <p:graphicFrame>
          <p:nvGraphicFramePr>
            <p:cNvPr id="11" name="Google Shape;104;p7">
              <a:extLst>
                <a:ext uri="{FF2B5EF4-FFF2-40B4-BE49-F238E27FC236}">
                  <a16:creationId xmlns:a16="http://schemas.microsoft.com/office/drawing/2014/main" id="{3FC1F3F2-7D95-49EB-87A5-C36365D78C1C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043616441"/>
                </p:ext>
              </p:extLst>
            </p:nvPr>
          </p:nvGraphicFramePr>
          <p:xfrm>
            <a:off x="1372869" y="3539331"/>
            <a:ext cx="6779261" cy="2927424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39491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384351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1180022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  <a:endParaRPr sz="130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02 </a:t>
                        </a:r>
                        <a:endParaRPr sz="130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03 </a:t>
                        </a:r>
                        <a:endParaRPr sz="130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12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sz="1300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sz="1300" baseline="0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stdio.h</a:t>
                        </a:r>
                        <a:r>
                          <a:rPr lang="en-US" altLang="ko-KR" sz="1300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300" baseline="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void</a:t>
                        </a: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sz="1300" baseline="0" dirty="0" err="1">
                            <a:latin typeface="Consolas" panose="020B0609020204030204" pitchFamily="49" charset="0"/>
                          </a:rPr>
                          <a:t>PrintCalendar</a:t>
                        </a: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300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year, </a:t>
                        </a:r>
                        <a:r>
                          <a:rPr lang="en-US" altLang="ko-KR" sz="1300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month)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aseline="0" dirty="0" err="1"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sz="1300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300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          %d</a:t>
                        </a:r>
                        <a:r>
                          <a:rPr lang="ko-KR" altLang="en-US" sz="1300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년 </a:t>
                        </a:r>
                        <a:r>
                          <a:rPr lang="en-US" altLang="ko-KR" sz="1300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%d</a:t>
                        </a:r>
                        <a:r>
                          <a:rPr lang="ko-KR" altLang="en-US" sz="1300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월</a:t>
                        </a:r>
                        <a:r>
                          <a:rPr lang="en-US" altLang="ko-KR" sz="1300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\r\n</a:t>
                        </a:r>
                        <a:r>
                          <a:rPr lang="en-US" altLang="ko-KR" sz="1300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, year, month);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aseline="0" dirty="0" err="1"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300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 --------------------------</a:t>
                        </a:r>
                        <a:r>
                          <a:rPr lang="en-US" altLang="ko-KR" sz="1300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\r\n</a:t>
                        </a:r>
                        <a:r>
                          <a:rPr lang="en-US" altLang="ko-KR" sz="1300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aseline="0" dirty="0" err="1"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300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 </a:t>
                        </a:r>
                        <a:r>
                          <a:rPr lang="ko-KR" altLang="en-US" sz="1300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일  월  화  수  목  금  토</a:t>
                        </a:r>
                        <a:r>
                          <a:rPr lang="en-US" altLang="ko-KR" sz="1300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\r\n</a:t>
                        </a:r>
                        <a:r>
                          <a:rPr lang="en-US" altLang="ko-KR" sz="1300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aseline="0" dirty="0" err="1"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300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 --------------------------"</a:t>
                        </a: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300" baseline="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sz="1300" baseline="0" dirty="0" err="1">
                            <a:latin typeface="Consolas" panose="020B0609020204030204" pitchFamily="49" charset="0"/>
                          </a:rPr>
                          <a:t>wday</a:t>
                        </a: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= </a:t>
                        </a:r>
                        <a:r>
                          <a:rPr lang="en-US" altLang="ko-KR" sz="1300" baseline="0" dirty="0" err="1">
                            <a:latin typeface="Consolas" panose="020B0609020204030204" pitchFamily="49" charset="0"/>
                          </a:rPr>
                          <a:t>GetWDay</a:t>
                        </a: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(year, month, 1);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sz="1300" baseline="0" dirty="0" err="1">
                            <a:latin typeface="Consolas" panose="020B0609020204030204" pitchFamily="49" charset="0"/>
                          </a:rPr>
                          <a:t>lastday</a:t>
                        </a: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= </a:t>
                        </a:r>
                        <a:r>
                          <a:rPr lang="en-US" altLang="ko-KR" sz="1300" baseline="0" dirty="0" err="1">
                            <a:latin typeface="Consolas" panose="020B0609020204030204" pitchFamily="49" charset="0"/>
                          </a:rPr>
                          <a:t>GetLastDay</a:t>
                        </a: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(year, month);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300" baseline="0" dirty="0">
                          <a:latin typeface="Consolas" panose="020B0609020204030204" pitchFamily="49" charset="0"/>
                        </a:endParaRP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001618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달력 출력 프로그램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01502"/>
            <a:ext cx="8424936" cy="4651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3"/>
            </a:pPr>
            <a:r>
              <a:rPr lang="ko-KR" altLang="en-US" sz="2400" dirty="0"/>
              <a:t>달력 출력 프로그램</a:t>
            </a:r>
            <a:endParaRPr sz="2400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36B4105-A57F-4188-887F-5A2369287389}"/>
              </a:ext>
            </a:extLst>
          </p:cNvPr>
          <p:cNvGrpSpPr/>
          <p:nvPr/>
        </p:nvGrpSpPr>
        <p:grpSpPr>
          <a:xfrm>
            <a:off x="1282833" y="1813522"/>
            <a:ext cx="6869297" cy="3290777"/>
            <a:chOff x="1282833" y="3175978"/>
            <a:chExt cx="6869297" cy="3290777"/>
          </a:xfrm>
        </p:grpSpPr>
        <p:sp>
          <p:nvSpPr>
            <p:cNvPr id="5" name="Google Shape;102;p7"/>
            <p:cNvSpPr txBox="1"/>
            <p:nvPr/>
          </p:nvSpPr>
          <p:spPr>
            <a:xfrm>
              <a:off x="1282833" y="3175978"/>
              <a:ext cx="3995251" cy="3181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/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14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-4] </a:t>
              </a:r>
              <a:r>
                <a:rPr lang="ko-KR" alt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달력 출력 함수</a:t>
              </a:r>
              <a:endParaRPr dirty="0"/>
            </a:p>
          </p:txBody>
        </p:sp>
        <p:graphicFrame>
          <p:nvGraphicFramePr>
            <p:cNvPr id="6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2846562908"/>
                </p:ext>
              </p:extLst>
            </p:nvPr>
          </p:nvGraphicFramePr>
          <p:xfrm>
            <a:off x="1372869" y="3539331"/>
            <a:ext cx="6779261" cy="2927424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39491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384351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1180022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24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nn-NO" altLang="ko-KR" sz="1300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for</a:t>
                        </a:r>
                        <a:r>
                          <a:rPr lang="nn-NO" altLang="ko-KR" sz="1300" baseline="0" dirty="0"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300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nn-NO" altLang="ko-KR" sz="1300" baseline="0" dirty="0">
                            <a:latin typeface="Consolas" panose="020B0609020204030204" pitchFamily="49" charset="0"/>
                          </a:rPr>
                          <a:t> i = 0; i &lt; wday + lastday; i++)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nn-NO" altLang="ko-KR" sz="1300" baseline="0" dirty="0">
                            <a:latin typeface="Consolas" panose="020B0609020204030204" pitchFamily="49" charset="0"/>
                          </a:rPr>
                          <a:t>   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nn-NO" altLang="ko-KR" sz="1300" baseline="0" dirty="0"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nn-NO" altLang="ko-KR" sz="1300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if</a:t>
                        </a:r>
                        <a:r>
                          <a:rPr lang="nn-NO" altLang="ko-KR" sz="1300" baseline="0" dirty="0">
                            <a:latin typeface="Consolas" panose="020B0609020204030204" pitchFamily="49" charset="0"/>
                          </a:rPr>
                          <a:t>(i % 7 == 0)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nn-NO" altLang="ko-KR" sz="1300" baseline="0" dirty="0">
                            <a:latin typeface="Consolas" panose="020B0609020204030204" pitchFamily="49" charset="0"/>
                          </a:rPr>
                          <a:t>        printf(</a:t>
                        </a:r>
                        <a:r>
                          <a:rPr lang="nn-NO" altLang="ko-KR" sz="1300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en-US" altLang="ko-KR" sz="1300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\r\n</a:t>
                        </a:r>
                        <a:r>
                          <a:rPr lang="nn-NO" altLang="ko-KR" sz="1300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nn-NO" altLang="ko-KR" sz="1300" baseline="0" dirty="0">
                            <a:latin typeface="Consolas" panose="020B0609020204030204" pitchFamily="49" charset="0"/>
                          </a:rPr>
                          <a:t>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     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      int</a:t>
                        </a: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day = </a:t>
                        </a:r>
                        <a:r>
                          <a:rPr lang="en-US" altLang="ko-KR" sz="1300" baseline="0" dirty="0" err="1">
                            <a:latin typeface="Consolas" panose="020B0609020204030204" pitchFamily="49" charset="0"/>
                          </a:rPr>
                          <a:t>i</a:t>
                        </a: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- </a:t>
                        </a:r>
                        <a:r>
                          <a:rPr lang="en-US" altLang="ko-KR" sz="1300" baseline="0" dirty="0" err="1">
                            <a:latin typeface="Consolas" panose="020B0609020204030204" pitchFamily="49" charset="0"/>
                          </a:rPr>
                          <a:t>wday</a:t>
                        </a: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+ 1;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sz="1300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if</a:t>
                        </a: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(day &gt; 0)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nn-NO" altLang="ko-KR" sz="1300" baseline="0" dirty="0">
                            <a:latin typeface="Consolas" panose="020B0609020204030204" pitchFamily="49" charset="0"/>
                          </a:rPr>
                          <a:t>         printf(</a:t>
                        </a:r>
                        <a:r>
                          <a:rPr lang="nn-NO" altLang="ko-KR" sz="1300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"%4d"</a:t>
                        </a:r>
                        <a:r>
                          <a:rPr lang="nn-NO" altLang="ko-KR" sz="1300" baseline="0" dirty="0">
                            <a:latin typeface="Consolas" panose="020B0609020204030204" pitchFamily="49" charset="0"/>
                          </a:rPr>
                          <a:t>, day);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nn-NO" altLang="ko-KR" sz="1300" baseline="0" dirty="0"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sz="1300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else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        </a:t>
                        </a:r>
                        <a:r>
                          <a:rPr lang="en-US" altLang="ko-KR" sz="1300" baseline="0" dirty="0" err="1"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300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"%s"</a:t>
                        </a: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, </a:t>
                        </a:r>
                        <a:r>
                          <a:rPr lang="en-US" altLang="ko-KR" sz="1300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   "</a:t>
                        </a: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  }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}</a:t>
                        </a:r>
                        <a:endParaRPr lang="nn-NO" altLang="ko-KR" sz="1300" baseline="0" dirty="0">
                          <a:latin typeface="Consolas" panose="020B0609020204030204" pitchFamily="49" charset="0"/>
                        </a:endParaRP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708355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달력 출력 프로그램</a:t>
            </a:r>
            <a:endParaRPr lang="ko-KR" altLang="en-US" dirty="0"/>
          </a:p>
        </p:txBody>
      </p:sp>
      <p:sp>
        <p:nvSpPr>
          <p:cNvPr id="4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01502"/>
            <a:ext cx="8424936" cy="4651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3"/>
            </a:pPr>
            <a:r>
              <a:rPr lang="ko-KR" altLang="en-US" sz="2400" dirty="0"/>
              <a:t>달력 출력 프로그램</a:t>
            </a:r>
            <a:endParaRPr sz="2400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b="1" dirty="0"/>
              <a:t>달력 출력 함수</a:t>
            </a:r>
            <a:endParaRPr lang="en-US" sz="500" dirty="0"/>
          </a:p>
          <a:p>
            <a:pPr marL="971550" lvl="3" indent="-342900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  <a:buFont typeface="+mj-lt"/>
              <a:buAutoNum type="arabicParenR" startAt="4"/>
            </a:pPr>
            <a:r>
              <a:rPr lang="en-US" altLang="ko-KR" dirty="0" err="1">
                <a:latin typeface="Consolas" panose="020B0609020204030204" pitchFamily="49" charset="0"/>
              </a:rPr>
              <a:t>PrintCalendar</a:t>
            </a:r>
            <a:r>
              <a:rPr lang="en-US" altLang="ko-KR" dirty="0"/>
              <a:t> </a:t>
            </a:r>
            <a:r>
              <a:rPr lang="ko-KR" altLang="en-US" dirty="0"/>
              <a:t>함수를 테스트하기 위하여 다음 코드를 추가하고 실행함</a:t>
            </a:r>
          </a:p>
        </p:txBody>
      </p:sp>
      <p:sp>
        <p:nvSpPr>
          <p:cNvPr id="5" name="Google Shape;117;p8"/>
          <p:cNvSpPr/>
          <p:nvPr/>
        </p:nvSpPr>
        <p:spPr>
          <a:xfrm>
            <a:off x="1557253" y="2854240"/>
            <a:ext cx="3348121" cy="1260560"/>
          </a:xfrm>
          <a:prstGeom prst="roundRect">
            <a:avLst>
              <a:gd name="adj" fmla="val 16667"/>
            </a:avLst>
          </a:prstGeom>
          <a:solidFill>
            <a:srgbClr val="E5DFE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main( )</a:t>
            </a:r>
          </a:p>
          <a:p>
            <a:pPr lvl="0"/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</a:p>
          <a:p>
            <a:pPr lvl="0"/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PrintCalendar</a:t>
            </a:r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(2000, 2);</a:t>
            </a:r>
          </a:p>
          <a:p>
            <a:pPr lvl="0"/>
            <a:r>
              <a:rPr lang="en-U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122" name="Picture 2" descr="C:\Users\변소현\Desktop\난생처음 C 언어 프로그래밍\그림\Ch14\그림 14-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4788" y="2805113"/>
            <a:ext cx="2803525" cy="2255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9395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달력 출력 프로그램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01502"/>
            <a:ext cx="8424936" cy="4651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3"/>
            </a:pPr>
            <a:r>
              <a:rPr lang="ko-KR" altLang="en-US" sz="2400" dirty="0"/>
              <a:t>달력 출력 프로그램</a:t>
            </a:r>
            <a:endParaRPr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연도와 월을 </a:t>
            </a:r>
            <a:r>
              <a:rPr lang="ko-KR" altLang="en-US" b="1" dirty="0" err="1"/>
              <a:t>입력받는</a:t>
            </a:r>
            <a:r>
              <a:rPr lang="ko-KR" altLang="en-US" b="1" dirty="0"/>
              <a:t> 달력 출력 프로그램</a:t>
            </a:r>
            <a:endParaRPr lang="en-US" sz="500" dirty="0"/>
          </a:p>
          <a:p>
            <a:pPr marL="971550" lvl="3" indent="-342900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  <a:buFont typeface="+mj-lt"/>
              <a:buAutoNum type="arabicParenR" startAt="5"/>
            </a:pPr>
            <a:r>
              <a:rPr lang="ko-KR" altLang="en-US" dirty="0"/>
              <a:t>입력을 받아서 달력을 출력하도록 </a:t>
            </a:r>
            <a:r>
              <a:rPr lang="en-US" altLang="ko-KR" dirty="0">
                <a:latin typeface="Consolas" panose="020B0609020204030204" pitchFamily="49" charset="0"/>
              </a:rPr>
              <a:t>main</a:t>
            </a:r>
            <a:r>
              <a:rPr lang="en-US" altLang="ko-KR" dirty="0"/>
              <a:t> </a:t>
            </a:r>
            <a:r>
              <a:rPr lang="ko-KR" altLang="en-US" dirty="0"/>
              <a:t>함수 부분을 작성하기</a:t>
            </a:r>
            <a:br>
              <a:rPr lang="en-US" altLang="ko-KR" dirty="0"/>
            </a:br>
            <a:r>
              <a:rPr lang="en-US" altLang="ko-KR" dirty="0">
                <a:solidFill>
                  <a:schemeClr val="accent1">
                    <a:lumMod val="50000"/>
                  </a:schemeClr>
                </a:solidFill>
              </a:rPr>
              <a:t>4)</a:t>
            </a:r>
            <a:r>
              <a:rPr lang="ko-KR" altLang="en-US" dirty="0"/>
              <a:t>에서 작성한 </a:t>
            </a:r>
            <a:r>
              <a:rPr lang="en-US" altLang="ko-KR" dirty="0">
                <a:latin typeface="Consolas" panose="020B0609020204030204" pitchFamily="49" charset="0"/>
              </a:rPr>
              <a:t>main</a:t>
            </a:r>
            <a:r>
              <a:rPr lang="en-US" altLang="ko-KR" dirty="0"/>
              <a:t> </a:t>
            </a:r>
            <a:r>
              <a:rPr lang="ko-KR" altLang="en-US" dirty="0"/>
              <a:t>함수를 대체함</a:t>
            </a:r>
          </a:p>
        </p:txBody>
      </p:sp>
      <p:sp>
        <p:nvSpPr>
          <p:cNvPr id="5" name="Google Shape;102;p7"/>
          <p:cNvSpPr txBox="1"/>
          <p:nvPr/>
        </p:nvSpPr>
        <p:spPr>
          <a:xfrm>
            <a:off x="1282833" y="3175978"/>
            <a:ext cx="3995251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14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-5] </a:t>
            </a:r>
            <a:r>
              <a:rPr lang="ko-KR" alt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달력 출력 함수</a:t>
            </a:r>
            <a:endParaRPr dirty="0"/>
          </a:p>
        </p:txBody>
      </p:sp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4108432287"/>
              </p:ext>
            </p:extLst>
          </p:nvPr>
        </p:nvGraphicFramePr>
        <p:xfrm>
          <a:off x="1372869" y="3539331"/>
          <a:ext cx="6779261" cy="2689680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 </a:t>
                      </a:r>
                      <a:endParaRPr sz="13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year, month;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do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sz="1300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연도를 입력하세요 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 "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sz="1300" baseline="0" dirty="0" err="1">
                          <a:latin typeface="Consolas" panose="020B0609020204030204" pitchFamily="49" charset="0"/>
                        </a:rPr>
                        <a:t>scanf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"%d"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, &amp;year);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while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(year &lt; 1);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49582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달력 출력 프로그램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01502"/>
            <a:ext cx="8424936" cy="4651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3"/>
            </a:pPr>
            <a:r>
              <a:rPr lang="ko-KR" altLang="en-US" sz="2400" dirty="0"/>
              <a:t>달력 출력 프로그램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DC62E00-5619-4838-8B40-4A7049B7C02F}"/>
              </a:ext>
            </a:extLst>
          </p:cNvPr>
          <p:cNvGrpSpPr/>
          <p:nvPr/>
        </p:nvGrpSpPr>
        <p:grpSpPr>
          <a:xfrm>
            <a:off x="1209681" y="1621498"/>
            <a:ext cx="6869297" cy="5192729"/>
            <a:chOff x="1282833" y="3175978"/>
            <a:chExt cx="6869297" cy="5192729"/>
          </a:xfrm>
        </p:grpSpPr>
        <p:sp>
          <p:nvSpPr>
            <p:cNvPr id="5" name="Google Shape;102;p7"/>
            <p:cNvSpPr txBox="1"/>
            <p:nvPr/>
          </p:nvSpPr>
          <p:spPr>
            <a:xfrm>
              <a:off x="1282833" y="3175978"/>
              <a:ext cx="3995251" cy="3181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/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14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-5] </a:t>
              </a:r>
              <a:r>
                <a:rPr lang="ko-KR" alt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달력 출력 함수</a:t>
              </a:r>
              <a:endParaRPr dirty="0"/>
            </a:p>
          </p:txBody>
        </p:sp>
        <p:graphicFrame>
          <p:nvGraphicFramePr>
            <p:cNvPr id="6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1795823709"/>
                </p:ext>
              </p:extLst>
            </p:nvPr>
          </p:nvGraphicFramePr>
          <p:xfrm>
            <a:off x="1372869" y="3539331"/>
            <a:ext cx="6779261" cy="4829376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39491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384351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1180022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20</a:t>
                        </a:r>
                        <a:r>
                          <a:rPr lang="en-US" altLang="ko-KR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29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30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31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do</a:t>
                        </a:r>
                        <a:endParaRPr lang="en-US" altLang="ko-KR" sz="1300" baseline="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  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sz="1300" baseline="0" dirty="0" err="1"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300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ko-KR" altLang="en-US" sz="1300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월을 입력하세요 </a:t>
                        </a:r>
                        <a:r>
                          <a:rPr lang="en-US" altLang="ko-KR" sz="1300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 "</a:t>
                        </a: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sz="1300" baseline="0" dirty="0" err="1">
                            <a:latin typeface="Consolas" panose="020B0609020204030204" pitchFamily="49" charset="0"/>
                          </a:rPr>
                          <a:t>scanf</a:t>
                        </a: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300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"%d"</a:t>
                        </a: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, &amp;month);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  }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while</a:t>
                        </a: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(month &lt; 0);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300" baseline="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aseline="0" dirty="0" err="1">
                            <a:latin typeface="Consolas" panose="020B0609020204030204" pitchFamily="49" charset="0"/>
                          </a:rPr>
                          <a:t>printf</a:t>
                        </a: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300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en-US" altLang="ko-KR" sz="1300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\r\n</a:t>
                        </a:r>
                        <a:r>
                          <a:rPr lang="en-US" altLang="ko-KR" sz="1300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300" baseline="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sz="1300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if</a:t>
                        </a: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(month == 0)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  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nn-NO" altLang="ko-KR" sz="1300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for</a:t>
                        </a:r>
                        <a:r>
                          <a:rPr lang="nn-NO" altLang="ko-KR" sz="1300" baseline="0" dirty="0">
                            <a:latin typeface="Consolas" panose="020B0609020204030204" pitchFamily="49" charset="0"/>
                          </a:rPr>
                          <a:t>(</a:t>
                        </a:r>
                        <a:r>
                          <a:rPr lang="en-US" altLang="ko-KR" sz="1300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nn-NO" altLang="ko-KR" sz="1300" baseline="0" dirty="0">
                            <a:latin typeface="Consolas" panose="020B0609020204030204" pitchFamily="49" charset="0"/>
                          </a:rPr>
                          <a:t> i = 1; i &lt;= 12; i++)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nn-NO" altLang="ko-KR" sz="1300" baseline="0" dirty="0">
                            <a:latin typeface="Consolas" panose="020B0609020204030204" pitchFamily="49" charset="0"/>
                          </a:rPr>
                          <a:t>      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nn-NO" altLang="ko-KR" sz="1300" baseline="0" dirty="0">
                            <a:latin typeface="Consolas" panose="020B0609020204030204" pitchFamily="49" charset="0"/>
                          </a:rPr>
                          <a:t>         PrintCalendar(year, i);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nn-NO" altLang="ko-KR" sz="1300" baseline="0" dirty="0">
                            <a:latin typeface="Consolas" panose="020B0609020204030204" pitchFamily="49" charset="0"/>
                          </a:rPr>
                          <a:t>         printf(</a:t>
                        </a:r>
                        <a:r>
                          <a:rPr lang="en-US" altLang="ko-KR" sz="1300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nn-NO" altLang="ko-KR" sz="1300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\r\n\r\n</a:t>
                        </a:r>
                        <a:r>
                          <a:rPr lang="en-US" altLang="ko-KR" sz="1300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"</a:t>
                        </a:r>
                        <a:r>
                          <a:rPr lang="nn-NO" altLang="ko-KR" sz="1300" baseline="0" dirty="0">
                            <a:latin typeface="Consolas" panose="020B0609020204030204" pitchFamily="49" charset="0"/>
                          </a:rPr>
                          <a:t>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nn-NO" altLang="ko-KR" sz="1300" baseline="0" dirty="0">
                            <a:latin typeface="Consolas" panose="020B0609020204030204" pitchFamily="49" charset="0"/>
                          </a:rPr>
                          <a:t>      }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nn-NO" altLang="ko-KR" sz="1300" baseline="0" dirty="0">
                            <a:latin typeface="Consolas" panose="020B0609020204030204" pitchFamily="49" charset="0"/>
                          </a:rPr>
                          <a:t>   }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nn-NO" altLang="ko-KR" sz="1300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else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sz="1300" baseline="0" dirty="0" err="1">
                            <a:latin typeface="Consolas" panose="020B0609020204030204" pitchFamily="49" charset="0"/>
                          </a:rPr>
                          <a:t>PrintCalendar</a:t>
                        </a: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(year, month);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}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7871804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36C09"/>
                </a:solidFill>
              </a:rPr>
              <a:t>01. </a:t>
            </a:r>
            <a:r>
              <a:rPr lang="ko-KR" altLang="en-US" dirty="0">
                <a:solidFill>
                  <a:schemeClr val="tx1"/>
                </a:solidFill>
              </a:rPr>
              <a:t>달력 출력 프로그램</a:t>
            </a:r>
            <a:endParaRPr lang="ko-KR" altLang="en-US" dirty="0"/>
          </a:p>
        </p:txBody>
      </p:sp>
      <p:sp>
        <p:nvSpPr>
          <p:cNvPr id="4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01502"/>
            <a:ext cx="8424936" cy="4651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3"/>
            </a:pPr>
            <a:r>
              <a:rPr lang="ko-KR" altLang="en-US" sz="2400" dirty="0"/>
              <a:t>달력 출력 프로그램</a:t>
            </a:r>
            <a:endParaRPr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ko-KR" altLang="en-US" b="1" dirty="0"/>
              <a:t>연도와 월을 </a:t>
            </a:r>
            <a:r>
              <a:rPr lang="ko-KR" altLang="en-US" b="1" dirty="0" err="1"/>
              <a:t>입력받는</a:t>
            </a:r>
            <a:r>
              <a:rPr lang="ko-KR" altLang="en-US" b="1" dirty="0"/>
              <a:t> 달력 출력 프로그램</a:t>
            </a:r>
            <a:endParaRPr lang="en-US" sz="500" dirty="0"/>
          </a:p>
          <a:p>
            <a:pPr marL="971550" lvl="3" indent="-342900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  <a:buFont typeface="+mj-lt"/>
              <a:buAutoNum type="arabicParenR" startAt="6"/>
            </a:pPr>
            <a:r>
              <a:rPr lang="ko-KR" altLang="en-US" dirty="0"/>
              <a:t>전체 코드를 잘 작성하고 실행하면 다음과 같은 출력 화면이 나옴</a:t>
            </a:r>
          </a:p>
        </p:txBody>
      </p:sp>
      <p:pic>
        <p:nvPicPr>
          <p:cNvPr id="6146" name="Picture 2" descr="C:\Users\변소현\Desktop\난생처음 C 언어 프로그래밍\그림\Ch14\그림 14-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2463" y="2967038"/>
            <a:ext cx="2759075" cy="2827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33870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4000"/>
            </a:pPr>
            <a:r>
              <a:rPr lang="ko-KR" altLang="en-US" sz="4000" dirty="0"/>
              <a:t>문자열 검색 프로그램</a:t>
            </a:r>
            <a:endParaRPr sz="4000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/>
              <a:t>02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02. </a:t>
            </a:r>
            <a:r>
              <a:rPr lang="ko-KR" altLang="en-US" dirty="0"/>
              <a:t>문자열 검색 프로그램</a:t>
            </a:r>
            <a:endParaRPr dirty="0"/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0150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/>
            </a:pPr>
            <a:r>
              <a:rPr lang="ko-KR" altLang="en-US" sz="2400" dirty="0"/>
              <a:t>문자열 검색</a:t>
            </a:r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b="1" dirty="0"/>
              <a:t>문자열 검색 프로그램</a:t>
            </a:r>
            <a:endParaRPr lang="en-US" altLang="ko-KR" b="1" dirty="0"/>
          </a:p>
          <a:p>
            <a:pPr marL="1190625" lvl="3" indent="-285750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  <a:buSzPts val="1800"/>
              <a:buFont typeface="Malgun Gothic" panose="020B0503020000020004" pitchFamily="50" charset="-127"/>
              <a:buChar char="→"/>
            </a:pPr>
            <a:r>
              <a:rPr lang="ko-KR" altLang="en-US" dirty="0"/>
              <a:t>텍스트 파일에서 특정 문자열이 포함된 모든 줄을 보여주는 프로그램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 err="1"/>
              <a:t>strstr</a:t>
            </a:r>
            <a:r>
              <a:rPr lang="en-US" altLang="ko-KR" b="1" dirty="0"/>
              <a:t> </a:t>
            </a:r>
            <a:r>
              <a:rPr lang="ko-KR" altLang="en-US" b="1" dirty="0"/>
              <a:t>함수</a:t>
            </a:r>
            <a:endParaRPr lang="ko-KR" altLang="en-US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>
                <a:latin typeface="Consolas" panose="020B0609020204030204" pitchFamily="49" charset="0"/>
              </a:rPr>
              <a:t>str</a:t>
            </a:r>
            <a:r>
              <a:rPr lang="ko-KR" altLang="en-US" dirty="0"/>
              <a:t>이 가리키는 문자열에서 </a:t>
            </a:r>
            <a:r>
              <a:rPr lang="en-US" altLang="ko-KR" dirty="0" err="1">
                <a:latin typeface="Consolas" panose="020B0609020204030204" pitchFamily="49" charset="0"/>
              </a:rPr>
              <a:t>substr</a:t>
            </a:r>
            <a:r>
              <a:rPr lang="ko-KR" altLang="en-US" dirty="0"/>
              <a:t>을 검색하여 최초에 검색된 문자열을</a:t>
            </a:r>
            <a:br>
              <a:rPr lang="en-US" altLang="ko-KR" dirty="0"/>
            </a:br>
            <a:r>
              <a:rPr lang="ko-KR" altLang="en-US" dirty="0"/>
              <a:t>가리키는 포인터를 반환함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검색에 실패할 경우 </a:t>
            </a:r>
            <a:r>
              <a:rPr lang="en-US" altLang="ko-KR" dirty="0">
                <a:latin typeface="Consolas" panose="020B0609020204030204" pitchFamily="49" charset="0"/>
              </a:rPr>
              <a:t>NULL</a:t>
            </a:r>
            <a:r>
              <a:rPr lang="ko-KR" altLang="en-US" dirty="0"/>
              <a:t>을 반환함</a:t>
            </a:r>
            <a:endParaRPr lang="en-US" altLang="ko-KR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 err="1"/>
              <a:t>strstr</a:t>
            </a:r>
            <a:r>
              <a:rPr lang="en-US" altLang="ko-KR" b="1" dirty="0"/>
              <a:t> </a:t>
            </a:r>
            <a:r>
              <a:rPr lang="ko-KR" altLang="en-US" b="1" dirty="0"/>
              <a:t>함수의 형식</a:t>
            </a:r>
            <a:endParaRPr lang="en-US" altLang="ko-KR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7224" y="4789523"/>
            <a:ext cx="7029591" cy="577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90428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02. </a:t>
            </a:r>
            <a:r>
              <a:rPr lang="ko-KR" altLang="en-US" dirty="0"/>
              <a:t>문자열 검색 프로그램</a:t>
            </a:r>
            <a:endParaRPr dirty="0"/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0150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/>
            </a:pPr>
            <a:r>
              <a:rPr lang="ko-KR" altLang="en-US" sz="2400" dirty="0"/>
              <a:t>문자열 검색</a:t>
            </a:r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 err="1"/>
              <a:t>strstr</a:t>
            </a:r>
            <a:r>
              <a:rPr lang="en-US" altLang="ko-KR" b="1" dirty="0"/>
              <a:t> </a:t>
            </a:r>
            <a:r>
              <a:rPr lang="ko-KR" altLang="en-US" b="1" dirty="0"/>
              <a:t>함수의 사용법</a:t>
            </a:r>
            <a:endParaRPr lang="ko-KR" altLang="en-US" dirty="0"/>
          </a:p>
        </p:txBody>
      </p:sp>
      <p:sp>
        <p:nvSpPr>
          <p:cNvPr id="5" name="Google Shape;102;p7"/>
          <p:cNvSpPr txBox="1"/>
          <p:nvPr/>
        </p:nvSpPr>
        <p:spPr>
          <a:xfrm>
            <a:off x="1029627" y="2299678"/>
            <a:ext cx="3995251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14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-6] </a:t>
            </a:r>
            <a:r>
              <a:rPr lang="en-US" sz="1600" b="1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strstr</a:t>
            </a:r>
            <a:endParaRPr dirty="0"/>
          </a:p>
        </p:txBody>
      </p:sp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1318647975"/>
              </p:ext>
            </p:extLst>
          </p:nvPr>
        </p:nvGraphicFramePr>
        <p:xfrm>
          <a:off x="1119663" y="2663031"/>
          <a:ext cx="6779261" cy="2121418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baseline="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baseline="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string.h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char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* find =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strstr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난생처음 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C 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프로그래밍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"C"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"%s"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, find);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749" y="4826122"/>
            <a:ext cx="6892152" cy="520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289152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02. </a:t>
            </a:r>
            <a:r>
              <a:rPr lang="ko-KR" altLang="en-US" dirty="0"/>
              <a:t>문자열 검색 프로그램</a:t>
            </a:r>
            <a:endParaRPr dirty="0"/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0150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ko-KR" altLang="en-US" sz="2400" dirty="0"/>
              <a:t>문자열 검색 프로그램</a:t>
            </a:r>
          </a:p>
        </p:txBody>
      </p:sp>
      <p:sp>
        <p:nvSpPr>
          <p:cNvPr id="5" name="Google Shape;102;p7"/>
          <p:cNvSpPr txBox="1"/>
          <p:nvPr/>
        </p:nvSpPr>
        <p:spPr>
          <a:xfrm>
            <a:off x="1029627" y="1766278"/>
            <a:ext cx="3995251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14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-7]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텍스트 파일 문자열 검색</a:t>
            </a:r>
            <a:endParaRPr dirty="0"/>
          </a:p>
        </p:txBody>
      </p:sp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2089292302"/>
              </p:ext>
            </p:extLst>
          </p:nvPr>
        </p:nvGraphicFramePr>
        <p:xfrm>
          <a:off x="1119663" y="2129631"/>
          <a:ext cx="6779261" cy="4169674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16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#define </a:t>
                      </a:r>
                      <a:r>
                        <a:rPr lang="en-US" altLang="ko-KR" baseline="0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_CRT_SECURE_NO_WARNINGS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baseline="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baseline="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errno.h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baseline="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string.h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char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path[256];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char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find[64];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파일 경로를 입력하세요 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 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scanf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"%s"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, path);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ko-KR" altLang="en-US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찾을 문자열을 입력하세요 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 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scanf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"%s"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, find);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94940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02. </a:t>
            </a:r>
            <a:r>
              <a:rPr lang="ko-KR" altLang="en-US" dirty="0"/>
              <a:t>문자열 검색 프로그램</a:t>
            </a:r>
            <a:endParaRPr dirty="0"/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0150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ko-KR" altLang="en-US" sz="2400" dirty="0"/>
              <a:t>문자열 검색 프로그램</a:t>
            </a:r>
          </a:p>
        </p:txBody>
      </p:sp>
      <p:sp>
        <p:nvSpPr>
          <p:cNvPr id="5" name="Google Shape;102;p7"/>
          <p:cNvSpPr txBox="1"/>
          <p:nvPr/>
        </p:nvSpPr>
        <p:spPr>
          <a:xfrm>
            <a:off x="1029627" y="1766278"/>
            <a:ext cx="3995251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 </a:t>
            </a:r>
            <a:r>
              <a:rPr lang="en-US" altLang="ko-KR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14-7] 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텍스트 파일 문자열 검색</a:t>
            </a:r>
            <a:endParaRPr lang="ko-KR" altLang="en-US" sz="1600" dirty="0"/>
          </a:p>
        </p:txBody>
      </p:sp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3916678514"/>
              </p:ext>
            </p:extLst>
          </p:nvPr>
        </p:nvGraphicFramePr>
        <p:xfrm>
          <a:off x="1119663" y="2129631"/>
          <a:ext cx="6779261" cy="4169674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31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32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FILE* f =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fopen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(path, "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rb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");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(f)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rownum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= 0;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findnum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= 0;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char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str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[1024];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baseline="0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while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(1)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rownum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++;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   </a:t>
                      </a:r>
                      <a:r>
                        <a:rPr lang="en-US" altLang="ko-KR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r =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fgets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str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sizeof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str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), f);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   </a:t>
                      </a:r>
                      <a:r>
                        <a:rPr lang="en-US" altLang="ko-KR" baseline="0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(r)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      </a:t>
                      </a:r>
                      <a:r>
                        <a:rPr lang="en-US" altLang="ko-KR" baseline="0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strstr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str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, find))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   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      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"%d. %s"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rownum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str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);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61066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02. </a:t>
            </a:r>
            <a:r>
              <a:rPr lang="ko-KR" altLang="en-US" dirty="0"/>
              <a:t>문자열 검색 프로그램</a:t>
            </a:r>
            <a:endParaRPr dirty="0"/>
          </a:p>
        </p:txBody>
      </p:sp>
      <p:sp>
        <p:nvSpPr>
          <p:cNvPr id="16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0150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>
              <a:buSzPts val="2400"/>
              <a:buFont typeface="+mj-lt"/>
              <a:buAutoNum type="romanUcPeriod" startAt="2"/>
            </a:pPr>
            <a:r>
              <a:rPr lang="ko-KR" altLang="en-US" sz="2400" dirty="0"/>
              <a:t>문자열 검색 프로그램</a:t>
            </a:r>
          </a:p>
        </p:txBody>
      </p:sp>
      <p:sp>
        <p:nvSpPr>
          <p:cNvPr id="5" name="Google Shape;102;p7"/>
          <p:cNvSpPr txBox="1"/>
          <p:nvPr/>
        </p:nvSpPr>
        <p:spPr>
          <a:xfrm>
            <a:off x="1029627" y="1766278"/>
            <a:ext cx="3995251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 </a:t>
            </a:r>
            <a:r>
              <a:rPr lang="en-US" altLang="ko-KR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14-7] </a:t>
            </a:r>
            <a:r>
              <a:rPr lang="ko-KR" altLang="en-US" sz="1600" b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텍스트 파일 문자열 검색</a:t>
            </a:r>
            <a:endParaRPr lang="ko-KR" altLang="en-US" sz="1600" dirty="0"/>
          </a:p>
        </p:txBody>
      </p:sp>
      <p:graphicFrame>
        <p:nvGraphicFramePr>
          <p:cNvPr id="6" name="Google Shape;104;p7"/>
          <p:cNvGraphicFramePr/>
          <p:nvPr>
            <p:extLst>
              <p:ext uri="{D42A27DB-BD31-4B8C-83A1-F6EECF244321}">
                <p14:modId xmlns:p14="http://schemas.microsoft.com/office/powerpoint/2010/main" val="4088562793"/>
              </p:ext>
            </p:extLst>
          </p:nvPr>
        </p:nvGraphicFramePr>
        <p:xfrm>
          <a:off x="1119663" y="2129631"/>
          <a:ext cx="6779261" cy="4425706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33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34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35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36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37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38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39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40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41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42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43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44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45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46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47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48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49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      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findnum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++;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   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   </a:t>
                      </a:r>
                      <a:r>
                        <a:rPr lang="en-US" altLang="ko-KR" baseline="0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else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      </a:t>
                      </a:r>
                      <a:r>
                        <a:rPr lang="en-US" altLang="ko-KR" baseline="0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break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fclose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(f);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baseline="0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(!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findnum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"Not Found!"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>
                          <a:solidFill>
                            <a:srgbClr val="7030A0"/>
                          </a:solidFill>
                          <a:latin typeface="Consolas" panose="020B0609020204030204" pitchFamily="49" charset="0"/>
                        </a:rPr>
                        <a:t>else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"Read Error: %d, %s"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errno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strerror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 err="1">
                          <a:latin typeface="Consolas" panose="020B0609020204030204" pitchFamily="49" charset="0"/>
                        </a:rPr>
                        <a:t>errno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));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389"/>
          <a:stretch/>
        </p:blipFill>
        <p:spPr bwMode="auto">
          <a:xfrm>
            <a:off x="5542206" y="2207411"/>
            <a:ext cx="3349130" cy="11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158955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 txBox="1">
            <a:spLocks noGrp="1"/>
          </p:cNvSpPr>
          <p:nvPr>
            <p:ph type="body" idx="1"/>
          </p:nvPr>
        </p:nvSpPr>
        <p:spPr>
          <a:xfrm>
            <a:off x="719572" y="3412604"/>
            <a:ext cx="7704856" cy="217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algun Gothic"/>
              <a:buNone/>
            </a:pPr>
            <a:r>
              <a:rPr lang="ko-KR" altLang="en-US" sz="4000" dirty="0" err="1"/>
              <a:t>로또</a:t>
            </a:r>
            <a:r>
              <a:rPr lang="ko-KR" altLang="en-US" sz="4000" dirty="0"/>
              <a:t> 번호 생성 프로그램</a:t>
            </a:r>
            <a:endParaRPr sz="4000" dirty="0"/>
          </a:p>
        </p:txBody>
      </p:sp>
      <p:sp>
        <p:nvSpPr>
          <p:cNvPr id="95" name="Google Shape;95;p6"/>
          <p:cNvSpPr txBox="1">
            <a:spLocks noGrp="1"/>
          </p:cNvSpPr>
          <p:nvPr>
            <p:ph type="body" idx="2"/>
          </p:nvPr>
        </p:nvSpPr>
        <p:spPr>
          <a:xfrm>
            <a:off x="719572" y="2204864"/>
            <a:ext cx="7704856" cy="93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US" dirty="0"/>
              <a:t>03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324248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ko-KR" altLang="en-US" dirty="0" err="1">
                <a:solidFill>
                  <a:schemeClr val="tx1"/>
                </a:solidFill>
              </a:rPr>
              <a:t>로또</a:t>
            </a:r>
            <a:r>
              <a:rPr lang="ko-KR" altLang="en-US" dirty="0">
                <a:solidFill>
                  <a:schemeClr val="tx1"/>
                </a:solidFill>
              </a:rPr>
              <a:t> 번호 생성 프로그램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0150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/>
            </a:pPr>
            <a:r>
              <a:rPr lang="ko-KR" altLang="en-US" sz="2400" dirty="0" err="1"/>
              <a:t>난수</a:t>
            </a:r>
            <a:r>
              <a:rPr lang="ko-KR" altLang="en-US" sz="2400" dirty="0"/>
              <a:t> 생성</a:t>
            </a:r>
            <a:endParaRPr lang="en-US" b="1" dirty="0"/>
          </a:p>
          <a:p>
            <a:pPr marL="628650" lvl="2" indent="-180975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3C479D"/>
              </a:buClr>
              <a:buSzPts val="1800"/>
              <a:buChar char="•"/>
            </a:pPr>
            <a:r>
              <a:rPr lang="ko-KR" altLang="en-US" b="1" dirty="0"/>
              <a:t>로또 번호 생성 프로그램</a:t>
            </a:r>
            <a:endParaRPr lang="en-US" altLang="ko-KR" b="1" dirty="0"/>
          </a:p>
          <a:p>
            <a:pPr marL="1190625" lvl="3" indent="-285750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  <a:buSzPts val="1800"/>
              <a:buFont typeface="Malgun Gothic" panose="020B0503020000020004" pitchFamily="50" charset="-127"/>
              <a:buChar char="→"/>
            </a:pPr>
            <a:r>
              <a:rPr lang="ko-KR" altLang="en-US" dirty="0"/>
              <a:t>자동으로 번호를 무작위 생성하는 프로그램</a:t>
            </a:r>
            <a:endParaRPr lang="en-US" altLang="ko-KR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/>
              <a:t>rand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/>
              <a:t>0</a:t>
            </a:r>
            <a:r>
              <a:rPr lang="ko-KR" altLang="en-US" dirty="0"/>
              <a:t>부터 </a:t>
            </a:r>
            <a:r>
              <a:rPr lang="en-US" altLang="ko-KR" dirty="0">
                <a:latin typeface="Consolas" panose="020B0609020204030204" pitchFamily="49" charset="0"/>
              </a:rPr>
              <a:t>RAND_MAX</a:t>
            </a:r>
            <a:r>
              <a:rPr lang="en-US" altLang="ko-KR" dirty="0"/>
              <a:t> </a:t>
            </a:r>
            <a:r>
              <a:rPr lang="ko-KR" altLang="en-US" dirty="0"/>
              <a:t>사이의 정수를 무작위로 반환</a:t>
            </a:r>
            <a:endParaRPr lang="en-US" altLang="ko-KR" b="1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84"/>
          <a:stretch/>
        </p:blipFill>
        <p:spPr bwMode="auto">
          <a:xfrm>
            <a:off x="1407913" y="3570079"/>
            <a:ext cx="6493917" cy="514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19506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ko-KR" altLang="en-US" dirty="0" err="1">
                <a:solidFill>
                  <a:schemeClr val="tx1"/>
                </a:solidFill>
              </a:rPr>
              <a:t>로또</a:t>
            </a:r>
            <a:r>
              <a:rPr lang="ko-KR" altLang="en-US" dirty="0">
                <a:solidFill>
                  <a:schemeClr val="tx1"/>
                </a:solidFill>
              </a:rPr>
              <a:t> 번호 생성 프로그램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0150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/>
            </a:pPr>
            <a:r>
              <a:rPr lang="ko-KR" altLang="en-US" sz="2400" dirty="0" err="1"/>
              <a:t>난수</a:t>
            </a:r>
            <a:r>
              <a:rPr lang="ko-KR" altLang="en-US" sz="2400" dirty="0"/>
              <a:t> 생성</a:t>
            </a:r>
            <a:endParaRPr lang="en-US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/>
              <a:t>rand </a:t>
            </a:r>
            <a:r>
              <a:rPr lang="ko-KR" altLang="en-US" b="1" dirty="0"/>
              <a:t>함수 사용법</a:t>
            </a:r>
            <a:endParaRPr lang="en-US" altLang="ko-KR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98C79C27-A395-4CC5-A166-F105108E6C0F}"/>
              </a:ext>
            </a:extLst>
          </p:cNvPr>
          <p:cNvGrpSpPr/>
          <p:nvPr/>
        </p:nvGrpSpPr>
        <p:grpSpPr>
          <a:xfrm>
            <a:off x="1137351" y="2266042"/>
            <a:ext cx="6869297" cy="2484771"/>
            <a:chOff x="1029627" y="3424780"/>
            <a:chExt cx="6869297" cy="2484771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96058CCE-3C02-432E-9AC5-4BE3004EF843}"/>
                </a:ext>
              </a:extLst>
            </p:cNvPr>
            <p:cNvGrpSpPr/>
            <p:nvPr/>
          </p:nvGrpSpPr>
          <p:grpSpPr>
            <a:xfrm>
              <a:off x="1029627" y="3424780"/>
              <a:ext cx="6869297" cy="2484771"/>
              <a:chOff x="1029627" y="3424780"/>
              <a:chExt cx="6869297" cy="2484771"/>
            </a:xfrm>
          </p:grpSpPr>
          <p:sp>
            <p:nvSpPr>
              <p:cNvPr id="6" name="Google Shape;102;p7"/>
              <p:cNvSpPr txBox="1"/>
              <p:nvPr/>
            </p:nvSpPr>
            <p:spPr>
              <a:xfrm>
                <a:off x="1029627" y="3424780"/>
                <a:ext cx="3995251" cy="3181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lvl="0"/>
                <a:r>
                  <a:rPr lang="en-US" sz="1600" b="1" i="0" u="none" strike="noStrike" cap="none" dirty="0">
                    <a:solidFill>
                      <a:srgbClr val="E36C09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[</a:t>
                </a:r>
                <a:r>
                  <a:rPr lang="en-US" sz="1600" b="1" i="0" u="none" strike="noStrike" cap="none" dirty="0" err="1">
                    <a:solidFill>
                      <a:srgbClr val="E36C09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코드</a:t>
                </a:r>
                <a:r>
                  <a:rPr lang="en-US" sz="1600" b="1" i="0" u="none" strike="noStrike" cap="none" dirty="0">
                    <a:solidFill>
                      <a:srgbClr val="E36C09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</a:t>
                </a:r>
                <a:r>
                  <a:rPr lang="en-US" sz="1600" b="1" dirty="0">
                    <a:solidFill>
                      <a:srgbClr val="E36C09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14</a:t>
                </a:r>
                <a:r>
                  <a:rPr lang="en-US" sz="1600" b="1" i="0" u="none" strike="noStrike" cap="none" dirty="0">
                    <a:solidFill>
                      <a:srgbClr val="E36C09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-8] </a:t>
                </a:r>
                <a:r>
                  <a:rPr lang="en-US" sz="1600" b="1" dirty="0">
                    <a:solidFill>
                      <a:srgbClr val="E36C09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rand</a:t>
                </a:r>
                <a:endParaRPr dirty="0"/>
              </a:p>
            </p:txBody>
          </p:sp>
          <p:graphicFrame>
            <p:nvGraphicFramePr>
              <p:cNvPr id="7" name="Google Shape;104;p7"/>
              <p:cNvGraphicFramePr/>
              <p:nvPr>
                <p:extLst>
                  <p:ext uri="{D42A27DB-BD31-4B8C-83A1-F6EECF244321}">
                    <p14:modId xmlns:p14="http://schemas.microsoft.com/office/powerpoint/2010/main" val="1175382948"/>
                  </p:ext>
                </p:extLst>
              </p:nvPr>
            </p:nvGraphicFramePr>
            <p:xfrm>
              <a:off x="1119663" y="3788133"/>
              <a:ext cx="6779261" cy="2121418"/>
            </p:xfrm>
            <a:graphic>
              <a:graphicData uri="http://schemas.openxmlformats.org/drawingml/2006/table">
                <a:tbl>
                  <a:tblPr firstRow="1" bandRow="1">
                    <a:noFill/>
                    <a:tableStyleId>{270F0E0B-0B7A-4AD7-8269-C2576374BDFF}</a:tableStyleId>
                  </a:tblPr>
                  <a:tblGrid>
                    <a:gridCol w="39491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38435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180022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400" b="1" u="none" strike="noStrike" cap="none" dirty="0">
                              <a:solidFill>
                                <a:schemeClr val="dk1"/>
                              </a:solidFill>
                              <a:latin typeface="Consolas" panose="020B0609020204030204" pitchFamily="49" charset="0"/>
                              <a:ea typeface="Consolas"/>
                              <a:cs typeface="Consolas"/>
                              <a:sym typeface="Consolas"/>
                            </a:rPr>
                            <a:t>01</a:t>
                          </a: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400" b="1" u="none" strike="noStrike" cap="none" dirty="0">
                              <a:solidFill>
                                <a:schemeClr val="dk1"/>
                              </a:solidFill>
                              <a:latin typeface="Consolas" panose="020B0609020204030204" pitchFamily="49" charset="0"/>
                              <a:ea typeface="Consolas"/>
                              <a:cs typeface="Consolas"/>
                              <a:sym typeface="Consolas"/>
                            </a:rPr>
                            <a:t>02</a:t>
                          </a: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400" b="1" u="none" strike="noStrike" cap="none" dirty="0">
                              <a:solidFill>
                                <a:schemeClr val="dk1"/>
                              </a:solidFill>
                              <a:latin typeface="Consolas" panose="020B0609020204030204" pitchFamily="49" charset="0"/>
                              <a:ea typeface="Consolas"/>
                              <a:cs typeface="Consolas"/>
                              <a:sym typeface="Consolas"/>
                            </a:rPr>
                            <a:t>03</a:t>
                          </a: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400" b="1" u="none" strike="noStrike" cap="none" dirty="0">
                              <a:solidFill>
                                <a:schemeClr val="dk1"/>
                              </a:solidFill>
                              <a:latin typeface="Consolas" panose="020B0609020204030204" pitchFamily="49" charset="0"/>
                              <a:ea typeface="Consolas"/>
                              <a:cs typeface="Consolas"/>
                              <a:sym typeface="Consolas"/>
                            </a:rPr>
                            <a:t>04</a:t>
                          </a: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400" b="1" u="none" strike="noStrike" cap="none" dirty="0">
                              <a:solidFill>
                                <a:schemeClr val="dk1"/>
                              </a:solidFill>
                              <a:latin typeface="Consolas" panose="020B0609020204030204" pitchFamily="49" charset="0"/>
                              <a:ea typeface="Consolas"/>
                              <a:cs typeface="Consolas"/>
                              <a:sym typeface="Consolas"/>
                            </a:rPr>
                            <a:t>05</a:t>
                          </a: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400" b="1" u="none" strike="noStrike" cap="none" dirty="0">
                              <a:solidFill>
                                <a:schemeClr val="dk1"/>
                              </a:solidFill>
                              <a:latin typeface="Consolas" panose="020B0609020204030204" pitchFamily="49" charset="0"/>
                              <a:ea typeface="Consolas"/>
                              <a:cs typeface="Consolas"/>
                              <a:sym typeface="Consolas"/>
                            </a:rPr>
                            <a:t>06</a:t>
                          </a: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400" b="1" u="none" strike="noStrike" cap="none" dirty="0">
                              <a:solidFill>
                                <a:schemeClr val="dk1"/>
                              </a:solidFill>
                              <a:latin typeface="Consolas" panose="020B0609020204030204" pitchFamily="49" charset="0"/>
                              <a:ea typeface="Consolas"/>
                              <a:cs typeface="Consolas"/>
                              <a:sym typeface="Consolas"/>
                            </a:rPr>
                            <a:t>07</a:t>
                          </a: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400" b="1" u="none" strike="noStrike" cap="none" dirty="0">
                              <a:solidFill>
                                <a:schemeClr val="dk1"/>
                              </a:solidFill>
                              <a:latin typeface="Consolas" panose="020B0609020204030204" pitchFamily="49" charset="0"/>
                              <a:ea typeface="Consolas"/>
                              <a:cs typeface="Consolas"/>
                              <a:sym typeface="Consolas"/>
                            </a:rPr>
                            <a:t>08</a:t>
                          </a:r>
                        </a:p>
                      </a:txBody>
                      <a:tcPr marL="91450" marR="91450" marT="45725" marB="45725">
                        <a:lnL w="12700" cap="flat" cmpd="sng">
                          <a:solidFill>
                            <a:srgbClr val="F29B87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>
                          <a:solidFill>
                            <a:srgbClr val="F29B87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>
                          <a:solidFill>
                            <a:srgbClr val="F29B87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>
                          <a:solidFill>
                            <a:srgbClr val="F29B87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altLang="ko-KR" baseline="0" dirty="0">
                              <a:latin typeface="Consolas" panose="020B0609020204030204" pitchFamily="49" charset="0"/>
                            </a:rPr>
                            <a:t>#include </a:t>
                          </a:r>
                          <a:r>
                            <a:rPr lang="en-US" altLang="ko-KR" baseline="0" dirty="0">
                              <a:solidFill>
                                <a:srgbClr val="FF0000"/>
                              </a:solidFill>
                              <a:latin typeface="Consolas" panose="020B0609020204030204" pitchFamily="49" charset="0"/>
                            </a:rPr>
                            <a:t>&lt;</a:t>
                          </a:r>
                          <a:r>
                            <a:rPr lang="en-US" altLang="ko-KR" baseline="0" dirty="0" err="1">
                              <a:solidFill>
                                <a:srgbClr val="FF0000"/>
                              </a:solidFill>
                              <a:latin typeface="Consolas" panose="020B0609020204030204" pitchFamily="49" charset="0"/>
                            </a:rPr>
                            <a:t>stdio.h</a:t>
                          </a:r>
                          <a:r>
                            <a:rPr lang="en-US" altLang="ko-KR" baseline="0" dirty="0">
                              <a:solidFill>
                                <a:srgbClr val="FF0000"/>
                              </a:solidFill>
                              <a:latin typeface="Consolas" panose="020B0609020204030204" pitchFamily="49" charset="0"/>
                            </a:rPr>
                            <a:t>&gt;</a:t>
                          </a: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altLang="ko-KR" baseline="0" dirty="0">
                              <a:latin typeface="Consolas" panose="020B0609020204030204" pitchFamily="49" charset="0"/>
                            </a:rPr>
                            <a:t>#include </a:t>
                          </a:r>
                          <a:r>
                            <a:rPr lang="en-US" altLang="ko-KR" baseline="0" dirty="0">
                              <a:solidFill>
                                <a:srgbClr val="FF0000"/>
                              </a:solidFill>
                              <a:latin typeface="Consolas" panose="020B0609020204030204" pitchFamily="49" charset="0"/>
                            </a:rPr>
                            <a:t>&lt;</a:t>
                          </a:r>
                          <a:r>
                            <a:rPr lang="en-US" altLang="ko-KR" baseline="0" dirty="0" err="1">
                              <a:solidFill>
                                <a:srgbClr val="FF0000"/>
                              </a:solidFill>
                              <a:latin typeface="Consolas" panose="020B0609020204030204" pitchFamily="49" charset="0"/>
                            </a:rPr>
                            <a:t>stdlib.h</a:t>
                          </a:r>
                          <a:r>
                            <a:rPr lang="en-US" altLang="ko-KR" baseline="0" dirty="0">
                              <a:solidFill>
                                <a:srgbClr val="FF0000"/>
                              </a:solidFill>
                              <a:latin typeface="Consolas" panose="020B0609020204030204" pitchFamily="49" charset="0"/>
                            </a:rPr>
                            <a:t>&gt;</a:t>
                          </a: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-US" altLang="ko-KR" baseline="0" dirty="0">
                            <a:latin typeface="Consolas" panose="020B0609020204030204" pitchFamily="49" charset="0"/>
                          </a:endParaRP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altLang="ko-KR" baseline="0" dirty="0" err="1">
                              <a:solidFill>
                                <a:srgbClr val="0070C0"/>
                              </a:solidFill>
                              <a:latin typeface="Consolas" panose="020B0609020204030204" pitchFamily="49" charset="0"/>
                            </a:rPr>
                            <a:t>int</a:t>
                          </a:r>
                          <a:r>
                            <a:rPr lang="en-US" altLang="ko-KR" baseline="0" dirty="0">
                              <a:latin typeface="Consolas" panose="020B0609020204030204" pitchFamily="49" charset="0"/>
                            </a:rPr>
                            <a:t> main( )</a:t>
                          </a: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altLang="ko-KR" baseline="0" dirty="0">
                              <a:latin typeface="Consolas" panose="020B0609020204030204" pitchFamily="49" charset="0"/>
                            </a:rPr>
                            <a:t>{</a:t>
                          </a: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altLang="ko-KR" baseline="0" dirty="0">
                              <a:latin typeface="Consolas" panose="020B0609020204030204" pitchFamily="49" charset="0"/>
                            </a:rPr>
                            <a:t>   </a:t>
                          </a:r>
                          <a:r>
                            <a:rPr lang="nn-NO" altLang="ko-KR" baseline="0" dirty="0">
                              <a:solidFill>
                                <a:schemeClr val="accent4"/>
                              </a:solidFill>
                              <a:latin typeface="Consolas" panose="020B0609020204030204" pitchFamily="49" charset="0"/>
                            </a:rPr>
                            <a:t>for</a:t>
                          </a:r>
                          <a:r>
                            <a:rPr lang="nn-NO" altLang="ko-KR" baseline="0" dirty="0">
                              <a:latin typeface="Consolas" panose="020B0609020204030204" pitchFamily="49" charset="0"/>
                            </a:rPr>
                            <a:t>(</a:t>
                          </a:r>
                          <a:r>
                            <a:rPr lang="en-US" altLang="ko-KR" baseline="0" dirty="0" err="1">
                              <a:solidFill>
                                <a:srgbClr val="0070C0"/>
                              </a:solidFill>
                              <a:latin typeface="Consolas" panose="020B0609020204030204" pitchFamily="49" charset="0"/>
                            </a:rPr>
                            <a:t>int</a:t>
                          </a:r>
                          <a:r>
                            <a:rPr lang="nn-NO" altLang="ko-KR" baseline="0" dirty="0">
                              <a:latin typeface="Consolas" panose="020B0609020204030204" pitchFamily="49" charset="0"/>
                            </a:rPr>
                            <a:t> i = 0; i &lt; 3; i++)</a:t>
                          </a: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nn-NO" altLang="ko-KR" baseline="0" dirty="0">
                              <a:latin typeface="Consolas" panose="020B0609020204030204" pitchFamily="49" charset="0"/>
                            </a:rPr>
                            <a:t>      printf(</a:t>
                          </a:r>
                          <a:r>
                            <a:rPr lang="nn-NO" altLang="ko-KR" baseline="0" dirty="0">
                              <a:solidFill>
                                <a:srgbClr val="FF0000"/>
                              </a:solidFill>
                              <a:latin typeface="Consolas" panose="020B0609020204030204" pitchFamily="49" charset="0"/>
                            </a:rPr>
                            <a:t>"%d</a:t>
                          </a:r>
                          <a:r>
                            <a:rPr lang="nn-NO" altLang="ko-KR" baseline="0" dirty="0">
                              <a:solidFill>
                                <a:schemeClr val="accent4"/>
                              </a:solidFill>
                              <a:latin typeface="Consolas" panose="020B0609020204030204" pitchFamily="49" charset="0"/>
                            </a:rPr>
                            <a:t>\r\n</a:t>
                          </a:r>
                          <a:r>
                            <a:rPr lang="nn-NO" altLang="ko-KR" baseline="0" dirty="0">
                              <a:solidFill>
                                <a:srgbClr val="FF0000"/>
                              </a:solidFill>
                              <a:latin typeface="Consolas" panose="020B0609020204030204" pitchFamily="49" charset="0"/>
                            </a:rPr>
                            <a:t>"</a:t>
                          </a:r>
                          <a:r>
                            <a:rPr lang="nn-NO" altLang="ko-KR" baseline="0" dirty="0">
                              <a:latin typeface="Consolas" panose="020B0609020204030204" pitchFamily="49" charset="0"/>
                            </a:rPr>
                            <a:t>, rand( ));</a:t>
                          </a:r>
                        </a:p>
                        <a:p>
                          <a:pPr marL="0" marR="0" lvl="0" indent="0" algn="l" rtl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nn-NO" altLang="ko-KR" baseline="0" dirty="0">
                              <a:latin typeface="Consolas" panose="020B0609020204030204" pitchFamily="49" charset="0"/>
                            </a:rPr>
                            <a:t>}</a:t>
                          </a:r>
                          <a:endParaRPr lang="en-US" altLang="ko-KR" baseline="0" dirty="0">
                            <a:latin typeface="Consolas" panose="020B0609020204030204" pitchFamily="49" charset="0"/>
                          </a:endParaRPr>
                        </a:p>
                      </a:txBody>
                      <a:tcPr marL="91450" marR="91450" marT="45725" marB="45725">
                        <a:lnL w="12700" cap="flat" cmpd="sng">
                          <a:solidFill>
                            <a:srgbClr val="F29B87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>
                          <a:solidFill>
                            <a:srgbClr val="F29B87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>
                          <a:solidFill>
                            <a:srgbClr val="F29B87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2700" cap="flat" cmpd="sng">
                          <a:solidFill>
                            <a:srgbClr val="F29B87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p:grpSp>
        <p:pic>
          <p:nvPicPr>
            <p:cNvPr id="1126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5882" y="4848842"/>
              <a:ext cx="1809768" cy="1017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489277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ko-KR" altLang="en-US" dirty="0" err="1">
                <a:solidFill>
                  <a:schemeClr val="tx1"/>
                </a:solidFill>
              </a:rPr>
              <a:t>로또</a:t>
            </a:r>
            <a:r>
              <a:rPr lang="ko-KR" altLang="en-US" dirty="0">
                <a:solidFill>
                  <a:schemeClr val="tx1"/>
                </a:solidFill>
              </a:rPr>
              <a:t> 번호 생성 프로그램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0150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/>
            </a:pPr>
            <a:r>
              <a:rPr lang="ko-KR" altLang="en-US" sz="2400" dirty="0" err="1"/>
              <a:t>난수</a:t>
            </a:r>
            <a:r>
              <a:rPr lang="ko-KR" altLang="en-US" sz="2400" dirty="0"/>
              <a:t> 생성</a:t>
            </a:r>
            <a:endParaRPr lang="en-US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 err="1"/>
              <a:t>srand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en-US" altLang="ko-KR" dirty="0"/>
              <a:t>rand</a:t>
            </a:r>
            <a:r>
              <a:rPr lang="ko-KR" altLang="en-US" dirty="0"/>
              <a:t>가 참조하는 씨앗을 설정하는 함수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매개변수 </a:t>
            </a:r>
            <a:r>
              <a:rPr lang="en-US" altLang="ko-KR" dirty="0"/>
              <a:t>seed</a:t>
            </a:r>
            <a:r>
              <a:rPr lang="ko-KR" altLang="en-US" dirty="0"/>
              <a:t>가 씨앗이 됨</a:t>
            </a:r>
            <a:endParaRPr lang="en-US" altLang="ko-KR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b="1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endParaRPr lang="en-US" altLang="ko-KR" sz="800" b="1" dirty="0"/>
          </a:p>
          <a:p>
            <a:pPr marL="809625" lvl="3" indent="-180975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</a:pPr>
            <a:r>
              <a:rPr lang="ko-KR" altLang="en-US" dirty="0"/>
              <a:t>씨앗을 무작위로 하기 위해 현재 시간을 설정함</a:t>
            </a:r>
            <a:endParaRPr lang="en-US" altLang="ko-KR" dirty="0"/>
          </a:p>
          <a:p>
            <a:pPr marL="628650" lvl="3" indent="0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  <a:buNone/>
            </a:pPr>
            <a:endParaRPr lang="en-US" altLang="ko-KR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51"/>
          <a:stretch/>
        </p:blipFill>
        <p:spPr bwMode="auto">
          <a:xfrm>
            <a:off x="1524390" y="3115539"/>
            <a:ext cx="6485258" cy="502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51"/>
          <a:stretch/>
        </p:blipFill>
        <p:spPr bwMode="auto">
          <a:xfrm>
            <a:off x="1524391" y="4316326"/>
            <a:ext cx="6485258" cy="544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00028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ko-KR" altLang="en-US" dirty="0" err="1">
                <a:solidFill>
                  <a:schemeClr val="tx1"/>
                </a:solidFill>
              </a:rPr>
              <a:t>로또</a:t>
            </a:r>
            <a:r>
              <a:rPr lang="ko-KR" altLang="en-US" dirty="0">
                <a:solidFill>
                  <a:schemeClr val="tx1"/>
                </a:solidFill>
              </a:rPr>
              <a:t> 번호 생성 프로그램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0150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lgun Gothic"/>
              <a:buAutoNum type="romanUcPeriod"/>
            </a:pPr>
            <a:r>
              <a:rPr lang="ko-KR" altLang="en-US" sz="2400" dirty="0" err="1"/>
              <a:t>난수</a:t>
            </a:r>
            <a:r>
              <a:rPr lang="ko-KR" altLang="en-US" sz="2400" dirty="0"/>
              <a:t> 생성</a:t>
            </a:r>
            <a:endParaRPr lang="en-US" b="1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 err="1"/>
              <a:t>srand</a:t>
            </a:r>
            <a:r>
              <a:rPr lang="en-US" altLang="ko-KR" b="1" dirty="0"/>
              <a:t> </a:t>
            </a:r>
            <a:r>
              <a:rPr lang="ko-KR" altLang="en-US" b="1" dirty="0"/>
              <a:t>함수 사용법</a:t>
            </a:r>
            <a:endParaRPr lang="en-US" altLang="ko-KR" dirty="0"/>
          </a:p>
          <a:p>
            <a:pPr marL="628650" lvl="3" indent="0">
              <a:lnSpc>
                <a:spcPct val="150000"/>
              </a:lnSpc>
              <a:spcBef>
                <a:spcPts val="620"/>
              </a:spcBef>
              <a:buClr>
                <a:srgbClr val="3C479D"/>
              </a:buClr>
              <a:buNone/>
            </a:pPr>
            <a:endParaRPr lang="en-US" altLang="ko-KR" dirty="0"/>
          </a:p>
        </p:txBody>
      </p:sp>
      <p:sp>
        <p:nvSpPr>
          <p:cNvPr id="6" name="Google Shape;102;p7"/>
          <p:cNvSpPr txBox="1"/>
          <p:nvPr/>
        </p:nvSpPr>
        <p:spPr>
          <a:xfrm>
            <a:off x="1029627" y="2309690"/>
            <a:ext cx="3995251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sz="1600" b="1" i="0" u="none" strike="noStrike" cap="none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14</a:t>
            </a:r>
            <a:r>
              <a:rPr lang="en-US" sz="1600" b="1" i="0" u="none" strike="noStrike" cap="none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-9] </a:t>
            </a:r>
            <a:r>
              <a:rPr lang="en-US" sz="1600" b="1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srand&amp;rand</a:t>
            </a:r>
            <a:endParaRPr dirty="0"/>
          </a:p>
        </p:txBody>
      </p:sp>
      <p:graphicFrame>
        <p:nvGraphicFramePr>
          <p:cNvPr id="7" name="Google Shape;104;p7"/>
          <p:cNvGraphicFramePr/>
          <p:nvPr>
            <p:extLst>
              <p:ext uri="{D42A27DB-BD31-4B8C-83A1-F6EECF244321}">
                <p14:modId xmlns:p14="http://schemas.microsoft.com/office/powerpoint/2010/main" val="3064910445"/>
              </p:ext>
            </p:extLst>
          </p:nvPr>
        </p:nvGraphicFramePr>
        <p:xfrm>
          <a:off x="1119663" y="2673043"/>
          <a:ext cx="6779261" cy="2633482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baseline="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stdio.h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baseline="0" dirty="0" err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time.h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#include 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en-US" altLang="ko-KR" baseline="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stdlib.h</a:t>
                      </a:r>
                      <a:r>
                        <a:rPr lang="en-US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&gt;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main( 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 err="1"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srand</a:t>
                      </a:r>
                      <a:r>
                        <a:rPr lang="en-US" altLang="ko-KR" baseline="0" dirty="0">
                          <a:highlight>
                            <a:srgbClr val="FFFF00"/>
                          </a:highlight>
                          <a:latin typeface="Consolas" panose="020B0609020204030204" pitchFamily="49" charset="0"/>
                        </a:rPr>
                        <a:t>(time(NULL));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baseline="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nn-NO" altLang="ko-KR" baseline="0" dirty="0">
                          <a:latin typeface="Consolas" panose="020B0609020204030204" pitchFamily="49" charset="0"/>
                        </a:rPr>
                        <a:t>i = 0; i &lt; 3; i++)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altLang="ko-KR" baseline="0" dirty="0">
                          <a:latin typeface="Consolas" panose="020B0609020204030204" pitchFamily="49" charset="0"/>
                        </a:rPr>
                        <a:t>      printf(</a:t>
                      </a:r>
                      <a:r>
                        <a:rPr lang="nn-NO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</a:t>
                      </a:r>
                      <a:r>
                        <a:rPr lang="nn-NO" altLang="ko-KR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\r\n</a:t>
                      </a:r>
                      <a:r>
                        <a:rPr lang="nn-NO" altLang="ko-KR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nn-NO" altLang="ko-KR" baseline="0" dirty="0">
                          <a:latin typeface="Consolas" panose="020B0609020204030204" pitchFamily="49" charset="0"/>
                        </a:rPr>
                        <a:t>, rand( ));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n-NO" altLang="ko-KR" baseline="0" dirty="0">
                          <a:latin typeface="Consolas" panose="020B0609020204030204" pitchFamily="49" charset="0"/>
                        </a:rPr>
                        <a:t>}</a:t>
                      </a:r>
                      <a:endParaRPr lang="en-US" altLang="ko-KR" baseline="0" dirty="0">
                        <a:latin typeface="Consolas" panose="020B0609020204030204" pitchFamily="49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97670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ko-KR" altLang="en-US" dirty="0" err="1">
                <a:solidFill>
                  <a:schemeClr val="tx1"/>
                </a:solidFill>
              </a:rPr>
              <a:t>로또</a:t>
            </a:r>
            <a:r>
              <a:rPr lang="ko-KR" altLang="en-US" dirty="0">
                <a:solidFill>
                  <a:schemeClr val="tx1"/>
                </a:solidFill>
              </a:rPr>
              <a:t> 번호 생성 프로그램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0150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2"/>
            </a:pPr>
            <a:r>
              <a:rPr lang="ko-KR" altLang="en-US" sz="2400" dirty="0"/>
              <a:t>로또 번호 생성 프로그램</a:t>
            </a:r>
            <a:endParaRPr lang="en-US" altLang="ko-KR" sz="2400" dirty="0"/>
          </a:p>
          <a:p>
            <a:pPr marL="628650" lvl="2" indent="-180975">
              <a:lnSpc>
                <a:spcPct val="150000"/>
              </a:lnSpc>
              <a:spcBef>
                <a:spcPts val="360"/>
              </a:spcBef>
              <a:buClr>
                <a:srgbClr val="3C479D"/>
              </a:buClr>
            </a:pPr>
            <a:r>
              <a:rPr lang="en-US" altLang="ko-KR" b="1" dirty="0"/>
              <a:t>1~45 </a:t>
            </a:r>
            <a:r>
              <a:rPr lang="ko-KR" altLang="en-US" b="1" dirty="0"/>
              <a:t>사이의 숫자 중 </a:t>
            </a:r>
            <a:r>
              <a:rPr lang="en-US" altLang="ko-KR" b="1" dirty="0"/>
              <a:t>6</a:t>
            </a:r>
            <a:r>
              <a:rPr lang="ko-KR" altLang="en-US" b="1" dirty="0"/>
              <a:t>개의 숫자를 무작위로 </a:t>
            </a:r>
            <a:r>
              <a:rPr lang="ko-KR" altLang="en-US" b="1" dirty="0" err="1"/>
              <a:t>골라내기</a:t>
            </a:r>
            <a:endParaRPr lang="en-US" altLang="ko-KR" dirty="0"/>
          </a:p>
          <a:p>
            <a:pPr marL="0" indent="0">
              <a:buSzPts val="2400"/>
              <a:buNone/>
            </a:pPr>
            <a:endParaRPr lang="en-US" b="1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FB649FB-7288-4B1C-9389-60D80E43B6AD}"/>
              </a:ext>
            </a:extLst>
          </p:cNvPr>
          <p:cNvGrpSpPr/>
          <p:nvPr/>
        </p:nvGrpSpPr>
        <p:grpSpPr>
          <a:xfrm>
            <a:off x="1029627" y="2244587"/>
            <a:ext cx="6869297" cy="3766265"/>
            <a:chOff x="1029627" y="1787387"/>
            <a:chExt cx="6869297" cy="3766265"/>
          </a:xfrm>
        </p:grpSpPr>
        <p:sp>
          <p:nvSpPr>
            <p:cNvPr id="6" name="Google Shape;102;p7"/>
            <p:cNvSpPr txBox="1"/>
            <p:nvPr/>
          </p:nvSpPr>
          <p:spPr>
            <a:xfrm>
              <a:off x="1029627" y="1787387"/>
              <a:ext cx="3995251" cy="3181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/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</a:t>
              </a:r>
              <a:r>
                <a:rPr 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코드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1600" b="1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14</a:t>
              </a:r>
              <a:r>
                <a:rPr 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-10] </a:t>
              </a:r>
              <a:r>
                <a:rPr lang="ko-KR" altLang="en-US" sz="1600" b="1" i="0" u="none" strike="noStrike" cap="none" dirty="0" err="1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로또</a:t>
              </a:r>
              <a:r>
                <a:rPr lang="ko-KR" altLang="en-US" sz="1600" b="1" i="0" u="none" strike="noStrike" cap="none" dirty="0">
                  <a:solidFill>
                    <a:srgbClr val="E36C0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번호 생성</a:t>
              </a:r>
              <a:endParaRPr dirty="0"/>
            </a:p>
          </p:txBody>
        </p:sp>
        <p:graphicFrame>
          <p:nvGraphicFramePr>
            <p:cNvPr id="7" name="Google Shape;104;p7"/>
            <p:cNvGraphicFramePr/>
            <p:nvPr>
              <p:extLst>
                <p:ext uri="{D42A27DB-BD31-4B8C-83A1-F6EECF244321}">
                  <p14:modId xmlns:p14="http://schemas.microsoft.com/office/powerpoint/2010/main" val="3841820885"/>
                </p:ext>
              </p:extLst>
            </p:nvPr>
          </p:nvGraphicFramePr>
          <p:xfrm>
            <a:off x="1119663" y="2150740"/>
            <a:ext cx="6779261" cy="3402912"/>
          </p:xfrm>
          <a:graphic>
            <a:graphicData uri="http://schemas.openxmlformats.org/drawingml/2006/table">
              <a:tbl>
                <a:tblPr firstRow="1" bandRow="1">
                  <a:noFill/>
                  <a:tableStyleId>{270F0E0B-0B7A-4AD7-8269-C2576374BDFF}</a:tableStyleId>
                </a:tblPr>
                <a:tblGrid>
                  <a:gridCol w="39491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384351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1180022"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04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05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06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07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08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09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10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11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12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13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300" b="1" u="none" strike="noStrike" cap="none" dirty="0">
                            <a:solidFill>
                              <a:schemeClr val="dk1"/>
                            </a:solidFill>
                            <a:latin typeface="Consolas" panose="020B0609020204030204" pitchFamily="49" charset="0"/>
                            <a:ea typeface="Consolas"/>
                            <a:cs typeface="Consolas"/>
                            <a:sym typeface="Consolas"/>
                          </a:rPr>
                          <a:t>14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sz="1300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sz="1300" baseline="0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stdio.h</a:t>
                        </a:r>
                        <a:r>
                          <a:rPr lang="en-US" altLang="ko-KR" sz="1300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aseline="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sz="1300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sz="1300" baseline="0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time.h</a:t>
                        </a:r>
                        <a:r>
                          <a:rPr lang="en-US" altLang="ko-KR" sz="1300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#include </a:t>
                        </a:r>
                        <a:r>
                          <a:rPr lang="en-US" altLang="ko-KR" sz="1300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&lt;</a:t>
                        </a:r>
                        <a:r>
                          <a:rPr lang="en-US" altLang="ko-KR" sz="1300" baseline="0" dirty="0" err="1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stdlib.h</a:t>
                        </a:r>
                        <a:r>
                          <a:rPr lang="en-US" altLang="ko-KR" sz="1300" baseline="0" dirty="0">
                            <a:solidFill>
                              <a:srgbClr val="FF0000"/>
                            </a:solidFill>
                            <a:latin typeface="Consolas" panose="020B0609020204030204" pitchFamily="49" charset="0"/>
                          </a:rPr>
                          <a:t>&gt;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300" baseline="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main( 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count = 0;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aseline="0" dirty="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char</a:t>
                        </a: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lotto[45] = {0};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US" altLang="ko-KR" sz="1300" baseline="0" dirty="0">
                          <a:latin typeface="Consolas" panose="020B0609020204030204" pitchFamily="49" charset="0"/>
                        </a:endParaRP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aseline="0" dirty="0" err="1">
                            <a:latin typeface="Consolas" panose="020B0609020204030204" pitchFamily="49" charset="0"/>
                          </a:rPr>
                          <a:t>srand</a:t>
                        </a: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(time(NULL));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  </a:t>
                        </a:r>
                        <a:r>
                          <a:rPr lang="en-US" altLang="ko-KR" sz="1300" baseline="0" dirty="0">
                            <a:solidFill>
                              <a:schemeClr val="accent4"/>
                            </a:solidFill>
                            <a:latin typeface="Consolas" panose="020B0609020204030204" pitchFamily="49" charset="0"/>
                          </a:rPr>
                          <a:t>while</a:t>
                        </a: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(1)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  {</a:t>
                        </a:r>
                      </a:p>
                      <a:p>
                        <a:pPr marL="0" marR="0" lvl="0" indent="0" algn="l" rtl="0">
                          <a:lnSpc>
                            <a:spcPct val="12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     </a:t>
                        </a:r>
                        <a:r>
                          <a:rPr lang="en-US" altLang="ko-KR" sz="1300" baseline="0" dirty="0" err="1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</a:rPr>
                          <a:t>int</a:t>
                        </a: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</a:t>
                        </a:r>
                        <a:r>
                          <a:rPr lang="en-US" altLang="ko-KR" sz="1300" baseline="0" dirty="0" err="1">
                            <a:latin typeface="Consolas" panose="020B0609020204030204" pitchFamily="49" charset="0"/>
                          </a:rPr>
                          <a:t>num</a:t>
                        </a:r>
                        <a:r>
                          <a:rPr lang="en-US" altLang="ko-KR" sz="1300" baseline="0" dirty="0">
                            <a:latin typeface="Consolas" panose="020B0609020204030204" pitchFamily="49" charset="0"/>
                          </a:rPr>
                          <a:t> = rand( ) % 45 + 1;</a:t>
                        </a: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F29B87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2008837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539552" y="184745"/>
            <a:ext cx="7992888" cy="54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E36C09"/>
                </a:solidFill>
              </a:rPr>
              <a:t>03. </a:t>
            </a:r>
            <a:r>
              <a:rPr lang="ko-KR" altLang="en-US" dirty="0" err="1">
                <a:solidFill>
                  <a:schemeClr val="tx1"/>
                </a:solidFill>
              </a:rPr>
              <a:t>로또</a:t>
            </a:r>
            <a:r>
              <a:rPr lang="ko-KR" altLang="en-US" dirty="0">
                <a:solidFill>
                  <a:schemeClr val="tx1"/>
                </a:solidFill>
              </a:rPr>
              <a:t> 번호 생성 프로그램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539552" y="1101501"/>
            <a:ext cx="8424936" cy="5476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+mj-lt"/>
              <a:buAutoNum type="romanUcPeriod" startAt="2"/>
            </a:pPr>
            <a:r>
              <a:rPr lang="ko-KR" altLang="en-US" sz="2400" dirty="0" err="1"/>
              <a:t>로또</a:t>
            </a:r>
            <a:r>
              <a:rPr lang="ko-KR" altLang="en-US" sz="2400" dirty="0"/>
              <a:t> 번호 생성 프로그램</a:t>
            </a:r>
            <a:endParaRPr lang="en-US" b="1" dirty="0"/>
          </a:p>
        </p:txBody>
      </p:sp>
      <p:sp>
        <p:nvSpPr>
          <p:cNvPr id="6" name="Google Shape;102;p7"/>
          <p:cNvSpPr txBox="1"/>
          <p:nvPr/>
        </p:nvSpPr>
        <p:spPr>
          <a:xfrm>
            <a:off x="1029627" y="1787387"/>
            <a:ext cx="3995251" cy="31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ko-KR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 </a:t>
            </a:r>
            <a:r>
              <a:rPr lang="en-US" altLang="ko-KR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14-10] </a:t>
            </a:r>
            <a:r>
              <a:rPr lang="ko-KR" altLang="en-US" sz="1600" b="1" dirty="0" err="1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로또</a:t>
            </a:r>
            <a:r>
              <a:rPr lang="ko-KR" altLang="en-US" sz="1600" b="1" dirty="0">
                <a:solidFill>
                  <a:srgbClr val="E36C09"/>
                </a:solidFill>
                <a:latin typeface="Malgun Gothic"/>
                <a:ea typeface="Malgun Gothic"/>
                <a:cs typeface="Malgun Gothic"/>
                <a:sym typeface="Malgun Gothic"/>
              </a:rPr>
              <a:t> 번호 생성</a:t>
            </a:r>
            <a:endParaRPr lang="ko-KR" altLang="en-US" sz="1600" dirty="0"/>
          </a:p>
        </p:txBody>
      </p:sp>
      <p:graphicFrame>
        <p:nvGraphicFramePr>
          <p:cNvPr id="7" name="Google Shape;104;p7"/>
          <p:cNvGraphicFramePr/>
          <p:nvPr>
            <p:extLst>
              <p:ext uri="{D42A27DB-BD31-4B8C-83A1-F6EECF244321}">
                <p14:modId xmlns:p14="http://schemas.microsoft.com/office/powerpoint/2010/main" val="805807279"/>
              </p:ext>
            </p:extLst>
          </p:nvPr>
        </p:nvGraphicFramePr>
        <p:xfrm>
          <a:off x="1119663" y="2150740"/>
          <a:ext cx="6779261" cy="3402912"/>
        </p:xfrm>
        <a:graphic>
          <a:graphicData uri="http://schemas.openxmlformats.org/drawingml/2006/table">
            <a:tbl>
              <a:tblPr firstRow="1" bandRow="1">
                <a:noFill/>
                <a:tableStyleId>{270F0E0B-0B7A-4AD7-8269-C2576374BDFF}</a:tableStyleId>
              </a:tblPr>
              <a:tblGrid>
                <a:gridCol w="39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00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18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19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21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22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23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24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25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26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27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28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sz="1300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(!lotto[</a:t>
                      </a:r>
                      <a:r>
                        <a:rPr lang="en-US" altLang="ko-KR" sz="1300" baseline="0" dirty="0" err="1">
                          <a:latin typeface="Consolas" panose="020B0609020204030204" pitchFamily="49" charset="0"/>
                        </a:rPr>
                        <a:t>num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- 1])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   {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      lotto[</a:t>
                      </a:r>
                      <a:r>
                        <a:rPr lang="en-US" altLang="ko-KR" sz="1300" baseline="0" dirty="0" err="1">
                          <a:latin typeface="Consolas" panose="020B0609020204030204" pitchFamily="49" charset="0"/>
                        </a:rPr>
                        <a:t>num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-1] = 1;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      count++;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      </a:t>
                      </a:r>
                      <a:r>
                        <a:rPr lang="en-US" altLang="ko-KR" sz="1300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(count == 6)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         </a:t>
                      </a:r>
                      <a:r>
                        <a:rPr lang="en-US" altLang="ko-KR" sz="1300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break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}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300" baseline="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US" altLang="ko-KR" sz="1300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aseline="0" dirty="0" err="1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altLang="ko-KR" sz="1300" baseline="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= 0; </a:t>
                      </a:r>
                      <a:r>
                        <a:rPr lang="en-US" altLang="ko-KR" sz="1300" baseline="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&lt; 45; </a:t>
                      </a:r>
                      <a:r>
                        <a:rPr lang="en-US" altLang="ko-KR" sz="1300" baseline="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++)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   </a:t>
                      </a:r>
                      <a:r>
                        <a:rPr lang="en-US" altLang="ko-KR" sz="1300" baseline="0" dirty="0">
                          <a:solidFill>
                            <a:schemeClr val="accent4"/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(lotto[</a:t>
                      </a:r>
                      <a:r>
                        <a:rPr lang="en-US" altLang="ko-KR" sz="1300" baseline="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])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        </a:t>
                      </a:r>
                      <a:r>
                        <a:rPr lang="en-US" altLang="ko-KR" sz="1300" baseline="0" dirty="0" err="1"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altLang="ko-KR" sz="1300" baseline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"%d "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altLang="ko-KR" sz="1300" baseline="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 + 1);</a:t>
                      </a:r>
                    </a:p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300" baseline="0" dirty="0"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29B8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FA9ADD8F-8DCA-429B-9CD4-5152C9B9C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781" y="5593709"/>
            <a:ext cx="6885023" cy="525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4353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1886</TotalTime>
  <Words>1969</Words>
  <Application>Microsoft Office PowerPoint</Application>
  <PresentationFormat>화면 슬라이드 쇼(4:3)</PresentationFormat>
  <Paragraphs>535</Paragraphs>
  <Slides>30</Slides>
  <Notes>28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6" baseType="lpstr">
      <vt:lpstr>Noto Sans Symbols</vt:lpstr>
      <vt:lpstr>Malgun Gothic</vt:lpstr>
      <vt:lpstr>Arial</vt:lpstr>
      <vt:lpstr>Consolas</vt:lpstr>
      <vt:lpstr>Verdana</vt:lpstr>
      <vt:lpstr>Office 테마</vt:lpstr>
      <vt:lpstr>Chapter 14. C 언어 프로젝트</vt:lpstr>
      <vt:lpstr>PowerPoint 프레젠테이션</vt:lpstr>
      <vt:lpstr>PowerPoint 프레젠테이션</vt:lpstr>
      <vt:lpstr>01. 달력 출력 프로그램</vt:lpstr>
      <vt:lpstr>01. 달력 출력 프로그램</vt:lpstr>
      <vt:lpstr>01. 달력 출력 프로그램</vt:lpstr>
      <vt:lpstr>01. 달력 출력 프로그램</vt:lpstr>
      <vt:lpstr>01. 달력 출력 프로그램</vt:lpstr>
      <vt:lpstr>01. 달력 출력 프로그램</vt:lpstr>
      <vt:lpstr>01. 달력 출력 프로그램</vt:lpstr>
      <vt:lpstr>01. 달력 출력 프로그램</vt:lpstr>
      <vt:lpstr>01. 달력 출력 프로그램</vt:lpstr>
      <vt:lpstr>01. 달력 출력 프로그램</vt:lpstr>
      <vt:lpstr>01. 달력 출력 프로그램</vt:lpstr>
      <vt:lpstr>01. 달력 출력 프로그램</vt:lpstr>
      <vt:lpstr>01. 달력 출력 프로그램</vt:lpstr>
      <vt:lpstr>PowerPoint 프레젠테이션</vt:lpstr>
      <vt:lpstr>02. 문자열 검색 프로그램</vt:lpstr>
      <vt:lpstr>02. 문자열 검색 프로그램</vt:lpstr>
      <vt:lpstr>02. 문자열 검색 프로그램</vt:lpstr>
      <vt:lpstr>02. 문자열 검색 프로그램</vt:lpstr>
      <vt:lpstr>02. 문자열 검색 프로그램</vt:lpstr>
      <vt:lpstr>PowerPoint 프레젠테이션</vt:lpstr>
      <vt:lpstr>03. 로또 번호 생성 프로그램</vt:lpstr>
      <vt:lpstr>03. 로또 번호 생성 프로그램</vt:lpstr>
      <vt:lpstr>03. 로또 번호 생성 프로그램</vt:lpstr>
      <vt:lpstr>03. 로또 번호 생성 프로그램</vt:lpstr>
      <vt:lpstr>03. 로또 번호 생성 프로그램</vt:lpstr>
      <vt:lpstr>03. 로또 번호 생성 프로그램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01. 프로그래밍과 C 언어</dc:title>
  <dc:creator>서지영</dc:creator>
  <cp:lastModifiedBy>마케팅팀</cp:lastModifiedBy>
  <cp:revision>200</cp:revision>
  <dcterms:created xsi:type="dcterms:W3CDTF">2012-07-11T10:23:22Z</dcterms:created>
  <dcterms:modified xsi:type="dcterms:W3CDTF">2022-02-22T09:07:43Z</dcterms:modified>
</cp:coreProperties>
</file>