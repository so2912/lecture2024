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257" r:id="rId3"/>
    <p:sldId id="258" r:id="rId4"/>
    <p:sldId id="259" r:id="rId5"/>
    <p:sldId id="260" r:id="rId6"/>
    <p:sldId id="490" r:id="rId7"/>
    <p:sldId id="525" r:id="rId8"/>
    <p:sldId id="558" r:id="rId9"/>
    <p:sldId id="559" r:id="rId10"/>
    <p:sldId id="526" r:id="rId11"/>
    <p:sldId id="560" r:id="rId12"/>
    <p:sldId id="561" r:id="rId13"/>
    <p:sldId id="261" r:id="rId14"/>
    <p:sldId id="273" r:id="rId15"/>
    <p:sldId id="562" r:id="rId16"/>
    <p:sldId id="498" r:id="rId17"/>
    <p:sldId id="563" r:id="rId18"/>
    <p:sldId id="564" r:id="rId19"/>
    <p:sldId id="565" r:id="rId20"/>
    <p:sldId id="566" r:id="rId21"/>
    <p:sldId id="533" r:id="rId22"/>
    <p:sldId id="433" r:id="rId23"/>
    <p:sldId id="434" r:id="rId24"/>
    <p:sldId id="287" r:id="rId25"/>
    <p:sldId id="288" r:id="rId26"/>
    <p:sldId id="567" r:id="rId27"/>
    <p:sldId id="568" r:id="rId28"/>
    <p:sldId id="569" r:id="rId29"/>
    <p:sldId id="570" r:id="rId30"/>
    <p:sldId id="571" r:id="rId31"/>
    <p:sldId id="573" r:id="rId32"/>
    <p:sldId id="539" r:id="rId33"/>
    <p:sldId id="574" r:id="rId34"/>
    <p:sldId id="575" r:id="rId35"/>
    <p:sldId id="576" r:id="rId36"/>
    <p:sldId id="549" r:id="rId37"/>
    <p:sldId id="439" r:id="rId38"/>
    <p:sldId id="440" r:id="rId39"/>
    <p:sldId id="577" r:id="rId40"/>
    <p:sldId id="316" r:id="rId41"/>
    <p:sldId id="264" r:id="rId42"/>
    <p:sldId id="578" r:id="rId43"/>
    <p:sldId id="318" r:id="rId44"/>
    <p:sldId id="579" r:id="rId45"/>
    <p:sldId id="267" r:id="rId4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90">
          <p15:clr>
            <a:srgbClr val="A4A3A4"/>
          </p15:clr>
        </p15:guide>
        <p15:guide id="4" pos="284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4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47C"/>
    <a:srgbClr val="FDE2CB"/>
    <a:srgbClr val="FBFBD1"/>
    <a:srgbClr val="9D87B7"/>
    <a:srgbClr val="B4A4C8"/>
    <a:srgbClr val="8AC9DA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464" autoAdjust="0"/>
  </p:normalViewPr>
  <p:slideViewPr>
    <p:cSldViewPr snapToGrid="0">
      <p:cViewPr varScale="1">
        <p:scale>
          <a:sx n="114" d="100"/>
          <a:sy n="114" d="100"/>
        </p:scale>
        <p:origin x="1584" y="96"/>
      </p:cViewPr>
      <p:guideLst>
        <p:guide orient="horz" pos="2160"/>
        <p:guide pos="2880"/>
        <p:guide orient="horz" pos="2190"/>
        <p:guide pos="28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9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9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2023-07-04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45</a:t>
            </a: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2021 Hanbit Academy,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11. </a:t>
            </a:r>
            <a:r>
              <a:rPr lang="ko-KR" altLang="en-US" sz="3600" b="1" dirty="0">
                <a:solidFill>
                  <a:schemeClr val="lt1"/>
                </a:solidFill>
              </a:rPr>
              <a:t>포인터 심화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03. 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C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2000" b="1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심화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739458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포인터와 배열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포인터와 함수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동적 메모리 할당과 해제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50000"/>
              </a:lnSpc>
              <a:buClr>
                <a:schemeClr val="dk1"/>
              </a:buClr>
              <a:buSzPts val="2000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두 문자열을 하나의 문자열로 연결하기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</a:pPr>
            <a:r>
              <a:rPr lang="ko-KR" altLang="en-US" dirty="0"/>
              <a:t>문자열을 포인터로 표현하는 방법을 살펴본다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배열 매개변수와 포인터 매개변수의 관계를 살펴본다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동적 메모리의 필요성과 할당</a:t>
            </a:r>
            <a:r>
              <a:rPr lang="en-US" altLang="ko-KR" dirty="0"/>
              <a:t>, </a:t>
            </a:r>
            <a:r>
              <a:rPr lang="ko-KR" altLang="en-US" dirty="0"/>
              <a:t>해제 방법을 살펴본다</a:t>
            </a:r>
            <a:r>
              <a:rPr lang="en-US" altLang="ko-KR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dirty="0"/>
              <a:t>포인터와 배열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포인터와 배열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문자열 포인터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978033" y="1856593"/>
            <a:ext cx="6869297" cy="2951598"/>
            <a:chOff x="978033" y="2649826"/>
            <a:chExt cx="6869297" cy="2951598"/>
          </a:xfrm>
        </p:grpSpPr>
        <p:sp>
          <p:nvSpPr>
            <p:cNvPr id="6" name="Google Shape;102;p7"/>
            <p:cNvSpPr txBox="1"/>
            <p:nvPr/>
          </p:nvSpPr>
          <p:spPr>
            <a:xfrm>
              <a:off x="978033" y="2649826"/>
              <a:ext cx="52513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11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문자열 포인터</a:t>
              </a:r>
              <a:endParaRPr dirty="0"/>
            </a:p>
          </p:txBody>
        </p:sp>
        <p:graphicFrame>
          <p:nvGraphicFramePr>
            <p:cNvPr id="7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882774605"/>
                </p:ext>
              </p:extLst>
            </p:nvPr>
          </p:nvGraphicFramePr>
          <p:xfrm>
            <a:off x="1068069" y="2967942"/>
            <a:ext cx="6779261" cy="2633482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de-DE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name[16] = </a:t>
                        </a:r>
                        <a:r>
                          <a:rPr lang="de-DE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"Kim Do Hyung"</a:t>
                        </a: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"%s</a:t>
                        </a:r>
                        <a:r>
                          <a:rPr lang="en-US" altLang="ko-KR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name);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de-DE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pl-PL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pName = </a:t>
                        </a:r>
                        <a:r>
                          <a:rPr lang="pl-PL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"Kim Na In"</a:t>
                        </a:r>
                        <a:r>
                          <a:rPr lang="pl-PL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  <a:endPara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"%s"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pName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33" y="4941355"/>
            <a:ext cx="7008417" cy="804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포인터와 배열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문자열 포인터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문자열 포인터와 배열의 관계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C </a:t>
            </a:r>
            <a:r>
              <a:rPr lang="ko-KR" altLang="en-US" dirty="0"/>
              <a:t>언어에서는 큰따옴표로 감싸진 </a:t>
            </a:r>
            <a:r>
              <a:rPr lang="ko-KR" altLang="en-US" dirty="0" err="1"/>
              <a:t>리터럴</a:t>
            </a:r>
            <a:r>
              <a:rPr lang="ko-KR" altLang="en-US" dirty="0"/>
              <a:t> 문자열은 배열로 취급함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배열이 값으로써 초기화나 대입에 사용될 때는 배열의 첫 번째 요소를 가리키는 포인터가 됨 </a:t>
            </a:r>
          </a:p>
        </p:txBody>
      </p:sp>
      <p:pic>
        <p:nvPicPr>
          <p:cNvPr id="2050" name="Picture 2" descr="C:\Users\변소현\Desktop\난생처음 C 언어 프로그래밍\그림\Ch11\그림 11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178" y="3342370"/>
            <a:ext cx="4949756" cy="2972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83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포인터와 배열</a:t>
            </a:r>
            <a:endParaRPr lang="ko-KR" altLang="en-US" dirty="0"/>
          </a:p>
        </p:txBody>
      </p:sp>
      <p:sp>
        <p:nvSpPr>
          <p:cNvPr id="9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135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배열을 가리키는 포인터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대상 타입이 배열 타입인 포인터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배열에 참조</a:t>
            </a:r>
            <a:r>
              <a:rPr lang="en-US" altLang="ko-KR" dirty="0"/>
              <a:t>(&amp;) </a:t>
            </a:r>
            <a:r>
              <a:rPr lang="ko-KR" altLang="en-US" dirty="0"/>
              <a:t>연산자를 적용할 경우 </a:t>
            </a:r>
            <a:endParaRPr lang="en-US" altLang="ko-KR" dirty="0"/>
          </a:p>
          <a:p>
            <a:pPr marL="1266825" lvl="4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sz="1400" dirty="0"/>
              <a:t>배열 자체를 가리키는 포인터를 구할 수 있음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1082808" y="2894818"/>
            <a:ext cx="6869297" cy="3485920"/>
            <a:chOff x="978033" y="2649826"/>
            <a:chExt cx="6869297" cy="3257967"/>
          </a:xfrm>
        </p:grpSpPr>
        <p:sp>
          <p:nvSpPr>
            <p:cNvPr id="10" name="Google Shape;102;p7"/>
            <p:cNvSpPr txBox="1"/>
            <p:nvPr/>
          </p:nvSpPr>
          <p:spPr>
            <a:xfrm>
              <a:off x="978033" y="2649826"/>
              <a:ext cx="52513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11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-2] </a:t>
              </a: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&amp;</a:t>
              </a:r>
              <a:r>
                <a:rPr lang="ko-KR" alt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배열명</a:t>
              </a:r>
              <a:endParaRPr dirty="0"/>
            </a:p>
          </p:txBody>
        </p:sp>
        <p:graphicFrame>
          <p:nvGraphicFramePr>
            <p:cNvPr id="11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034907636"/>
                </p:ext>
              </p:extLst>
            </p:nvPr>
          </p:nvGraphicFramePr>
          <p:xfrm>
            <a:off x="1068069" y="2967942"/>
            <a:ext cx="6779261" cy="2939851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arr[2] = { 1, 2 };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de-DE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p = &amp;arr;             </a:t>
                        </a:r>
                        <a:r>
                          <a:rPr lang="de-DE" altLang="ko-KR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경고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printf(</a:t>
                        </a:r>
                        <a:r>
                          <a:rPr lang="de-DE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"%d, %d</a:t>
                        </a:r>
                        <a:r>
                          <a:rPr lang="de-DE" altLang="ko-KR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de-DE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p[0], p[1]);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de-DE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(*parr)[2] = &amp;arr;    </a:t>
                        </a:r>
                        <a:r>
                          <a:rPr lang="de-DE" altLang="ko-KR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 // </a:t>
                        </a:r>
                        <a:r>
                          <a:rPr lang="ko-KR" altLang="en-US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문제 없음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printf(</a:t>
                        </a:r>
                        <a:r>
                          <a:rPr lang="de-DE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"%d, %d"</a:t>
                        </a: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(*parr)[0], (*parr)[1]);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de-DE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355" y="3300884"/>
            <a:ext cx="1802079" cy="8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4411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포인터와 배열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135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배열을 가리키는 포인터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대상 타입이 배열 타입인 포인터</a:t>
            </a:r>
            <a:endParaRPr lang="ko-KR" altLang="en-US" dirty="0"/>
          </a:p>
        </p:txBody>
      </p:sp>
      <p:pic>
        <p:nvPicPr>
          <p:cNvPr id="4098" name="Picture 2" descr="C:\Users\변소현\Desktop\난생처음 C 언어 프로그래밍\그림\Ch11\그림 11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424" y="2461484"/>
            <a:ext cx="6279153" cy="271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258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포인터와 배열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135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배열을 가리키는 포인터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대상 타입이 배열 타입인 포인터</a:t>
            </a:r>
            <a:endParaRPr lang="ko-KR" altLang="en-US" dirty="0"/>
          </a:p>
        </p:txBody>
      </p:sp>
      <p:grpSp>
        <p:nvGrpSpPr>
          <p:cNvPr id="5" name="Google Shape;118;p8"/>
          <p:cNvGrpSpPr>
            <a:grpSpLocks noChangeAspect="1"/>
          </p:cNvGrpSpPr>
          <p:nvPr/>
        </p:nvGrpSpPr>
        <p:grpSpPr>
          <a:xfrm>
            <a:off x="606876" y="2690343"/>
            <a:ext cx="7958662" cy="2133845"/>
            <a:chOff x="683573" y="1844824"/>
            <a:chExt cx="7924665" cy="2741278"/>
          </a:xfrm>
        </p:grpSpPr>
        <p:sp>
          <p:nvSpPr>
            <p:cNvPr id="6" name="Google Shape;119;p8"/>
            <p:cNvSpPr/>
            <p:nvPr/>
          </p:nvSpPr>
          <p:spPr>
            <a:xfrm>
              <a:off x="688238" y="1862055"/>
              <a:ext cx="7920000" cy="2724047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0;p8"/>
            <p:cNvSpPr txBox="1"/>
            <p:nvPr/>
          </p:nvSpPr>
          <p:spPr>
            <a:xfrm>
              <a:off x="724204" y="2363103"/>
              <a:ext cx="7772192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배열을 가리키는 포인터를 정의할 경우 먼저 배열을 정의한 후에 배열 이름 앞에 기호 *</a:t>
              </a:r>
              <a:r>
                <a:rPr lang="ko-KR" altLang="en-US" sz="16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붙인 후 이름과 기호 *</a:t>
              </a:r>
              <a:r>
                <a:rPr lang="ko-KR" altLang="en-US" sz="16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괄호로 감싸면 됨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1;p8"/>
            <p:cNvSpPr/>
            <p:nvPr/>
          </p:nvSpPr>
          <p:spPr>
            <a:xfrm>
              <a:off x="683573" y="1844824"/>
              <a:ext cx="1511728" cy="526481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9" name="Google Shape;122;p8"/>
            <p:cNvSpPr txBox="1"/>
            <p:nvPr/>
          </p:nvSpPr>
          <p:spPr>
            <a:xfrm>
              <a:off x="2256715" y="1862053"/>
              <a:ext cx="4699962" cy="509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배열을 가리키는 포인터의 정의 형식</a:t>
              </a:r>
              <a:endParaRPr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175" y="4101690"/>
            <a:ext cx="4618063" cy="479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786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포인터와 배열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684" y="2193227"/>
            <a:ext cx="7014332" cy="2566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9460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포인터와 배열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2190154"/>
            <a:ext cx="7924665" cy="3048596"/>
            <a:chOff x="615155" y="1379935"/>
            <a:chExt cx="7924665" cy="3048596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5"/>
              <a:ext cx="7924665" cy="3048596"/>
              <a:chOff x="683573" y="1844825"/>
              <a:chExt cx="7924665" cy="1257999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5"/>
                <a:ext cx="7920000" cy="12579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11-1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문자열의 길이를 반환하는 함수 만들기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36842" y="1815434"/>
              <a:ext cx="7485956" cy="10924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strlen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함수는 문자열을 받아서 길이를 반환합니다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같은 기능을 하는 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mystrlen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함수를 구현해봅시다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단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매개변수 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str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은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NULL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종료 문자열을 가리키는 포인터입니다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689" y="3848709"/>
            <a:ext cx="2762322" cy="38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53" y="4414362"/>
            <a:ext cx="7234994" cy="54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6862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포인터와 배열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9192" y="2447133"/>
            <a:ext cx="7924665" cy="2192338"/>
            <a:chOff x="615155" y="1213376"/>
            <a:chExt cx="7924665" cy="424114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213376"/>
              <a:ext cx="7924665" cy="4241143"/>
              <a:chOff x="683573" y="1844825"/>
              <a:chExt cx="7924665" cy="125120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5"/>
                <a:ext cx="7920000" cy="1251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223784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11-1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20408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4142449189"/>
                </p:ext>
              </p:extLst>
            </p:nvPr>
          </p:nvGraphicFramePr>
          <p:xfrm>
            <a:off x="871407" y="2145430"/>
            <a:ext cx="7416825" cy="3272232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691487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mystrlen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const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char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*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str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= 0; ;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str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[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] ==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'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\0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'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return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b="1" baseline="0"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30731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포인터와 함수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포인터와 함수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포인터 매개변수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참조 전달과 비슷하게 인자를 전달하기</a:t>
            </a:r>
            <a:endParaRPr lang="ko-KR" altLang="en-US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1082808" y="2228068"/>
            <a:ext cx="52513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-3]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 매개변수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909226067"/>
              </p:ext>
            </p:extLst>
          </p:nvPr>
        </p:nvGraphicFramePr>
        <p:xfrm>
          <a:off x="1172844" y="2568442"/>
          <a:ext cx="6779261" cy="365761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*p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(&amp;a);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25" y="2665425"/>
            <a:ext cx="1495661" cy="7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포인터와 함수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/>
              <a:t>포인터 매개변수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INOUT </a:t>
            </a:r>
            <a:r>
              <a:rPr lang="ko-KR" altLang="en-US" b="1" dirty="0"/>
              <a:t>매개변수</a:t>
            </a:r>
            <a:endParaRPr lang="ko-KR" altLang="en-US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변수가 입출력 모두에 이용될 수 있는 것</a:t>
            </a:r>
          </a:p>
        </p:txBody>
      </p:sp>
      <p:sp>
        <p:nvSpPr>
          <p:cNvPr id="6" name="Google Shape;102;p7"/>
          <p:cNvSpPr txBox="1"/>
          <p:nvPr/>
        </p:nvSpPr>
        <p:spPr>
          <a:xfrm>
            <a:off x="1082808" y="2444204"/>
            <a:ext cx="52513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-4]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INOUT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매개변수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2785841595"/>
              </p:ext>
            </p:extLst>
          </p:nvPr>
        </p:nvGraphicFramePr>
        <p:xfrm>
          <a:off x="1172844" y="2784578"/>
          <a:ext cx="6779261" cy="391364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rounds(</a:t>
                      </a: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*p = (*p + 5) / 10 * 10;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 = 7;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</a:t>
                      </a:r>
                      <a:r>
                        <a:rPr lang="ko-KR" altLang="en-US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반올림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rounds(&amp;a);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109" y="2888742"/>
            <a:ext cx="16097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3458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포인터와 함수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/>
              <a:t>배열 매개변수와 포인터의 관계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참조 전달처럼 동작하는 배열 매개변수</a:t>
            </a:r>
            <a:endParaRPr lang="ko-KR" altLang="en-US"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2102367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-5]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 </a:t>
            </a:r>
            <a:r>
              <a:rPr lang="ko-KR" alt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실인자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매개변수의 크기 출력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900760054"/>
              </p:ext>
            </p:extLst>
          </p:nvPr>
        </p:nvGraphicFramePr>
        <p:xfrm>
          <a:off x="1068069" y="2465720"/>
          <a:ext cx="6779261" cy="340157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[16])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size: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[16];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size: %d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371" y="2493818"/>
            <a:ext cx="1956955" cy="935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0938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포인터와 함수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/>
              <a:t>배열 매개변수와 포인터의 관계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배열과 호환되는 포인터 매개변수</a:t>
            </a:r>
            <a:endParaRPr lang="ko-KR" altLang="en-US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Fake Techniques : </a:t>
            </a:r>
            <a:r>
              <a:rPr lang="ko-KR" altLang="en-US" dirty="0"/>
              <a:t>배열 매개변수가 가능한 것처럼 보이게 하는 눈속임</a:t>
            </a:r>
            <a:endParaRPr lang="ko-KR" altLang="en-US" sz="2400" dirty="0"/>
          </a:p>
        </p:txBody>
      </p:sp>
      <p:pic>
        <p:nvPicPr>
          <p:cNvPr id="11266" name="Picture 2" descr="C:\Users\변소현\Desktop\난생처음 C 언어 프로그래밍\그림\Ch11\그림 11-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087" y="2993376"/>
            <a:ext cx="5188239" cy="166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715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포인터와 함수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/>
              <a:t>배열 매개변수와 포인터의 관계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배열 매개변수의 주의할 점</a:t>
            </a:r>
            <a:endParaRPr lang="ko-KR" altLang="en-US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 매개변수가 포인터 매개변수로 변경될 때 배열 요소의 개수는 무시됨</a:t>
            </a:r>
            <a:endParaRPr lang="ko-KR" altLang="en-US"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2485755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-6]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타입 배열 전달과 주의점</a:t>
            </a:r>
            <a:endParaRPr dirty="0"/>
          </a:p>
        </p:txBody>
      </p:sp>
      <p:graphicFrame>
        <p:nvGraphicFramePr>
          <p:cNvPr id="9" name="Google Shape;104;p7">
            <a:extLst>
              <a:ext uri="{FF2B5EF4-FFF2-40B4-BE49-F238E27FC236}">
                <a16:creationId xmlns:a16="http://schemas.microsoft.com/office/drawing/2014/main" id="{490CB3C4-FA83-445F-904D-02BB5DE1E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760885"/>
              </p:ext>
            </p:extLst>
          </p:nvPr>
        </p:nvGraphicFramePr>
        <p:xfrm>
          <a:off x="1068069" y="2849108"/>
          <a:ext cx="6779261" cy="340157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[16]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[7] = 1;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 없음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 = 2;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위험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[8]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395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포인터와 함수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/>
              <a:t>배열 매개변수와 포인터의 관계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배열 매개변수의 주의할 점</a:t>
            </a:r>
            <a:endParaRPr lang="ko-KR" altLang="en-US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 배열 매개변수를 표시할 때 잘못된 사용을 줄이기 위하여 배열 요소의 개수 자체를 생략하는 경우가 대부분임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597" y="2918241"/>
            <a:ext cx="7048930" cy="52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7156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포인터와 함수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/>
              <a:t>배열 매개변수와 포인터의 관계</a:t>
            </a:r>
          </a:p>
        </p:txBody>
      </p:sp>
      <p:grpSp>
        <p:nvGrpSpPr>
          <p:cNvPr id="10" name="Google Shape;118;p8"/>
          <p:cNvGrpSpPr>
            <a:grpSpLocks noChangeAspect="1"/>
          </p:cNvGrpSpPr>
          <p:nvPr/>
        </p:nvGrpSpPr>
        <p:grpSpPr>
          <a:xfrm>
            <a:off x="606876" y="1641937"/>
            <a:ext cx="7958662" cy="4825538"/>
            <a:chOff x="683573" y="1844824"/>
            <a:chExt cx="7924665" cy="6199204"/>
          </a:xfrm>
        </p:grpSpPr>
        <p:sp>
          <p:nvSpPr>
            <p:cNvPr id="11" name="Google Shape;119;p8"/>
            <p:cNvSpPr/>
            <p:nvPr/>
          </p:nvSpPr>
          <p:spPr>
            <a:xfrm>
              <a:off x="688238" y="1844824"/>
              <a:ext cx="7920000" cy="6199204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" name="Google Shape;120;p8"/>
            <p:cNvSpPr txBox="1"/>
            <p:nvPr/>
          </p:nvSpPr>
          <p:spPr>
            <a:xfrm>
              <a:off x="683573" y="5800969"/>
              <a:ext cx="7772192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차원 배열 매개변수 또한 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차원 배열과 호환되는 포인터로 변경됨</a:t>
              </a: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차원 배열 매개변수가 컴파일러에 의해서 자동으로 변경되는 호환 포인터 매개변수 형식</a:t>
              </a: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14" name="Google Shape;122;p8"/>
            <p:cNvSpPr txBox="1"/>
            <p:nvPr/>
          </p:nvSpPr>
          <p:spPr>
            <a:xfrm>
              <a:off x="2256715" y="1862054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차원 배열 매개변수</a:t>
              </a:r>
              <a:endParaRPr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5" name="Google Shape;102;p7"/>
          <p:cNvSpPr txBox="1"/>
          <p:nvPr/>
        </p:nvSpPr>
        <p:spPr>
          <a:xfrm>
            <a:off x="1070781" y="2087595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-7] 2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차원 배열 매개변수</a:t>
            </a:r>
            <a:endParaRPr dirty="0"/>
          </a:p>
        </p:txBody>
      </p:sp>
      <p:graphicFrame>
        <p:nvGraphicFramePr>
          <p:cNvPr id="17" name="Google Shape;104;p7"/>
          <p:cNvGraphicFramePr/>
          <p:nvPr>
            <p:extLst>
              <p:ext uri="{D42A27DB-BD31-4B8C-83A1-F6EECF244321}">
                <p14:modId xmlns:p14="http://schemas.microsoft.com/office/powerpoint/2010/main" val="2105297240"/>
              </p:ext>
            </p:extLst>
          </p:nvPr>
        </p:nvGraphicFramePr>
        <p:xfrm>
          <a:off x="1160817" y="2405711"/>
          <a:ext cx="6779261" cy="237745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[2][3])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[2][3] = { 0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96" y="5174525"/>
            <a:ext cx="2621343" cy="401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96" y="5936279"/>
            <a:ext cx="4077645" cy="338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2390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포인터와 함수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021" y="1763539"/>
            <a:ext cx="6453657" cy="3330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2731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포인터와 함수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12343" y="2066330"/>
            <a:ext cx="7924665" cy="3258147"/>
            <a:chOff x="615155" y="1379936"/>
            <a:chExt cx="7924665" cy="3258147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6"/>
              <a:ext cx="7924665" cy="3258147"/>
              <a:chOff x="683573" y="1844825"/>
              <a:chExt cx="7924665" cy="134447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5"/>
                <a:ext cx="7920000" cy="13444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11-2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배열의 요소를 오름차순으로 정리하기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36842" y="1815434"/>
              <a:ext cx="7485956" cy="7461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요소 타입이 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int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인 배열과 요소의 개수를 인자로 받은 뒤 배열의 값들을 오름차순으로 정렬하는 함수를 구현해봅시다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함수의 형식은 다음과 같습니다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716" y="3584187"/>
            <a:ext cx="2810268" cy="448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984" y="4184152"/>
            <a:ext cx="6650444" cy="1023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0183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포인터와 함수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23857" y="1874838"/>
            <a:ext cx="7924665" cy="3544889"/>
            <a:chOff x="615155" y="1213373"/>
            <a:chExt cx="7924665" cy="3544889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213373"/>
              <a:ext cx="7924665" cy="3544889"/>
              <a:chOff x="683573" y="1844824"/>
              <a:chExt cx="7924665" cy="1045798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0457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11-2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2282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05156627"/>
                </p:ext>
              </p:extLst>
            </p:nvPr>
          </p:nvGraphicFramePr>
          <p:xfrm>
            <a:off x="871407" y="1680672"/>
            <a:ext cx="7416825" cy="2915664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915664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Sort(</a:t>
                        </a:r>
                        <a:r>
                          <a:rPr lang="nn-NO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arr[], </a:t>
                        </a:r>
                        <a:r>
                          <a:rPr lang="nn-NO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count)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nn-NO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i = 0; i &lt; count - 1; i++)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nn-NO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 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nn-NO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j = i + 1; j &lt; count; j++)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nn-NO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(arr[i] &gt; arr[j])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</a:t>
                        </a:r>
                        <a:r>
                          <a:rPr lang="nn-NO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temp = arr[i];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arr[i] = arr[j];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arr[j] = temp;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3098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동적 메모리 할당과 해제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 err="1"/>
              <a:t>힙</a:t>
            </a:r>
            <a:r>
              <a:rPr lang="ko-KR" altLang="en-US" sz="2400" dirty="0"/>
              <a:t> 영역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힙</a:t>
            </a:r>
            <a:r>
              <a:rPr lang="en-US" altLang="ko-KR" b="1" dirty="0"/>
              <a:t>(Heap) </a:t>
            </a:r>
            <a:r>
              <a:rPr lang="ko-KR" altLang="en-US" b="1" dirty="0"/>
              <a:t>영역의 개념</a:t>
            </a:r>
            <a:endParaRPr lang="ko-KR" altLang="en-US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 메모리의 크기가 필요에 따라서 변할 수 있는 새로운 형태의 메모리 영역</a:t>
            </a:r>
            <a:endParaRPr lang="en-US" altLang="ko-KR" dirty="0"/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메모리 영역의 할당과 해제</a:t>
            </a:r>
            <a:endParaRPr lang="ko-KR" altLang="en-US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 프로그램이 시작되면 기본적으로 </a:t>
            </a:r>
            <a:r>
              <a:rPr lang="ko-KR" altLang="en-US" dirty="0" err="1"/>
              <a:t>힙</a:t>
            </a:r>
            <a:r>
              <a:rPr lang="en-US" altLang="ko-KR" dirty="0"/>
              <a:t>(Heap) </a:t>
            </a:r>
            <a:r>
              <a:rPr lang="ko-KR" altLang="en-US" dirty="0"/>
              <a:t>영역이 마련되어 필요한 만큼 메모리 영역을 </a:t>
            </a:r>
            <a:r>
              <a:rPr lang="ko-KR" altLang="en-US" dirty="0" err="1"/>
              <a:t>할당받아</a:t>
            </a:r>
            <a:r>
              <a:rPr lang="ko-KR" altLang="en-US" dirty="0"/>
              <a:t> 사용할 수 있음</a:t>
            </a:r>
            <a:endParaRPr lang="en-US" altLang="ko-KR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힙에서</a:t>
            </a:r>
            <a:r>
              <a:rPr lang="ko-KR" altLang="en-US" dirty="0"/>
              <a:t> </a:t>
            </a:r>
            <a:r>
              <a:rPr lang="ko-KR" altLang="en-US" dirty="0" err="1"/>
              <a:t>할당받은</a:t>
            </a:r>
            <a:r>
              <a:rPr lang="ko-KR" altLang="en-US" dirty="0"/>
              <a:t> 메모리 영역이 더 이상 사용되지 않을 경우 반드시 해제해야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 err="1"/>
              <a:t>힙</a:t>
            </a:r>
            <a:r>
              <a:rPr lang="ko-KR" altLang="en-US" sz="2400" dirty="0"/>
              <a:t> 영역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힙</a:t>
            </a:r>
            <a:r>
              <a:rPr lang="ko-KR" altLang="en-US" b="1" dirty="0"/>
              <a:t> 매니저</a:t>
            </a:r>
            <a:endParaRPr lang="ko-KR" altLang="en-US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프로그램이 동적 메모리 할당과 해제를 쉽게 사용할 수 있도록 함</a:t>
            </a:r>
            <a:endParaRPr lang="en-US" altLang="ko-KR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요청 크기의 메모리를 할당해줌</a:t>
            </a:r>
            <a:endParaRPr lang="en-US" altLang="ko-KR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할당받은</a:t>
            </a:r>
            <a:r>
              <a:rPr lang="ko-KR" altLang="en-US" dirty="0"/>
              <a:t> 메모리는 명시적으로 해제하기 전까지 안전하게 유지됨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43012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en-US" altLang="ko-KR" sz="2400" dirty="0" err="1"/>
              <a:t>malloc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함수와 </a:t>
            </a:r>
            <a:r>
              <a:rPr lang="en-US" altLang="ko-KR" sz="2400" dirty="0"/>
              <a:t>free </a:t>
            </a:r>
            <a:r>
              <a:rPr lang="ko-KR" altLang="en-US" sz="2400" dirty="0"/>
              <a:t>함수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동적 메모리 할당 및 해제 함수</a:t>
            </a:r>
            <a:endParaRPr lang="ko-KR" altLang="en-US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malloc</a:t>
            </a:r>
            <a:r>
              <a:rPr lang="en-US" altLang="ko-KR" dirty="0"/>
              <a:t> </a:t>
            </a:r>
            <a:r>
              <a:rPr lang="ko-KR" altLang="en-US" dirty="0"/>
              <a:t>함수 </a:t>
            </a:r>
            <a:r>
              <a:rPr lang="en-US" altLang="ko-KR" dirty="0"/>
              <a:t>: </a:t>
            </a:r>
            <a:r>
              <a:rPr lang="ko-KR" altLang="en-US" dirty="0"/>
              <a:t>매개변수 </a:t>
            </a:r>
            <a:r>
              <a:rPr lang="en-US" altLang="ko-KR" dirty="0"/>
              <a:t>size </a:t>
            </a:r>
            <a:r>
              <a:rPr lang="ko-KR" altLang="en-US" dirty="0"/>
              <a:t>바이트만큼 메모리 영역을 </a:t>
            </a:r>
            <a:r>
              <a:rPr lang="ko-KR" altLang="en-US" dirty="0" err="1"/>
              <a:t>힙에서</a:t>
            </a:r>
            <a:r>
              <a:rPr lang="ko-KR" altLang="en-US" dirty="0"/>
              <a:t> </a:t>
            </a:r>
            <a:r>
              <a:rPr lang="ko-KR" altLang="en-US" dirty="0" err="1"/>
              <a:t>할당받는</a:t>
            </a:r>
            <a:r>
              <a:rPr lang="ko-KR" altLang="en-US" dirty="0"/>
              <a:t> 함수</a:t>
            </a:r>
            <a:endParaRPr lang="en-US" altLang="ko-KR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628650" lvl="3" indent="0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  <a:buNone/>
            </a:pPr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282" y="2619375"/>
            <a:ext cx="6943148" cy="545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1829126" y="3576179"/>
            <a:ext cx="5979460" cy="1603189"/>
            <a:chOff x="1297504" y="4581869"/>
            <a:chExt cx="6577406" cy="1763508"/>
          </a:xfrm>
        </p:grpSpPr>
        <p:grpSp>
          <p:nvGrpSpPr>
            <p:cNvPr id="6" name="Google Shape;118;p8"/>
            <p:cNvGrpSpPr>
              <a:grpSpLocks noChangeAspect="1"/>
            </p:cNvGrpSpPr>
            <p:nvPr/>
          </p:nvGrpSpPr>
          <p:grpSpPr>
            <a:xfrm>
              <a:off x="1297504" y="4581869"/>
              <a:ext cx="6577406" cy="1763508"/>
              <a:chOff x="683573" y="1844824"/>
              <a:chExt cx="7924665" cy="2741278"/>
            </a:xfrm>
          </p:grpSpPr>
          <p:sp>
            <p:nvSpPr>
              <p:cNvPr id="7" name="Google Shape;119;p8"/>
              <p:cNvSpPr/>
              <p:nvPr/>
            </p:nvSpPr>
            <p:spPr>
              <a:xfrm>
                <a:off x="688238" y="1862055"/>
                <a:ext cx="7920000" cy="2724047"/>
              </a:xfrm>
              <a:prstGeom prst="rect">
                <a:avLst/>
              </a:prstGeom>
              <a:solidFill>
                <a:srgbClr val="EAF1DD"/>
              </a:solidFill>
              <a:ln w="12700" cap="flat" cmpd="sng">
                <a:solidFill>
                  <a:srgbClr val="008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" name="Google Shape;120;p8"/>
              <p:cNvSpPr txBox="1"/>
              <p:nvPr/>
            </p:nvSpPr>
            <p:spPr>
              <a:xfrm>
                <a:off x="724204" y="2363103"/>
                <a:ext cx="7772192" cy="14088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47675" lvl="1" indent="-180975">
                  <a:lnSpc>
                    <a:spcPct val="150000"/>
                  </a:lnSpc>
                  <a:spcBef>
                    <a:spcPts val="600"/>
                  </a:spcBef>
                  <a:buClr>
                    <a:srgbClr val="3C479D"/>
                  </a:buClr>
                  <a:buSzPts val="1600"/>
                  <a:buFont typeface="Noto Sans Symbols"/>
                  <a:buChar char="▪"/>
                </a:pPr>
                <a:r>
                  <a:rPr lang="en-US" altLang="ko-KR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size_t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는 </a:t>
                </a:r>
                <a:r>
                  <a:rPr lang="en-US" altLang="ko-KR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typedef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 새롭게 정의된 타입임</a:t>
                </a: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" name="Google Shape;121;p8"/>
              <p:cNvSpPr/>
              <p:nvPr/>
            </p:nvSpPr>
            <p:spPr>
              <a:xfrm>
                <a:off x="683573" y="1844824"/>
                <a:ext cx="1511728" cy="526481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 err="1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하나</a:t>
                </a:r>
                <a:r>
                  <a:rPr lang="en-US" sz="12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더 </a:t>
                </a:r>
                <a:r>
                  <a:rPr lang="en-US" sz="1200" b="1" dirty="0" err="1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알기</a:t>
                </a:r>
                <a:endParaRPr sz="1100" dirty="0"/>
              </a:p>
            </p:txBody>
          </p:sp>
          <p:sp>
            <p:nvSpPr>
              <p:cNvPr id="10" name="Google Shape;122;p8"/>
              <p:cNvSpPr txBox="1"/>
              <p:nvPr/>
            </p:nvSpPr>
            <p:spPr>
              <a:xfrm>
                <a:off x="2256715" y="1862053"/>
                <a:ext cx="4699962" cy="509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>
                  <a:lnSpc>
                    <a:spcPct val="150000"/>
                  </a:lnSpc>
                  <a:buClr>
                    <a:srgbClr val="3C479D"/>
                  </a:buClr>
                  <a:buSzPts val="1800"/>
                </a:pPr>
                <a:r>
                  <a:rPr lang="en-US" altLang="ko-KR" b="1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malloc</a:t>
                </a:r>
                <a:r>
                  <a:rPr lang="en-US" altLang="ko-KR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ko-KR" altLang="en-US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매개변수 타입 </a:t>
                </a:r>
                <a:r>
                  <a:rPr lang="en-US" altLang="ko-KR" b="1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size_t</a:t>
                </a:r>
                <a:endParaRPr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112" y="5469165"/>
              <a:ext cx="5444188" cy="5790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62618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en-US" altLang="ko-KR" sz="2400" dirty="0" err="1"/>
              <a:t>malloc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함수와 </a:t>
            </a:r>
            <a:r>
              <a:rPr lang="en-US" altLang="ko-KR" sz="2400" dirty="0"/>
              <a:t>free </a:t>
            </a:r>
            <a:r>
              <a:rPr lang="ko-KR" altLang="en-US" sz="2400" dirty="0"/>
              <a:t>함수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동적 메모리 할당 및 해제 함수</a:t>
            </a:r>
            <a:endParaRPr lang="en-US" altLang="ko-KR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free </a:t>
            </a:r>
            <a:r>
              <a:rPr lang="ko-KR" altLang="en-US" dirty="0"/>
              <a:t>함수 </a:t>
            </a:r>
            <a:r>
              <a:rPr lang="en-US" altLang="ko-KR" dirty="0"/>
              <a:t>: </a:t>
            </a:r>
            <a:r>
              <a:rPr lang="ko-KR" altLang="en-US" dirty="0" err="1"/>
              <a:t>힙에서</a:t>
            </a:r>
            <a:r>
              <a:rPr lang="ko-KR" altLang="en-US" dirty="0"/>
              <a:t> </a:t>
            </a:r>
            <a:r>
              <a:rPr lang="ko-KR" altLang="en-US" dirty="0" err="1"/>
              <a:t>할당받은</a:t>
            </a:r>
            <a:r>
              <a:rPr lang="ko-KR" altLang="en-US" dirty="0"/>
              <a:t> 메모리 영역을 해제하는 함수</a:t>
            </a:r>
            <a:endParaRPr lang="en-US" altLang="ko-K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14" y="2565689"/>
            <a:ext cx="6865216" cy="545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02;p7"/>
          <p:cNvSpPr txBox="1"/>
          <p:nvPr/>
        </p:nvSpPr>
        <p:spPr>
          <a:xfrm>
            <a:off x="1349508" y="3228705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-8]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malloc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&amp; free</a:t>
            </a:r>
            <a:endParaRPr dirty="0"/>
          </a:p>
        </p:txBody>
      </p:sp>
      <p:graphicFrame>
        <p:nvGraphicFramePr>
          <p:cNvPr id="11" name="Google Shape;104;p7">
            <a:extLst>
              <a:ext uri="{FF2B5EF4-FFF2-40B4-BE49-F238E27FC236}">
                <a16:creationId xmlns:a16="http://schemas.microsoft.com/office/drawing/2014/main" id="{A40F806A-4741-45E4-BD6B-3A8AD15BA2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7081593"/>
              </p:ext>
            </p:extLst>
          </p:nvPr>
        </p:nvGraphicFramePr>
        <p:xfrm>
          <a:off x="1439544" y="3592058"/>
          <a:ext cx="6779261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malloc.h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 =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malloc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(4);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*p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("%d"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*p);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free(p);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379" y="5362424"/>
            <a:ext cx="1519277" cy="732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911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en-US" altLang="ko-KR" sz="2400" dirty="0" err="1"/>
              <a:t>malloc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함수와 </a:t>
            </a:r>
            <a:r>
              <a:rPr lang="en-US" altLang="ko-KR" sz="2400" dirty="0"/>
              <a:t>free </a:t>
            </a:r>
            <a:r>
              <a:rPr lang="ko-KR" altLang="en-US" sz="2400" dirty="0"/>
              <a:t>함수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메모리 할당과 해제 과정</a:t>
            </a:r>
            <a:endParaRPr lang="en-US" altLang="ko-KR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힙</a:t>
            </a:r>
            <a:r>
              <a:rPr lang="ko-KR" altLang="en-US" dirty="0"/>
              <a:t> 매니저는 내부적으로 할당된 메모리 영역의 정보를 관리하여 </a:t>
            </a:r>
            <a:r>
              <a:rPr lang="ko-KR" altLang="en-US" dirty="0" err="1"/>
              <a:t>할당받은</a:t>
            </a:r>
            <a:r>
              <a:rPr lang="ko-KR" altLang="en-US" dirty="0"/>
              <a:t> 메모리 영역의 크기를 기억함</a:t>
            </a:r>
            <a:endParaRPr lang="en-US" altLang="ko-KR" dirty="0"/>
          </a:p>
        </p:txBody>
      </p:sp>
      <p:pic>
        <p:nvPicPr>
          <p:cNvPr id="3074" name="Picture 2" descr="C:\Users\변소현\Desktop\난생처음 C 언어 프로그래밍\그림\Ch11\그림 11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2914650"/>
            <a:ext cx="500697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258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en-US" altLang="ko-KR" sz="2400" dirty="0" err="1"/>
              <a:t>malloc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함수와 </a:t>
            </a:r>
            <a:r>
              <a:rPr lang="en-US" altLang="ko-KR" sz="2400" dirty="0"/>
              <a:t>free </a:t>
            </a:r>
            <a:r>
              <a:rPr lang="ko-KR" altLang="en-US" sz="2400" dirty="0"/>
              <a:t>함수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동적 메모리 할당의 장점</a:t>
            </a:r>
            <a:endParaRPr lang="en-US" altLang="ko-KR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할당된 메모리 영역을 마치 전역</a:t>
            </a:r>
            <a:r>
              <a:rPr lang="en-US" altLang="ko-KR" dirty="0"/>
              <a:t>, </a:t>
            </a:r>
            <a:r>
              <a:rPr lang="ko-KR" altLang="en-US" dirty="0"/>
              <a:t>정적 객체처럼 함수 경계를 넘어서 사용 가능함</a:t>
            </a:r>
            <a:endParaRPr lang="en-US" altLang="ko-KR" dirty="0"/>
          </a:p>
        </p:txBody>
      </p:sp>
      <p:sp>
        <p:nvSpPr>
          <p:cNvPr id="13" name="Google Shape;102;p7"/>
          <p:cNvSpPr txBox="1"/>
          <p:nvPr/>
        </p:nvSpPr>
        <p:spPr>
          <a:xfrm>
            <a:off x="801693" y="2543535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-9]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함수 경계를 벗어난 사용</a:t>
            </a:r>
            <a:endParaRPr dirty="0"/>
          </a:p>
        </p:txBody>
      </p:sp>
      <p:graphicFrame>
        <p:nvGraphicFramePr>
          <p:cNvPr id="14" name="Google Shape;104;p7"/>
          <p:cNvGraphicFramePr/>
          <p:nvPr>
            <p:extLst>
              <p:ext uri="{D42A27DB-BD31-4B8C-83A1-F6EECF244321}">
                <p14:modId xmlns:p14="http://schemas.microsoft.com/office/powerpoint/2010/main" val="4183814929"/>
              </p:ext>
            </p:extLst>
          </p:nvPr>
        </p:nvGraphicFramePr>
        <p:xfrm>
          <a:off x="906081" y="2861651"/>
          <a:ext cx="7331838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27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516">
                  <a:extLst>
                    <a:ext uri="{9D8B030D-6E8A-4147-A177-3AD203B41FA5}">
                      <a16:colId xmlns:a16="http://schemas.microsoft.com/office/drawing/2014/main" val="1728883316"/>
                    </a:ext>
                  </a:extLst>
                </a:gridCol>
                <a:gridCol w="3403249">
                  <a:extLst>
                    <a:ext uri="{9D8B030D-6E8A-4147-A177-3AD203B41FA5}">
                      <a16:colId xmlns:a16="http://schemas.microsoft.com/office/drawing/2014/main" val="1019225290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malloc.h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GetStack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&amp;a;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GetHeap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24</a:t>
                      </a: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  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 = malloc(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*p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p;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p1 =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GetStack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p2 =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GetHeap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"%d,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*p1, *p2);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free(p2);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613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en-US" altLang="ko-KR" sz="2400" dirty="0" err="1"/>
              <a:t>malloc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함수와 </a:t>
            </a:r>
            <a:r>
              <a:rPr lang="en-US" altLang="ko-KR" sz="2400" dirty="0"/>
              <a:t>free </a:t>
            </a:r>
            <a:r>
              <a:rPr lang="ko-KR" altLang="en-US" sz="2400" dirty="0"/>
              <a:t>함수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동적 메모리 할당의 장점</a:t>
            </a:r>
            <a:endParaRPr lang="en-US" altLang="ko-KR" dirty="0"/>
          </a:p>
          <a:p>
            <a:pPr marL="809625" lvl="3" indent="-180975">
              <a:lnSpc>
                <a:spcPct val="14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동적 메모리 할당을 통해서 대용량 메모리를 확보함</a:t>
            </a:r>
            <a:endParaRPr lang="en-US" altLang="ko-KR" dirty="0"/>
          </a:p>
        </p:txBody>
      </p:sp>
      <p:sp>
        <p:nvSpPr>
          <p:cNvPr id="13" name="Google Shape;102;p7"/>
          <p:cNvSpPr txBox="1"/>
          <p:nvPr/>
        </p:nvSpPr>
        <p:spPr>
          <a:xfrm>
            <a:off x="1349508" y="2545293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-10]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대용량 메모리 할당</a:t>
            </a:r>
            <a:endParaRPr dirty="0"/>
          </a:p>
        </p:txBody>
      </p:sp>
      <p:graphicFrame>
        <p:nvGraphicFramePr>
          <p:cNvPr id="14" name="Google Shape;104;p7"/>
          <p:cNvGraphicFramePr/>
          <p:nvPr>
            <p:extLst>
              <p:ext uri="{D42A27DB-BD31-4B8C-83A1-F6EECF244321}">
                <p14:modId xmlns:p14="http://schemas.microsoft.com/office/powerpoint/2010/main" val="3611501947"/>
              </p:ext>
            </p:extLst>
          </p:nvPr>
        </p:nvGraphicFramePr>
        <p:xfrm>
          <a:off x="1439544" y="2908646"/>
          <a:ext cx="6779261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lang="en-US" sz="1400" b="1" u="none" strike="noStrike" cap="none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malloc.h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altLang="ko-KR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[1024 * 1024 * 4] = { 0 };    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런타임 오류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size = 1024 * 1024 * 4 *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malloc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(size);       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 없음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free(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9638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 err="1"/>
              <a:t>calloc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함수와 </a:t>
            </a:r>
            <a:r>
              <a:rPr lang="en-US" altLang="ko-KR" sz="2400" dirty="0" err="1"/>
              <a:t>realloc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calloc</a:t>
            </a:r>
            <a:r>
              <a:rPr lang="en-US" altLang="ko-KR" b="1" dirty="0"/>
              <a:t> </a:t>
            </a:r>
            <a:r>
              <a:rPr lang="ko-KR" altLang="en-US" b="1" dirty="0"/>
              <a:t>함수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힙에서</a:t>
            </a:r>
            <a:r>
              <a:rPr lang="ko-KR" altLang="en-US" dirty="0"/>
              <a:t> 메모리 영역을 할당해주는 함수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malloc</a:t>
            </a:r>
            <a:r>
              <a:rPr lang="ko-KR" altLang="en-US" dirty="0"/>
              <a:t>에 비해서 매개변수가 하나 더 있음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할당된 영역의 초기화가 있음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메모리 할당과 </a:t>
            </a:r>
            <a:r>
              <a:rPr lang="en-US" altLang="ko-KR" dirty="0"/>
              <a:t>0 </a:t>
            </a:r>
            <a:r>
              <a:rPr lang="ko-KR" altLang="en-US" dirty="0"/>
              <a:t>초기화를 한 번에 해결해주는 함수</a:t>
            </a: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08" y="3924300"/>
            <a:ext cx="7688558" cy="571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6664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 err="1"/>
              <a:t>calloc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함수와 </a:t>
            </a:r>
            <a:r>
              <a:rPr lang="en-US" altLang="ko-KR" sz="2400" dirty="0" err="1"/>
              <a:t>realloc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calloc</a:t>
            </a:r>
            <a:r>
              <a:rPr lang="en-US" altLang="ko-KR" b="1" dirty="0"/>
              <a:t> </a:t>
            </a:r>
            <a:r>
              <a:rPr lang="ko-KR" altLang="en-US" b="1" dirty="0"/>
              <a:t>함수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1349508" y="2192868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-11]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malloc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calloc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비교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851003313"/>
              </p:ext>
            </p:extLst>
          </p:nvPr>
        </p:nvGraphicFramePr>
        <p:xfrm>
          <a:off x="1439544" y="2556221"/>
          <a:ext cx="6779261" cy="340157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malloc.h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p1 =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malloc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p2 =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calloc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(1,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"%d,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*p1, *p2);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free(p1);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free(p2);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102" y="5236358"/>
            <a:ext cx="1828049" cy="655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72382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 err="1"/>
              <a:t>calloc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함수와 </a:t>
            </a:r>
            <a:r>
              <a:rPr lang="en-US" altLang="ko-KR" sz="2400" dirty="0" err="1"/>
              <a:t>realloc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realloc</a:t>
            </a:r>
            <a:r>
              <a:rPr lang="en-US" altLang="ko-KR" b="1" dirty="0"/>
              <a:t> </a:t>
            </a:r>
            <a:r>
              <a:rPr lang="ko-KR" altLang="en-US" b="1" dirty="0"/>
              <a:t>함수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이미 할당된 메모리 영역을 재할당하기 위하여 사용함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주로 기존에 할당된 메모리 영역의 크기를 변경할 경우 사용함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realloc</a:t>
            </a:r>
            <a:r>
              <a:rPr lang="en-US" altLang="ko-KR" dirty="0"/>
              <a:t> </a:t>
            </a:r>
            <a:r>
              <a:rPr lang="ko-KR" altLang="en-US" dirty="0"/>
              <a:t>호출 후에는 기존 할당된 메모리 영역을 해제해서는 안 됨</a:t>
            </a:r>
          </a:p>
        </p:txBody>
      </p:sp>
    </p:spTree>
    <p:extLst>
      <p:ext uri="{BB962C8B-B14F-4D97-AF65-F5344CB8AC3E}">
        <p14:creationId xmlns:p14="http://schemas.microsoft.com/office/powerpoint/2010/main" val="39470829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 err="1"/>
              <a:t>calloc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함수와 </a:t>
            </a:r>
            <a:r>
              <a:rPr lang="en-US" altLang="ko-KR" sz="2400" dirty="0" err="1"/>
              <a:t>realloc</a:t>
            </a:r>
            <a:r>
              <a:rPr lang="en-US" altLang="ko-KR" sz="2400" dirty="0"/>
              <a:t> </a:t>
            </a:r>
            <a:r>
              <a:rPr lang="ko-KR" altLang="en-US" sz="2400" dirty="0"/>
              <a:t>함수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realloc</a:t>
            </a:r>
            <a:r>
              <a:rPr lang="en-US" altLang="ko-KR" b="1" dirty="0"/>
              <a:t> </a:t>
            </a:r>
            <a:r>
              <a:rPr lang="ko-KR" altLang="en-US" b="1" dirty="0"/>
              <a:t>함수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1349508" y="2088093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-12]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realloc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4107920952"/>
              </p:ext>
            </p:extLst>
          </p:nvPr>
        </p:nvGraphicFramePr>
        <p:xfrm>
          <a:off x="1439544" y="2451446"/>
          <a:ext cx="6779261" cy="4169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malloc.h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p1 =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malloc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*p1 = 3;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p2 =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realloc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(p1,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 * 4);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"p1: %p, %d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p1, *p1);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"p2: %p,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p2, *p2);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//free(p1); //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런타임 오류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free(p2);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375" y="2548091"/>
            <a:ext cx="2407111" cy="871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1033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069" y="1387092"/>
            <a:ext cx="6439562" cy="4520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63658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lang="ko-KR" altLang="en-US" dirty="0"/>
          </a:p>
        </p:txBody>
      </p:sp>
      <p:grpSp>
        <p:nvGrpSpPr>
          <p:cNvPr id="8" name="그룹 7"/>
          <p:cNvGrpSpPr/>
          <p:nvPr/>
        </p:nvGrpSpPr>
        <p:grpSpPr>
          <a:xfrm>
            <a:off x="619191" y="1181100"/>
            <a:ext cx="7924665" cy="5276849"/>
            <a:chOff x="619191" y="1390650"/>
            <a:chExt cx="7924665" cy="5276849"/>
          </a:xfrm>
        </p:grpSpPr>
        <p:grpSp>
          <p:nvGrpSpPr>
            <p:cNvPr id="3" name="그룹 2"/>
            <p:cNvGrpSpPr/>
            <p:nvPr/>
          </p:nvGrpSpPr>
          <p:grpSpPr>
            <a:xfrm>
              <a:off x="619191" y="1390650"/>
              <a:ext cx="7924665" cy="5276849"/>
              <a:chOff x="615155" y="898523"/>
              <a:chExt cx="7924665" cy="5276849"/>
            </a:xfrm>
          </p:grpSpPr>
          <p:grpSp>
            <p:nvGrpSpPr>
              <p:cNvPr id="4" name="Google Shape;129;p9"/>
              <p:cNvGrpSpPr/>
              <p:nvPr/>
            </p:nvGrpSpPr>
            <p:grpSpPr>
              <a:xfrm>
                <a:off x="615155" y="898523"/>
                <a:ext cx="7924665" cy="5276849"/>
                <a:chOff x="683573" y="1646170"/>
                <a:chExt cx="7924665" cy="2177484"/>
              </a:xfrm>
              <a:solidFill>
                <a:schemeClr val="accent5">
                  <a:lumMod val="20000"/>
                  <a:lumOff val="80000"/>
                </a:schemeClr>
              </a:solidFill>
            </p:grpSpPr>
            <p:sp>
              <p:nvSpPr>
                <p:cNvPr id="5" name="Google Shape;130;p9"/>
                <p:cNvSpPr/>
                <p:nvPr/>
              </p:nvSpPr>
              <p:spPr>
                <a:xfrm>
                  <a:off x="688238" y="1646170"/>
                  <a:ext cx="7920000" cy="2177484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>
                  <a:solidFill>
                    <a:srgbClr val="8AC9D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" name="Google Shape;132;p9"/>
                <p:cNvSpPr/>
                <p:nvPr/>
              </p:nvSpPr>
              <p:spPr>
                <a:xfrm>
                  <a:off x="683573" y="1647056"/>
                  <a:ext cx="1511728" cy="152935"/>
                </a:xfrm>
                <a:prstGeom prst="rect">
                  <a:avLst/>
                </a:prstGeom>
                <a:solidFill>
                  <a:srgbClr val="8AC9DA"/>
                </a:solidFill>
                <a:ln>
                  <a:solidFill>
                    <a:srgbClr val="8AC9DA"/>
                  </a:solidFill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 dirty="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LAB 11-3</a:t>
                  </a:r>
                  <a:endParaRPr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2126883" y="916704"/>
                <a:ext cx="63664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+mj-ea"/>
                    <a:ea typeface="+mj-ea"/>
                  </a:rPr>
                  <a:t>숫자를 누적시켜 저장하고 보여주기</a:t>
                </a: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885627" y="1288542"/>
                <a:ext cx="7397419" cy="13488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다음 출력처럼 수가 입력될 때마다 기존에 저장된 수를 모두 보여주는 프로그램을 작성해봅시다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 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단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, 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동적 메모리를 이용하고 필요한 경우 </a:t>
                </a:r>
                <a:r>
                  <a:rPr lang="ko-KR" altLang="en-US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재할당받습니다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 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기본 할당 크기는 </a:t>
                </a:r>
                <a:r>
                  <a:rPr lang="en-US" altLang="ko-KR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int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 2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개이며 메모리가 부족한 경우 </a:t>
                </a:r>
                <a:r>
                  <a:rPr lang="en-US" altLang="ko-KR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int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를 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2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개씩 늘립니다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 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입력하는 수가 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0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인 경우 프로그램을 종료합니다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</a:t>
                </a:r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3229" y="3186869"/>
              <a:ext cx="5666952" cy="1779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132" y="4903206"/>
            <a:ext cx="4826148" cy="1242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01960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24680" y="1099074"/>
            <a:ext cx="7924665" cy="5254101"/>
            <a:chOff x="615155" y="1556274"/>
            <a:chExt cx="7924665" cy="5254101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4"/>
              <a:ext cx="7924665" cy="5254101"/>
              <a:chOff x="683573" y="1844824"/>
              <a:chExt cx="7924665" cy="1550042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55004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11-3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35962631"/>
                </p:ext>
              </p:extLst>
            </p:nvPr>
          </p:nvGraphicFramePr>
          <p:xfrm>
            <a:off x="871407" y="2023571"/>
            <a:ext cx="7416825" cy="4681738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92942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  <a:endPara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  <a:endPara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  <a:endPara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  <a:endPara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&lt;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&lt;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malloc.h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index =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size = 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p =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malloc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(size * 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while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(1)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(index &gt;= size)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size += 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p =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realloc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(p, size * 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822177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동적 메모리 할당과 해제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24680" y="1099074"/>
            <a:ext cx="7924665" cy="5254101"/>
            <a:chOff x="615155" y="1556274"/>
            <a:chExt cx="7924665" cy="5254101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4"/>
              <a:ext cx="7924665" cy="5254101"/>
              <a:chOff x="683573" y="1844824"/>
              <a:chExt cx="7924665" cy="1550042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55004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11-3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604506798"/>
                </p:ext>
              </p:extLst>
            </p:nvPr>
          </p:nvGraphicFramePr>
          <p:xfrm>
            <a:off x="871407" y="2023571"/>
            <a:ext cx="7416825" cy="4681738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92942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36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n;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저장할 수를 입력하세요 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 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scanf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&amp;n);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(n)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p[index++] = n;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0;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&lt; index;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 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p[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]);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break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}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free(p);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132469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>
                <a:solidFill>
                  <a:schemeClr val="accent4"/>
                </a:solidFill>
              </a:rPr>
              <a:t>두 문자열을 하나의 문자열로 연결하기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800" dirty="0">
                <a:solidFill>
                  <a:schemeClr val="accent4"/>
                </a:solidFill>
              </a:rPr>
              <a:t>[</a:t>
            </a:r>
            <a:r>
              <a:rPr lang="ko-KR" altLang="en-US" sz="2800" dirty="0">
                <a:solidFill>
                  <a:schemeClr val="accent4"/>
                </a:solidFill>
              </a:rPr>
              <a:t>실전예제</a:t>
            </a:r>
            <a:r>
              <a:rPr lang="en-US" altLang="ko-KR" sz="2800" dirty="0">
                <a:solidFill>
                  <a:schemeClr val="accent4"/>
                </a:solidFill>
              </a:rPr>
              <a:t>] </a:t>
            </a:r>
            <a:r>
              <a:rPr lang="ko-KR" altLang="en-US" sz="2800" dirty="0">
                <a:solidFill>
                  <a:schemeClr val="tx1"/>
                </a:solidFill>
              </a:rPr>
              <a:t>두 문자열을 하나의 문자열로 연결하기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7" y="1366961"/>
            <a:ext cx="8639498" cy="135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문제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None/>
            </a:pPr>
            <a:r>
              <a:rPr lang="ko-KR" altLang="en-US" sz="1800" dirty="0"/>
              <a:t>인자로 </a:t>
            </a:r>
            <a:r>
              <a:rPr lang="ko-KR" altLang="en-US" sz="1800" dirty="0" err="1"/>
              <a:t>입력받은</a:t>
            </a:r>
            <a:r>
              <a:rPr lang="ko-KR" altLang="en-US" sz="1800" dirty="0"/>
              <a:t> 두 문자열을 연결하여 하나의 문자열로 만들어서 반환하는 함수를 작성해봅시다</a:t>
            </a:r>
            <a:r>
              <a:rPr lang="en-US" altLang="ko-KR" sz="1800" dirty="0"/>
              <a:t>. </a:t>
            </a:r>
            <a:r>
              <a:rPr lang="ko-KR" altLang="en-US" sz="1800" dirty="0"/>
              <a:t>함수 형식은 다음과 같습니다</a:t>
            </a:r>
            <a:r>
              <a:rPr lang="en-US" altLang="ko-KR" sz="1800" dirty="0"/>
              <a:t>. </a:t>
            </a:r>
            <a:r>
              <a:rPr lang="ko-KR" altLang="en-US" sz="1800" dirty="0"/>
              <a:t>다음 실행 결과는 두 문자열로 ‘난생처음’과 ‘</a:t>
            </a:r>
            <a:r>
              <a:rPr lang="en-US" altLang="ko-KR" sz="1800" dirty="0"/>
              <a:t>C </a:t>
            </a:r>
            <a:r>
              <a:rPr lang="ko-KR" altLang="en-US" sz="1800" dirty="0"/>
              <a:t>프로그래밍’이 전달된 경우입니다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31" y="3215421"/>
            <a:ext cx="8430090" cy="52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11" y="3948496"/>
            <a:ext cx="8415777" cy="923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800" dirty="0">
                <a:solidFill>
                  <a:schemeClr val="accent4"/>
                </a:solidFill>
              </a:rPr>
              <a:t>[</a:t>
            </a:r>
            <a:r>
              <a:rPr lang="ko-KR" altLang="en-US" sz="2800" dirty="0">
                <a:solidFill>
                  <a:schemeClr val="accent4"/>
                </a:solidFill>
              </a:rPr>
              <a:t>실전예제</a:t>
            </a:r>
            <a:r>
              <a:rPr lang="en-US" altLang="ko-KR" sz="2800" dirty="0">
                <a:solidFill>
                  <a:schemeClr val="accent4"/>
                </a:solidFill>
              </a:rPr>
              <a:t>] </a:t>
            </a:r>
            <a:r>
              <a:rPr lang="ko-KR" altLang="en-US" sz="2800" dirty="0">
                <a:solidFill>
                  <a:schemeClr val="tx1"/>
                </a:solidFill>
              </a:rPr>
              <a:t>두 문자열을 하나의 문자열로 연결하기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23528" y="1255225"/>
            <a:ext cx="8363272" cy="57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en-US" altLang="ko-KR" sz="1800" dirty="0" err="1"/>
              <a:t>CatenateString</a:t>
            </a:r>
            <a:r>
              <a:rPr lang="ko-KR" altLang="en-US" sz="1800" dirty="0"/>
              <a:t>의 두 매개변수 </a:t>
            </a:r>
            <a:r>
              <a:rPr lang="en-US" altLang="ko-KR" sz="1800" dirty="0"/>
              <a:t>str1</a:t>
            </a:r>
            <a:r>
              <a:rPr lang="ko-KR" altLang="en-US" sz="1800" dirty="0"/>
              <a:t>과 </a:t>
            </a:r>
            <a:r>
              <a:rPr lang="en-US" altLang="ko-KR" sz="1800" dirty="0"/>
              <a:t>str2</a:t>
            </a:r>
            <a:r>
              <a:rPr lang="ko-KR" altLang="en-US" sz="1800" dirty="0"/>
              <a:t>에 대해서 먼저 문자열의 길이를 구한다</a:t>
            </a:r>
            <a:r>
              <a:rPr lang="en-US" altLang="ko-KR" sz="1800" dirty="0"/>
              <a:t>.</a:t>
            </a: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endParaRPr lang="en-US" altLang="ko-KR" sz="1600" dirty="0"/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/>
              <a:t>‘두 길이의 합</a:t>
            </a:r>
            <a:r>
              <a:rPr lang="en-US" altLang="ko-KR" sz="1800" dirty="0"/>
              <a:t>+1’</a:t>
            </a:r>
            <a:r>
              <a:rPr lang="ko-KR" altLang="en-US" sz="1800" dirty="0"/>
              <a:t>만큼 </a:t>
            </a:r>
            <a:r>
              <a:rPr lang="en-US" altLang="ko-KR" sz="1800" dirty="0" err="1"/>
              <a:t>malloc</a:t>
            </a:r>
            <a:r>
              <a:rPr lang="ko-KR" altLang="en-US" sz="1800" dirty="0"/>
              <a:t>을 호출하여 동적 메모리를 </a:t>
            </a:r>
            <a:r>
              <a:rPr lang="ko-KR" altLang="en-US" sz="1800" dirty="0" err="1"/>
              <a:t>할당받는다</a:t>
            </a:r>
            <a:r>
              <a:rPr lang="en-US" altLang="ko-KR" sz="1800" dirty="0"/>
              <a:t>. </a:t>
            </a: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endParaRPr lang="en-US" altLang="ko-KR" sz="1800" dirty="0"/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 err="1"/>
              <a:t>반복문을</a:t>
            </a:r>
            <a:r>
              <a:rPr lang="ko-KR" altLang="en-US" sz="1800" dirty="0"/>
              <a:t> 통하여 </a:t>
            </a:r>
            <a:r>
              <a:rPr lang="en-US" altLang="ko-KR" sz="1800" dirty="0"/>
              <a:t>str1</a:t>
            </a:r>
            <a:r>
              <a:rPr lang="ko-KR" altLang="en-US" sz="1800" dirty="0"/>
              <a:t>과 </a:t>
            </a:r>
            <a:r>
              <a:rPr lang="en-US" altLang="ko-KR" sz="1800" dirty="0"/>
              <a:t>str2</a:t>
            </a:r>
            <a:r>
              <a:rPr lang="ko-KR" altLang="en-US" sz="1800" dirty="0"/>
              <a:t>의 문자를 하나씩 동적 메모리 영역에 복사한다</a:t>
            </a:r>
            <a:r>
              <a:rPr lang="en-US" altLang="ko-KR" sz="1800" dirty="0"/>
              <a:t>.</a:t>
            </a: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endParaRPr lang="en-US" altLang="ko-KR" sz="1800" dirty="0"/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/>
              <a:t>마지막은 </a:t>
            </a:r>
            <a:r>
              <a:rPr lang="en-US" altLang="ko-KR" sz="1800" dirty="0"/>
              <a:t>NULL </a:t>
            </a:r>
            <a:r>
              <a:rPr lang="ko-KR" altLang="en-US" sz="1800" dirty="0"/>
              <a:t>종료 문자열을 완성하기 위하여 ‘</a:t>
            </a:r>
            <a:r>
              <a:rPr lang="en-US" altLang="ko-KR" sz="1800" dirty="0"/>
              <a:t>\0’</a:t>
            </a:r>
            <a:r>
              <a:rPr lang="ko-KR" altLang="en-US" sz="1800" dirty="0"/>
              <a:t>을 복사하고 포인터를 반환한다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7431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800" dirty="0">
                <a:solidFill>
                  <a:schemeClr val="accent4"/>
                </a:solidFill>
              </a:rPr>
              <a:t>[</a:t>
            </a:r>
            <a:r>
              <a:rPr lang="ko-KR" altLang="en-US" sz="2800" dirty="0">
                <a:solidFill>
                  <a:schemeClr val="accent4"/>
                </a:solidFill>
              </a:rPr>
              <a:t>실전예제</a:t>
            </a:r>
            <a:r>
              <a:rPr lang="en-US" altLang="ko-KR" sz="2800" dirty="0">
                <a:solidFill>
                  <a:schemeClr val="accent4"/>
                </a:solidFill>
              </a:rPr>
              <a:t>] </a:t>
            </a:r>
            <a:r>
              <a:rPr lang="ko-KR" altLang="en-US" sz="2800" dirty="0">
                <a:solidFill>
                  <a:schemeClr val="tx1"/>
                </a:solidFill>
              </a:rPr>
              <a:t>두 문자열을 하나의 문자열로 연결하기</a:t>
            </a:r>
            <a:endParaRPr sz="28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47861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784791776"/>
              </p:ext>
            </p:extLst>
          </p:nvPr>
        </p:nvGraphicFramePr>
        <p:xfrm>
          <a:off x="882798" y="1495425"/>
          <a:ext cx="7416825" cy="493777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malloc.h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CatenateString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char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str1,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char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str2)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len1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(str1[len1] !=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\0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len1++;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len2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(str2[len2] !=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\0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len2++;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index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char*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pStr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malloc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(len1 + len2 + 1);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&lt; len1;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pStr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[index++] = str1[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];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800" dirty="0">
                <a:solidFill>
                  <a:schemeClr val="accent4"/>
                </a:solidFill>
              </a:rPr>
              <a:t>[</a:t>
            </a:r>
            <a:r>
              <a:rPr lang="ko-KR" altLang="en-US" sz="2800" dirty="0">
                <a:solidFill>
                  <a:schemeClr val="accent4"/>
                </a:solidFill>
              </a:rPr>
              <a:t>실전예제</a:t>
            </a:r>
            <a:r>
              <a:rPr lang="en-US" altLang="ko-KR" sz="2800" dirty="0">
                <a:solidFill>
                  <a:schemeClr val="accent4"/>
                </a:solidFill>
              </a:rPr>
              <a:t>] </a:t>
            </a:r>
            <a:r>
              <a:rPr lang="ko-KR" altLang="en-US" sz="2800" dirty="0">
                <a:solidFill>
                  <a:schemeClr val="tx1"/>
                </a:solidFill>
              </a:rPr>
              <a:t>두 문자열을 하나의 문자열로 연결하기</a:t>
            </a:r>
            <a:endParaRPr sz="28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47861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857301480"/>
              </p:ext>
            </p:extLst>
          </p:nvPr>
        </p:nvGraphicFramePr>
        <p:xfrm>
          <a:off x="882798" y="1495425"/>
          <a:ext cx="7416825" cy="493777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38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&lt; len2;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pStr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[index++] = str2[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pStr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[index] =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\0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pStr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CatenateString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 C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free(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0594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2995</TotalTime>
  <Words>2576</Words>
  <Application>Microsoft Office PowerPoint</Application>
  <PresentationFormat>화면 슬라이드 쇼(4:3)</PresentationFormat>
  <Paragraphs>681</Paragraphs>
  <Slides>45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2" baseType="lpstr">
      <vt:lpstr>Noto Sans Symbols</vt:lpstr>
      <vt:lpstr>Malgun Gothic</vt:lpstr>
      <vt:lpstr>Malgun Gothic</vt:lpstr>
      <vt:lpstr>Arial</vt:lpstr>
      <vt:lpstr>Consolas</vt:lpstr>
      <vt:lpstr>Verdana</vt:lpstr>
      <vt:lpstr>Office 테마</vt:lpstr>
      <vt:lpstr>Chapter 11. 포인터 심화</vt:lpstr>
      <vt:lpstr>PowerPoint 프레젠테이션</vt:lpstr>
      <vt:lpstr>PowerPoint 프레젠테이션</vt:lpstr>
      <vt:lpstr>PowerPoint 프레젠테이션</vt:lpstr>
      <vt:lpstr>01. 포인터와 배열</vt:lpstr>
      <vt:lpstr>01. 포인터와 배열</vt:lpstr>
      <vt:lpstr>01. 포인터와 배열</vt:lpstr>
      <vt:lpstr>01. 포인터와 배열</vt:lpstr>
      <vt:lpstr>01. 포인터와 배열</vt:lpstr>
      <vt:lpstr>01. 포인터와 배열</vt:lpstr>
      <vt:lpstr>01. 포인터와 배열</vt:lpstr>
      <vt:lpstr>01. 포인터와 배열</vt:lpstr>
      <vt:lpstr>PowerPoint 프레젠테이션</vt:lpstr>
      <vt:lpstr>02. 포인터와 함수</vt:lpstr>
      <vt:lpstr>02. 포인터와 함수</vt:lpstr>
      <vt:lpstr>02. 포인터와 함수</vt:lpstr>
      <vt:lpstr>02. 포인터와 함수</vt:lpstr>
      <vt:lpstr>02. 포인터와 함수</vt:lpstr>
      <vt:lpstr>02. 포인터와 함수</vt:lpstr>
      <vt:lpstr>02. 포인터와 함수</vt:lpstr>
      <vt:lpstr>02. 포인터와 함수</vt:lpstr>
      <vt:lpstr>02. 포인터와 함수</vt:lpstr>
      <vt:lpstr>02. 포인터와 함수</vt:lpstr>
      <vt:lpstr>PowerPoint 프레젠테이션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03. 동적 메모리 할당과 해제</vt:lpstr>
      <vt:lpstr>PowerPoint 프레젠테이션</vt:lpstr>
      <vt:lpstr>[실전예제] 두 문자열을 하나의 문자열로 연결하기</vt:lpstr>
      <vt:lpstr>[실전예제] 두 문자열을 하나의 문자열로 연결하기</vt:lpstr>
      <vt:lpstr>[실전예제] 두 문자열을 하나의 문자열로 연결하기</vt:lpstr>
      <vt:lpstr>[실전예제] 두 문자열을 하나의 문자열로 연결하기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마케팅팀</cp:lastModifiedBy>
  <cp:revision>243</cp:revision>
  <dcterms:created xsi:type="dcterms:W3CDTF">2012-07-11T10:23:22Z</dcterms:created>
  <dcterms:modified xsi:type="dcterms:W3CDTF">2023-07-04T07:44:47Z</dcterms:modified>
</cp:coreProperties>
</file>