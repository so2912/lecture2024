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58" r:id="rId4"/>
    <p:sldId id="259" r:id="rId5"/>
    <p:sldId id="260" r:id="rId6"/>
    <p:sldId id="319" r:id="rId7"/>
    <p:sldId id="269" r:id="rId8"/>
    <p:sldId id="270" r:id="rId9"/>
    <p:sldId id="271" r:id="rId10"/>
    <p:sldId id="272" r:id="rId11"/>
    <p:sldId id="261" r:id="rId12"/>
    <p:sldId id="273" r:id="rId13"/>
    <p:sldId id="262" r:id="rId14"/>
    <p:sldId id="274" r:id="rId15"/>
    <p:sldId id="275" r:id="rId16"/>
    <p:sldId id="276" r:id="rId17"/>
    <p:sldId id="277" r:id="rId18"/>
    <p:sldId id="278" r:id="rId19"/>
    <p:sldId id="320" r:id="rId20"/>
    <p:sldId id="279" r:id="rId21"/>
    <p:sldId id="280" r:id="rId22"/>
    <p:sldId id="321" r:id="rId23"/>
    <p:sldId id="323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324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264" r:id="rId58"/>
    <p:sldId id="317" r:id="rId59"/>
    <p:sldId id="318" r:id="rId60"/>
    <p:sldId id="267" r:id="rId6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87B7"/>
    <a:srgbClr val="B4A4C8"/>
    <a:srgbClr val="8AC9DA"/>
    <a:srgbClr val="FBFBD1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64" autoAdjust="0"/>
  </p:normalViewPr>
  <p:slideViewPr>
    <p:cSldViewPr snapToGrid="0"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809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60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2022 </a:t>
            </a:r>
            <a:r>
              <a:rPr lang="en-US" sz="11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Hanbit</a:t>
            </a: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Academy, Inc.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03. </a:t>
            </a:r>
            <a:r>
              <a:rPr lang="ko-KR" altLang="en-US" sz="3600" b="1" dirty="0">
                <a:solidFill>
                  <a:schemeClr val="lt1"/>
                </a:solidFill>
              </a:rPr>
              <a:t>변수와 타입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01. C 언어 준비 학습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메모리와 데이터 타입</a:t>
            </a:r>
            <a:endParaRPr dirty="0"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변수란</a:t>
            </a:r>
            <a:r>
              <a:rPr lang="en-US" altLang="ko-KR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정수형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실수형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문자형과 문자열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</a:t>
            </a:r>
            <a:r>
              <a:rPr lang="en-US" altLang="ko-KR" sz="2000" b="1" dirty="0" err="1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int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와 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float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사이의 오차 구하기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타입의</a:t>
            </a:r>
            <a:r>
              <a:rPr lang="en-US" dirty="0"/>
              <a:t> </a:t>
            </a:r>
            <a:r>
              <a:rPr lang="en-US" dirty="0" err="1"/>
              <a:t>필요성과</a:t>
            </a:r>
            <a:r>
              <a:rPr lang="en-US" dirty="0"/>
              <a:t> </a:t>
            </a:r>
            <a:r>
              <a:rPr lang="en-US" dirty="0" err="1"/>
              <a:t>종류를</a:t>
            </a:r>
            <a:r>
              <a:rPr lang="en-US" dirty="0"/>
              <a:t> </a:t>
            </a:r>
            <a:r>
              <a:rPr lang="en-US" dirty="0" err="1"/>
              <a:t>알아본다</a:t>
            </a:r>
            <a:r>
              <a:rPr lang="en-US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 err="1"/>
              <a:t>변수의</a:t>
            </a:r>
            <a:r>
              <a:rPr lang="en-US" dirty="0"/>
              <a:t> </a:t>
            </a:r>
            <a:r>
              <a:rPr lang="en-US" dirty="0" err="1"/>
              <a:t>개념을</a:t>
            </a:r>
            <a:r>
              <a:rPr lang="en-US" dirty="0"/>
              <a:t> </a:t>
            </a:r>
            <a:r>
              <a:rPr lang="en-US" dirty="0" err="1"/>
              <a:t>알고</a:t>
            </a:r>
            <a:r>
              <a:rPr lang="en-US" dirty="0"/>
              <a:t> </a:t>
            </a:r>
            <a:r>
              <a:rPr lang="en-US" dirty="0" err="1"/>
              <a:t>정의해본다</a:t>
            </a:r>
            <a:r>
              <a:rPr lang="en-US" dirty="0"/>
              <a:t>.</a:t>
            </a:r>
            <a:endParaRPr dirty="0"/>
          </a:p>
          <a:p>
            <a:pPr marL="457200" lvl="0" indent="-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 err="1"/>
              <a:t>정수형의</a:t>
            </a:r>
            <a:r>
              <a:rPr lang="en-US" dirty="0"/>
              <a:t> </a:t>
            </a:r>
            <a:r>
              <a:rPr lang="en-US" dirty="0" err="1"/>
              <a:t>종류를</a:t>
            </a:r>
            <a:r>
              <a:rPr lang="en-US" dirty="0"/>
              <a:t> </a:t>
            </a:r>
            <a:r>
              <a:rPr lang="en-US" dirty="0" err="1"/>
              <a:t>살펴보고</a:t>
            </a:r>
            <a:r>
              <a:rPr lang="en-US" dirty="0"/>
              <a:t> </a:t>
            </a:r>
            <a:r>
              <a:rPr lang="en-US" dirty="0" err="1"/>
              <a:t>오버플로우와</a:t>
            </a:r>
            <a:r>
              <a:rPr lang="en-US" dirty="0"/>
              <a:t> </a:t>
            </a:r>
            <a:r>
              <a:rPr lang="en-US" dirty="0" err="1"/>
              <a:t>언더플로우의</a:t>
            </a:r>
            <a:r>
              <a:rPr lang="en-US" dirty="0"/>
              <a:t> </a:t>
            </a:r>
            <a:r>
              <a:rPr lang="en-US" dirty="0" err="1"/>
              <a:t>개념을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이해한다</a:t>
            </a:r>
            <a:r>
              <a:rPr lang="en-US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 err="1"/>
              <a:t>실수형을</a:t>
            </a:r>
            <a:r>
              <a:rPr lang="en-US" dirty="0"/>
              <a:t> </a:t>
            </a:r>
            <a:r>
              <a:rPr lang="en-US" dirty="0" err="1"/>
              <a:t>사용하는</a:t>
            </a:r>
            <a:r>
              <a:rPr lang="en-US" dirty="0"/>
              <a:t> </a:t>
            </a:r>
            <a:r>
              <a:rPr lang="en-US" dirty="0" err="1"/>
              <a:t>경우를</a:t>
            </a:r>
            <a:r>
              <a:rPr lang="en-US" dirty="0"/>
              <a:t> </a:t>
            </a:r>
            <a:r>
              <a:rPr lang="en-US" dirty="0" err="1"/>
              <a:t>살펴본다</a:t>
            </a:r>
            <a:r>
              <a:rPr lang="en-US" dirty="0"/>
              <a:t>.</a:t>
            </a:r>
            <a:endParaRPr dirty="0"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 err="1"/>
              <a:t>문자형과</a:t>
            </a:r>
            <a:r>
              <a:rPr lang="en-US" dirty="0"/>
              <a:t> </a:t>
            </a:r>
            <a:r>
              <a:rPr lang="en-US" dirty="0" err="1"/>
              <a:t>문자열의</a:t>
            </a:r>
            <a:r>
              <a:rPr lang="en-US" dirty="0"/>
              <a:t> </a:t>
            </a:r>
            <a:r>
              <a:rPr lang="en-US" dirty="0" err="1"/>
              <a:t>차이점을</a:t>
            </a:r>
            <a:r>
              <a:rPr lang="en-US" dirty="0"/>
              <a:t> </a:t>
            </a:r>
            <a:r>
              <a:rPr lang="en-US" dirty="0" err="1"/>
              <a:t>이해할</a:t>
            </a:r>
            <a:r>
              <a:rPr lang="en-US" dirty="0"/>
              <a:t> 수 </a:t>
            </a:r>
            <a:r>
              <a:rPr lang="en-US" dirty="0" err="1"/>
              <a:t>있다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sz="4000"/>
              <a:t>메모리와 데이터 타입</a:t>
            </a:r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01. </a:t>
            </a:r>
            <a:r>
              <a:rPr lang="en-US"/>
              <a:t>메모리와 데이터 타입</a:t>
            </a:r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262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sz="2400" dirty="0" err="1"/>
              <a:t>메모리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b="1" dirty="0" err="1"/>
              <a:t>비트</a:t>
            </a:r>
            <a:r>
              <a:rPr lang="en-US" b="1" dirty="0"/>
              <a:t>(Bit, Binary Digit)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dirty="0"/>
              <a:t>0 </a:t>
            </a:r>
            <a:r>
              <a:rPr lang="en-US" dirty="0" err="1"/>
              <a:t>혹은</a:t>
            </a:r>
            <a:r>
              <a:rPr lang="en-US" dirty="0"/>
              <a:t> 1을 </a:t>
            </a:r>
            <a:r>
              <a:rPr lang="en-US" dirty="0" err="1"/>
              <a:t>나타낼</a:t>
            </a:r>
            <a:r>
              <a:rPr lang="en-US" dirty="0"/>
              <a:t> 수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en-US" dirty="0" err="1"/>
              <a:t>모눈</a:t>
            </a:r>
            <a:r>
              <a:rPr lang="en-US" dirty="0"/>
              <a:t> 한 </a:t>
            </a:r>
            <a:r>
              <a:rPr lang="en-US" dirty="0" err="1"/>
              <a:t>개는</a:t>
            </a:r>
            <a:r>
              <a:rPr lang="en-US" dirty="0"/>
              <a:t> </a:t>
            </a:r>
            <a:r>
              <a:rPr lang="en-US" dirty="0" err="1"/>
              <a:t>컴퓨터의</a:t>
            </a:r>
            <a:r>
              <a:rPr lang="en-US" dirty="0"/>
              <a:t> </a:t>
            </a:r>
            <a:r>
              <a:rPr lang="en-US" dirty="0" err="1"/>
              <a:t>최소</a:t>
            </a:r>
            <a:r>
              <a:rPr lang="en-US" dirty="0"/>
              <a:t> </a:t>
            </a:r>
            <a:r>
              <a:rPr lang="en-US" dirty="0" err="1"/>
              <a:t>저장</a:t>
            </a:r>
            <a:r>
              <a:rPr lang="en-US" dirty="0"/>
              <a:t> </a:t>
            </a:r>
            <a:r>
              <a:rPr lang="en-US" dirty="0" err="1"/>
              <a:t>단위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dirty="0"/>
              <a:t>1비트 : {0, 1} 두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상태를</a:t>
            </a:r>
            <a:r>
              <a:rPr lang="en-US" dirty="0"/>
              <a:t> </a:t>
            </a:r>
            <a:r>
              <a:rPr lang="en-US" dirty="0" err="1"/>
              <a:t>나타낼</a:t>
            </a:r>
            <a:r>
              <a:rPr lang="en-US" dirty="0"/>
              <a:t> 수 </a:t>
            </a:r>
            <a:r>
              <a:rPr lang="en-US" dirty="0" err="1"/>
              <a:t>있음</a:t>
            </a:r>
            <a:r>
              <a:rPr lang="en-US" dirty="0"/>
              <a:t> 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en-US" dirty="0"/>
              <a:t>2비트 : {00, 01, 10, 11} 네 </a:t>
            </a:r>
            <a:r>
              <a:rPr lang="en-US" dirty="0" err="1"/>
              <a:t>가지</a:t>
            </a:r>
            <a:r>
              <a:rPr lang="en-US" dirty="0"/>
              <a:t> </a:t>
            </a:r>
            <a:r>
              <a:rPr lang="en-US" dirty="0" err="1"/>
              <a:t>상태를</a:t>
            </a:r>
            <a:r>
              <a:rPr lang="en-US" dirty="0"/>
              <a:t> </a:t>
            </a:r>
            <a:r>
              <a:rPr lang="en-US" dirty="0" err="1"/>
              <a:t>나타낼</a:t>
            </a:r>
            <a:r>
              <a:rPr lang="en-US" dirty="0"/>
              <a:t> 수 </a:t>
            </a:r>
            <a:r>
              <a:rPr lang="en-US" dirty="0" err="1"/>
              <a:t>있음</a:t>
            </a:r>
            <a:endParaRPr dirty="0"/>
          </a:p>
        </p:txBody>
      </p:sp>
      <p:pic>
        <p:nvPicPr>
          <p:cNvPr id="89" name="Google Shape;89;p5" descr="텍스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928" y="3933056"/>
            <a:ext cx="4558145" cy="224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01. </a:t>
            </a:r>
            <a:r>
              <a:rPr lang="en-US"/>
              <a:t>메모리와 데이터 타입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Google Shape;88;p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39552" y="1196751"/>
                <a:ext cx="8424936" cy="5476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514350" lvl="0" indent="-51435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2400"/>
                  <a:buFont typeface="Malgun Gothic"/>
                  <a:buAutoNum type="romanUcPeriod"/>
                </a:pPr>
                <a:r>
                  <a:rPr lang="ko-KR" altLang="en-US" sz="2400" dirty="0"/>
                  <a:t>메모리</a:t>
                </a:r>
              </a:p>
              <a:p>
                <a:pPr marL="628650" lvl="2" indent="-180975" algn="l" rtl="0">
                  <a:lnSpc>
                    <a:spcPct val="15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3C479D"/>
                  </a:buClr>
                  <a:buSzPts val="1800"/>
                  <a:buChar char="•"/>
                </a:pPr>
                <a:r>
                  <a:rPr lang="ko-KR" altLang="en-US" b="1" dirty="0"/>
                  <a:t>바이트</a:t>
                </a:r>
                <a:endParaRPr lang="ko-KR" altLang="en-US" dirty="0"/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10</m:t>
                        </m:r>
                      </m:sup>
                    </m:sSup>
                  </m:oMath>
                </a14:m>
                <a:r>
                  <a:rPr lang="ko-KR" altLang="en-US" dirty="0"/>
                  <a:t>인 </a:t>
                </a:r>
                <a:r>
                  <a:rPr lang="en-US" altLang="ko-KR" dirty="0"/>
                  <a:t>1,024</a:t>
                </a:r>
                <a:r>
                  <a:rPr lang="ko-KR" altLang="en-US" dirty="0"/>
                  <a:t>배마다 단위 표기를 다르게 함</a:t>
                </a:r>
                <a:endParaRPr lang="en-US" altLang="ko-KR" dirty="0"/>
              </a:p>
              <a:p>
                <a:pPr marL="809625" lvl="3" indent="-180975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</a:pPr>
                <a:r>
                  <a:rPr lang="ko-KR" altLang="en-US" dirty="0"/>
                  <a:t>컴퓨터는 바이트마다 주소를 부여</a:t>
                </a:r>
              </a:p>
              <a:p>
                <a:pPr marL="628650" lvl="3" indent="0">
                  <a:lnSpc>
                    <a:spcPct val="150000"/>
                  </a:lnSpc>
                  <a:spcBef>
                    <a:spcPts val="620"/>
                  </a:spcBef>
                  <a:buClr>
                    <a:srgbClr val="3C479D"/>
                  </a:buClr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88" name="Google Shape;88;p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552" y="1196751"/>
                <a:ext cx="8424936" cy="5476503"/>
              </a:xfrm>
              <a:prstGeom prst="rect">
                <a:avLst/>
              </a:prstGeom>
              <a:blipFill rotWithShape="1">
                <a:blip r:embed="rId3"/>
                <a:stretch>
                  <a:fillRect l="-1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C:\Users\변소현\Desktop\난생처음 C 언어 프로그래밍\그림\Ch3\표 3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327706"/>
            <a:ext cx="2849563" cy="169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변소현\Desktop\난생처음 C 언어 프로그래밍\그림\Ch3\그림 3-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150" y="4187821"/>
            <a:ext cx="5402748" cy="171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66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en-US" altLang="ko-KR" dirty="0" err="1"/>
              <a:t>메모리와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타입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데이터 타입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타입의 개념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메모리 영역을 크기와 데이터의 종류에 따라서 분류한 것 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메모리 영역의 상태를 타입에 따라 해석할 수 있음</a:t>
            </a:r>
          </a:p>
        </p:txBody>
      </p:sp>
      <p:pic>
        <p:nvPicPr>
          <p:cNvPr id="2050" name="Picture 2" descr="C:\Users\변소현\Desktop\난생처음 C 언어 프로그래밍\그림\Ch3\그림 3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169" y="3497263"/>
            <a:ext cx="4411662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87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en-US" altLang="ko-KR" dirty="0" err="1"/>
              <a:t>메모리와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타입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데이터의 분류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타입의 분류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수 </a:t>
            </a:r>
            <a:r>
              <a:rPr lang="en-US" altLang="ko-KR" dirty="0"/>
              <a:t>: </a:t>
            </a:r>
            <a:r>
              <a:rPr lang="ko-KR" altLang="en-US" dirty="0"/>
              <a:t>정수형</a:t>
            </a:r>
            <a:r>
              <a:rPr lang="en-US" altLang="ko-KR" dirty="0"/>
              <a:t>, </a:t>
            </a:r>
            <a:r>
              <a:rPr lang="ko-KR" altLang="en-US" dirty="0" err="1"/>
              <a:t>실수형으로</a:t>
            </a:r>
            <a:r>
              <a:rPr lang="ko-KR" altLang="en-US" dirty="0"/>
              <a:t> 나눌 수 있음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</a:t>
            </a:r>
            <a:r>
              <a:rPr lang="en-US" altLang="ko-KR" dirty="0"/>
              <a:t>, </a:t>
            </a:r>
            <a:r>
              <a:rPr lang="ko-KR" altLang="en-US" dirty="0"/>
              <a:t>문자열</a:t>
            </a:r>
            <a:r>
              <a:rPr lang="en-US" altLang="ko-KR" dirty="0"/>
              <a:t> : </a:t>
            </a:r>
            <a:r>
              <a:rPr lang="ko-KR" altLang="en-US" dirty="0"/>
              <a:t>아스키코드</a:t>
            </a:r>
            <a:r>
              <a:rPr lang="en-US" altLang="ko-KR" dirty="0"/>
              <a:t>, </a:t>
            </a:r>
            <a:r>
              <a:rPr lang="ko-KR" altLang="en-US" dirty="0"/>
              <a:t>유니코드로 나눌 수 있음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분류 된 데이터는 해당 분류를 나타내는 타입의 메모리 영역에만 저장됨</a:t>
            </a:r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1292819" y="4218117"/>
            <a:ext cx="6577412" cy="1265782"/>
            <a:chOff x="683573" y="1844824"/>
            <a:chExt cx="7924665" cy="1967590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322932"/>
              <a:ext cx="7772192" cy="1489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2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한정된 크기의 메모리 영역으로 표현할 수 있는 데이터의 범위가 달라짐</a:t>
              </a:r>
              <a:endParaRPr lang="en-US" alt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따라서</a:t>
              </a:r>
              <a:r>
                <a:rPr lang="ko-KR" altLang="en-US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수의 경우 </a:t>
              </a:r>
              <a:r>
                <a:rPr lang="ko-KR" altLang="en-US" sz="12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실수형</a:t>
              </a:r>
              <a:r>
                <a:rPr lang="en-US" altLang="ko-KR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부호 있는 정수형</a:t>
              </a:r>
              <a:r>
                <a:rPr lang="en-US" altLang="ko-KR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altLang="en-US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부호 없는 </a:t>
              </a:r>
              <a:r>
                <a:rPr lang="ko-KR" altLang="en-US" sz="12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정수형으로</a:t>
              </a:r>
              <a:r>
                <a:rPr lang="ko-KR" altLang="en-US" sz="12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세분화됨</a:t>
              </a:r>
              <a:endParaRPr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911000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수의 타입을 세분화하는 이유</a:t>
              </a:r>
              <a:endParaRPr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17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en-US" altLang="ko-KR" dirty="0" err="1"/>
              <a:t>메모리와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타입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타입 개념의 확장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기본 타입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숫자나 문자 하나를 저장할 수 있는 메모리 영역의 분류 체계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집합 타입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기존의 타입들을 조합하여 하나의 타입으로 만든 것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 </a:t>
            </a:r>
            <a:r>
              <a:rPr lang="ko-KR" altLang="en-US" dirty="0"/>
              <a:t>언어의 경우 배열</a:t>
            </a:r>
            <a:r>
              <a:rPr lang="en-US" altLang="ko-KR" dirty="0"/>
              <a:t>(Array) </a:t>
            </a:r>
            <a:r>
              <a:rPr lang="ko-KR" altLang="en-US" dirty="0"/>
              <a:t>타입</a:t>
            </a:r>
            <a:r>
              <a:rPr lang="en-US" altLang="ko-KR" dirty="0"/>
              <a:t>, </a:t>
            </a:r>
            <a:r>
              <a:rPr lang="ko-KR" altLang="en-US" dirty="0"/>
              <a:t>구조체</a:t>
            </a:r>
            <a:r>
              <a:rPr lang="en-US" altLang="ko-KR" dirty="0"/>
              <a:t>(</a:t>
            </a:r>
            <a:r>
              <a:rPr lang="en-US" altLang="ko-KR" dirty="0" err="1"/>
              <a:t>Struct</a:t>
            </a:r>
            <a:r>
              <a:rPr lang="en-US" altLang="ko-KR" dirty="0"/>
              <a:t>)</a:t>
            </a:r>
            <a:r>
              <a:rPr lang="ko-KR" altLang="en-US" dirty="0"/>
              <a:t>를 집합 타입으로 제공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227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en-US" altLang="ko-KR" dirty="0" err="1"/>
              <a:t>메모리와</a:t>
            </a:r>
            <a:r>
              <a:rPr lang="en-US" altLang="ko-KR" dirty="0"/>
              <a:t> </a:t>
            </a:r>
            <a:r>
              <a:rPr lang="en-US" altLang="ko-KR" dirty="0" err="1"/>
              <a:t>데이터</a:t>
            </a:r>
            <a:r>
              <a:rPr lang="en-US" altLang="ko-KR" dirty="0"/>
              <a:t> </a:t>
            </a:r>
            <a:r>
              <a:rPr lang="en-US" altLang="ko-KR" dirty="0" err="1"/>
              <a:t>타입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250243" y="1334728"/>
            <a:ext cx="6643511" cy="5002620"/>
            <a:chOff x="1154768" y="1905686"/>
            <a:chExt cx="6824663" cy="5139029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768" y="1905686"/>
              <a:ext cx="6824663" cy="1523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768" y="3698965"/>
              <a:ext cx="6824663" cy="334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93390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sz="4000"/>
              <a:t>변수란?</a:t>
            </a:r>
            <a:endParaRPr sz="400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변수의 개념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변수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이름이 붙어있어서 쉽게 값을 읽고 쓸 수 있는 메모리 영역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변수명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메모리 영역에 붙인 이름이자 </a:t>
            </a:r>
            <a:r>
              <a:rPr lang="ko-KR" altLang="en-US" dirty="0" err="1"/>
              <a:t>식별자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어떤 데이터를 저장하는지 알 수 있도록 쉽게 작성하는 것이 좋음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여러 단어를 조합하여 적당한 길이로 만드는 것이 좋음</a:t>
            </a:r>
            <a:endParaRPr lang="en-US" altLang="ko-KR" dirty="0"/>
          </a:p>
        </p:txBody>
      </p:sp>
      <p:pic>
        <p:nvPicPr>
          <p:cNvPr id="2050" name="Picture 2" descr="C:\Users\변소현\Desktop\난생처음 C 언어 프로그래밍\그림\Ch3\그림 3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41" y="4746099"/>
            <a:ext cx="3667167" cy="19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en-US" sz="2400" dirty="0" err="1"/>
              <a:t>변수의</a:t>
            </a:r>
            <a:r>
              <a:rPr lang="en-US" sz="2400" dirty="0"/>
              <a:t> </a:t>
            </a:r>
            <a:r>
              <a:rPr lang="en-US" sz="2400" dirty="0" err="1"/>
              <a:t>정의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이름이 붙은 메모리 영역을 마련하는 것</a:t>
            </a:r>
          </a:p>
        </p:txBody>
      </p:sp>
      <p:sp>
        <p:nvSpPr>
          <p:cNvPr id="22" name="Google Shape;102;p7"/>
          <p:cNvSpPr txBox="1"/>
          <p:nvPr/>
        </p:nvSpPr>
        <p:spPr>
          <a:xfrm>
            <a:off x="835542" y="2475145"/>
            <a:ext cx="2317805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3-1] 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변수의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</a:t>
            </a:r>
            <a:endParaRPr dirty="0"/>
          </a:p>
        </p:txBody>
      </p:sp>
      <p:graphicFrame>
        <p:nvGraphicFramePr>
          <p:cNvPr id="24" name="Google Shape;104;p7"/>
          <p:cNvGraphicFramePr/>
          <p:nvPr>
            <p:extLst>
              <p:ext uri="{D42A27DB-BD31-4B8C-83A1-F6EECF244321}">
                <p14:modId xmlns:p14="http://schemas.microsoft.com/office/powerpoint/2010/main" val="408970757"/>
              </p:ext>
            </p:extLst>
          </p:nvPr>
        </p:nvGraphicFramePr>
        <p:xfrm>
          <a:off x="925577" y="2838498"/>
          <a:ext cx="7416825" cy="1883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#include </a:t>
                      </a:r>
                      <a:r>
                        <a:rPr lang="en-US" sz="1400" b="1" u="none" strike="noStrike" cap="none" dirty="0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en-US" sz="1400" b="1" u="none" strike="noStrike" cap="none" dirty="0" err="1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stdio.h</a:t>
                      </a:r>
                      <a:r>
                        <a:rPr lang="en-US" sz="1400" b="1" u="none" strike="noStrike" cap="none" dirty="0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main()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400" b="1" u="none" strike="noStrike" cap="none" dirty="0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1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1" u="none" strike="noStrike" cap="none" dirty="0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b="1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400" b="1" u="none" strike="noStrike" cap="none" dirty="0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1400" b="1" u="none" strike="noStrike" cap="none" dirty="0" err="1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a의</a:t>
                      </a:r>
                      <a:r>
                        <a:rPr lang="en-US" sz="1400" b="1" u="none" strike="noStrike" cap="none" dirty="0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1" u="none" strike="noStrike" cap="none" dirty="0" err="1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주소</a:t>
                      </a:r>
                      <a:r>
                        <a:rPr lang="en-US" sz="1400" b="1" u="none" strike="noStrike" cap="none" dirty="0">
                          <a:solidFill>
                            <a:srgbClr val="E5242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%p"</a:t>
                      </a: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&amp;a);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5" name="Google Shape;10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473" y="4851188"/>
            <a:ext cx="7557025" cy="1227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107;p7"/>
          <p:cNvCxnSpPr/>
          <p:nvPr/>
        </p:nvCxnSpPr>
        <p:spPr>
          <a:xfrm rot="10800000">
            <a:off x="2581761" y="4035266"/>
            <a:ext cx="486364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4318533-E3EC-477D-BBA3-9D74822B6DA7}"/>
              </a:ext>
            </a:extLst>
          </p:cNvPr>
          <p:cNvSpPr txBox="1"/>
          <p:nvPr/>
        </p:nvSpPr>
        <p:spPr>
          <a:xfrm>
            <a:off x="3007043" y="3890521"/>
            <a:ext cx="4599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정수를 저장할 수 있는 변수 </a:t>
            </a:r>
            <a:r>
              <a:rPr lang="en-US" altLang="ko-KR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lang="ko-KR" altLang="en-US" sz="1400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변수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변수가 정의되고 생성되는 순간에 특정한 값을 넣음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변수 대입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변수가 생성된 이후에 값을 넣음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변수의 초기화와 대입 형식</a:t>
            </a:r>
            <a:endParaRPr lang="en-US" altLang="ko-KR" sz="2400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50" y="4104030"/>
            <a:ext cx="6911300" cy="49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889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변수의 정의</a:t>
            </a:r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35541" y="1864558"/>
            <a:ext cx="3486293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변수의 초기화와 대입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1928491083"/>
              </p:ext>
            </p:extLst>
          </p:nvPr>
        </p:nvGraphicFramePr>
        <p:xfrm>
          <a:off x="925577" y="2227911"/>
          <a:ext cx="7416825" cy="1883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 = 1;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a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}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2691441" y="3136230"/>
            <a:ext cx="606235" cy="207828"/>
            <a:chOff x="2674189" y="3285870"/>
            <a:chExt cx="606235" cy="207828"/>
          </a:xfrm>
        </p:grpSpPr>
        <p:cxnSp>
          <p:nvCxnSpPr>
            <p:cNvPr id="24" name="직선 화살표 연결선 23"/>
            <p:cNvCxnSpPr/>
            <p:nvPr/>
          </p:nvCxnSpPr>
          <p:spPr>
            <a:xfrm>
              <a:off x="2674189" y="3285870"/>
              <a:ext cx="0" cy="20782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cxnSpLocks/>
            </p:cNvCxnSpPr>
            <p:nvPr/>
          </p:nvCxnSpPr>
          <p:spPr>
            <a:xfrm>
              <a:off x="2674189" y="3285870"/>
              <a:ext cx="60623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직선 화살표 연결선 30"/>
          <p:cNvCxnSpPr>
            <a:cxnSpLocks/>
          </p:cNvCxnSpPr>
          <p:nvPr/>
        </p:nvCxnSpPr>
        <p:spPr>
          <a:xfrm flipH="1">
            <a:off x="2898475" y="3461158"/>
            <a:ext cx="115783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cxnSpLocks/>
          </p:cNvCxnSpPr>
          <p:nvPr/>
        </p:nvCxnSpPr>
        <p:spPr>
          <a:xfrm flipH="1">
            <a:off x="2881226" y="3730166"/>
            <a:ext cx="2047338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C:\Users\변소현\Desktop\난생처음 C 언어 프로그래밍\그림\Ch3\그림 3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943" y="4112090"/>
            <a:ext cx="4416375" cy="254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65EA761-7D5D-45B3-9ECD-5E00DF547591}"/>
              </a:ext>
            </a:extLst>
          </p:cNvPr>
          <p:cNvSpPr txBox="1"/>
          <p:nvPr/>
        </p:nvSpPr>
        <p:spPr>
          <a:xfrm>
            <a:off x="3297676" y="2990917"/>
            <a:ext cx="4599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4901ED3-BDEA-4149-99F2-223574F4B49E}"/>
              </a:ext>
            </a:extLst>
          </p:cNvPr>
          <p:cNvSpPr txBox="1"/>
          <p:nvPr/>
        </p:nvSpPr>
        <p:spPr>
          <a:xfrm>
            <a:off x="4056311" y="3307269"/>
            <a:ext cx="4599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</a:t>
            </a:r>
            <a:r>
              <a:rPr lang="ko-KR" altLang="en-US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</a:t>
            </a:r>
            <a:endParaRPr lang="ko-KR" altLang="en-US" sz="1400" dirty="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821A4C3-DC73-4E10-82DA-1EA96AD1DDF3}"/>
              </a:ext>
            </a:extLst>
          </p:cNvPr>
          <p:cNvSpPr txBox="1"/>
          <p:nvPr/>
        </p:nvSpPr>
        <p:spPr>
          <a:xfrm>
            <a:off x="4928564" y="3576277"/>
            <a:ext cx="4599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대입</a:t>
            </a:r>
          </a:p>
        </p:txBody>
      </p:sp>
    </p:spTree>
    <p:extLst>
      <p:ext uri="{BB962C8B-B14F-4D97-AF65-F5344CB8AC3E}">
        <p14:creationId xmlns:p14="http://schemas.microsoft.com/office/powerpoint/2010/main" val="5384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각종 타입 변수 정의</a:t>
            </a:r>
            <a:endParaRPr lang="ko-KR" altLang="en-US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35541" y="2434886"/>
            <a:ext cx="3486293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3-3]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각종 타입 변수의 정의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455467997"/>
              </p:ext>
            </p:extLst>
          </p:nvPr>
        </p:nvGraphicFramePr>
        <p:xfrm>
          <a:off x="925577" y="2798239"/>
          <a:ext cx="7416825" cy="290780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c;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short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s;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long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long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ll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f;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d;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}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22" name="그룹 21"/>
          <p:cNvGrpSpPr/>
          <p:nvPr/>
        </p:nvGrpSpPr>
        <p:grpSpPr>
          <a:xfrm>
            <a:off x="2898475" y="3429000"/>
            <a:ext cx="2225616" cy="286260"/>
            <a:chOff x="2898475" y="3467668"/>
            <a:chExt cx="2225616" cy="286260"/>
          </a:xfrm>
        </p:grpSpPr>
        <p:sp>
          <p:nvSpPr>
            <p:cNvPr id="23" name="Google Shape;108;p7"/>
            <p:cNvSpPr txBox="1"/>
            <p:nvPr/>
          </p:nvSpPr>
          <p:spPr>
            <a:xfrm>
              <a:off x="4056311" y="3467668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정수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4" name="직선 화살표 연결선 23"/>
            <p:cNvCxnSpPr>
              <a:stCxn id="23" idx="1"/>
            </p:cNvCxnSpPr>
            <p:nvPr/>
          </p:nvCxnSpPr>
          <p:spPr>
            <a:xfrm flipH="1">
              <a:off x="2898475" y="3610798"/>
              <a:ext cx="115783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/>
          <p:cNvGrpSpPr/>
          <p:nvPr/>
        </p:nvGrpSpPr>
        <p:grpSpPr>
          <a:xfrm>
            <a:off x="2898475" y="3714124"/>
            <a:ext cx="3407434" cy="286260"/>
            <a:chOff x="2898475" y="3483784"/>
            <a:chExt cx="3407434" cy="286260"/>
          </a:xfrm>
        </p:grpSpPr>
        <p:sp>
          <p:nvSpPr>
            <p:cNvPr id="28" name="Google Shape;108;p7"/>
            <p:cNvSpPr txBox="1"/>
            <p:nvPr/>
          </p:nvSpPr>
          <p:spPr>
            <a:xfrm>
              <a:off x="5238129" y="3483784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정수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" name="직선 화살표 연결선 28"/>
            <p:cNvCxnSpPr>
              <a:stCxn id="28" idx="1"/>
            </p:cNvCxnSpPr>
            <p:nvPr/>
          </p:nvCxnSpPr>
          <p:spPr>
            <a:xfrm flipH="1">
              <a:off x="2898475" y="3626914"/>
              <a:ext cx="233965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/>
          <p:cNvGrpSpPr/>
          <p:nvPr/>
        </p:nvGrpSpPr>
        <p:grpSpPr>
          <a:xfrm>
            <a:off x="2898475" y="3965880"/>
            <a:ext cx="2225616" cy="286260"/>
            <a:chOff x="2898475" y="3467668"/>
            <a:chExt cx="2225616" cy="286260"/>
          </a:xfrm>
        </p:grpSpPr>
        <p:sp>
          <p:nvSpPr>
            <p:cNvPr id="35" name="Google Shape;108;p7"/>
            <p:cNvSpPr txBox="1"/>
            <p:nvPr/>
          </p:nvSpPr>
          <p:spPr>
            <a:xfrm>
              <a:off x="4056311" y="3467668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정수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6" name="직선 화살표 연결선 35"/>
            <p:cNvCxnSpPr>
              <a:stCxn id="35" idx="1"/>
            </p:cNvCxnSpPr>
            <p:nvPr/>
          </p:nvCxnSpPr>
          <p:spPr>
            <a:xfrm flipH="1">
              <a:off x="2898475" y="3610798"/>
              <a:ext cx="115783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/>
          <p:cNvGrpSpPr/>
          <p:nvPr/>
        </p:nvGrpSpPr>
        <p:grpSpPr>
          <a:xfrm>
            <a:off x="3206151" y="4237724"/>
            <a:ext cx="3407434" cy="286260"/>
            <a:chOff x="2898475" y="3466532"/>
            <a:chExt cx="3407434" cy="286260"/>
          </a:xfrm>
        </p:grpSpPr>
        <p:sp>
          <p:nvSpPr>
            <p:cNvPr id="38" name="Google Shape;108;p7"/>
            <p:cNvSpPr txBox="1"/>
            <p:nvPr/>
          </p:nvSpPr>
          <p:spPr>
            <a:xfrm>
              <a:off x="5238129" y="3466532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8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정수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9" name="직선 화살표 연결선 38"/>
            <p:cNvCxnSpPr>
              <a:stCxn id="38" idx="1"/>
            </p:cNvCxnSpPr>
            <p:nvPr/>
          </p:nvCxnSpPr>
          <p:spPr>
            <a:xfrm flipH="1">
              <a:off x="2898475" y="3609662"/>
              <a:ext cx="233965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39"/>
          <p:cNvGrpSpPr/>
          <p:nvPr/>
        </p:nvGrpSpPr>
        <p:grpSpPr>
          <a:xfrm>
            <a:off x="2904221" y="4489480"/>
            <a:ext cx="2225616" cy="286260"/>
            <a:chOff x="2898475" y="3467668"/>
            <a:chExt cx="2225616" cy="286260"/>
          </a:xfrm>
        </p:grpSpPr>
        <p:sp>
          <p:nvSpPr>
            <p:cNvPr id="41" name="Google Shape;108;p7"/>
            <p:cNvSpPr txBox="1"/>
            <p:nvPr/>
          </p:nvSpPr>
          <p:spPr>
            <a:xfrm>
              <a:off x="4056311" y="3467668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실수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2" name="직선 화살표 연결선 41"/>
            <p:cNvCxnSpPr>
              <a:stCxn id="41" idx="1"/>
            </p:cNvCxnSpPr>
            <p:nvPr/>
          </p:nvCxnSpPr>
          <p:spPr>
            <a:xfrm flipH="1">
              <a:off x="2898475" y="3610798"/>
              <a:ext cx="115783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/>
          <p:cNvGrpSpPr/>
          <p:nvPr/>
        </p:nvGrpSpPr>
        <p:grpSpPr>
          <a:xfrm>
            <a:off x="3206151" y="4759352"/>
            <a:ext cx="3407434" cy="286260"/>
            <a:chOff x="2898475" y="3466532"/>
            <a:chExt cx="3407434" cy="286260"/>
          </a:xfrm>
        </p:grpSpPr>
        <p:sp>
          <p:nvSpPr>
            <p:cNvPr id="44" name="Google Shape;108;p7"/>
            <p:cNvSpPr txBox="1"/>
            <p:nvPr/>
          </p:nvSpPr>
          <p:spPr>
            <a:xfrm>
              <a:off x="5238129" y="3466532"/>
              <a:ext cx="1067780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 fontScale="92500"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8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바이트 실수</a:t>
              </a:r>
              <a:endParaRPr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5" name="직선 화살표 연결선 44"/>
            <p:cNvCxnSpPr>
              <a:stCxn id="44" idx="1"/>
            </p:cNvCxnSpPr>
            <p:nvPr/>
          </p:nvCxnSpPr>
          <p:spPr>
            <a:xfrm flipH="1">
              <a:off x="2898475" y="3609662"/>
              <a:ext cx="233965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962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Malgun Gothic"/>
              <a:buAutoNum type="romanUcPeriod" startAt="2"/>
            </a:pPr>
            <a:r>
              <a:rPr lang="ko-KR" altLang="en-US" sz="2400" dirty="0"/>
              <a:t>변수의 정의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같은 타입 변수 여러 개 정의 형식</a:t>
            </a:r>
            <a:endParaRPr lang="ko-KR" altLang="en-US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35541" y="3160068"/>
            <a:ext cx="3995251" cy="31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타입 변수 여러 개 정의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2845513342"/>
              </p:ext>
            </p:extLst>
          </p:nvPr>
        </p:nvGraphicFramePr>
        <p:xfrm>
          <a:off x="925577" y="3522621"/>
          <a:ext cx="7416825" cy="213970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a1,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a2;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a3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1, a4;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a5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1, a6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21" y="2341149"/>
            <a:ext cx="6886558" cy="52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3810002" y="4198565"/>
            <a:ext cx="1181519" cy="290918"/>
            <a:chOff x="3810002" y="3855665"/>
            <a:chExt cx="1181519" cy="290918"/>
          </a:xfrm>
        </p:grpSpPr>
        <p:sp>
          <p:nvSpPr>
            <p:cNvPr id="30" name="오른쪽 중괄호 29"/>
            <p:cNvSpPr/>
            <p:nvPr/>
          </p:nvSpPr>
          <p:spPr>
            <a:xfrm>
              <a:off x="3810002" y="3855665"/>
              <a:ext cx="104803" cy="283876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Google Shape;108;p7"/>
            <p:cNvSpPr txBox="1"/>
            <p:nvPr/>
          </p:nvSpPr>
          <p:spPr>
            <a:xfrm>
              <a:off x="3961493" y="3860323"/>
              <a:ext cx="1030028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ko-KR" altLang="en-US" sz="1200" dirty="0">
                  <a:solidFill>
                    <a:srgbClr val="FF0000"/>
                  </a:solidFill>
                  <a:latin typeface="+mj-ea"/>
                  <a:ea typeface="+mj-ea"/>
                  <a:cs typeface="Malgun Gothic"/>
                  <a:sym typeface="Malgun Gothic"/>
                </a:rPr>
                <a:t>변수 초기화</a:t>
              </a:r>
              <a:endParaRPr sz="1200" dirty="0">
                <a:solidFill>
                  <a:srgbClr val="FF0000"/>
                </a:solidFill>
                <a:latin typeface="+mj-ea"/>
                <a:ea typeface="+mj-ea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3529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타입 한정자 </a:t>
            </a:r>
            <a:r>
              <a:rPr lang="en-US" altLang="ko-KR" sz="2400" dirty="0" err="1"/>
              <a:t>const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한정자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타입에 추가적인 속성을 지정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const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해당 타입의 변수는 정의된 이후 값을 대입할 수 없음</a:t>
            </a:r>
            <a:endParaRPr lang="en-US" altLang="ko-KR" dirty="0"/>
          </a:p>
        </p:txBody>
      </p:sp>
      <p:pic>
        <p:nvPicPr>
          <p:cNvPr id="3074" name="Picture 2" descr="C:\Users\변소현\Desktop\난생처음 C 언어 프로그래밍\그림\Ch3\그림 3-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3860800"/>
            <a:ext cx="3322637" cy="246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27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타입 한정자 </a:t>
            </a:r>
            <a:r>
              <a:rPr lang="en-US" altLang="ko-KR" sz="2400" dirty="0" err="1"/>
              <a:t>const</a:t>
            </a:r>
            <a:endParaRPr lang="ko-KR" altLang="en-US"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61988D23-8A29-4895-8067-05F92E7E282D}"/>
              </a:ext>
            </a:extLst>
          </p:cNvPr>
          <p:cNvGrpSpPr/>
          <p:nvPr/>
        </p:nvGrpSpPr>
        <p:grpSpPr>
          <a:xfrm>
            <a:off x="835541" y="2213070"/>
            <a:ext cx="7506861" cy="2247027"/>
            <a:chOff x="835541" y="2597118"/>
            <a:chExt cx="7506861" cy="2247027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835541" y="259711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3-5]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const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84793706"/>
                </p:ext>
              </p:extLst>
            </p:nvPr>
          </p:nvGraphicFramePr>
          <p:xfrm>
            <a:off x="925577" y="2960471"/>
            <a:ext cx="7416825" cy="188367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const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ci;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ci = 1;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dirty="0">
                            <a:latin typeface="Consolas" panose="020B0609020204030204" pitchFamily="49" charset="0"/>
                          </a:rPr>
                          <a:t>  }</a:t>
                        </a:r>
                        <a:endParaRPr lang="en-US" altLang="ko-KR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grpSp>
          <p:nvGrpSpPr>
            <p:cNvPr id="7" name="그룹 6"/>
            <p:cNvGrpSpPr/>
            <p:nvPr/>
          </p:nvGrpSpPr>
          <p:grpSpPr>
            <a:xfrm>
              <a:off x="2628189" y="4282657"/>
              <a:ext cx="1371598" cy="286260"/>
              <a:chOff x="2898479" y="3467668"/>
              <a:chExt cx="775681" cy="286260"/>
            </a:xfrm>
          </p:grpSpPr>
          <p:sp>
            <p:nvSpPr>
              <p:cNvPr id="8" name="Google Shape;108;p7"/>
              <p:cNvSpPr txBox="1"/>
              <p:nvPr/>
            </p:nvSpPr>
            <p:spPr>
              <a:xfrm>
                <a:off x="3387957" y="3467668"/>
                <a:ext cx="286203" cy="28626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오류</a:t>
                </a:r>
                <a:endParaRPr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9" name="직선 화살표 연결선 8"/>
              <p:cNvCxnSpPr/>
              <p:nvPr/>
            </p:nvCxnSpPr>
            <p:spPr>
              <a:xfrm flipH="1">
                <a:off x="2898479" y="3610798"/>
                <a:ext cx="484595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26375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타입 한정자 </a:t>
            </a:r>
            <a:r>
              <a:rPr lang="en-US" altLang="ko-KR" sz="2400" dirty="0" err="1"/>
              <a:t>const</a:t>
            </a:r>
            <a:endParaRPr lang="ko-KR" altLang="en-US"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35541" y="212381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3-6]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const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610111240"/>
              </p:ext>
            </p:extLst>
          </p:nvPr>
        </p:nvGraphicFramePr>
        <p:xfrm>
          <a:off x="925577" y="2487163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float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PI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3.141592;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Twelve = 12;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 f(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PI: %f, Twelve: 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PI, Twelve);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72" y="4921898"/>
            <a:ext cx="7549336" cy="56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/>
          <p:cNvGrpSpPr/>
          <p:nvPr/>
        </p:nvGrpSpPr>
        <p:grpSpPr>
          <a:xfrm>
            <a:off x="4571998" y="3706686"/>
            <a:ext cx="2794958" cy="283878"/>
            <a:chOff x="3810002" y="3855665"/>
            <a:chExt cx="1015417" cy="290920"/>
          </a:xfrm>
        </p:grpSpPr>
        <p:sp>
          <p:nvSpPr>
            <p:cNvPr id="18" name="오른쪽 중괄호 17"/>
            <p:cNvSpPr/>
            <p:nvPr/>
          </p:nvSpPr>
          <p:spPr>
            <a:xfrm>
              <a:off x="3810002" y="3855665"/>
              <a:ext cx="68948" cy="290918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9" name="Google Shape;108;p7"/>
            <p:cNvSpPr txBox="1"/>
            <p:nvPr/>
          </p:nvSpPr>
          <p:spPr>
            <a:xfrm>
              <a:off x="3904022" y="3860325"/>
              <a:ext cx="921397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  <a:latin typeface="+mj-ea"/>
                  <a:ea typeface="+mj-ea"/>
                </a:rPr>
                <a:t>각 타입에 맞는 초기값으로 초기화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2644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타입 한정자 </a:t>
            </a:r>
            <a:r>
              <a:rPr lang="en-US" altLang="ko-KR" sz="2400" dirty="0" err="1"/>
              <a:t>const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같은 타입의 변수 여러 개 정의할 경우</a:t>
            </a:r>
            <a:r>
              <a:rPr lang="en-US" altLang="ko-KR" dirty="0"/>
              <a:t> </a:t>
            </a:r>
            <a:r>
              <a:rPr lang="ko-KR" altLang="en-US" dirty="0"/>
              <a:t>변수들 모두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ko-KR" altLang="en-US" dirty="0"/>
              <a:t>속성을 가짐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6D7B603A-7496-4913-8841-5E8E07918B14}"/>
              </a:ext>
            </a:extLst>
          </p:cNvPr>
          <p:cNvGrpSpPr/>
          <p:nvPr/>
        </p:nvGrpSpPr>
        <p:grpSpPr>
          <a:xfrm>
            <a:off x="826903" y="2590159"/>
            <a:ext cx="7506861" cy="2503059"/>
            <a:chOff x="826903" y="3065647"/>
            <a:chExt cx="7506861" cy="2503059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826903" y="3065647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3-7]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const</a:t>
              </a:r>
              <a:r>
                <a:rPr lang="en-US" altLang="ko-KR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변수 여러 개 정의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4001163205"/>
                </p:ext>
              </p:extLst>
            </p:nvPr>
          </p:nvGraphicFramePr>
          <p:xfrm>
            <a:off x="916939" y="3429000"/>
            <a:ext cx="7416825" cy="213970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const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c1,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c2;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c1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c2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}</a:t>
                        </a: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grpSp>
          <p:nvGrpSpPr>
            <p:cNvPr id="17" name="그룹 16"/>
            <p:cNvGrpSpPr/>
            <p:nvPr/>
          </p:nvGrpSpPr>
          <p:grpSpPr>
            <a:xfrm>
              <a:off x="2734554" y="4890450"/>
              <a:ext cx="759126" cy="283878"/>
              <a:chOff x="3810002" y="3855665"/>
              <a:chExt cx="275793" cy="290920"/>
            </a:xfrm>
          </p:grpSpPr>
          <p:sp>
            <p:nvSpPr>
              <p:cNvPr id="18" name="오른쪽 중괄호 17"/>
              <p:cNvSpPr/>
              <p:nvPr/>
            </p:nvSpPr>
            <p:spPr>
              <a:xfrm>
                <a:off x="3810002" y="3855665"/>
                <a:ext cx="68948" cy="290918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Google Shape;108;p7"/>
              <p:cNvSpPr txBox="1"/>
              <p:nvPr/>
            </p:nvSpPr>
            <p:spPr>
              <a:xfrm>
                <a:off x="3904022" y="3860325"/>
                <a:ext cx="181773" cy="286260"/>
              </a:xfrm>
              <a:prstGeom prst="rect">
                <a:avLst/>
              </a:prstGeom>
              <a:solidFill>
                <a:schemeClr val="lt1"/>
              </a:solidFill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ko-KR" altLang="en-US" sz="1200">
                    <a:solidFill>
                      <a:srgbClr val="FF0000"/>
                    </a:solidFill>
                    <a:latin typeface="+mj-ea"/>
                    <a:ea typeface="+mj-ea"/>
                  </a:rPr>
                  <a:t>오류</a:t>
                </a:r>
                <a:endParaRPr lang="ko-KR" altLang="en-US" sz="1200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5791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타입 별칭 정의 </a:t>
            </a:r>
            <a:r>
              <a:rPr lang="en-US" altLang="ko-KR" sz="2400" dirty="0" err="1"/>
              <a:t>typedef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별칭 정의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변수를 정의할 때 사용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타입 별칭 형식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500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int</a:t>
            </a:r>
            <a:r>
              <a:rPr lang="ko-KR" altLang="en-US" b="1" dirty="0"/>
              <a:t>의 별칭으로 </a:t>
            </a:r>
            <a:r>
              <a:rPr lang="en-US" altLang="ko-KR" b="1" dirty="0" err="1"/>
              <a:t>MyInt</a:t>
            </a:r>
            <a:r>
              <a:rPr lang="en-US" altLang="ko-KR" b="1" dirty="0"/>
              <a:t> </a:t>
            </a:r>
            <a:r>
              <a:rPr lang="ko-KR" altLang="en-US" b="1" dirty="0"/>
              <a:t>정의해보기</a:t>
            </a:r>
            <a:endParaRPr lang="en-US" altLang="ko-KR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r>
              <a:rPr lang="en-US" altLang="ko-KR" dirty="0"/>
              <a:t>①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타입 변수 </a:t>
            </a:r>
            <a:r>
              <a:rPr lang="en-US" altLang="ko-KR" dirty="0" err="1"/>
              <a:t>MyInt</a:t>
            </a:r>
            <a:r>
              <a:rPr lang="ko-KR" altLang="en-US" dirty="0"/>
              <a:t>를 초기값 없이 정의</a:t>
            </a:r>
            <a:endParaRPr lang="en-US" altLang="ko-KR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57" y="3160481"/>
            <a:ext cx="7143086" cy="53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591" b="3400"/>
          <a:stretch/>
        </p:blipFill>
        <p:spPr bwMode="auto">
          <a:xfrm>
            <a:off x="5690379" y="4347952"/>
            <a:ext cx="1711774" cy="590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19175" y="5080017"/>
            <a:ext cx="516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맨 앞에 </a:t>
            </a:r>
            <a:r>
              <a:rPr lang="en-US" altLang="ko-KR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typedef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붙여줌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94"/>
          <a:stretch/>
        </p:blipFill>
        <p:spPr bwMode="auto">
          <a:xfrm>
            <a:off x="5106991" y="5083240"/>
            <a:ext cx="2295162" cy="637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678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2232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타입 별칭 정의 </a:t>
            </a:r>
            <a:r>
              <a:rPr lang="en-US" altLang="ko-KR" sz="2400" dirty="0" err="1"/>
              <a:t>typedef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int</a:t>
            </a:r>
            <a:r>
              <a:rPr lang="ko-KR" altLang="en-US" b="1" dirty="0"/>
              <a:t>의 별칭으로 </a:t>
            </a:r>
            <a:r>
              <a:rPr lang="en-US" altLang="ko-KR" b="1" dirty="0" err="1"/>
              <a:t>MyInt</a:t>
            </a:r>
            <a:r>
              <a:rPr lang="en-US" altLang="ko-KR" b="1" dirty="0"/>
              <a:t> </a:t>
            </a:r>
            <a:r>
              <a:rPr lang="ko-KR" altLang="en-US" b="1" dirty="0"/>
              <a:t>정의해보기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54D8E3DF-3093-4EDF-8E9E-F57A4B0CADCC}"/>
              </a:ext>
            </a:extLst>
          </p:cNvPr>
          <p:cNvGrpSpPr/>
          <p:nvPr/>
        </p:nvGrpSpPr>
        <p:grpSpPr>
          <a:xfrm>
            <a:off x="826902" y="2513949"/>
            <a:ext cx="7506861" cy="3015123"/>
            <a:chOff x="826902" y="2623677"/>
            <a:chExt cx="7506861" cy="3015123"/>
          </a:xfrm>
        </p:grpSpPr>
        <p:sp>
          <p:nvSpPr>
            <p:cNvPr id="7" name="Google Shape;102;p7"/>
            <p:cNvSpPr txBox="1"/>
            <p:nvPr/>
          </p:nvSpPr>
          <p:spPr>
            <a:xfrm>
              <a:off x="826902" y="2623677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3-8] </a:t>
              </a:r>
              <a:r>
                <a:rPr lang="en-US" altLang="ko-KR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typedef</a:t>
              </a:r>
              <a:endParaRPr dirty="0"/>
            </a:p>
          </p:txBody>
        </p:sp>
        <p:graphicFrame>
          <p:nvGraphicFramePr>
            <p:cNvPr id="8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650597227"/>
                </p:ext>
              </p:extLst>
            </p:nvPr>
          </p:nvGraphicFramePr>
          <p:xfrm>
            <a:off x="916938" y="2987030"/>
            <a:ext cx="7416825" cy="265177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1500100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typedef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dirty="0" err="1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MyInt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a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 err="1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MyInt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b = 2l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b = a;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41236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36C09"/>
                </a:solidFill>
              </a:rPr>
              <a:t>02. </a:t>
            </a:r>
            <a:r>
              <a:rPr lang="en-US"/>
              <a:t>변수란?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ko-KR" altLang="en-US" sz="2400" dirty="0"/>
              <a:t>타입 별칭 정의 </a:t>
            </a:r>
            <a:r>
              <a:rPr lang="en-US" altLang="ko-KR" sz="2400" dirty="0" err="1"/>
              <a:t>typedef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typedef</a:t>
            </a:r>
            <a:r>
              <a:rPr lang="ko-KR" altLang="en-US" b="1" dirty="0"/>
              <a:t>의 효용성</a:t>
            </a:r>
            <a:endParaRPr lang="en-US" altLang="ko-KR" dirty="0"/>
          </a:p>
        </p:txBody>
      </p:sp>
      <p:sp>
        <p:nvSpPr>
          <p:cNvPr id="17" name="Google Shape;102;p7"/>
          <p:cNvSpPr txBox="1"/>
          <p:nvPr/>
        </p:nvSpPr>
        <p:spPr>
          <a:xfrm>
            <a:off x="826903" y="2556245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3-9] </a:t>
            </a:r>
            <a:r>
              <a:rPr lang="en-US" altLang="ko-KR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typedef</a:t>
            </a:r>
            <a:endParaRPr dirty="0"/>
          </a:p>
        </p:txBody>
      </p:sp>
      <p:graphicFrame>
        <p:nvGraphicFramePr>
          <p:cNvPr id="18" name="Google Shape;104;p7"/>
          <p:cNvGraphicFramePr/>
          <p:nvPr>
            <p:extLst>
              <p:ext uri="{D42A27DB-BD31-4B8C-83A1-F6EECF244321}">
                <p14:modId xmlns:p14="http://schemas.microsoft.com/office/powerpoint/2010/main" val="167336282"/>
              </p:ext>
            </p:extLst>
          </p:nvPr>
        </p:nvGraphicFramePr>
        <p:xfrm>
          <a:off x="916939" y="2919598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unsigned long</a:t>
                      </a:r>
                      <a:r>
                        <a:rPr lang="ko-KR" altLang="en-US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long 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CULL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CULL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c = 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2628190" y="4755642"/>
            <a:ext cx="1381837" cy="333375"/>
            <a:chOff x="2898478" y="3542425"/>
            <a:chExt cx="781471" cy="333375"/>
          </a:xfrm>
        </p:grpSpPr>
        <p:sp>
          <p:nvSpPr>
            <p:cNvPr id="14" name="Google Shape;108;p7"/>
            <p:cNvSpPr txBox="1"/>
            <p:nvPr/>
          </p:nvSpPr>
          <p:spPr>
            <a:xfrm>
              <a:off x="3383074" y="3542425"/>
              <a:ext cx="296875" cy="33337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오류</a:t>
              </a:r>
              <a:endParaRPr lang="en-US" altLang="ko-KR"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5" name="직선 화살표 연결선 14"/>
            <p:cNvCxnSpPr/>
            <p:nvPr/>
          </p:nvCxnSpPr>
          <p:spPr>
            <a:xfrm flipH="1">
              <a:off x="2898478" y="3693471"/>
              <a:ext cx="48459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2628189" y="3496257"/>
            <a:ext cx="2823705" cy="642511"/>
            <a:chOff x="2628189" y="2912565"/>
            <a:chExt cx="2823705" cy="642511"/>
          </a:xfrm>
        </p:grpSpPr>
        <p:grpSp>
          <p:nvGrpSpPr>
            <p:cNvPr id="10" name="그룹 9"/>
            <p:cNvGrpSpPr/>
            <p:nvPr/>
          </p:nvGrpSpPr>
          <p:grpSpPr>
            <a:xfrm>
              <a:off x="2628189" y="3092582"/>
              <a:ext cx="2823705" cy="462494"/>
              <a:chOff x="2628189" y="3092582"/>
              <a:chExt cx="2823705" cy="462494"/>
            </a:xfrm>
          </p:grpSpPr>
          <p:cxnSp>
            <p:nvCxnSpPr>
              <p:cNvPr id="3" name="직선 연결선 2"/>
              <p:cNvCxnSpPr/>
              <p:nvPr/>
            </p:nvCxnSpPr>
            <p:spPr>
              <a:xfrm>
                <a:off x="2628189" y="3429000"/>
                <a:ext cx="2314747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>
                <a:off x="5095336" y="3429000"/>
                <a:ext cx="356558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원호 7"/>
              <p:cNvSpPr/>
              <p:nvPr/>
            </p:nvSpPr>
            <p:spPr>
              <a:xfrm rot="15672420">
                <a:off x="4296084" y="3001689"/>
                <a:ext cx="407495" cy="589281"/>
              </a:xfrm>
              <a:prstGeom prst="arc">
                <a:avLst>
                  <a:gd name="adj1" fmla="val 15115917"/>
                  <a:gd name="adj2" fmla="val 1320942"/>
                </a:avLst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원호 27"/>
              <p:cNvSpPr/>
              <p:nvPr/>
            </p:nvSpPr>
            <p:spPr>
              <a:xfrm rot="15672420" flipV="1">
                <a:off x="4832533" y="2983139"/>
                <a:ext cx="455177" cy="688697"/>
              </a:xfrm>
              <a:prstGeom prst="arc">
                <a:avLst>
                  <a:gd name="adj1" fmla="val 14409531"/>
                  <a:gd name="adj2" fmla="val 21422893"/>
                </a:avLst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4637474" y="2912565"/>
              <a:ext cx="319318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800" dirty="0">
                  <a:solidFill>
                    <a:srgbClr val="FF0000"/>
                  </a:solidFill>
                </a:rPr>
                <a:t>=</a:t>
              </a:r>
              <a:endParaRPr lang="ko-KR" altLang="en-US" sz="1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4555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en-US" dirty="0" err="1"/>
              <a:t>변수란</a:t>
            </a:r>
            <a:r>
              <a:rPr lang="en-US" dirty="0"/>
              <a:t>?</a:t>
            </a:r>
            <a:endParaRPr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33" y="1798256"/>
            <a:ext cx="6597384" cy="2200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718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 err="1"/>
              <a:t>변수란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2138774"/>
            <a:ext cx="7924665" cy="2965358"/>
            <a:chOff x="683573" y="1844824"/>
            <a:chExt cx="7924665" cy="12995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99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2153679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a</a:t>
            </a:r>
            <a:r>
              <a:rPr lang="ko-KR" altLang="en-US" sz="1600" b="1" dirty="0">
                <a:latin typeface="+mj-ea"/>
                <a:ea typeface="+mj-ea"/>
              </a:rPr>
              <a:t>와 </a:t>
            </a:r>
            <a:r>
              <a:rPr lang="en-US" altLang="ko-KR" sz="1600" b="1" dirty="0">
                <a:latin typeface="+mj-ea"/>
                <a:ea typeface="+mj-ea"/>
              </a:rPr>
              <a:t>b </a:t>
            </a:r>
            <a:r>
              <a:rPr lang="ko-KR" altLang="en-US" sz="1600" b="1" dirty="0">
                <a:latin typeface="+mj-ea"/>
                <a:ea typeface="+mj-ea"/>
              </a:rPr>
              <a:t>값을 서로 바꾸기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2638042"/>
            <a:ext cx="77810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각각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과 </a:t>
            </a:r>
            <a:r>
              <a:rPr lang="en-US" altLang="ko-KR" sz="1600" dirty="0">
                <a:latin typeface="+mn-ea"/>
                <a:ea typeface="+mn-ea"/>
              </a:rPr>
              <a:t>2</a:t>
            </a:r>
            <a:r>
              <a:rPr lang="ko-KR" altLang="en-US" sz="1600" dirty="0">
                <a:latin typeface="+mn-ea"/>
                <a:ea typeface="+mn-ea"/>
              </a:rPr>
              <a:t>로 초기화된 두 정수 변수 </a:t>
            </a:r>
            <a:r>
              <a:rPr lang="en-US" altLang="ko-KR" sz="1600" dirty="0">
                <a:latin typeface="+mn-ea"/>
                <a:ea typeface="+mn-ea"/>
              </a:rPr>
              <a:t>a, b</a:t>
            </a:r>
            <a:r>
              <a:rPr lang="ko-KR" altLang="en-US" sz="1600" dirty="0">
                <a:latin typeface="+mn-ea"/>
                <a:ea typeface="+mn-ea"/>
              </a:rPr>
              <a:t>의 값을 서로 바꾸는 코드를 작성해봅시다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en-US" sz="1600" dirty="0">
              <a:latin typeface="+mn-ea"/>
              <a:ea typeface="+mn-ea"/>
            </a:endParaRP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77"/>
          <a:stretch/>
        </p:blipFill>
        <p:spPr bwMode="auto">
          <a:xfrm>
            <a:off x="726438" y="3393620"/>
            <a:ext cx="2473102" cy="1561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874" y="3625887"/>
            <a:ext cx="2529097" cy="1329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153" y="3644660"/>
            <a:ext cx="2573703" cy="124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0361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 </a:t>
            </a:r>
            <a:r>
              <a:rPr lang="en-US" altLang="ko-KR" dirty="0" err="1"/>
              <a:t>변수란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2138774"/>
            <a:ext cx="7924665" cy="2965358"/>
            <a:chOff x="683573" y="1844824"/>
            <a:chExt cx="7924665" cy="12995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995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3-1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2153679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293984247"/>
              </p:ext>
            </p:extLst>
          </p:nvPr>
        </p:nvGraphicFramePr>
        <p:xfrm>
          <a:off x="871407" y="2625123"/>
          <a:ext cx="7416825" cy="239573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  <a:endParaRPr lang="en-US" sz="1400" b="1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a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1, b = 2;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c = a;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a = b;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b = c;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2533300" y="4421757"/>
            <a:ext cx="2133591" cy="374527"/>
            <a:chOff x="2898479" y="3467667"/>
            <a:chExt cx="1206611" cy="374527"/>
          </a:xfrm>
        </p:grpSpPr>
        <p:sp>
          <p:nvSpPr>
            <p:cNvPr id="15" name="Google Shape;108;p7"/>
            <p:cNvSpPr txBox="1"/>
            <p:nvPr/>
          </p:nvSpPr>
          <p:spPr>
            <a:xfrm>
              <a:off x="3383073" y="3467667"/>
              <a:ext cx="722017" cy="37452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 = a</a:t>
              </a: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는 안 됨</a:t>
              </a:r>
              <a:endParaRPr lang="en-US" altLang="ko-KR"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 flipH="1">
              <a:off x="2898479" y="3654930"/>
              <a:ext cx="48459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1257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정수형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부호 있는 정수 타입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부호 있는 정수</a:t>
            </a:r>
            <a:endParaRPr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모든 정수</a:t>
            </a:r>
            <a:r>
              <a:rPr lang="en-US" altLang="ko-KR" dirty="0"/>
              <a:t>(</a:t>
            </a:r>
            <a:r>
              <a:rPr lang="ko-KR" altLang="en-US" dirty="0"/>
              <a:t>음의 정수</a:t>
            </a:r>
            <a:r>
              <a:rPr lang="en-US" altLang="ko-KR" dirty="0"/>
              <a:t>, 0, </a:t>
            </a:r>
            <a:r>
              <a:rPr lang="ko-KR" altLang="en-US" dirty="0"/>
              <a:t>자연수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10242" name="Picture 2" descr="C:\Users\변소현\Desktop\난생처음 C 언어 프로그래밍\그림\Ch3\표 3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420" y="3032185"/>
            <a:ext cx="6589862" cy="187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부호 없는 정수 타입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부호 없는 정수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음이 아닌 정수</a:t>
            </a:r>
            <a:r>
              <a:rPr lang="en-US" altLang="ko-KR" dirty="0"/>
              <a:t>(0, </a:t>
            </a:r>
            <a:r>
              <a:rPr lang="ko-KR" altLang="en-US" dirty="0"/>
              <a:t>자연수</a:t>
            </a:r>
            <a:r>
              <a:rPr lang="en-US" altLang="ko-KR" dirty="0"/>
              <a:t>)</a:t>
            </a:r>
            <a:endParaRPr dirty="0"/>
          </a:p>
        </p:txBody>
      </p:sp>
      <p:pic>
        <p:nvPicPr>
          <p:cNvPr id="11266" name="Picture 2" descr="C:\Users\변소현\Desktop\난생처음 C 언어 프로그래밍\그림\Ch3\표 3-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104" y="2842792"/>
            <a:ext cx="5626670" cy="186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oogle Shape;118;p8"/>
          <p:cNvGrpSpPr/>
          <p:nvPr/>
        </p:nvGrpSpPr>
        <p:grpSpPr>
          <a:xfrm>
            <a:off x="1771976" y="5011902"/>
            <a:ext cx="5619097" cy="1388896"/>
            <a:chOff x="683573" y="1844824"/>
            <a:chExt cx="7924665" cy="2013402"/>
          </a:xfrm>
        </p:grpSpPr>
        <p:sp>
          <p:nvSpPr>
            <p:cNvPr id="7" name="Google Shape;119;p8"/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0;p8"/>
            <p:cNvSpPr txBox="1"/>
            <p:nvPr/>
          </p:nvSpPr>
          <p:spPr>
            <a:xfrm>
              <a:off x="762142" y="2246997"/>
              <a:ext cx="7772193" cy="16112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100" dirty="0">
                  <a:latin typeface="+mn-ea"/>
                  <a:ea typeface="+mn-ea"/>
                </a:rPr>
                <a:t>어떤 시스템에서 </a:t>
              </a:r>
              <a:r>
                <a:rPr lang="en-US" altLang="ko-KR" sz="1100" dirty="0">
                  <a:latin typeface="+mn-ea"/>
                  <a:ea typeface="+mn-ea"/>
                </a:rPr>
                <a:t>long</a:t>
              </a:r>
              <a:r>
                <a:rPr lang="ko-KR" altLang="en-US" sz="1100" dirty="0">
                  <a:latin typeface="+mn-ea"/>
                  <a:ea typeface="+mn-ea"/>
                </a:rPr>
                <a:t>을 사용한 코드가 다른 시스템에서는 타입 크기가 달라서 </a:t>
              </a:r>
              <a:r>
                <a:rPr lang="ko-KR" altLang="en-US" sz="1100" dirty="0" err="1">
                  <a:latin typeface="+mn-ea"/>
                  <a:ea typeface="+mn-ea"/>
                </a:rPr>
                <a:t>오동작을</a:t>
              </a:r>
              <a:r>
                <a:rPr lang="ko-KR" altLang="en-US" sz="1100" dirty="0">
                  <a:latin typeface="+mn-ea"/>
                  <a:ea typeface="+mn-ea"/>
                </a:rPr>
                <a:t> 일으킬 수 있음</a:t>
              </a:r>
              <a:endParaRPr lang="en-US" altLang="ko-KR" sz="1100" dirty="0">
                <a:latin typeface="+mn-ea"/>
                <a:ea typeface="+mn-ea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sz="1100" dirty="0">
                  <a:latin typeface="+mn-ea"/>
                  <a:ea typeface="+mn-ea"/>
                </a:rPr>
                <a:t>따라서 </a:t>
              </a:r>
              <a:r>
                <a:rPr lang="en-US" altLang="ko-KR" sz="1100" dirty="0">
                  <a:latin typeface="+mn-ea"/>
                  <a:ea typeface="+mn-ea"/>
                </a:rPr>
                <a:t>long</a:t>
              </a:r>
              <a:r>
                <a:rPr lang="ko-KR" altLang="en-US" sz="1100" dirty="0">
                  <a:latin typeface="+mn-ea"/>
                  <a:ea typeface="+mn-ea"/>
                </a:rPr>
                <a:t>은 없는 타입으로 여기고 절대 쓰지 말기를 권장</a:t>
              </a:r>
            </a:p>
          </p:txBody>
        </p:sp>
        <p:sp>
          <p:nvSpPr>
            <p:cNvPr id="9" name="Google Shape;121;p8"/>
            <p:cNvSpPr/>
            <p:nvPr/>
          </p:nvSpPr>
          <p:spPr>
            <a:xfrm>
              <a:off x="683573" y="1844825"/>
              <a:ext cx="1511728" cy="4320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10" name="Google Shape;122;p8"/>
            <p:cNvSpPr txBox="1"/>
            <p:nvPr/>
          </p:nvSpPr>
          <p:spPr>
            <a:xfrm>
              <a:off x="2256715" y="1844825"/>
              <a:ext cx="5744942" cy="432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en-US" altLang="ko-KR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(unsigned) long </a:t>
              </a: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타입</a:t>
              </a:r>
              <a:endParaRPr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4119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정수 타입 변수의 초기화와 대입</a:t>
            </a:r>
            <a:endParaRPr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1985725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3-10] 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정의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930629325"/>
              </p:ext>
            </p:extLst>
          </p:nvPr>
        </p:nvGraphicFramePr>
        <p:xfrm>
          <a:off x="916939" y="2349078"/>
          <a:ext cx="7416825" cy="265177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#pragma warning (disable:4700)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i1 = 3;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i2;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i2: 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i1, i2);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71" y="5039908"/>
            <a:ext cx="7554558" cy="83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그룹 8"/>
          <p:cNvGrpSpPr/>
          <p:nvPr/>
        </p:nvGrpSpPr>
        <p:grpSpPr>
          <a:xfrm>
            <a:off x="4458417" y="2322891"/>
            <a:ext cx="3469262" cy="385684"/>
            <a:chOff x="2898479" y="3397219"/>
            <a:chExt cx="667758" cy="385684"/>
          </a:xfrm>
        </p:grpSpPr>
        <p:sp>
          <p:nvSpPr>
            <p:cNvPr id="10" name="Google Shape;108;p7"/>
            <p:cNvSpPr txBox="1"/>
            <p:nvPr/>
          </p:nvSpPr>
          <p:spPr>
            <a:xfrm>
              <a:off x="3140776" y="3397219"/>
              <a:ext cx="425461" cy="38568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오류를 무시하고 강제로 실행</a:t>
              </a: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2898479" y="3610798"/>
              <a:ext cx="242297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/>
          <p:cNvSpPr/>
          <p:nvPr/>
        </p:nvSpPr>
        <p:spPr>
          <a:xfrm>
            <a:off x="3327909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45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정수 타입 변수의 초기화와 대입</a:t>
            </a:r>
            <a:endParaRPr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1847709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3-11]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대입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212021588"/>
              </p:ext>
            </p:extLst>
          </p:nvPr>
        </p:nvGraphicFramePr>
        <p:xfrm>
          <a:off x="916939" y="2211062"/>
          <a:ext cx="7416825" cy="316383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-999;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777;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</a:t>
                      </a:r>
                      <a:r>
                        <a:rPr lang="en-US" altLang="ko-KR" baseline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327909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77816" b="192"/>
          <a:stretch/>
        </p:blipFill>
        <p:spPr bwMode="auto">
          <a:xfrm>
            <a:off x="6245637" y="2293167"/>
            <a:ext cx="1727931" cy="85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800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정수 타입 변수의 초기화와 대입</a:t>
            </a:r>
            <a:endParaRPr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826903" y="2020229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3-12]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정수가 아닌 실수의 반환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40867191"/>
              </p:ext>
            </p:extLst>
          </p:nvPr>
        </p:nvGraphicFramePr>
        <p:xfrm>
          <a:off x="916939" y="2383582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i1 = 3.141592;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i2 = -3.141592;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i1: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i2: 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i1, i2);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327909" y="327511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68" y="4817901"/>
            <a:ext cx="7451996" cy="80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095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 err="1"/>
              <a:t>오버플로우와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언더플로우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오버플로우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표현 범위의 최댓값을 넘어선 경우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 err="1"/>
              <a:t>언더플로우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표현 범위의 최솟값보다 작아진 경우</a:t>
            </a:r>
            <a:endParaRPr lang="en-US" altLang="ko-KR" dirty="0"/>
          </a:p>
        </p:txBody>
      </p:sp>
      <p:grpSp>
        <p:nvGrpSpPr>
          <p:cNvPr id="30" name="그룹 29"/>
          <p:cNvGrpSpPr/>
          <p:nvPr/>
        </p:nvGrpSpPr>
        <p:grpSpPr>
          <a:xfrm>
            <a:off x="4363538" y="8184280"/>
            <a:ext cx="3141443" cy="374527"/>
            <a:chOff x="3536843" y="3613744"/>
            <a:chExt cx="3141443" cy="374527"/>
          </a:xfrm>
        </p:grpSpPr>
        <p:sp>
          <p:nvSpPr>
            <p:cNvPr id="31" name="Google Shape;108;p7"/>
            <p:cNvSpPr txBox="1"/>
            <p:nvPr/>
          </p:nvSpPr>
          <p:spPr>
            <a:xfrm>
              <a:off x="5684807" y="3613744"/>
              <a:ext cx="993479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최솟값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H="1">
              <a:off x="3536843" y="3687070"/>
              <a:ext cx="2140778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/>
          <p:cNvGrpSpPr/>
          <p:nvPr/>
        </p:nvGrpSpPr>
        <p:grpSpPr>
          <a:xfrm>
            <a:off x="3217653" y="8662328"/>
            <a:ext cx="3579962" cy="747618"/>
            <a:chOff x="3217653" y="5313859"/>
            <a:chExt cx="3579962" cy="747618"/>
          </a:xfrm>
        </p:grpSpPr>
        <p:cxnSp>
          <p:nvCxnSpPr>
            <p:cNvPr id="38" name="직선 화살표 연결선 37"/>
            <p:cNvCxnSpPr/>
            <p:nvPr/>
          </p:nvCxnSpPr>
          <p:spPr>
            <a:xfrm flipV="1">
              <a:off x="3217653" y="5313859"/>
              <a:ext cx="0" cy="465826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3217653" y="5779685"/>
              <a:ext cx="500332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Google Shape;108;p7"/>
            <p:cNvSpPr txBox="1"/>
            <p:nvPr/>
          </p:nvSpPr>
          <p:spPr>
            <a:xfrm>
              <a:off x="3717985" y="5686950"/>
              <a:ext cx="3079630" cy="374527"/>
            </a:xfrm>
            <a:prstGeom prst="rect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lvl="0" algn="just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부호 없는 정수형을 출력하는 </a:t>
              </a:r>
              <a:r>
                <a:rPr lang="ko-KR" altLang="en-US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형식지정자</a:t>
              </a:r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3569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 err="1"/>
              <a:t>오버플로우와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언더플로우</a:t>
            </a:r>
            <a:endParaRPr lang="en-US" altLang="ko-KR" sz="2400" dirty="0"/>
          </a:p>
        </p:txBody>
      </p:sp>
      <p:pic>
        <p:nvPicPr>
          <p:cNvPr id="22" name="Picture 2" descr="C:\Users\변소현\Desktop\난생처음 C 언어 프로그래밍\그림\Ch3\그림 3-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290" y="1924050"/>
            <a:ext cx="5808469" cy="431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788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lang="ko-KR" altLang="en-US" dirty="0"/>
          </a:p>
        </p:txBody>
      </p:sp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 err="1"/>
              <a:t>오버플로우와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언더플로우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b="1" dirty="0"/>
          </a:p>
          <a:p>
            <a:pPr marL="447675" lvl="2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altLang="ko-KR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49F6C884-713B-4DB1-B723-7CC194EB195C}"/>
              </a:ext>
            </a:extLst>
          </p:cNvPr>
          <p:cNvGrpSpPr/>
          <p:nvPr/>
        </p:nvGrpSpPr>
        <p:grpSpPr>
          <a:xfrm>
            <a:off x="921794" y="1835246"/>
            <a:ext cx="7506861" cy="3567675"/>
            <a:chOff x="921794" y="2118710"/>
            <a:chExt cx="7506861" cy="3567675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921794" y="2118710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3-13]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범위 밖의 정수의 변환</a:t>
              </a:r>
              <a:endParaRPr dirty="0"/>
            </a:p>
          </p:txBody>
        </p:sp>
        <p:graphicFrame>
          <p:nvGraphicFramePr>
            <p:cNvPr id="8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38190215"/>
                </p:ext>
              </p:extLst>
            </p:nvPr>
          </p:nvGraphicFramePr>
          <p:xfrm>
            <a:off x="1011830" y="2522551"/>
            <a:ext cx="7416825" cy="316383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</a:tblGrid>
                <a:tr h="3138698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dirty="0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dirty="0" err="1" smtClean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main()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c1 = 128;</a:t>
                        </a:r>
                        <a:endParaRPr lang="en-US" altLang="ko-KR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c2 = -129;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  <a:r>
                          <a:rPr lang="en-US" altLang="ko-KR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c1: %d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c2: %d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c1, c2);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unsigned char uc1 = 256;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unsigned char uc2 = -1;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  print(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“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uc1: %u</a:t>
                        </a:r>
                        <a:r>
                          <a:rPr lang="en-US" altLang="ko-KR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unc2: %d</a:t>
                        </a:r>
                        <a:r>
                          <a:rPr lang="ko-KR" altLang="en-US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, uc1, uc2);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aseline="0" dirty="0">
                            <a:latin typeface="Consolas" panose="020B0609020204030204" pitchFamily="49" charset="0"/>
                          </a:rPr>
                          <a:t>  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grpSp>
          <p:nvGrpSpPr>
            <p:cNvPr id="9" name="그룹 8"/>
            <p:cNvGrpSpPr/>
            <p:nvPr/>
          </p:nvGrpSpPr>
          <p:grpSpPr>
            <a:xfrm>
              <a:off x="3536841" y="3430603"/>
              <a:ext cx="3968140" cy="374527"/>
              <a:chOff x="3536841" y="3138228"/>
              <a:chExt cx="3968140" cy="374527"/>
            </a:xfrm>
          </p:grpSpPr>
          <p:sp>
            <p:nvSpPr>
              <p:cNvPr id="10" name="Google Shape;108;p7"/>
              <p:cNvSpPr txBox="1"/>
              <p:nvPr/>
            </p:nvSpPr>
            <p:spPr>
              <a:xfrm>
                <a:off x="6452560" y="3138228"/>
                <a:ext cx="1052421" cy="374527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최댓값 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+1</a:t>
                </a:r>
              </a:p>
            </p:txBody>
          </p:sp>
          <p:cxnSp>
            <p:nvCxnSpPr>
              <p:cNvPr id="11" name="직선 화살표 연결선 10"/>
              <p:cNvCxnSpPr/>
              <p:nvPr/>
            </p:nvCxnSpPr>
            <p:spPr>
              <a:xfrm flipH="1">
                <a:off x="3536841" y="3428999"/>
                <a:ext cx="2915719" cy="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그룹 11"/>
            <p:cNvGrpSpPr/>
            <p:nvPr/>
          </p:nvGrpSpPr>
          <p:grpSpPr>
            <a:xfrm>
              <a:off x="3536841" y="3875929"/>
              <a:ext cx="3977666" cy="374527"/>
              <a:chOff x="3536841" y="3583554"/>
              <a:chExt cx="3977666" cy="374527"/>
            </a:xfrm>
          </p:grpSpPr>
          <p:sp>
            <p:nvSpPr>
              <p:cNvPr id="13" name="Google Shape;108;p7"/>
              <p:cNvSpPr txBox="1"/>
              <p:nvPr/>
            </p:nvSpPr>
            <p:spPr>
              <a:xfrm>
                <a:off x="6471611" y="3583554"/>
                <a:ext cx="1042896" cy="374527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최솟값 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-1</a:t>
                </a:r>
              </a:p>
            </p:txBody>
          </p:sp>
          <p:cxnSp>
            <p:nvCxnSpPr>
              <p:cNvPr id="14" name="직선 화살표 연결선 13"/>
              <p:cNvCxnSpPr/>
              <p:nvPr/>
            </p:nvCxnSpPr>
            <p:spPr>
              <a:xfrm flipH="1">
                <a:off x="3536841" y="3687069"/>
                <a:ext cx="2915719" cy="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그룹 14"/>
            <p:cNvGrpSpPr/>
            <p:nvPr/>
          </p:nvGrpSpPr>
          <p:grpSpPr>
            <a:xfrm>
              <a:off x="4354012" y="4438822"/>
              <a:ext cx="3141444" cy="374527"/>
              <a:chOff x="3536842" y="3138595"/>
              <a:chExt cx="3141444" cy="374527"/>
            </a:xfrm>
          </p:grpSpPr>
          <p:sp>
            <p:nvSpPr>
              <p:cNvPr id="16" name="Google Shape;108;p7"/>
              <p:cNvSpPr txBox="1"/>
              <p:nvPr/>
            </p:nvSpPr>
            <p:spPr>
              <a:xfrm>
                <a:off x="5677621" y="3138595"/>
                <a:ext cx="1000665" cy="374527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최댓값 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+1</a:t>
                </a:r>
              </a:p>
            </p:txBody>
          </p:sp>
          <p:cxnSp>
            <p:nvCxnSpPr>
              <p:cNvPr id="17" name="직선 화살표 연결선 16"/>
              <p:cNvCxnSpPr/>
              <p:nvPr/>
            </p:nvCxnSpPr>
            <p:spPr>
              <a:xfrm flipH="1">
                <a:off x="3536842" y="3429000"/>
                <a:ext cx="2140779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xmlns="" id="{1397DD40-E908-4D94-B318-66F4F4EA95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282"/>
          <a:stretch/>
        </p:blipFill>
        <p:spPr bwMode="auto">
          <a:xfrm>
            <a:off x="6143626" y="4820290"/>
            <a:ext cx="2285029" cy="1341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757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lang="ko-KR" altLang="en-US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21794" y="206786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3-14]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 밖의 정수의 변환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995467162"/>
              </p:ext>
            </p:extLst>
          </p:nvPr>
        </p:nvGraphicFramePr>
        <p:xfrm>
          <a:off x="1011830" y="2431216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hits1 = 2147483648;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hits2 = 4294967296;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hits1=%d, hits2=%d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hits1, hits2);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4"/>
            </a:pPr>
            <a:r>
              <a:rPr lang="ko-KR" altLang="en-US" sz="2400" dirty="0" err="1"/>
              <a:t>오버플로우와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언더플로우</a:t>
            </a:r>
            <a:endParaRPr lang="en-US" altLang="ko-KR" sz="24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94" y="4842473"/>
            <a:ext cx="7557972" cy="56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그룹 28"/>
          <p:cNvGrpSpPr/>
          <p:nvPr/>
        </p:nvGrpSpPr>
        <p:grpSpPr>
          <a:xfrm>
            <a:off x="4330472" y="3353878"/>
            <a:ext cx="3338409" cy="374527"/>
            <a:chOff x="3536842" y="3138228"/>
            <a:chExt cx="3338409" cy="374527"/>
          </a:xfrm>
        </p:grpSpPr>
        <p:sp>
          <p:nvSpPr>
            <p:cNvPr id="33" name="Google Shape;108;p7"/>
            <p:cNvSpPr txBox="1"/>
            <p:nvPr/>
          </p:nvSpPr>
          <p:spPr>
            <a:xfrm>
              <a:off x="5822830" y="3138228"/>
              <a:ext cx="1052421" cy="37452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최댓값 </a:t>
              </a: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+1</a:t>
              </a:r>
            </a:p>
          </p:txBody>
        </p:sp>
        <p:cxnSp>
          <p:nvCxnSpPr>
            <p:cNvPr id="34" name="직선 화살표 연결선 33"/>
            <p:cNvCxnSpPr/>
            <p:nvPr/>
          </p:nvCxnSpPr>
          <p:spPr>
            <a:xfrm flipH="1">
              <a:off x="3536842" y="3428999"/>
              <a:ext cx="2285988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/>
          <p:cNvGrpSpPr/>
          <p:nvPr/>
        </p:nvGrpSpPr>
        <p:grpSpPr>
          <a:xfrm>
            <a:off x="5141358" y="3773304"/>
            <a:ext cx="2527522" cy="374527"/>
            <a:chOff x="3536843" y="3284135"/>
            <a:chExt cx="2527522" cy="374527"/>
          </a:xfrm>
        </p:grpSpPr>
        <p:sp>
          <p:nvSpPr>
            <p:cNvPr id="36" name="Google Shape;108;p7"/>
            <p:cNvSpPr txBox="1"/>
            <p:nvPr/>
          </p:nvSpPr>
          <p:spPr>
            <a:xfrm>
              <a:off x="5011944" y="3284135"/>
              <a:ext cx="1052421" cy="37452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최댓값 </a:t>
              </a:r>
              <a:r>
                <a:rPr lang="en-US" altLang="ko-KR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+1</a:t>
              </a:r>
            </a:p>
          </p:txBody>
        </p:sp>
        <p:cxnSp>
          <p:nvCxnSpPr>
            <p:cNvPr id="37" name="직선 화살표 연결선 36"/>
            <p:cNvCxnSpPr/>
            <p:nvPr/>
          </p:nvCxnSpPr>
          <p:spPr>
            <a:xfrm flipH="1">
              <a:off x="3536843" y="3429000"/>
              <a:ext cx="147510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616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정수형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52" y="1488568"/>
            <a:ext cx="6572346" cy="4277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579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/>
              <a:t>정수형</a:t>
            </a:r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986358"/>
            <a:chOff x="683573" y="1844824"/>
            <a:chExt cx="7924665" cy="205761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057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부호 없는 정수형 타입의 최댓값 출력하기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부호 없는 정수형 타입인 </a:t>
            </a:r>
            <a:r>
              <a:rPr lang="en-US" altLang="ko-KR" sz="1600" dirty="0">
                <a:latin typeface="Consolas" panose="020B0609020204030204" pitchFamily="49" charset="0"/>
                <a:ea typeface="맑은 고딕" panose="020B0503020000020004" pitchFamily="50" charset="-127"/>
              </a:rPr>
              <a:t>unsigned char, unsigned short, unsigned </a:t>
            </a:r>
            <a:r>
              <a:rPr lang="en-US" altLang="ko-KR" sz="1600" dirty="0" err="1">
                <a:latin typeface="Consolas" panose="020B0609020204030204" pitchFamily="49" charset="0"/>
                <a:ea typeface="맑은 고딕" panose="020B0503020000020004" pitchFamily="50" charset="-127"/>
              </a:rPr>
              <a:t>int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최댓값을 출력하는 프로그램을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981" y="2927970"/>
            <a:ext cx="6625087" cy="1002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81" y="4252757"/>
            <a:ext cx="7388073" cy="1093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7341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/>
              <a:t>정수형</a:t>
            </a:r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2052510"/>
            <a:ext cx="7924665" cy="3183723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2067415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896584167"/>
              </p:ext>
            </p:extLst>
          </p:nvPr>
        </p:nvGraphicFramePr>
        <p:xfrm>
          <a:off x="871407" y="2538859"/>
          <a:ext cx="7416825" cy="265177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unsigned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uc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-1;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unsigned short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uc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-1;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unsigned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-1;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"uc: %u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us: %u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ui: %u"</a:t>
                      </a:r>
                      <a:r>
                        <a:rPr lang="pt-BR" altLang="ko-KR" dirty="0">
                          <a:latin typeface="Consolas" panose="020B0609020204030204" pitchFamily="49" charset="0"/>
                        </a:rPr>
                        <a:t>, uc, us, ui);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888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 err="1"/>
              <a:t>실수형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0262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실수형의</a:t>
            </a:r>
            <a:r>
              <a:rPr lang="ko-KR" altLang="en-US" sz="2400" dirty="0"/>
              <a:t> 분류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 err="1"/>
              <a:t>실수형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모든 수를 대표함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부호 있는 </a:t>
            </a:r>
            <a:r>
              <a:rPr lang="ko-KR" altLang="en-US" dirty="0" err="1"/>
              <a:t>실수형</a:t>
            </a:r>
            <a:r>
              <a:rPr lang="ko-KR" altLang="en-US" dirty="0"/>
              <a:t> 타입만 제공함</a:t>
            </a:r>
            <a:endParaRPr dirty="0"/>
          </a:p>
        </p:txBody>
      </p:sp>
      <p:pic>
        <p:nvPicPr>
          <p:cNvPr id="20482" name="Picture 2" descr="C:\Users\변소현\Desktop\난생처음 C 언어 프로그래밍\그림\Ch3\그림 3-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06" y="3187371"/>
            <a:ext cx="3703637" cy="301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013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실수형</a:t>
            </a:r>
            <a:r>
              <a:rPr lang="ko-KR" altLang="en-US" sz="2400" dirty="0"/>
              <a:t> 타입의 오차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 err="1">
                <a:latin typeface="Consolas" panose="020B0609020204030204" pitchFamily="49" charset="0"/>
              </a:rPr>
              <a:t>실수형</a:t>
            </a:r>
            <a:r>
              <a:rPr lang="ko-KR" altLang="en-US" b="1" dirty="0">
                <a:latin typeface="Consolas" panose="020B0609020204030204" pitchFamily="49" charset="0"/>
              </a:rPr>
              <a:t> 타입</a:t>
            </a:r>
            <a:endParaRPr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부호 있는 </a:t>
            </a:r>
            <a:r>
              <a:rPr lang="ko-KR" altLang="en-US" dirty="0" err="1"/>
              <a:t>실수형</a:t>
            </a:r>
            <a:r>
              <a:rPr lang="ko-KR" altLang="en-US" dirty="0"/>
              <a:t> 타입만 제공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>
                <a:latin typeface="Consolas" panose="020B0609020204030204" pitchFamily="49" charset="0"/>
              </a:rPr>
              <a:t>float</a:t>
            </a:r>
            <a:r>
              <a:rPr lang="ko-KR" altLang="en-US" b="1" dirty="0"/>
              <a:t>과 </a:t>
            </a:r>
            <a:r>
              <a:rPr lang="en-US" altLang="ko-KR" b="1" dirty="0">
                <a:latin typeface="Consolas" panose="020B0609020204030204" pitchFamily="49" charset="0"/>
              </a:rPr>
              <a:t>double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float</a:t>
            </a:r>
            <a:r>
              <a:rPr lang="ko-KR" altLang="en-US" dirty="0"/>
              <a:t>은 무한개의 수를 대응해서 나타낼 수는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따라서 표현할 수 있는 가장 근접한 수로 바꾸는 과정을 거쳐</a:t>
            </a:r>
            <a:r>
              <a:rPr lang="en-US" altLang="ko-KR" dirty="0"/>
              <a:t> </a:t>
            </a:r>
            <a:r>
              <a:rPr lang="ko-KR" altLang="en-US" dirty="0" err="1"/>
              <a:t>리터럴</a:t>
            </a:r>
            <a:r>
              <a:rPr lang="ko-KR" altLang="en-US" dirty="0"/>
              <a:t> 값과 실제 저장된 값 사이에 오차가 발생함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이러한 오차를 줄이기 위해 </a:t>
            </a:r>
            <a:r>
              <a:rPr lang="en-US" altLang="ko-KR" dirty="0">
                <a:latin typeface="Consolas" panose="020B0609020204030204" pitchFamily="49" charset="0"/>
              </a:rPr>
              <a:t>double</a:t>
            </a:r>
            <a:r>
              <a:rPr lang="ko-KR" altLang="en-US" dirty="0"/>
              <a:t>을 사용하기도 함</a:t>
            </a:r>
            <a:endParaRPr dirty="0"/>
          </a:p>
        </p:txBody>
      </p:sp>
      <p:pic>
        <p:nvPicPr>
          <p:cNvPr id="21506" name="Picture 2" descr="C:\Users\변소현\Desktop\난생처음 C 언어 프로그래밍\그림\Ch3\표 3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455" y="4936456"/>
            <a:ext cx="4656137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972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lang="ko-KR" altLang="en-US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21794" y="206786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3-15] </a:t>
            </a:r>
            <a:r>
              <a:rPr lang="en-US" altLang="ko-KR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loat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오차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397537560"/>
              </p:ext>
            </p:extLst>
          </p:nvPr>
        </p:nvGraphicFramePr>
        <p:xfrm>
          <a:off x="1011830" y="2431216"/>
          <a:ext cx="7416825" cy="239573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33554434;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f = 33554434;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print(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i:%d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f:%f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64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실수형</a:t>
            </a:r>
            <a:r>
              <a:rPr lang="ko-KR" altLang="en-US" sz="2400" dirty="0"/>
              <a:t> 타입의 오차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427" y="4847590"/>
            <a:ext cx="7488428" cy="81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그룹 14"/>
          <p:cNvGrpSpPr/>
          <p:nvPr/>
        </p:nvGrpSpPr>
        <p:grpSpPr>
          <a:xfrm>
            <a:off x="5874203" y="3619621"/>
            <a:ext cx="1837813" cy="283878"/>
            <a:chOff x="3810002" y="3855665"/>
            <a:chExt cx="169794" cy="290920"/>
          </a:xfrm>
        </p:grpSpPr>
        <p:sp>
          <p:nvSpPr>
            <p:cNvPr id="16" name="오른쪽 중괄호 15"/>
            <p:cNvSpPr/>
            <p:nvPr/>
          </p:nvSpPr>
          <p:spPr>
            <a:xfrm>
              <a:off x="3810002" y="3855665"/>
              <a:ext cx="26336" cy="290920"/>
            </a:xfrm>
            <a:prstGeom prst="righ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7" name="Google Shape;108;p7"/>
            <p:cNvSpPr txBox="1"/>
            <p:nvPr/>
          </p:nvSpPr>
          <p:spPr>
            <a:xfrm>
              <a:off x="3836338" y="3860325"/>
              <a:ext cx="143458" cy="28626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  <a:latin typeface="+mj-ea"/>
                  <a:ea typeface="+mj-ea"/>
                </a:rPr>
                <a:t>같은 값으로 초기화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3877597" y="3790154"/>
            <a:ext cx="1850343" cy="374527"/>
            <a:chOff x="3536843" y="3304103"/>
            <a:chExt cx="1850343" cy="374527"/>
          </a:xfrm>
        </p:grpSpPr>
        <p:sp>
          <p:nvSpPr>
            <p:cNvPr id="19" name="Google Shape;108;p7"/>
            <p:cNvSpPr txBox="1"/>
            <p:nvPr/>
          </p:nvSpPr>
          <p:spPr>
            <a:xfrm>
              <a:off x="4127728" y="3304103"/>
              <a:ext cx="1259458" cy="37452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정수 초기화 및</a:t>
              </a:r>
              <a:endParaRPr lang="en-US" altLang="ko-KR"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대입도 가능</a:t>
              </a:r>
              <a:endParaRPr lang="en-US" altLang="ko-KR"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 flipH="1">
              <a:off x="3536843" y="3429000"/>
              <a:ext cx="59088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1945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986358"/>
            <a:chOff x="683573" y="1844824"/>
            <a:chExt cx="7924665" cy="205761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057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3-3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원의 둘레와 넓이 구하기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다음 실행 결과를 참고하여 반지름을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입력받아서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원의 둘레와 넓이를 출력하는 프로그램을 작성해 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814" y="2950098"/>
            <a:ext cx="6610006" cy="92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66" y="4207026"/>
            <a:ext cx="6499102" cy="145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79272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 err="1">
                <a:solidFill>
                  <a:schemeClr val="tx1"/>
                </a:solidFill>
              </a:rPr>
              <a:t>실수형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569430"/>
            <a:ext cx="7924665" cy="4512193"/>
            <a:chOff x="683573" y="1844824"/>
            <a:chExt cx="7924665" cy="139521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95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1120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3-3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58433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221401779"/>
              </p:ext>
            </p:extLst>
          </p:nvPr>
        </p:nvGraphicFramePr>
        <p:xfrm>
          <a:off x="871407" y="2055780"/>
          <a:ext cx="7416825" cy="393193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double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PI = 3.141592;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반지름을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"%lf"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&amp;r);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double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len = 2 * PI * 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double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area = PI * r * 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둘레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%f,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넓이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%f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len, area);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385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/>
              <a:t>문자형과 문자열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15837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기본 문자 타입 </a:t>
            </a:r>
            <a:r>
              <a:rPr lang="en-US" altLang="ko-KR" sz="2400" dirty="0"/>
              <a:t>char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/>
              <a:t>char</a:t>
            </a:r>
            <a:endParaRPr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1</a:t>
            </a:r>
            <a:r>
              <a:rPr lang="ko-KR" altLang="en-US" dirty="0"/>
              <a:t>바이트 크기의 부호 있는 정수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문자에 대응되는 정수형 코드가 저장됨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아스키코드</a:t>
            </a:r>
            <a:r>
              <a:rPr lang="en-US" altLang="ko-KR" b="1" dirty="0"/>
              <a:t>(ASCII Code)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문자와 정수형 코드의 대응 관계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5663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기본 문자 타입 </a:t>
            </a:r>
            <a:r>
              <a:rPr lang="en-US" altLang="ko-KR" sz="2400" dirty="0"/>
              <a:t>char</a:t>
            </a:r>
            <a:endParaRPr sz="2400" dirty="0"/>
          </a:p>
        </p:txBody>
      </p:sp>
      <p:pic>
        <p:nvPicPr>
          <p:cNvPr id="24578" name="Picture 2" descr="C:\Users\변소현\Desktop\난생처음 C 언어 프로그래밍\그림\Ch3\표 3-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98" y="1899052"/>
            <a:ext cx="687820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579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기본 문자 타입 </a:t>
            </a:r>
            <a:r>
              <a:rPr lang="en-US" altLang="ko-KR" sz="2400" dirty="0"/>
              <a:t>char</a:t>
            </a:r>
            <a:endParaRPr sz="2400" dirty="0"/>
          </a:p>
        </p:txBody>
      </p:sp>
      <p:pic>
        <p:nvPicPr>
          <p:cNvPr id="25602" name="Picture 2" descr="C:\Users\변소현\Desktop\난생처음 C 언어 프로그래밍\그림\Ch3\표 3-5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30" y="1964032"/>
            <a:ext cx="6872432" cy="39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275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70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기본 문자 타입 </a:t>
            </a:r>
            <a:r>
              <a:rPr lang="en-US" altLang="ko-KR" sz="2400" dirty="0"/>
              <a:t>char</a:t>
            </a:r>
            <a:endParaRPr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21794" y="186356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3-16]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 타입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872411821"/>
              </p:ext>
            </p:extLst>
          </p:nvPr>
        </p:nvGraphicFramePr>
        <p:xfrm>
          <a:off x="1011830" y="2226921"/>
          <a:ext cx="7416825" cy="265177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 = 65;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%c = %d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a, a);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b = 'B';</a:t>
                      </a:r>
                      <a:endParaRPr lang="en-US" altLang="ko-KR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%c = %d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b,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50" y="4914849"/>
            <a:ext cx="7531720" cy="79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90904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424936" cy="70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기본 문자 타입 </a:t>
            </a:r>
            <a:r>
              <a:rPr lang="en-US" altLang="ko-KR" sz="2400" dirty="0"/>
              <a:t>char</a:t>
            </a:r>
            <a:endParaRPr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921794" y="194982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3-17]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문자열과의  차이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093329819"/>
              </p:ext>
            </p:extLst>
          </p:nvPr>
        </p:nvGraphicFramePr>
        <p:xfrm>
          <a:off x="1011830" y="2313181"/>
          <a:ext cx="7416825" cy="213970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a =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b = '</a:t>
                      </a:r>
                      <a:r>
                        <a:rPr lang="ko-KR" altLang="en-US" baseline="0" dirty="0">
                          <a:latin typeface="Consolas" panose="020B0609020204030204" pitchFamily="49" charset="0"/>
                        </a:rPr>
                        <a:t>한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';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%c %c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a, b);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72" y="4499697"/>
            <a:ext cx="7583851" cy="57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그룹 26"/>
          <p:cNvGrpSpPr/>
          <p:nvPr/>
        </p:nvGrpSpPr>
        <p:grpSpPr>
          <a:xfrm>
            <a:off x="3385893" y="3349486"/>
            <a:ext cx="2852982" cy="374527"/>
            <a:chOff x="3536843" y="3252347"/>
            <a:chExt cx="1303430" cy="374527"/>
          </a:xfrm>
        </p:grpSpPr>
        <p:sp>
          <p:nvSpPr>
            <p:cNvPr id="28" name="Google Shape;108;p7"/>
            <p:cNvSpPr txBox="1"/>
            <p:nvPr/>
          </p:nvSpPr>
          <p:spPr>
            <a:xfrm>
              <a:off x="4127729" y="3252347"/>
              <a:ext cx="712544" cy="374527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문자가 아닌 문자열</a:t>
              </a:r>
              <a:endParaRPr lang="en-US" altLang="ko-KR" sz="12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" name="직선 화살표 연결선 28"/>
            <p:cNvCxnSpPr/>
            <p:nvPr/>
          </p:nvCxnSpPr>
          <p:spPr>
            <a:xfrm flipH="1">
              <a:off x="3536843" y="3429000"/>
              <a:ext cx="59088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50687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2866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 타입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>
                <a:latin typeface="Consolas" panose="020B0609020204030204" pitchFamily="49" charset="0"/>
              </a:rPr>
              <a:t>문자열 타입</a:t>
            </a:r>
            <a:endParaRPr dirty="0">
              <a:latin typeface="Consolas" panose="020B0609020204030204" pitchFamily="49" charset="0"/>
            </a:endParaRP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문자열은 말 그대로 문자들이 나열된 것을 의미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몇 글자가 될지 정할 수 없기 때문에 엄밀히 말해서</a:t>
            </a:r>
            <a:r>
              <a:rPr lang="en-US" altLang="ko-KR" dirty="0"/>
              <a:t> </a:t>
            </a:r>
            <a:r>
              <a:rPr lang="ko-KR" altLang="en-US" dirty="0"/>
              <a:t>문자열 타입이란 존재할 수 없음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문자 배열을 통해 문자열의 저장과 표현이 가능</a:t>
            </a:r>
            <a:endParaRPr lang="en-US" altLang="ko-KR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900" y="4438644"/>
            <a:ext cx="6536201" cy="937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3469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5155" y="1379937"/>
            <a:ext cx="7924665" cy="4986358"/>
            <a:chOff x="683573" y="1844824"/>
            <a:chExt cx="7924665" cy="205761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20576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5293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3-4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395971"/>
            <a:ext cx="6366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대문자를 소문자로 변경하기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89306" y="1767809"/>
            <a:ext cx="77810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3-5]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아스키코드 표를 이용하여 다음 출력처럼 알파벳 대문자를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입력받아서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소문자로 출력하는 프로그램을 작성해봅시다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87" y="2924627"/>
            <a:ext cx="6939471" cy="100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91" y="4341569"/>
            <a:ext cx="7021865" cy="132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0518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문자형과 문자열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19820" y="1618840"/>
            <a:ext cx="7924665" cy="4020488"/>
            <a:chOff x="683573" y="1844824"/>
            <a:chExt cx="7924665" cy="124317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3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11206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3-4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26883" y="1644718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364869036"/>
              </p:ext>
            </p:extLst>
          </p:nvPr>
        </p:nvGraphicFramePr>
        <p:xfrm>
          <a:off x="871407" y="2116162"/>
          <a:ext cx="7416825" cy="341986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upper,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lower;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반지름을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scanf(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"%c"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. &amp;upper);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lower = 'a‘ + upper – 'A';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pt-BR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printf(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“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소문자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%c</a:t>
                      </a:r>
                      <a:r>
                        <a:rPr lang="pt-BR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lower);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00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 err="1">
                <a:solidFill>
                  <a:schemeClr val="accent4"/>
                </a:solidFill>
              </a:rPr>
              <a:t>int</a:t>
            </a:r>
            <a:r>
              <a:rPr lang="ko-KR" altLang="en-US" sz="4000" dirty="0">
                <a:solidFill>
                  <a:schemeClr val="accent4"/>
                </a:solidFill>
              </a:rPr>
              <a:t>와 </a:t>
            </a:r>
            <a:r>
              <a:rPr lang="en-US" altLang="ko-KR" sz="4000" dirty="0">
                <a:solidFill>
                  <a:schemeClr val="accent4"/>
                </a:solidFill>
              </a:rPr>
              <a:t>float </a:t>
            </a:r>
            <a:r>
              <a:rPr lang="ko-KR" altLang="en-US" sz="4000" dirty="0">
                <a:solidFill>
                  <a:schemeClr val="accent4"/>
                </a:solidFill>
              </a:rPr>
              <a:t>사이의 오차 구하기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 err="1">
                <a:solidFill>
                  <a:schemeClr val="tx1"/>
                </a:solidFill>
              </a:rPr>
              <a:t>int</a:t>
            </a:r>
            <a:r>
              <a:rPr lang="ko-KR" altLang="en-US" dirty="0">
                <a:solidFill>
                  <a:schemeClr val="tx1"/>
                </a:solidFill>
              </a:rPr>
              <a:t>와 </a:t>
            </a:r>
            <a:r>
              <a:rPr lang="en-US" altLang="ko-KR" dirty="0">
                <a:solidFill>
                  <a:schemeClr val="tx1"/>
                </a:solidFill>
              </a:rPr>
              <a:t>float </a:t>
            </a:r>
            <a:r>
              <a:rPr lang="ko-KR" altLang="en-US" dirty="0">
                <a:solidFill>
                  <a:schemeClr val="tx1"/>
                </a:solidFill>
              </a:rPr>
              <a:t>사이의 오차 구하기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6"/>
            <a:ext cx="8363272" cy="213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문제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ko-KR" altLang="en-US" sz="1800" dirty="0"/>
              <a:t>충분히 큰 정수를 </a:t>
            </a:r>
            <a:r>
              <a:rPr lang="ko-KR" altLang="en-US" sz="1800" dirty="0" err="1"/>
              <a:t>입력받은</a:t>
            </a:r>
            <a:r>
              <a:rPr lang="ko-KR" altLang="en-US" sz="1800" dirty="0"/>
              <a:t> 후</a:t>
            </a:r>
            <a:r>
              <a:rPr lang="en-US" altLang="ko-KR" sz="1800" dirty="0"/>
              <a:t>, </a:t>
            </a:r>
            <a:r>
              <a:rPr lang="ko-KR" altLang="en-US" sz="1800" dirty="0"/>
              <a:t>해당 정수가 </a:t>
            </a:r>
            <a:r>
              <a:rPr lang="en-US" altLang="ko-KR" sz="1800" dirty="0" err="1"/>
              <a:t>int</a:t>
            </a:r>
            <a:r>
              <a:rPr lang="ko-KR" altLang="en-US" sz="1800" dirty="0"/>
              <a:t>형으로 저장될 때와 </a:t>
            </a:r>
            <a:r>
              <a:rPr lang="en-US" altLang="ko-KR" sz="1800" dirty="0"/>
              <a:t>float</a:t>
            </a:r>
            <a:r>
              <a:rPr lang="ko-KR" altLang="en-US" sz="1800" dirty="0"/>
              <a:t>형으로 저장될 때 그 사이 에서 발생하는 오차를 구해봅시다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556" y="3348433"/>
            <a:ext cx="3444519" cy="1470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 err="1">
                <a:solidFill>
                  <a:schemeClr val="tx1"/>
                </a:solidFill>
              </a:rPr>
              <a:t>int</a:t>
            </a:r>
            <a:r>
              <a:rPr lang="ko-KR" altLang="en-US" dirty="0">
                <a:solidFill>
                  <a:schemeClr val="tx1"/>
                </a:solidFill>
              </a:rPr>
              <a:t>와 </a:t>
            </a:r>
            <a:r>
              <a:rPr lang="en-US" altLang="ko-KR" dirty="0">
                <a:solidFill>
                  <a:schemeClr val="tx1"/>
                </a:solidFill>
              </a:rPr>
              <a:t>float </a:t>
            </a:r>
            <a:r>
              <a:rPr lang="ko-KR" altLang="en-US" dirty="0">
                <a:solidFill>
                  <a:schemeClr val="tx1"/>
                </a:solidFill>
              </a:rPr>
              <a:t>사이의 오차 구하기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5"/>
            <a:ext cx="8363272" cy="396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0" indent="0">
              <a:buFont typeface="Noto Sans Symbols"/>
              <a:buNone/>
            </a:pPr>
            <a:endParaRPr lang="en-US" altLang="ko-KR" sz="1800" dirty="0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1.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입력받은</a:t>
            </a:r>
            <a:r>
              <a:rPr lang="ko-KR" altLang="en-US" sz="1800" dirty="0"/>
              <a:t> 정수를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ko-KR" altLang="en-US" sz="1800" dirty="0"/>
              <a:t>변수 </a:t>
            </a:r>
            <a:r>
              <a:rPr lang="en-US" altLang="ko-KR" sz="1800" dirty="0"/>
              <a:t>i1</a:t>
            </a:r>
            <a:r>
              <a:rPr lang="ko-KR" altLang="en-US" sz="1800" dirty="0"/>
              <a:t>에 저장한다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2.</a:t>
            </a:r>
            <a:r>
              <a:rPr lang="en-US" altLang="ko-KR" sz="1800" dirty="0"/>
              <a:t> float </a:t>
            </a:r>
            <a:r>
              <a:rPr lang="ko-KR" altLang="en-US" sz="1800" dirty="0"/>
              <a:t>변수 </a:t>
            </a:r>
            <a:r>
              <a:rPr lang="en-US" altLang="ko-KR" sz="1800" dirty="0"/>
              <a:t>f</a:t>
            </a:r>
            <a:r>
              <a:rPr lang="ko-KR" altLang="en-US" sz="1800" dirty="0"/>
              <a:t>에 </a:t>
            </a:r>
            <a:r>
              <a:rPr lang="en-US" altLang="ko-KR" sz="1800" dirty="0"/>
              <a:t>i1</a:t>
            </a:r>
            <a:r>
              <a:rPr lang="ko-KR" altLang="en-US" sz="1800" dirty="0"/>
              <a:t>을 대입한다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3.</a:t>
            </a:r>
            <a:r>
              <a:rPr lang="en-US" altLang="ko-KR" sz="1800" dirty="0"/>
              <a:t>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</a:t>
            </a:r>
            <a:r>
              <a:rPr lang="ko-KR" altLang="en-US" sz="1800" dirty="0"/>
              <a:t>변수 </a:t>
            </a:r>
            <a:r>
              <a:rPr lang="en-US" altLang="ko-KR" sz="1800" dirty="0"/>
              <a:t>i2</a:t>
            </a:r>
            <a:r>
              <a:rPr lang="ko-KR" altLang="en-US" sz="1800" dirty="0"/>
              <a:t>에 </a:t>
            </a:r>
            <a:r>
              <a:rPr lang="en-US" altLang="ko-KR" sz="1800" dirty="0"/>
              <a:t>f</a:t>
            </a:r>
            <a:r>
              <a:rPr lang="ko-KR" altLang="en-US" sz="1800" dirty="0"/>
              <a:t>를 대입한다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  <a:p>
            <a:pPr marL="0" indent="0" algn="just">
              <a:buNone/>
            </a:pPr>
            <a:r>
              <a:rPr lang="ko-KR" altLang="en-US" sz="1800" dirty="0">
                <a:solidFill>
                  <a:schemeClr val="accent4"/>
                </a:solidFill>
              </a:rPr>
              <a:t>　　</a:t>
            </a:r>
            <a:r>
              <a:rPr lang="en-US" altLang="ko-KR" sz="1800" dirty="0">
                <a:solidFill>
                  <a:schemeClr val="accent4"/>
                </a:solidFill>
              </a:rPr>
              <a:t>4.</a:t>
            </a:r>
            <a:r>
              <a:rPr lang="en-US" altLang="ko-KR" sz="1800" dirty="0"/>
              <a:t> i1</a:t>
            </a:r>
            <a:r>
              <a:rPr lang="ko-KR" altLang="en-US" sz="1800" dirty="0"/>
              <a:t>과 </a:t>
            </a:r>
            <a:r>
              <a:rPr lang="en-US" altLang="ko-KR" sz="1800" dirty="0"/>
              <a:t>i2</a:t>
            </a:r>
            <a:r>
              <a:rPr lang="ko-KR" altLang="en-US" sz="1800" dirty="0"/>
              <a:t>의 차를 출력한다</a:t>
            </a:r>
            <a:r>
              <a:rPr lang="en-US" altLang="ko-KR" sz="1800" dirty="0"/>
              <a:t>.</a:t>
            </a:r>
          </a:p>
          <a:p>
            <a:pPr marL="0" indent="0" algn="just">
              <a:buNone/>
            </a:pPr>
            <a:endParaRPr lang="en-US" altLang="ko-KR" sz="18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242" y="2261938"/>
            <a:ext cx="2556510" cy="298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0690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 </a:t>
            </a:r>
            <a:r>
              <a:rPr lang="en-US" altLang="ko-KR" dirty="0" err="1">
                <a:solidFill>
                  <a:schemeClr val="tx1"/>
                </a:solidFill>
              </a:rPr>
              <a:t>int</a:t>
            </a:r>
            <a:r>
              <a:rPr lang="ko-KR" altLang="en-US" dirty="0">
                <a:solidFill>
                  <a:schemeClr val="tx1"/>
                </a:solidFill>
              </a:rPr>
              <a:t>와 </a:t>
            </a:r>
            <a:r>
              <a:rPr lang="en-US" altLang="ko-KR" dirty="0">
                <a:solidFill>
                  <a:schemeClr val="tx1"/>
                </a:solidFill>
              </a:rPr>
              <a:t>float </a:t>
            </a:r>
            <a:r>
              <a:rPr lang="ko-KR" altLang="en-US" dirty="0">
                <a:solidFill>
                  <a:schemeClr val="tx1"/>
                </a:solidFill>
              </a:rPr>
              <a:t>사이의 오차 구하기</a:t>
            </a:r>
            <a:endParaRPr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8" y="1433636"/>
            <a:ext cx="8363272" cy="99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716993829"/>
              </p:ext>
            </p:extLst>
          </p:nvPr>
        </p:nvGraphicFramePr>
        <p:xfrm>
          <a:off x="873112" y="2036445"/>
          <a:ext cx="7416825" cy="393193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  <a:endParaRPr lang="en-US" sz="1400" b="1" u="none" strike="noStrike" cap="none" dirty="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i1, i2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  <a:endParaRPr lang="en-US" altLang="ko-KR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f;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정수를 입력하세요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altLang="ko-KR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&amp;i1);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   f = i1;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i2 = f;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오차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: %d"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, i1 - i2);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2361</Words>
  <Application>Microsoft Office PowerPoint</Application>
  <PresentationFormat>화면 슬라이드 쇼(4:3)</PresentationFormat>
  <Paragraphs>709</Paragraphs>
  <Slides>60</Slides>
  <Notes>41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1" baseType="lpstr">
      <vt:lpstr>Office 테마</vt:lpstr>
      <vt:lpstr>Chapter 03. 변수와 타입</vt:lpstr>
      <vt:lpstr>PowerPoint 프레젠테이션</vt:lpstr>
      <vt:lpstr>PowerPoint 프레젠테이션</vt:lpstr>
      <vt:lpstr>PowerPoint 프레젠테이션</vt:lpstr>
      <vt:lpstr>01. 메모리와 데이터 타입</vt:lpstr>
      <vt:lpstr>01. 메모리와 데이터 타입</vt:lpstr>
      <vt:lpstr>01. 메모리와 데이터 타입</vt:lpstr>
      <vt:lpstr>01. 메모리와 데이터 타입</vt:lpstr>
      <vt:lpstr>01. 메모리와 데이터 타입</vt:lpstr>
      <vt:lpstr>01. 메모리와 데이터 타입</vt:lpstr>
      <vt:lpstr>PowerPoint 프레젠테이션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02. 변수란?</vt:lpstr>
      <vt:lpstr>PowerPoint 프레젠테이션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03. 정수형</vt:lpstr>
      <vt:lpstr>PowerPoint 프레젠테이션</vt:lpstr>
      <vt:lpstr>04. 실수형</vt:lpstr>
      <vt:lpstr>04. 실수형</vt:lpstr>
      <vt:lpstr>04. 실수형</vt:lpstr>
      <vt:lpstr>04. 실수형</vt:lpstr>
      <vt:lpstr>04. 실수형</vt:lpstr>
      <vt:lpstr>PowerPoint 프레젠테이션</vt:lpstr>
      <vt:lpstr>05. 문자형과 문자열</vt:lpstr>
      <vt:lpstr>05. 문자형과 문자열</vt:lpstr>
      <vt:lpstr>05. 문자형과 문자열</vt:lpstr>
      <vt:lpstr>05. 문자형과 문자열</vt:lpstr>
      <vt:lpstr>05. 문자형과 문자열</vt:lpstr>
      <vt:lpstr>05. 문자형과 문자열</vt:lpstr>
      <vt:lpstr>05. 문자형과 문자열</vt:lpstr>
      <vt:lpstr>05. 문자형과 문자열</vt:lpstr>
      <vt:lpstr>PowerPoint 프레젠테이션</vt:lpstr>
      <vt:lpstr>[실전예제] int와 float 사이의 오차 구하기</vt:lpstr>
      <vt:lpstr>[실전예제] int와 float 사이의 오차 구하기</vt:lpstr>
      <vt:lpstr>[실전예제] int와 float 사이의 오차 구하기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이해원</cp:lastModifiedBy>
  <cp:revision>53</cp:revision>
  <dcterms:created xsi:type="dcterms:W3CDTF">2012-07-11T10:23:22Z</dcterms:created>
  <dcterms:modified xsi:type="dcterms:W3CDTF">2022-01-26T01:49:28Z</dcterms:modified>
</cp:coreProperties>
</file>