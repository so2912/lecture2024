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256" r:id="rId2"/>
    <p:sldId id="257" r:id="rId3"/>
    <p:sldId id="258" r:id="rId4"/>
    <p:sldId id="259" r:id="rId5"/>
    <p:sldId id="260" r:id="rId6"/>
    <p:sldId id="326" r:id="rId7"/>
    <p:sldId id="327" r:id="rId8"/>
    <p:sldId id="269" r:id="rId9"/>
    <p:sldId id="328" r:id="rId10"/>
    <p:sldId id="329" r:id="rId11"/>
    <p:sldId id="330" r:id="rId12"/>
    <p:sldId id="331" r:id="rId13"/>
    <p:sldId id="332" r:id="rId14"/>
    <p:sldId id="261" r:id="rId15"/>
    <p:sldId id="273" r:id="rId16"/>
    <p:sldId id="262" r:id="rId17"/>
    <p:sldId id="287" r:id="rId18"/>
    <p:sldId id="288" r:id="rId19"/>
    <p:sldId id="289" r:id="rId20"/>
    <p:sldId id="334" r:id="rId21"/>
    <p:sldId id="291" r:id="rId22"/>
    <p:sldId id="292" r:id="rId23"/>
    <p:sldId id="294" r:id="rId24"/>
    <p:sldId id="337" r:id="rId25"/>
    <p:sldId id="338" r:id="rId26"/>
    <p:sldId id="340" r:id="rId27"/>
    <p:sldId id="299" r:id="rId28"/>
    <p:sldId id="300" r:id="rId29"/>
    <p:sldId id="301" r:id="rId30"/>
    <p:sldId id="302" r:id="rId31"/>
    <p:sldId id="341" r:id="rId32"/>
    <p:sldId id="342" r:id="rId33"/>
    <p:sldId id="343" r:id="rId34"/>
    <p:sldId id="344" r:id="rId35"/>
    <p:sldId id="305" r:id="rId36"/>
    <p:sldId id="306" r:id="rId37"/>
    <p:sldId id="307" r:id="rId38"/>
    <p:sldId id="308" r:id="rId39"/>
    <p:sldId id="345" r:id="rId40"/>
    <p:sldId id="346" r:id="rId41"/>
    <p:sldId id="313" r:id="rId42"/>
    <p:sldId id="347" r:id="rId43"/>
    <p:sldId id="348" r:id="rId44"/>
    <p:sldId id="349" r:id="rId45"/>
    <p:sldId id="350" r:id="rId46"/>
    <p:sldId id="314" r:id="rId47"/>
    <p:sldId id="315" r:id="rId48"/>
    <p:sldId id="352" r:id="rId49"/>
    <p:sldId id="353" r:id="rId50"/>
    <p:sldId id="354" r:id="rId51"/>
    <p:sldId id="355" r:id="rId52"/>
    <p:sldId id="356" r:id="rId53"/>
    <p:sldId id="357" r:id="rId54"/>
    <p:sldId id="358" r:id="rId55"/>
    <p:sldId id="359" r:id="rId56"/>
    <p:sldId id="360" r:id="rId57"/>
    <p:sldId id="361" r:id="rId58"/>
    <p:sldId id="362" r:id="rId59"/>
    <p:sldId id="363" r:id="rId60"/>
    <p:sldId id="364" r:id="rId61"/>
    <p:sldId id="365" r:id="rId62"/>
    <p:sldId id="366" r:id="rId63"/>
    <p:sldId id="367" r:id="rId64"/>
    <p:sldId id="368" r:id="rId65"/>
    <p:sldId id="369" r:id="rId66"/>
    <p:sldId id="371" r:id="rId67"/>
    <p:sldId id="372" r:id="rId68"/>
    <p:sldId id="373" r:id="rId69"/>
    <p:sldId id="374" r:id="rId70"/>
    <p:sldId id="375" r:id="rId71"/>
    <p:sldId id="376" r:id="rId72"/>
    <p:sldId id="377" r:id="rId73"/>
    <p:sldId id="378" r:id="rId74"/>
    <p:sldId id="380" r:id="rId75"/>
    <p:sldId id="381" r:id="rId76"/>
    <p:sldId id="385" r:id="rId77"/>
    <p:sldId id="382" r:id="rId78"/>
    <p:sldId id="383" r:id="rId79"/>
    <p:sldId id="384" r:id="rId80"/>
    <p:sldId id="316" r:id="rId81"/>
    <p:sldId id="264" r:id="rId82"/>
    <p:sldId id="317" r:id="rId83"/>
    <p:sldId id="318" r:id="rId84"/>
    <p:sldId id="267" r:id="rId8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90">
          <p15:clr>
            <a:srgbClr val="A4A3A4"/>
          </p15:clr>
        </p15:guide>
        <p15:guide id="4" pos="288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4" roundtripDataSignature="AMtx7minI3MDKZStEEFPCD0pd8mEwA/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87B7"/>
    <a:srgbClr val="B4A4C8"/>
    <a:srgbClr val="8AC9DA"/>
    <a:srgbClr val="FBFBD1"/>
    <a:srgbClr val="F1D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0F0E0B-0B7A-4AD7-8269-C2576374BDFF}">
  <a:tblStyle styleId="{270F0E0B-0B7A-4AD7-8269-C2576374BDF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4464" autoAdjust="0"/>
  </p:normalViewPr>
  <p:slideViewPr>
    <p:cSldViewPr snapToGrid="0">
      <p:cViewPr varScale="1">
        <p:scale>
          <a:sx n="114" d="100"/>
          <a:sy n="114" d="100"/>
        </p:scale>
        <p:origin x="1590" y="96"/>
      </p:cViewPr>
      <p:guideLst>
        <p:guide orient="horz" pos="2160"/>
        <p:guide pos="2880"/>
        <p:guide orient="horz" pos="219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9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4742-9361-41AF-BEB5-9C4A02623FAB}" type="datetimeFigureOut">
              <a:rPr lang="ko-KR" altLang="en-US" smtClean="0"/>
              <a:t>2023-07-04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8AF58-5242-4D16-97DC-D8C5673ED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04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088840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80078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4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>
  <p:cSld name="학습목표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학습목표</a:t>
            </a:r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84</a:t>
            </a:r>
            <a:endParaRPr sz="1600" b="0" i="0" u="none" strike="noStrike" cap="none" dirty="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8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9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9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 2022 </a:t>
            </a:r>
            <a:r>
              <a:rPr lang="en-US" sz="11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Hanbit</a:t>
            </a:r>
            <a:r>
              <a:rPr lang="en-US" sz="11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Academy, Inc.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 sz="11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en-US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21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1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1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21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1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7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Chapter 04. </a:t>
            </a:r>
            <a:r>
              <a:rPr lang="ko-KR" altLang="en-US" sz="3600" b="1" dirty="0" err="1">
                <a:solidFill>
                  <a:schemeClr val="lt1"/>
                </a:solidFill>
              </a:rPr>
              <a:t>표현식과</a:t>
            </a:r>
            <a:r>
              <a:rPr lang="ko-KR" altLang="en-US" sz="3600" b="1" dirty="0">
                <a:solidFill>
                  <a:schemeClr val="lt1"/>
                </a:solidFill>
              </a:rPr>
              <a:t> 연산자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01. C 언어 준비 학습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162972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표현식과</a:t>
            </a:r>
            <a:r>
              <a:rPr lang="ko-KR" altLang="en-US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명령문</a:t>
            </a:r>
            <a:endParaRPr dirty="0"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연산자란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산술 연산자</a:t>
            </a:r>
            <a:endParaRPr lang="en-US" altLang="ko-KR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 연산자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논리 연산자</a:t>
            </a:r>
            <a:endParaRPr lang="en-US" altLang="ko-KR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비트 연산자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복합 대입 연산자와 </a:t>
            </a:r>
            <a:r>
              <a:rPr lang="ko-KR" altLang="en-US" sz="20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삼항</a:t>
            </a:r>
            <a:r>
              <a:rPr lang="ko-KR" altLang="en-US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연산자</a:t>
            </a:r>
            <a:endParaRPr lang="en-US" altLang="ko-KR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기타 연산자와 우선순위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[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실전예제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]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두 수의 대소 관계 파악하기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spcBef>
                <a:spcPts val="0"/>
              </a:spcBef>
            </a:pPr>
            <a:r>
              <a:rPr lang="ko-KR" altLang="en-US" dirty="0" err="1"/>
              <a:t>표현식과</a:t>
            </a:r>
            <a:r>
              <a:rPr lang="ko-KR" altLang="en-US" dirty="0"/>
              <a:t> 명령문의 개념을 이해하고 종류를 살펴본다</a:t>
            </a:r>
            <a:r>
              <a:rPr lang="en-US" altLang="ko-KR" dirty="0"/>
              <a:t>.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연산자의 종류를 알아보고 사용해본다</a:t>
            </a:r>
            <a:r>
              <a:rPr lang="en-US" altLang="ko-KR" dirty="0"/>
              <a:t>.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여러 가지의 연산자가 등장했을 때 우선순위에 따라 연산할 수 있다</a:t>
            </a:r>
            <a:r>
              <a:rPr lang="en-US" altLang="ko-KR" dirty="0"/>
              <a:t>.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dirty="0" err="1"/>
              <a:t>표현식과</a:t>
            </a:r>
            <a:r>
              <a:rPr lang="ko-KR" altLang="en-US" dirty="0"/>
              <a:t> 명령문</a:t>
            </a:r>
            <a:endParaRPr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표현식과</a:t>
            </a:r>
            <a:r>
              <a:rPr lang="ko-KR" altLang="en-US" dirty="0">
                <a:solidFill>
                  <a:schemeClr val="tx1"/>
                </a:solidFill>
              </a:rPr>
              <a:t> 명령문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197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 err="1"/>
              <a:t>표현식</a:t>
            </a:r>
            <a:r>
              <a:rPr lang="en-US" altLang="ko-KR" sz="2400" dirty="0"/>
              <a:t>(expression)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 err="1"/>
              <a:t>표현식의</a:t>
            </a:r>
            <a:r>
              <a:rPr lang="ko-KR" altLang="en-US" b="1" dirty="0"/>
              <a:t> 개념</a:t>
            </a:r>
            <a:endParaRPr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 altLang="en-US" dirty="0"/>
              <a:t>하나의 값으로 계산될 수 있는 것</a:t>
            </a:r>
            <a:endParaRPr lang="en-US" altLang="ko-KR"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endParaRPr lang="en-US" altLang="ko-KR"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endParaRPr lang="en-US" altLang="ko-KR" sz="8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표현식의</a:t>
            </a:r>
            <a:r>
              <a:rPr lang="ko-KR" altLang="en-US" b="1" dirty="0"/>
              <a:t> 예시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b="1" dirty="0"/>
              <a:t>[ 1 ], [ 3.141592 ], [ ‘A’ ]</a:t>
            </a:r>
            <a:br>
              <a:rPr lang="en-US" altLang="ko-KR" dirty="0"/>
            </a:br>
            <a:r>
              <a:rPr lang="en-US" altLang="ko-KR" dirty="0"/>
              <a:t>C </a:t>
            </a:r>
            <a:r>
              <a:rPr lang="ko-KR" altLang="en-US" dirty="0"/>
              <a:t>언어에서 문자는 아스키코드나 유니코드로 하나의 값으로</a:t>
            </a:r>
            <a:r>
              <a:rPr lang="en-US" altLang="ko-KR" dirty="0"/>
              <a:t> </a:t>
            </a:r>
            <a:r>
              <a:rPr lang="ko-KR" altLang="en-US" dirty="0"/>
              <a:t>여기기 때문에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리터럴이</a:t>
            </a:r>
            <a:r>
              <a:rPr lang="ko-KR" altLang="en-US" dirty="0"/>
              <a:t> 나타내는 값으로 계산됨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b="1" dirty="0"/>
              <a:t>[ x ], [ y ]</a:t>
            </a:r>
            <a:br>
              <a:rPr lang="en-US" altLang="ko-KR" b="1" dirty="0"/>
            </a:br>
            <a:r>
              <a:rPr lang="ko-KR" altLang="en-US" dirty="0"/>
              <a:t>변수 </a:t>
            </a:r>
            <a:r>
              <a:rPr lang="en-US" altLang="ko-KR" dirty="0"/>
              <a:t>x, y</a:t>
            </a:r>
            <a:r>
              <a:rPr lang="ko-KR" altLang="en-US" dirty="0"/>
              <a:t>가 표현식일 경우 변수에 저장된 값으로 계산됨</a:t>
            </a:r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2774281"/>
            <a:ext cx="7210425" cy="605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표현식과</a:t>
            </a:r>
            <a:r>
              <a:rPr lang="ko-KR" altLang="en-US" dirty="0">
                <a:solidFill>
                  <a:schemeClr val="tx1"/>
                </a:solidFill>
              </a:rPr>
              <a:t> 명령문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529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 err="1"/>
              <a:t>표현식</a:t>
            </a:r>
            <a:r>
              <a:rPr lang="en-US" altLang="ko-KR" sz="2400" dirty="0"/>
              <a:t>(expression)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표현식의</a:t>
            </a:r>
            <a:r>
              <a:rPr lang="ko-KR" altLang="en-US" b="1" dirty="0"/>
              <a:t> 예시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s-ES" altLang="ko-KR" b="1" dirty="0"/>
              <a:t>[ (1 + 2) * 3 ], [ (x + y) * 2 ]</a:t>
            </a:r>
            <a:br>
              <a:rPr lang="en-US" altLang="ko-KR" dirty="0"/>
            </a:br>
            <a:r>
              <a:rPr lang="ko-KR" altLang="en-US" dirty="0"/>
              <a:t>연산자와 </a:t>
            </a:r>
            <a:r>
              <a:rPr lang="ko-KR" altLang="en-US" dirty="0" err="1"/>
              <a:t>피연산자로</a:t>
            </a:r>
            <a:r>
              <a:rPr lang="ko-KR" altLang="en-US" dirty="0"/>
              <a:t> 이루어진 </a:t>
            </a:r>
            <a:r>
              <a:rPr lang="ko-KR" altLang="en-US" dirty="0" err="1"/>
              <a:t>표현식은</a:t>
            </a:r>
            <a:r>
              <a:rPr lang="ko-KR" altLang="en-US" dirty="0"/>
              <a:t> </a:t>
            </a:r>
            <a:r>
              <a:rPr lang="ko-KR" altLang="en-US" dirty="0" err="1"/>
              <a:t>피연산자가</a:t>
            </a:r>
            <a:r>
              <a:rPr lang="ko-KR" altLang="en-US" dirty="0"/>
              <a:t> 모두 </a:t>
            </a:r>
            <a:r>
              <a:rPr lang="ko-KR" altLang="en-US" dirty="0" err="1"/>
              <a:t>리터럴과</a:t>
            </a:r>
            <a:r>
              <a:rPr lang="ko-KR" altLang="en-US" dirty="0"/>
              <a:t> 변수임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s-ES" altLang="ko-KR" b="1" dirty="0"/>
              <a:t>[ x = 1 ], [ x = y ]</a:t>
            </a:r>
            <a:br>
              <a:rPr lang="es-ES" altLang="ko-KR" b="1" dirty="0"/>
            </a:br>
            <a:r>
              <a:rPr lang="ko-KR" altLang="en-US" dirty="0"/>
              <a:t>위와 같은 </a:t>
            </a:r>
            <a:r>
              <a:rPr lang="ko-KR" altLang="en-US" dirty="0" err="1">
                <a:solidFill>
                  <a:schemeClr val="accent6">
                    <a:lumMod val="75000"/>
                  </a:schemeClr>
                </a:solidFill>
              </a:rPr>
              <a:t>대입식</a:t>
            </a:r>
            <a:r>
              <a:rPr lang="ko-KR" altLang="en-US" dirty="0" err="1"/>
              <a:t>의</a:t>
            </a:r>
            <a:r>
              <a:rPr lang="ko-KR" altLang="en-US" dirty="0"/>
              <a:t> </a:t>
            </a:r>
            <a:r>
              <a:rPr lang="ko-KR" altLang="en-US" dirty="0" err="1"/>
              <a:t>계산값은</a:t>
            </a:r>
            <a:r>
              <a:rPr lang="ko-KR" altLang="en-US" dirty="0"/>
              <a:t> 좌변에 우변이 대입된 후 좌변의 값이 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s-ES" altLang="ko-KR" b="1" dirty="0"/>
              <a:t>[ x </a:t>
            </a:r>
            <a:r>
              <a:rPr lang="ko-KR" altLang="es-ES" b="1" dirty="0"/>
              <a:t>＜ </a:t>
            </a:r>
            <a:r>
              <a:rPr lang="es-ES" altLang="ko-KR" b="1" dirty="0"/>
              <a:t>1 ], [ x </a:t>
            </a:r>
            <a:r>
              <a:rPr lang="ko-KR" altLang="es-ES" b="1" dirty="0"/>
              <a:t>＞ </a:t>
            </a:r>
            <a:r>
              <a:rPr lang="es-ES" altLang="ko-KR" b="1" dirty="0"/>
              <a:t>y ], [ x == 1 ], [ x != y ]</a:t>
            </a:r>
            <a:br>
              <a:rPr lang="es-ES" altLang="ko-KR" dirty="0"/>
            </a:br>
            <a:r>
              <a:rPr lang="ko-KR" altLang="en-US" dirty="0"/>
              <a:t>위와 같은 </a:t>
            </a:r>
            <a:r>
              <a:rPr lang="ko-KR" altLang="en-US" dirty="0" err="1">
                <a:solidFill>
                  <a:schemeClr val="accent6">
                    <a:lumMod val="75000"/>
                  </a:schemeClr>
                </a:solidFill>
              </a:rPr>
              <a:t>조건식</a:t>
            </a:r>
            <a:r>
              <a:rPr lang="ko-KR" altLang="en-US" dirty="0" err="1"/>
              <a:t>은</a:t>
            </a:r>
            <a:r>
              <a:rPr lang="ko-KR" altLang="en-US" dirty="0"/>
              <a:t> 참일 경우 </a:t>
            </a:r>
            <a:r>
              <a:rPr lang="en-US" altLang="ko-KR" dirty="0"/>
              <a:t>1, </a:t>
            </a:r>
            <a:r>
              <a:rPr lang="ko-KR" altLang="en-US" dirty="0"/>
              <a:t>거짓일 경우 </a:t>
            </a:r>
            <a:r>
              <a:rPr lang="en-US" altLang="ko-KR" dirty="0"/>
              <a:t>0</a:t>
            </a:r>
            <a:r>
              <a:rPr lang="ko-KR" altLang="en-US" dirty="0"/>
              <a:t>으로 계산됨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b="1" dirty="0"/>
              <a:t>[ “</a:t>
            </a:r>
            <a:r>
              <a:rPr lang="ko-KR" altLang="en-US" b="1" dirty="0"/>
              <a:t>난생처음” </a:t>
            </a:r>
            <a:r>
              <a:rPr lang="en-US" altLang="ko-KR" b="1" dirty="0"/>
              <a:t>]</a:t>
            </a:r>
            <a:br>
              <a:rPr lang="en-US" altLang="ko-KR" dirty="0"/>
            </a:br>
            <a:r>
              <a:rPr lang="ko-KR" altLang="en-US" dirty="0"/>
              <a:t>위와 같은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문자열 </a:t>
            </a:r>
            <a:r>
              <a:rPr lang="ko-KR" altLang="en-US" dirty="0" err="1">
                <a:solidFill>
                  <a:schemeClr val="accent6">
                    <a:lumMod val="75000"/>
                  </a:schemeClr>
                </a:solidFill>
              </a:rPr>
              <a:t>리터럴</a:t>
            </a:r>
            <a:r>
              <a:rPr lang="ko-KR" altLang="en-US" dirty="0"/>
              <a:t> 자체가 하나의 값임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s-ES" altLang="ko-KR" dirty="0"/>
          </a:p>
        </p:txBody>
      </p:sp>
    </p:spTree>
    <p:extLst>
      <p:ext uri="{BB962C8B-B14F-4D97-AF65-F5344CB8AC3E}">
        <p14:creationId xmlns:p14="http://schemas.microsoft.com/office/powerpoint/2010/main" val="1930447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표현식과</a:t>
            </a:r>
            <a:r>
              <a:rPr lang="ko-KR" altLang="en-US" dirty="0">
                <a:solidFill>
                  <a:schemeClr val="tx1"/>
                </a:solidFill>
              </a:rPr>
              <a:t> 명령문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529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 err="1"/>
              <a:t>표현식</a:t>
            </a:r>
            <a:r>
              <a:rPr lang="en-US" altLang="ko-KR" sz="2400" dirty="0"/>
              <a:t>(expression)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표현식의</a:t>
            </a:r>
            <a:r>
              <a:rPr lang="ko-KR" altLang="en-US" b="1" dirty="0"/>
              <a:t> 예시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s-ES" altLang="ko-KR" b="1" dirty="0"/>
              <a:t>[ sum(1, 2) ]</a:t>
            </a:r>
            <a:br>
              <a:rPr lang="en-US" altLang="ko-KR" dirty="0"/>
            </a:br>
            <a:r>
              <a:rPr lang="ko-KR" altLang="en-US" dirty="0"/>
              <a:t>위와 같은 </a:t>
            </a:r>
            <a:r>
              <a:rPr lang="ko-KR" altLang="en-US" dirty="0" err="1">
                <a:solidFill>
                  <a:schemeClr val="accent6">
                    <a:lumMod val="75000"/>
                  </a:schemeClr>
                </a:solidFill>
              </a:rPr>
              <a:t>호출식</a:t>
            </a:r>
            <a:r>
              <a:rPr lang="ko-KR" altLang="en-US" dirty="0" err="1"/>
              <a:t>은</a:t>
            </a:r>
            <a:r>
              <a:rPr lang="ko-KR" altLang="en-US" dirty="0"/>
              <a:t> 반환 값으로 계산됨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s-ES" altLang="ko-KR" b="1" dirty="0"/>
              <a:t>[ y = sum(1, 2) ]</a:t>
            </a:r>
            <a:br>
              <a:rPr lang="es-ES" altLang="ko-KR" b="1" dirty="0"/>
            </a:br>
            <a:r>
              <a:rPr lang="ko-KR" altLang="en-US" dirty="0" err="1"/>
              <a:t>호출식을</a:t>
            </a:r>
            <a:r>
              <a:rPr lang="ko-KR" altLang="en-US" dirty="0"/>
              <a:t> 포함하는 </a:t>
            </a:r>
            <a:r>
              <a:rPr lang="ko-KR" altLang="en-US" dirty="0" err="1"/>
              <a:t>대입식임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sz="1050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표현식의</a:t>
            </a:r>
            <a:r>
              <a:rPr lang="ko-KR" altLang="en-US" b="1" dirty="0"/>
              <a:t> 응용</a:t>
            </a:r>
            <a:endParaRPr lang="en-US" altLang="ko-K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6" y="4676776"/>
            <a:ext cx="7258050" cy="109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0489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표현식과</a:t>
            </a:r>
            <a:r>
              <a:rPr lang="ko-KR" altLang="en-US" dirty="0">
                <a:solidFill>
                  <a:schemeClr val="tx1"/>
                </a:solidFill>
              </a:rPr>
              <a:t> 명령문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명령문</a:t>
            </a:r>
            <a:r>
              <a:rPr lang="en-US" altLang="ko-KR" sz="2400" dirty="0"/>
              <a:t>(statement)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명령문의 개념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계산을 비롯하여 컴퓨터에 무엇인가를 하도록 시키는 구문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sz="10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명령문의 종류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b="1" dirty="0"/>
              <a:t>선언문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이름</a:t>
            </a:r>
            <a:r>
              <a:rPr lang="en-US" altLang="ko-KR" dirty="0"/>
              <a:t>(</a:t>
            </a:r>
            <a:r>
              <a:rPr lang="ko-KR" altLang="en-US" dirty="0" err="1"/>
              <a:t>식별자</a:t>
            </a:r>
            <a:r>
              <a:rPr lang="en-US" altLang="ko-KR" dirty="0"/>
              <a:t>)</a:t>
            </a:r>
            <a:r>
              <a:rPr lang="ko-KR" altLang="en-US" dirty="0"/>
              <a:t>을 프로그램에 알려주는 명령문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b="1" dirty="0" err="1"/>
              <a:t>표현식문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표현식</a:t>
            </a:r>
            <a:r>
              <a:rPr lang="ko-KR" altLang="en-US" dirty="0"/>
              <a:t> 끝에 세미콜론</a:t>
            </a:r>
            <a:r>
              <a:rPr lang="en-US" altLang="ko-KR" dirty="0"/>
              <a:t>(;)</a:t>
            </a:r>
            <a:r>
              <a:rPr lang="ko-KR" altLang="en-US" dirty="0"/>
              <a:t>을 붙여 실제 표현식이</a:t>
            </a:r>
            <a:r>
              <a:rPr lang="en-US" altLang="ko-KR" dirty="0"/>
              <a:t> </a:t>
            </a:r>
            <a:r>
              <a:rPr lang="ko-KR" altLang="en-US" dirty="0"/>
              <a:t>값으로 계산되도록 만드는 명령문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b="1" dirty="0" err="1"/>
              <a:t>제어문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프로그램의 실행 흐름을 제어하는 명령문</a:t>
            </a:r>
          </a:p>
        </p:txBody>
      </p:sp>
    </p:spTree>
    <p:extLst>
      <p:ext uri="{BB962C8B-B14F-4D97-AF65-F5344CB8AC3E}">
        <p14:creationId xmlns:p14="http://schemas.microsoft.com/office/powerpoint/2010/main" val="2080874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표현식과</a:t>
            </a:r>
            <a:r>
              <a:rPr lang="ko-KR" altLang="en-US" dirty="0">
                <a:solidFill>
                  <a:schemeClr val="tx1"/>
                </a:solidFill>
              </a:rPr>
              <a:t> 명령문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명령문</a:t>
            </a:r>
            <a:r>
              <a:rPr lang="en-US" altLang="ko-KR" sz="2400" dirty="0"/>
              <a:t>(statement)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명령문의 예시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b="1" dirty="0"/>
              <a:t>[ 1; ]</a:t>
            </a:r>
            <a:br>
              <a:rPr lang="en-US" altLang="ko-KR" dirty="0"/>
            </a:br>
            <a:r>
              <a:rPr lang="ko-KR" altLang="en-US" dirty="0" err="1"/>
              <a:t>표현식</a:t>
            </a:r>
            <a:r>
              <a:rPr lang="ko-KR" altLang="en-US" dirty="0"/>
              <a:t> 끝에 세미콜론을 붙여 </a:t>
            </a:r>
            <a:r>
              <a:rPr lang="ko-KR" altLang="en-US" dirty="0" err="1"/>
              <a:t>표현식문이</a:t>
            </a:r>
            <a:r>
              <a:rPr lang="ko-KR" altLang="en-US" dirty="0"/>
              <a:t> 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b="1" dirty="0"/>
              <a:t>[ </a:t>
            </a:r>
            <a:r>
              <a:rPr lang="en-US" altLang="ko-KR" b="1" dirty="0" err="1"/>
              <a:t>int</a:t>
            </a:r>
            <a:r>
              <a:rPr lang="en-US" altLang="ko-KR" b="1" dirty="0"/>
              <a:t> x; ], [ </a:t>
            </a:r>
            <a:r>
              <a:rPr lang="en-US" altLang="ko-KR" b="1" dirty="0" err="1"/>
              <a:t>int</a:t>
            </a:r>
            <a:r>
              <a:rPr lang="en-US" altLang="ko-KR" b="1" dirty="0"/>
              <a:t> x = 1; ]</a:t>
            </a:r>
            <a:br>
              <a:rPr lang="en-US" altLang="ko-KR" dirty="0"/>
            </a:br>
            <a:r>
              <a:rPr lang="ko-KR" altLang="en-US" dirty="0"/>
              <a:t>변수를 선언하며 세미콜론으로 끝나는 선언문</a:t>
            </a:r>
            <a:br>
              <a:rPr lang="en-US" altLang="ko-KR" dirty="0"/>
            </a:br>
            <a:r>
              <a:rPr lang="ko-KR" altLang="en-US" dirty="0" err="1">
                <a:solidFill>
                  <a:schemeClr val="accent6">
                    <a:lumMod val="75000"/>
                  </a:schemeClr>
                </a:solidFill>
              </a:rPr>
              <a:t>정의문</a:t>
            </a:r>
            <a:r>
              <a:rPr lang="ko-KR" altLang="en-US" dirty="0" err="1"/>
              <a:t>이라고도</a:t>
            </a:r>
            <a:r>
              <a:rPr lang="ko-KR" altLang="en-US" dirty="0"/>
              <a:t> 할 수 있으며</a:t>
            </a:r>
            <a:r>
              <a:rPr lang="en-US" altLang="ko-KR" dirty="0"/>
              <a:t>, </a:t>
            </a:r>
            <a:r>
              <a:rPr lang="ko-KR" altLang="en-US" dirty="0" err="1"/>
              <a:t>정의문은</a:t>
            </a:r>
            <a:r>
              <a:rPr lang="ko-KR" altLang="en-US" dirty="0"/>
              <a:t> 선언문에 포함됨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b="1" dirty="0"/>
              <a:t>[ x = 3; ]</a:t>
            </a:r>
            <a:br>
              <a:rPr lang="en-US" altLang="ko-KR" dirty="0"/>
            </a:br>
            <a:r>
              <a:rPr lang="ko-KR" altLang="en-US" dirty="0" err="1"/>
              <a:t>대입식</a:t>
            </a:r>
            <a:r>
              <a:rPr lang="ko-KR" altLang="en-US" dirty="0"/>
              <a:t> 끝에 세미콜론을 붙여 </a:t>
            </a:r>
            <a:r>
              <a:rPr lang="ko-KR" altLang="en-US" dirty="0" err="1"/>
              <a:t>표현식문이</a:t>
            </a:r>
            <a:r>
              <a:rPr lang="ko-KR" altLang="en-US" dirty="0"/>
              <a:t> 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97612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표현식과</a:t>
            </a:r>
            <a:r>
              <a:rPr lang="ko-KR" altLang="en-US" dirty="0">
                <a:solidFill>
                  <a:schemeClr val="tx1"/>
                </a:solidFill>
              </a:rPr>
              <a:t> 명령문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명령문</a:t>
            </a:r>
            <a:r>
              <a:rPr lang="en-US" altLang="ko-KR" sz="2400" dirty="0"/>
              <a:t>(statement)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명령문의 예시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b="1" dirty="0"/>
              <a:t>[ Add(1, 2); ]</a:t>
            </a:r>
            <a:br>
              <a:rPr lang="en-US" altLang="ko-KR" dirty="0"/>
            </a:br>
            <a:r>
              <a:rPr lang="ko-KR" altLang="en-US" dirty="0" err="1"/>
              <a:t>호출식</a:t>
            </a:r>
            <a:r>
              <a:rPr lang="ko-KR" altLang="en-US" dirty="0"/>
              <a:t> 끝에 세미콜론을 붙여 </a:t>
            </a:r>
            <a:r>
              <a:rPr lang="ko-KR" altLang="en-US" dirty="0" err="1"/>
              <a:t>표현식문이</a:t>
            </a:r>
            <a:r>
              <a:rPr lang="ko-KR" altLang="en-US" dirty="0"/>
              <a:t> 됨</a:t>
            </a:r>
            <a:br>
              <a:rPr lang="en-US" altLang="ko-KR" dirty="0"/>
            </a:br>
            <a:r>
              <a:rPr lang="ko-KR" altLang="en-US" dirty="0" err="1">
                <a:solidFill>
                  <a:schemeClr val="accent6">
                    <a:lumMod val="75000"/>
                  </a:schemeClr>
                </a:solidFill>
              </a:rPr>
              <a:t>호출문</a:t>
            </a:r>
            <a:r>
              <a:rPr lang="ko-KR" altLang="en-US" dirty="0" err="1"/>
              <a:t>이라고도</a:t>
            </a:r>
            <a:r>
              <a:rPr lang="ko-KR" altLang="en-US" dirty="0"/>
              <a:t> 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b="1" dirty="0"/>
              <a:t>[ y = Add(1, 2); ]</a:t>
            </a:r>
            <a:br>
              <a:rPr lang="en-US" altLang="ko-KR" b="1" dirty="0"/>
            </a:br>
            <a:r>
              <a:rPr lang="ko-KR" altLang="en-US" dirty="0" err="1"/>
              <a:t>호출식을</a:t>
            </a:r>
            <a:r>
              <a:rPr lang="ko-KR" altLang="en-US" dirty="0"/>
              <a:t> 포함하는 </a:t>
            </a:r>
            <a:r>
              <a:rPr lang="ko-KR" altLang="en-US" dirty="0" err="1"/>
              <a:t>대입식에</a:t>
            </a:r>
            <a:r>
              <a:rPr lang="ko-KR" altLang="en-US" dirty="0"/>
              <a:t> 세미콜론을 붙여 </a:t>
            </a:r>
            <a:r>
              <a:rPr lang="ko-KR" altLang="en-US" dirty="0" err="1"/>
              <a:t>표현식문이</a:t>
            </a:r>
            <a:r>
              <a:rPr lang="ko-KR" altLang="en-US" dirty="0"/>
              <a:t> 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b="1" dirty="0"/>
              <a:t>[ { </a:t>
            </a:r>
            <a:r>
              <a:rPr lang="en-US" altLang="ko-KR" b="1" dirty="0" err="1"/>
              <a:t>int</a:t>
            </a:r>
            <a:r>
              <a:rPr lang="en-US" altLang="ko-KR" b="1" dirty="0"/>
              <a:t> a; a = 1 + 2; } ]</a:t>
            </a:r>
            <a:br>
              <a:rPr lang="en-US" altLang="ko-KR" dirty="0"/>
            </a:br>
            <a:r>
              <a:rPr lang="ko-KR" altLang="en-US" dirty="0"/>
              <a:t>하나 이상의 명령문을 중괄호로 감싸 블록으로 만들 경우</a:t>
            </a:r>
            <a:br>
              <a:rPr lang="en-US" altLang="ko-KR" dirty="0"/>
            </a:br>
            <a:r>
              <a:rPr lang="ko-KR" altLang="en-US" dirty="0"/>
              <a:t>하나의 명령문으로 취급되며 </a:t>
            </a:r>
            <a:r>
              <a:rPr lang="ko-KR" altLang="en-US" dirty="0" err="1">
                <a:solidFill>
                  <a:schemeClr val="accent6">
                    <a:lumMod val="75000"/>
                  </a:schemeClr>
                </a:solidFill>
              </a:rPr>
              <a:t>복합문</a:t>
            </a:r>
            <a:r>
              <a:rPr lang="ko-KR" altLang="en-US" dirty="0" err="1"/>
              <a:t>이라고</a:t>
            </a:r>
            <a:r>
              <a:rPr lang="ko-KR" altLang="en-US" dirty="0"/>
              <a:t> 함</a:t>
            </a:r>
            <a:br>
              <a:rPr lang="en-US" altLang="ko-KR" dirty="0"/>
            </a:br>
            <a:r>
              <a:rPr lang="ko-KR" altLang="en-US" dirty="0"/>
              <a:t>블록 끝에는 세미콜론을 붙이지 않음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04381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표현식과</a:t>
            </a:r>
            <a:r>
              <a:rPr lang="ko-KR" altLang="en-US" dirty="0">
                <a:solidFill>
                  <a:schemeClr val="tx1"/>
                </a:solidFill>
              </a:rPr>
              <a:t> 명령문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435" y="2333618"/>
            <a:ext cx="7204241" cy="1095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6715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표현식과</a:t>
            </a:r>
            <a:r>
              <a:rPr lang="ko-KR" altLang="en-US" dirty="0">
                <a:solidFill>
                  <a:schemeClr val="tx1"/>
                </a:solidFill>
              </a:rPr>
              <a:t> 명령문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848879"/>
            <a:ext cx="7924665" cy="3681001"/>
            <a:chOff x="683573" y="1844824"/>
            <a:chExt cx="7924665" cy="129952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299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5293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4-1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915554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직육면체의 부피 구하기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91011" y="2521747"/>
            <a:ext cx="77810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ea"/>
                <a:ea typeface="+mn-ea"/>
              </a:rPr>
              <a:t>다음 출력처럼 직육면체의 가로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세로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높이를 공백으로 구분하여 </a:t>
            </a:r>
            <a:r>
              <a:rPr lang="ko-KR" altLang="en-US" sz="1600" dirty="0" err="1">
                <a:latin typeface="+mn-ea"/>
                <a:ea typeface="+mn-ea"/>
              </a:rPr>
              <a:t>입력받고</a:t>
            </a:r>
            <a:r>
              <a:rPr lang="ko-KR" altLang="en-US" sz="1600" dirty="0">
                <a:latin typeface="+mn-ea"/>
                <a:ea typeface="+mn-ea"/>
              </a:rPr>
              <a:t> 곱셈 함수 </a:t>
            </a:r>
            <a:r>
              <a:rPr lang="en-US" altLang="ko-KR" sz="1600" dirty="0">
                <a:latin typeface="Consolas" panose="020B0609020204030204" pitchFamily="49" charset="0"/>
                <a:ea typeface="+mn-ea"/>
              </a:rPr>
              <a:t>Multiply(</a:t>
            </a:r>
            <a:r>
              <a:rPr lang="en-US" altLang="ko-KR" sz="1600" dirty="0" err="1">
                <a:latin typeface="Consolas" panose="020B0609020204030204" pitchFamily="49" charset="0"/>
                <a:ea typeface="+mn-ea"/>
              </a:rPr>
              <a:t>int</a:t>
            </a:r>
            <a:r>
              <a:rPr lang="en-US" altLang="ko-KR" sz="1600" dirty="0">
                <a:latin typeface="Consolas" panose="020B0609020204030204" pitchFamily="49" charset="0"/>
                <a:ea typeface="+mn-ea"/>
              </a:rPr>
              <a:t> a, </a:t>
            </a:r>
            <a:r>
              <a:rPr lang="en-US" altLang="ko-KR" sz="1600" dirty="0" err="1">
                <a:latin typeface="Consolas" panose="020B0609020204030204" pitchFamily="49" charset="0"/>
                <a:ea typeface="+mn-ea"/>
              </a:rPr>
              <a:t>int</a:t>
            </a:r>
            <a:r>
              <a:rPr lang="en-US" altLang="ko-KR" sz="1600" dirty="0">
                <a:latin typeface="Consolas" panose="020B0609020204030204" pitchFamily="49" charset="0"/>
                <a:ea typeface="+mn-ea"/>
              </a:rPr>
              <a:t> b)</a:t>
            </a:r>
            <a:r>
              <a:rPr lang="ko-KR" altLang="en-US" sz="1600" dirty="0">
                <a:latin typeface="+mn-ea"/>
                <a:ea typeface="+mn-ea"/>
              </a:rPr>
              <a:t>만을 호출하여 부피를 구한 후 출력해봅시다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  <a:endParaRPr lang="ko-KR" altLang="en-US" sz="1600" dirty="0">
              <a:latin typeface="+mn-ea"/>
              <a:ea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603" y="3318726"/>
            <a:ext cx="6364432" cy="93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184" y="4531260"/>
            <a:ext cx="5316682" cy="518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6314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표현식과</a:t>
            </a:r>
            <a:r>
              <a:rPr lang="ko-KR" altLang="en-US" dirty="0">
                <a:solidFill>
                  <a:schemeClr val="tx1"/>
                </a:solidFill>
              </a:rPr>
              <a:t> 명령문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023206"/>
            <a:ext cx="7924665" cy="5650048"/>
            <a:chOff x="683573" y="1844824"/>
            <a:chExt cx="7924665" cy="247604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24760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5293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4-1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038111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997642036"/>
              </p:ext>
            </p:extLst>
          </p:nvPr>
        </p:nvGraphicFramePr>
        <p:xfrm>
          <a:off x="871407" y="1467645"/>
          <a:ext cx="7416825" cy="493777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19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#define 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Multiply(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a,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b)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a * b;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width,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depth, height;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직육면체의 가로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세로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높이를 입력하세요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d%d%d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&amp;width, &amp;depth, &amp;height);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int volume = Multiply(Multiply(width, depth), height);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부피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volume);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657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연산자</a:t>
            </a:r>
            <a:r>
              <a:rPr lang="en-US" sz="4000" dirty="0"/>
              <a:t>란?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연산자란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연산자와 </a:t>
            </a:r>
            <a:r>
              <a:rPr lang="ko-KR" altLang="en-US" sz="2400" dirty="0" err="1"/>
              <a:t>피연산자의</a:t>
            </a:r>
            <a:r>
              <a:rPr lang="ko-KR" altLang="en-US" sz="2400" dirty="0"/>
              <a:t> 개념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연산자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더하기</a:t>
            </a:r>
            <a:r>
              <a:rPr lang="en-US" altLang="ko-KR" dirty="0"/>
              <a:t>(+), </a:t>
            </a:r>
            <a:r>
              <a:rPr lang="ko-KR" altLang="en-US" dirty="0"/>
              <a:t>빼기</a:t>
            </a:r>
            <a:r>
              <a:rPr lang="en-US" altLang="ko-KR" dirty="0"/>
              <a:t>(-), </a:t>
            </a:r>
            <a:r>
              <a:rPr lang="ko-KR" altLang="en-US" dirty="0"/>
              <a:t>곱하기</a:t>
            </a:r>
            <a:r>
              <a:rPr lang="en-US" altLang="ko-KR" dirty="0"/>
              <a:t>(*), </a:t>
            </a:r>
            <a:r>
              <a:rPr lang="ko-KR" altLang="en-US" dirty="0"/>
              <a:t>나누기</a:t>
            </a:r>
            <a:r>
              <a:rPr lang="en-US" altLang="ko-KR" dirty="0"/>
              <a:t>(/)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대입</a:t>
            </a:r>
            <a:r>
              <a:rPr lang="en-US" altLang="ko-KR" dirty="0"/>
              <a:t>(=), </a:t>
            </a:r>
            <a:r>
              <a:rPr lang="ko-KR" altLang="en-US" dirty="0"/>
              <a:t>상등</a:t>
            </a:r>
            <a:r>
              <a:rPr lang="en-US" altLang="ko-KR" dirty="0"/>
              <a:t>(==), </a:t>
            </a:r>
            <a:r>
              <a:rPr lang="ko-KR" altLang="en-US" dirty="0"/>
              <a:t>부등</a:t>
            </a:r>
            <a:r>
              <a:rPr lang="en-US" altLang="ko-KR" dirty="0"/>
              <a:t>(!=)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피연산자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연산자의 대상이 되는 것</a:t>
            </a:r>
            <a:endParaRPr lang="en-US" altLang="ko-KR" dirty="0"/>
          </a:p>
        </p:txBody>
      </p:sp>
      <p:pic>
        <p:nvPicPr>
          <p:cNvPr id="5122" name="Picture 2" descr="C:\Users\변소현\Desktop\난생처음 C 언어 프로그래밍\그림\Ch4\그림 4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221" y="2354262"/>
            <a:ext cx="2155825" cy="214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042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연산자</a:t>
            </a:r>
            <a:r>
              <a:rPr lang="en-US" dirty="0"/>
              <a:t>란?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 startAt="2"/>
            </a:pPr>
            <a:r>
              <a:rPr lang="ko-KR" altLang="en-US" sz="2400" dirty="0"/>
              <a:t>연산자의 분류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기능별 분류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산술 연산자</a:t>
            </a:r>
            <a:r>
              <a:rPr lang="en-US" altLang="ko-KR" dirty="0"/>
              <a:t>, </a:t>
            </a:r>
            <a:r>
              <a:rPr lang="ko-KR" altLang="en-US" dirty="0"/>
              <a:t>비교 연산자</a:t>
            </a:r>
            <a:r>
              <a:rPr lang="en-US" altLang="ko-KR" dirty="0"/>
              <a:t>, </a:t>
            </a:r>
            <a:r>
              <a:rPr lang="ko-KR" altLang="en-US" dirty="0"/>
              <a:t>논리 연산자</a:t>
            </a:r>
            <a:r>
              <a:rPr lang="en-US" altLang="ko-KR" dirty="0"/>
              <a:t>, </a:t>
            </a:r>
            <a:r>
              <a:rPr lang="ko-KR" altLang="en-US" dirty="0"/>
              <a:t>비트 연산자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형태별 분류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b="1" dirty="0" err="1"/>
              <a:t>단항</a:t>
            </a:r>
            <a:r>
              <a:rPr lang="ko-KR" altLang="en-US" b="1" dirty="0"/>
              <a:t> 연산자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피연산자가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개인 연산자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b="1" dirty="0"/>
              <a:t>이항 연산자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피연산자가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개인 연산자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b="1" dirty="0" err="1"/>
              <a:t>삼항</a:t>
            </a:r>
            <a:r>
              <a:rPr lang="ko-KR" altLang="en-US" b="1" dirty="0"/>
              <a:t> 연산자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피연산자가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개인 연산자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산술 연산자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424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산술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사칙 연산자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사칙 연산자의 형태</a:t>
            </a:r>
            <a:endParaRPr lang="en-US" altLang="ko-KR" b="1" dirty="0"/>
          </a:p>
          <a:p>
            <a:pPr marL="904875" lvl="3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SzPts val="1800"/>
              <a:buNone/>
            </a:pPr>
            <a:endParaRPr lang="en-US" b="1" dirty="0"/>
          </a:p>
          <a:p>
            <a:pPr marL="904875" lvl="3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SzPts val="1800"/>
              <a:buNone/>
            </a:pPr>
            <a:endParaRPr lang="en-US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SzPts val="1800"/>
              <a:buChar char="•"/>
            </a:pP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사칙 연산자의 원칙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두 </a:t>
            </a:r>
            <a:r>
              <a:rPr lang="ko-KR" altLang="en-US" dirty="0" err="1"/>
              <a:t>피연산자의</a:t>
            </a:r>
            <a:r>
              <a:rPr lang="ko-KR" altLang="en-US" dirty="0"/>
              <a:t> 타입이 동일해야 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계산 값 역시 같은 타입이 됨</a:t>
            </a:r>
            <a:endParaRPr lang="en-US" altLang="ko-K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702" y="2343686"/>
            <a:ext cx="6901295" cy="78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8927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산술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대입 연산자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대입 연산자의 형태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447675" lvl="2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대입 연산자의 원칙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두 </a:t>
            </a:r>
            <a:r>
              <a:rPr lang="ko-KR" altLang="en-US" dirty="0" err="1"/>
              <a:t>피연산자의</a:t>
            </a:r>
            <a:r>
              <a:rPr lang="ko-KR" altLang="en-US" dirty="0"/>
              <a:t> 타입이 동일해야 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동일하지 않을 경우</a:t>
            </a:r>
            <a:r>
              <a:rPr lang="en-US" altLang="ko-KR" dirty="0"/>
              <a:t>, </a:t>
            </a:r>
            <a:r>
              <a:rPr lang="ko-KR" altLang="en-US" dirty="0"/>
              <a:t>컴파일러는 좌측 피연산자의 타입의 변환을 수행함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>
                <a:solidFill>
                  <a:schemeClr val="accent1"/>
                </a:solidFill>
              </a:rPr>
              <a:t>ex.</a:t>
            </a:r>
            <a:r>
              <a:rPr lang="en-US" altLang="ko-KR" dirty="0"/>
              <a:t> </a:t>
            </a:r>
            <a:r>
              <a:rPr lang="en-US" altLang="ko-KR" dirty="0">
                <a:latin typeface="Consolas" panose="020B0609020204030204" pitchFamily="49" charset="0"/>
              </a:rPr>
              <a:t>int a = 3.7</a:t>
            </a:r>
            <a:r>
              <a:rPr lang="en-US" altLang="ko-KR" dirty="0"/>
              <a:t>  </a:t>
            </a:r>
            <a:r>
              <a:rPr lang="ko-KR" altLang="en-US" dirty="0"/>
              <a:t>→  정수형 </a:t>
            </a:r>
            <a:r>
              <a:rPr lang="en-US" altLang="ko-KR" dirty="0"/>
              <a:t>= </a:t>
            </a:r>
            <a:r>
              <a:rPr lang="ko-KR" altLang="en-US" dirty="0" err="1"/>
              <a:t>실수형</a:t>
            </a:r>
            <a:br>
              <a:rPr lang="en-US" altLang="ko-KR" dirty="0"/>
            </a:br>
            <a:r>
              <a:rPr lang="ko-KR" altLang="en-US" dirty="0"/>
              <a:t>우측 피연산자 </a:t>
            </a:r>
            <a:r>
              <a:rPr lang="en-US" altLang="ko-KR" dirty="0">
                <a:latin typeface="Consolas" panose="020B0609020204030204" pitchFamily="49" charset="0"/>
              </a:rPr>
              <a:t>3.7</a:t>
            </a:r>
            <a:r>
              <a:rPr lang="ko-KR" altLang="en-US" dirty="0"/>
              <a:t>을 좌측 피연산자 타입으로 변환하여</a:t>
            </a:r>
            <a:r>
              <a:rPr lang="en-US" altLang="ko-KR" dirty="0"/>
              <a:t> </a:t>
            </a:r>
            <a:r>
              <a:rPr lang="ko-KR" altLang="en-US" dirty="0"/>
              <a:t>임시로 정수형 </a:t>
            </a:r>
            <a:r>
              <a:rPr lang="en-US" altLang="ko-KR" dirty="0">
                <a:latin typeface="Consolas" panose="020B0609020204030204" pitchFamily="49" charset="0"/>
              </a:rPr>
              <a:t>3</a:t>
            </a:r>
            <a:r>
              <a:rPr lang="ko-KR" altLang="en-US" dirty="0"/>
              <a:t>으로 만든 후 대입하면</a:t>
            </a:r>
            <a:r>
              <a:rPr lang="en-US" altLang="ko-KR" dirty="0"/>
              <a:t> </a:t>
            </a:r>
            <a:r>
              <a:rPr lang="ko-KR" altLang="en-US" dirty="0"/>
              <a:t>변수 </a:t>
            </a:r>
            <a:r>
              <a:rPr lang="en-US" altLang="ko-KR" dirty="0">
                <a:latin typeface="Consolas" panose="020B0609020204030204" pitchFamily="49" charset="0"/>
              </a:rPr>
              <a:t>a</a:t>
            </a:r>
            <a:r>
              <a:rPr lang="ko-KR" altLang="en-US" dirty="0"/>
              <a:t>는 정수형 </a:t>
            </a:r>
            <a:r>
              <a:rPr lang="en-US" altLang="ko-KR" dirty="0">
                <a:latin typeface="Consolas" panose="020B0609020204030204" pitchFamily="49" charset="0"/>
              </a:rPr>
              <a:t>3</a:t>
            </a:r>
            <a:r>
              <a:rPr lang="ko-KR" altLang="en-US" dirty="0"/>
              <a:t>을 가짐</a:t>
            </a:r>
            <a:endParaRPr lang="en-US" altLang="ko-K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72"/>
          <a:stretch/>
        </p:blipFill>
        <p:spPr bwMode="auto">
          <a:xfrm>
            <a:off x="3596711" y="1911062"/>
            <a:ext cx="2758370" cy="967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4119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산술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대입 연산자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대입 연산자의 원칙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대입 연산자가 피연산자를 사이에 둔 채 연달아 나올 경우</a:t>
            </a:r>
            <a:r>
              <a:rPr lang="en-US" altLang="ko-KR" dirty="0"/>
              <a:t>, </a:t>
            </a:r>
            <a:r>
              <a:rPr lang="ko-KR" altLang="en-US" dirty="0"/>
              <a:t>오른쪽 대입 연산자가 먼저 적용됨</a:t>
            </a:r>
            <a:endParaRPr lang="en-US" altLang="ko-K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56"/>
          <a:stretch/>
        </p:blipFill>
        <p:spPr bwMode="auto">
          <a:xfrm>
            <a:off x="1589332" y="3112687"/>
            <a:ext cx="5965336" cy="828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58FE8AAE-4AAE-4DB4-9993-01C41F10CEFC}"/>
              </a:ext>
            </a:extLst>
          </p:cNvPr>
          <p:cNvGrpSpPr/>
          <p:nvPr/>
        </p:nvGrpSpPr>
        <p:grpSpPr>
          <a:xfrm>
            <a:off x="1128655" y="4000638"/>
            <a:ext cx="6822260" cy="2439534"/>
            <a:chOff x="1101223" y="3982350"/>
            <a:chExt cx="6822260" cy="2439534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5653C71-60A9-45F6-AF81-2FDC3AA94FE8}"/>
                </a:ext>
              </a:extLst>
            </p:cNvPr>
            <p:cNvGrpSpPr/>
            <p:nvPr/>
          </p:nvGrpSpPr>
          <p:grpSpPr>
            <a:xfrm>
              <a:off x="1101223" y="3982350"/>
              <a:ext cx="6822260" cy="2439534"/>
              <a:chOff x="1101223" y="4137798"/>
              <a:chExt cx="6822260" cy="2439534"/>
            </a:xfrm>
          </p:grpSpPr>
          <p:sp>
            <p:nvSpPr>
              <p:cNvPr id="5" name="Google Shape;102;p7">
                <a:extLst>
                  <a:ext uri="{FF2B5EF4-FFF2-40B4-BE49-F238E27FC236}">
                    <a16:creationId xmlns:a16="http://schemas.microsoft.com/office/drawing/2014/main" id="{2EB9EC90-D3D6-48C9-A411-BF2086EDDDC6}"/>
                  </a:ext>
                </a:extLst>
              </p:cNvPr>
              <p:cNvSpPr txBox="1"/>
              <p:nvPr/>
            </p:nvSpPr>
            <p:spPr>
              <a:xfrm>
                <a:off x="1101223" y="4137798"/>
                <a:ext cx="3995251" cy="318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i="0" u="none" strike="noStrike" cap="none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[</a:t>
                </a:r>
                <a:r>
                  <a:rPr lang="en-US" sz="1600" b="1" i="0" u="none" strike="noStrike" cap="none" dirty="0" err="1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코드</a:t>
                </a:r>
                <a:r>
                  <a:rPr lang="en-US" sz="1600" b="1" i="0" u="none" strike="noStrike" cap="none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lang="en-US" sz="1600" b="1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4</a:t>
                </a:r>
                <a:r>
                  <a:rPr lang="en-US" sz="1600" b="1" i="0" u="none" strike="noStrike" cap="none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-1] </a:t>
                </a:r>
                <a:r>
                  <a:rPr lang="ko-KR" altLang="en-US" sz="1600" b="1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대입 연산자</a:t>
                </a:r>
                <a:endParaRPr dirty="0"/>
              </a:p>
            </p:txBody>
          </p:sp>
          <p:graphicFrame>
            <p:nvGraphicFramePr>
              <p:cNvPr id="6" name="Google Shape;104;p7">
                <a:extLst>
                  <a:ext uri="{FF2B5EF4-FFF2-40B4-BE49-F238E27FC236}">
                    <a16:creationId xmlns:a16="http://schemas.microsoft.com/office/drawing/2014/main" id="{40745088-F8CF-413A-BAA0-C5BEE44DA89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38819852"/>
                  </p:ext>
                </p:extLst>
              </p:nvPr>
            </p:nvGraphicFramePr>
            <p:xfrm>
              <a:off x="1180915" y="4455914"/>
              <a:ext cx="6742568" cy="2121418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{270F0E0B-0B7A-4AD7-8269-C2576374BDFF}</a:tableStyleId>
                  </a:tblPr>
                  <a:tblGrid>
                    <a:gridCol w="3927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97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5001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01</a:t>
                          </a:r>
                          <a:endParaRPr dirty="0"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02 </a:t>
                          </a:r>
                          <a:endParaRPr dirty="0"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03 </a:t>
                          </a:r>
                          <a:endParaRPr dirty="0"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04 </a:t>
                          </a:r>
                          <a:endParaRPr dirty="0"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05 </a:t>
                          </a:r>
                          <a:endParaRPr dirty="0"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06 </a:t>
                          </a:r>
                          <a:endParaRPr dirty="0"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07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08</a:t>
                          </a:r>
                        </a:p>
                      </a:txBody>
                      <a:tcPr marL="83136" marR="83136" marT="45725" marB="45725">
                        <a:lnL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b="1" dirty="0">
                              <a:latin typeface="Consolas" panose="020B0609020204030204" pitchFamily="49" charset="0"/>
                            </a:rPr>
                            <a:t>#include </a:t>
                          </a:r>
                          <a:r>
                            <a:rPr lang="en-US" altLang="ko-KR" b="1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&lt;</a:t>
                          </a:r>
                          <a:r>
                            <a:rPr lang="en-US" altLang="ko-KR" b="1" dirty="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stdio.h</a:t>
                          </a:r>
                          <a:r>
                            <a:rPr lang="en-US" altLang="ko-KR" b="1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&gt;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altLang="ko-KR" b="1" dirty="0"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b="1" dirty="0" err="1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</a:rPr>
                            <a:t>int</a:t>
                          </a:r>
                          <a:r>
                            <a:rPr lang="en-US" altLang="ko-KR" b="1" dirty="0">
                              <a:latin typeface="Consolas" panose="020B0609020204030204" pitchFamily="49" charset="0"/>
                            </a:rPr>
                            <a:t> main()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b="1" dirty="0">
                              <a:latin typeface="Consolas" panose="020B0609020204030204" pitchFamily="49" charset="0"/>
                            </a:rPr>
                            <a:t>{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b="1" dirty="0">
                              <a:latin typeface="Consolas" panose="020B0609020204030204" pitchFamily="49" charset="0"/>
                            </a:rPr>
                            <a:t>   </a:t>
                          </a:r>
                          <a:r>
                            <a:rPr lang="en-US" altLang="ko-KR" b="1" dirty="0" err="1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</a:rPr>
                            <a:t>int</a:t>
                          </a:r>
                          <a:r>
                            <a:rPr lang="en-US" altLang="ko-KR" b="1" baseline="0" dirty="0">
                              <a:latin typeface="Consolas" panose="020B0609020204030204" pitchFamily="49" charset="0"/>
                            </a:rPr>
                            <a:t> a, b;</a:t>
                          </a:r>
                          <a:endParaRPr lang="en-US" altLang="ko-KR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b="1" baseline="0" dirty="0">
                              <a:latin typeface="Consolas" panose="020B0609020204030204" pitchFamily="49" charset="0"/>
                            </a:rPr>
                            <a:t>   </a:t>
                          </a:r>
                          <a:r>
                            <a:rPr lang="en-US" altLang="ko-KR" b="1" baseline="0" dirty="0" err="1">
                              <a:latin typeface="Consolas" panose="020B0609020204030204" pitchFamily="49" charset="0"/>
                            </a:rPr>
                            <a:t>printf</a:t>
                          </a:r>
                          <a:r>
                            <a:rPr lang="en-US" altLang="ko-KR" b="1" baseline="0" dirty="0"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altLang="ko-KR" b="1" baseline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"%d</a:t>
                          </a:r>
                          <a:r>
                            <a:rPr lang="en-US" altLang="ko-KR" b="1" baseline="0" dirty="0">
                              <a:solidFill>
                                <a:schemeClr val="accent4"/>
                              </a:solidFill>
                              <a:latin typeface="Consolas" panose="020B0609020204030204" pitchFamily="49" charset="0"/>
                            </a:rPr>
                            <a:t>\r\n</a:t>
                          </a:r>
                          <a:r>
                            <a:rPr lang="en-US" altLang="ko-KR" b="1" baseline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"</a:t>
                          </a:r>
                          <a:r>
                            <a:rPr lang="en-US" altLang="ko-KR" b="1" baseline="0" dirty="0">
                              <a:latin typeface="Consolas" panose="020B0609020204030204" pitchFamily="49" charset="0"/>
                            </a:rPr>
                            <a:t>, a = b = 1);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b="1" baseline="0" dirty="0">
                              <a:latin typeface="Consolas" panose="020B0609020204030204" pitchFamily="49" charset="0"/>
                            </a:rPr>
                            <a:t>   </a:t>
                          </a:r>
                          <a:r>
                            <a:rPr lang="en-US" altLang="ko-KR" b="1" baseline="0" dirty="0" err="1">
                              <a:latin typeface="Consolas" panose="020B0609020204030204" pitchFamily="49" charset="0"/>
                            </a:rPr>
                            <a:t>printf</a:t>
                          </a:r>
                          <a:r>
                            <a:rPr lang="en-US" altLang="ko-KR" b="1" baseline="0" dirty="0"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altLang="ko-KR" b="1" baseline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"%</a:t>
                          </a:r>
                          <a:r>
                            <a:rPr lang="en-US" altLang="ko-KR" b="1" baseline="0" dirty="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d%d</a:t>
                          </a:r>
                          <a:r>
                            <a:rPr lang="en-US" altLang="ko-KR" b="1" baseline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"</a:t>
                          </a:r>
                          <a:r>
                            <a:rPr lang="en-US" altLang="ko-KR" b="1" baseline="0" dirty="0">
                              <a:latin typeface="Consolas" panose="020B0609020204030204" pitchFamily="49" charset="0"/>
                            </a:rPr>
                            <a:t>, a, b);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b="1" baseline="0" dirty="0">
                              <a:latin typeface="Consolas" panose="020B0609020204030204" pitchFamily="49" charset="0"/>
                            </a:rPr>
                            <a:t>}</a:t>
                          </a:r>
                        </a:p>
                      </a:txBody>
                      <a:tcPr marL="83136" marR="83136" marT="45725" marB="45725">
                        <a:lnL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p:grp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E9B72B2C-B213-45A0-9B97-463480ABDC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274"/>
            <a:stretch/>
          </p:blipFill>
          <p:spPr bwMode="auto">
            <a:xfrm>
              <a:off x="6176005" y="4404928"/>
              <a:ext cx="1685839" cy="766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3320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산술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나머지 연산자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나머지 연산자</a:t>
            </a:r>
            <a:r>
              <a:rPr lang="en-US" altLang="ko-KR" b="1" dirty="0"/>
              <a:t>(Modular)</a:t>
            </a:r>
            <a:r>
              <a:rPr lang="ko-KR" altLang="en-US" b="1" dirty="0"/>
              <a:t>의 형태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나머지를 구하는 연산자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327909" y="327511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ko-KR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960" y="2807251"/>
            <a:ext cx="7024028" cy="1067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0800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산술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나머지 연산자</a:t>
            </a:r>
            <a:endParaRPr lang="en-US" altLang="ko-KR" sz="2400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26903" y="1950887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4-2]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배수 판별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566975351"/>
              </p:ext>
            </p:extLst>
          </p:nvPr>
        </p:nvGraphicFramePr>
        <p:xfrm>
          <a:off x="916939" y="2314240"/>
          <a:ext cx="7416825" cy="288951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a;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숫자를 입력하세요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"2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의 배수면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1,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아니면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을 출력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&amp;a);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결과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a % 2 == 0);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3327909" y="327511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ko-KR" alt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2173EAA-0846-45E4-BA8A-C60A581CD3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768"/>
          <a:stretch/>
        </p:blipFill>
        <p:spPr bwMode="auto">
          <a:xfrm>
            <a:off x="5499409" y="4663146"/>
            <a:ext cx="2834355" cy="13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2095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산술 연산자</a:t>
            </a:r>
            <a:endParaRPr lang="ko-KR" altLang="en-US" dirty="0"/>
          </a:p>
        </p:txBody>
      </p:sp>
      <p:sp>
        <p:nvSpPr>
          <p:cNvPr id="7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4"/>
            </a:pPr>
            <a:r>
              <a:rPr lang="ko-KR" altLang="en-US" sz="2400" dirty="0"/>
              <a:t>증감 연산자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증감 연산자의 개념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1</a:t>
            </a:r>
            <a:r>
              <a:rPr lang="ko-KR" altLang="en-US" dirty="0"/>
              <a:t>을 증감하는 식을 축약할 수 있는 연산자</a:t>
            </a:r>
            <a:r>
              <a:rPr lang="en-US" altLang="ko-KR" dirty="0"/>
              <a:t>(++, --)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단항</a:t>
            </a:r>
            <a:r>
              <a:rPr lang="ko-KR" altLang="en-US" dirty="0"/>
              <a:t> 연산자로서 </a:t>
            </a:r>
            <a:r>
              <a:rPr lang="ko-KR" altLang="en-US" dirty="0" err="1"/>
              <a:t>피연산자의</a:t>
            </a:r>
            <a:r>
              <a:rPr lang="ko-KR" altLang="en-US" dirty="0"/>
              <a:t> 앞</a:t>
            </a:r>
            <a:r>
              <a:rPr lang="en-US" altLang="ko-KR" dirty="0"/>
              <a:t>(</a:t>
            </a:r>
            <a:r>
              <a:rPr lang="ko-KR" altLang="en-US" dirty="0" err="1"/>
              <a:t>전위형</a:t>
            </a:r>
            <a:r>
              <a:rPr lang="en-US" altLang="ko-KR" dirty="0"/>
              <a:t>)</a:t>
            </a:r>
            <a:r>
              <a:rPr lang="ko-KR" altLang="en-US" dirty="0"/>
              <a:t>이나</a:t>
            </a:r>
            <a:r>
              <a:rPr lang="en-US" altLang="ko-KR" dirty="0"/>
              <a:t> </a:t>
            </a:r>
            <a:r>
              <a:rPr lang="ko-KR" altLang="en-US" dirty="0"/>
              <a:t>뒤</a:t>
            </a:r>
            <a:r>
              <a:rPr lang="en-US" altLang="ko-KR" dirty="0"/>
              <a:t>(</a:t>
            </a:r>
            <a:r>
              <a:rPr lang="ko-KR" altLang="en-US" dirty="0" err="1"/>
              <a:t>후위형</a:t>
            </a:r>
            <a:r>
              <a:rPr lang="en-US" altLang="ko-KR" dirty="0"/>
              <a:t>)</a:t>
            </a:r>
            <a:r>
              <a:rPr lang="ko-KR" altLang="en-US" dirty="0"/>
              <a:t>에 올 수 있음</a:t>
            </a:r>
            <a:endParaRPr lang="en-US" altLang="ko-KR" dirty="0"/>
          </a:p>
        </p:txBody>
      </p:sp>
      <p:grpSp>
        <p:nvGrpSpPr>
          <p:cNvPr id="30" name="그룹 29"/>
          <p:cNvGrpSpPr/>
          <p:nvPr/>
        </p:nvGrpSpPr>
        <p:grpSpPr>
          <a:xfrm>
            <a:off x="4363538" y="8184280"/>
            <a:ext cx="3141443" cy="374527"/>
            <a:chOff x="3536843" y="3613744"/>
            <a:chExt cx="3141443" cy="374527"/>
          </a:xfrm>
        </p:grpSpPr>
        <p:sp>
          <p:nvSpPr>
            <p:cNvPr id="31" name="Google Shape;108;p7"/>
            <p:cNvSpPr txBox="1"/>
            <p:nvPr/>
          </p:nvSpPr>
          <p:spPr>
            <a:xfrm>
              <a:off x="5684807" y="3613744"/>
              <a:ext cx="993479" cy="374527"/>
            </a:xfrm>
            <a:prstGeom prst="rect">
              <a:avLst/>
            </a:prstGeom>
            <a:noFill/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최솟값 </a:t>
              </a:r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</a:t>
              </a:r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 flipH="1">
              <a:off x="3536843" y="3687070"/>
              <a:ext cx="2140778" cy="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그룹 43"/>
          <p:cNvGrpSpPr/>
          <p:nvPr/>
        </p:nvGrpSpPr>
        <p:grpSpPr>
          <a:xfrm>
            <a:off x="3217653" y="8662328"/>
            <a:ext cx="3579962" cy="747618"/>
            <a:chOff x="3217653" y="5313859"/>
            <a:chExt cx="3579962" cy="747618"/>
          </a:xfrm>
        </p:grpSpPr>
        <p:cxnSp>
          <p:nvCxnSpPr>
            <p:cNvPr id="38" name="직선 화살표 연결선 37"/>
            <p:cNvCxnSpPr/>
            <p:nvPr/>
          </p:nvCxnSpPr>
          <p:spPr>
            <a:xfrm flipV="1">
              <a:off x="3217653" y="5313859"/>
              <a:ext cx="0" cy="465826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/>
            <p:nvPr/>
          </p:nvCxnSpPr>
          <p:spPr>
            <a:xfrm>
              <a:off x="3217653" y="5779685"/>
              <a:ext cx="500332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Google Shape;108;p7"/>
            <p:cNvSpPr txBox="1"/>
            <p:nvPr/>
          </p:nvSpPr>
          <p:spPr>
            <a:xfrm>
              <a:off x="3717985" y="5686950"/>
              <a:ext cx="3079630" cy="374527"/>
            </a:xfrm>
            <a:prstGeom prst="rect">
              <a:avLst/>
            </a:prstGeom>
            <a:noFill/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lvl="0" algn="just"/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부호 없는 정수형을 출력하는 </a:t>
              </a:r>
              <a:r>
                <a:rPr lang="ko-KR" alt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형식지정자</a:t>
              </a:r>
              <a:endPara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endParaRPr>
            </a:p>
          </p:txBody>
        </p:sp>
      </p:grp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169" y="2675655"/>
            <a:ext cx="7008241" cy="1335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169" y="4508840"/>
            <a:ext cx="7008241" cy="82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3569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산술 연산자</a:t>
            </a:r>
            <a:endParaRPr lang="ko-KR" altLang="en-US" dirty="0"/>
          </a:p>
        </p:txBody>
      </p:sp>
      <p:sp>
        <p:nvSpPr>
          <p:cNvPr id="7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4"/>
            </a:pPr>
            <a:r>
              <a:rPr lang="ko-KR" altLang="en-US" sz="2400" dirty="0"/>
              <a:t>증감 연산자</a:t>
            </a:r>
            <a:endParaRPr lang="en-US" altLang="ko-KR" sz="2400" dirty="0"/>
          </a:p>
        </p:txBody>
      </p:sp>
      <p:grpSp>
        <p:nvGrpSpPr>
          <p:cNvPr id="30" name="그룹 29"/>
          <p:cNvGrpSpPr/>
          <p:nvPr/>
        </p:nvGrpSpPr>
        <p:grpSpPr>
          <a:xfrm>
            <a:off x="4363538" y="8184280"/>
            <a:ext cx="3141443" cy="374527"/>
            <a:chOff x="3536843" y="3613744"/>
            <a:chExt cx="3141443" cy="374527"/>
          </a:xfrm>
        </p:grpSpPr>
        <p:sp>
          <p:nvSpPr>
            <p:cNvPr id="31" name="Google Shape;108;p7"/>
            <p:cNvSpPr txBox="1"/>
            <p:nvPr/>
          </p:nvSpPr>
          <p:spPr>
            <a:xfrm>
              <a:off x="5684807" y="3613744"/>
              <a:ext cx="993479" cy="374527"/>
            </a:xfrm>
            <a:prstGeom prst="rect">
              <a:avLst/>
            </a:prstGeom>
            <a:noFill/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최솟값 </a:t>
              </a:r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</a:t>
              </a:r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 flipH="1">
              <a:off x="3536843" y="3687070"/>
              <a:ext cx="2140778" cy="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그룹 43"/>
          <p:cNvGrpSpPr/>
          <p:nvPr/>
        </p:nvGrpSpPr>
        <p:grpSpPr>
          <a:xfrm>
            <a:off x="3217653" y="8662328"/>
            <a:ext cx="3579962" cy="747618"/>
            <a:chOff x="3217653" y="5313859"/>
            <a:chExt cx="3579962" cy="747618"/>
          </a:xfrm>
        </p:grpSpPr>
        <p:cxnSp>
          <p:nvCxnSpPr>
            <p:cNvPr id="38" name="직선 화살표 연결선 37"/>
            <p:cNvCxnSpPr/>
            <p:nvPr/>
          </p:nvCxnSpPr>
          <p:spPr>
            <a:xfrm flipV="1">
              <a:off x="3217653" y="5313859"/>
              <a:ext cx="0" cy="465826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/>
            <p:nvPr/>
          </p:nvCxnSpPr>
          <p:spPr>
            <a:xfrm>
              <a:off x="3217653" y="5779685"/>
              <a:ext cx="500332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Google Shape;108;p7"/>
            <p:cNvSpPr txBox="1"/>
            <p:nvPr/>
          </p:nvSpPr>
          <p:spPr>
            <a:xfrm>
              <a:off x="3717985" y="5686950"/>
              <a:ext cx="3079630" cy="374527"/>
            </a:xfrm>
            <a:prstGeom prst="rect">
              <a:avLst/>
            </a:prstGeom>
            <a:noFill/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lvl="0" algn="just"/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부호 없는 정수형을 출력하는 </a:t>
              </a:r>
              <a:r>
                <a:rPr lang="ko-KR" alt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형식지정자</a:t>
              </a:r>
              <a:endPara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endParaRPr>
            </a:p>
          </p:txBody>
        </p:sp>
      </p:grpSp>
      <p:sp>
        <p:nvSpPr>
          <p:cNvPr id="13" name="Google Shape;102;p7"/>
          <p:cNvSpPr txBox="1"/>
          <p:nvPr/>
        </p:nvSpPr>
        <p:spPr>
          <a:xfrm>
            <a:off x="826903" y="1835388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4-3] </a:t>
            </a:r>
            <a:r>
              <a:rPr lang="ko-KR" alt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전위형과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후위형의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차이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dirty="0"/>
          </a:p>
        </p:txBody>
      </p:sp>
      <p:graphicFrame>
        <p:nvGraphicFramePr>
          <p:cNvPr id="14" name="Google Shape;104;p7"/>
          <p:cNvGraphicFramePr/>
          <p:nvPr>
            <p:extLst>
              <p:ext uri="{D42A27DB-BD31-4B8C-83A1-F6EECF244321}">
                <p14:modId xmlns:p14="http://schemas.microsoft.com/office/powerpoint/2010/main" val="3736343589"/>
              </p:ext>
            </p:extLst>
          </p:nvPr>
        </p:nvGraphicFramePr>
        <p:xfrm>
          <a:off x="916939" y="2198741"/>
          <a:ext cx="7416825" cy="314554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a;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a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"++a: %d,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",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++a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a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"a++: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a++);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그룹 5"/>
          <p:cNvGrpSpPr/>
          <p:nvPr/>
        </p:nvGrpSpPr>
        <p:grpSpPr>
          <a:xfrm>
            <a:off x="4638675" y="4025209"/>
            <a:ext cx="1419225" cy="266700"/>
            <a:chOff x="4581525" y="4724400"/>
            <a:chExt cx="1419225" cy="266700"/>
          </a:xfrm>
        </p:grpSpPr>
        <p:sp>
          <p:nvSpPr>
            <p:cNvPr id="3" name="직사각형 2"/>
            <p:cNvSpPr/>
            <p:nvPr/>
          </p:nvSpPr>
          <p:spPr>
            <a:xfrm>
              <a:off x="5048250" y="4724400"/>
              <a:ext cx="952500" cy="2667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rgbClr val="FF0000"/>
                  </a:solidFill>
                </a:rPr>
                <a:t>전위형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5" name="직선 화살표 연결선 4"/>
            <p:cNvCxnSpPr>
              <a:stCxn id="3" idx="1"/>
            </p:cNvCxnSpPr>
            <p:nvPr/>
          </p:nvCxnSpPr>
          <p:spPr>
            <a:xfrm flipH="1">
              <a:off x="4581525" y="4857750"/>
              <a:ext cx="466725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>
            <a:off x="4238625" y="4777684"/>
            <a:ext cx="1819275" cy="266700"/>
            <a:chOff x="4181475" y="4724400"/>
            <a:chExt cx="1819275" cy="266700"/>
          </a:xfrm>
        </p:grpSpPr>
        <p:sp>
          <p:nvSpPr>
            <p:cNvPr id="20" name="직사각형 19"/>
            <p:cNvSpPr/>
            <p:nvPr/>
          </p:nvSpPr>
          <p:spPr>
            <a:xfrm>
              <a:off x="5048250" y="4724400"/>
              <a:ext cx="952500" cy="2667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후위형</a:t>
              </a:r>
            </a:p>
          </p:txBody>
        </p:sp>
        <p:cxnSp>
          <p:nvCxnSpPr>
            <p:cNvPr id="21" name="직선 화살표 연결선 20"/>
            <p:cNvCxnSpPr>
              <a:stCxn id="20" idx="1"/>
            </p:cNvCxnSpPr>
            <p:nvPr/>
          </p:nvCxnSpPr>
          <p:spPr>
            <a:xfrm flipH="1">
              <a:off x="4181475" y="4857750"/>
              <a:ext cx="866775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641"/>
          <a:stretch/>
        </p:blipFill>
        <p:spPr bwMode="auto">
          <a:xfrm>
            <a:off x="6220147" y="2317777"/>
            <a:ext cx="2006914" cy="86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786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산술 연산자</a:t>
            </a:r>
            <a:endParaRPr lang="ko-KR" altLang="en-US" dirty="0"/>
          </a:p>
        </p:txBody>
      </p:sp>
      <p:sp>
        <p:nvSpPr>
          <p:cNvPr id="7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4"/>
            </a:pPr>
            <a:r>
              <a:rPr lang="ko-KR" altLang="en-US" sz="2400" dirty="0"/>
              <a:t>증감 연산자</a:t>
            </a:r>
            <a:endParaRPr lang="en-US" altLang="ko-KR" sz="2400" dirty="0"/>
          </a:p>
        </p:txBody>
      </p:sp>
      <p:grpSp>
        <p:nvGrpSpPr>
          <p:cNvPr id="30" name="그룹 29"/>
          <p:cNvGrpSpPr/>
          <p:nvPr/>
        </p:nvGrpSpPr>
        <p:grpSpPr>
          <a:xfrm>
            <a:off x="4363538" y="8184280"/>
            <a:ext cx="3141443" cy="374527"/>
            <a:chOff x="3536843" y="3613744"/>
            <a:chExt cx="3141443" cy="374527"/>
          </a:xfrm>
        </p:grpSpPr>
        <p:sp>
          <p:nvSpPr>
            <p:cNvPr id="31" name="Google Shape;108;p7"/>
            <p:cNvSpPr txBox="1"/>
            <p:nvPr/>
          </p:nvSpPr>
          <p:spPr>
            <a:xfrm>
              <a:off x="5684807" y="3613744"/>
              <a:ext cx="993479" cy="374527"/>
            </a:xfrm>
            <a:prstGeom prst="rect">
              <a:avLst/>
            </a:prstGeom>
            <a:noFill/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최솟값 </a:t>
              </a:r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</a:t>
              </a:r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 flipH="1">
              <a:off x="3536843" y="3687070"/>
              <a:ext cx="2140778" cy="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그룹 43"/>
          <p:cNvGrpSpPr/>
          <p:nvPr/>
        </p:nvGrpSpPr>
        <p:grpSpPr>
          <a:xfrm>
            <a:off x="3217653" y="8662328"/>
            <a:ext cx="3579962" cy="747618"/>
            <a:chOff x="3217653" y="5313859"/>
            <a:chExt cx="3579962" cy="747618"/>
          </a:xfrm>
        </p:grpSpPr>
        <p:cxnSp>
          <p:nvCxnSpPr>
            <p:cNvPr id="38" name="직선 화살표 연결선 37"/>
            <p:cNvCxnSpPr/>
            <p:nvPr/>
          </p:nvCxnSpPr>
          <p:spPr>
            <a:xfrm flipV="1">
              <a:off x="3217653" y="5313859"/>
              <a:ext cx="0" cy="465826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/>
            <p:nvPr/>
          </p:nvCxnSpPr>
          <p:spPr>
            <a:xfrm>
              <a:off x="3217653" y="5779685"/>
              <a:ext cx="500332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Google Shape;108;p7"/>
            <p:cNvSpPr txBox="1"/>
            <p:nvPr/>
          </p:nvSpPr>
          <p:spPr>
            <a:xfrm>
              <a:off x="3717985" y="5686950"/>
              <a:ext cx="3079630" cy="374527"/>
            </a:xfrm>
            <a:prstGeom prst="rect">
              <a:avLst/>
            </a:prstGeom>
            <a:noFill/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lvl="0" algn="just"/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부호 없는 정수형을 출력하는 </a:t>
              </a:r>
              <a:r>
                <a:rPr lang="ko-KR" alt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형식지정자</a:t>
              </a:r>
              <a:endPara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endParaRPr>
            </a:p>
          </p:txBody>
        </p:sp>
      </p:grpSp>
      <p:sp>
        <p:nvSpPr>
          <p:cNvPr id="13" name="Google Shape;102;p7"/>
          <p:cNvSpPr txBox="1"/>
          <p:nvPr/>
        </p:nvSpPr>
        <p:spPr>
          <a:xfrm>
            <a:off x="826903" y="1835388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4-3] </a:t>
            </a:r>
            <a:r>
              <a:rPr lang="ko-KR" alt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전위형과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후위형의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차이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dirty="0"/>
          </a:p>
        </p:txBody>
      </p:sp>
      <p:graphicFrame>
        <p:nvGraphicFramePr>
          <p:cNvPr id="14" name="Google Shape;104;p7"/>
          <p:cNvGraphicFramePr/>
          <p:nvPr>
            <p:extLst>
              <p:ext uri="{D42A27DB-BD31-4B8C-83A1-F6EECF244321}">
                <p14:modId xmlns:p14="http://schemas.microsoft.com/office/powerpoint/2010/main" val="2994676786"/>
              </p:ext>
            </p:extLst>
          </p:nvPr>
        </p:nvGraphicFramePr>
        <p:xfrm>
          <a:off x="916939" y="2198741"/>
          <a:ext cx="7416825" cy="365761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a, b;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a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b = ++a;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"a: %d, b: %d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",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a, b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a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b = a++;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"a: %d", b: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a, b);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그룹 5"/>
          <p:cNvGrpSpPr/>
          <p:nvPr/>
        </p:nvGrpSpPr>
        <p:grpSpPr>
          <a:xfrm>
            <a:off x="2709862" y="4044259"/>
            <a:ext cx="3462252" cy="266700"/>
            <a:chOff x="2538498" y="4724400"/>
            <a:chExt cx="3462252" cy="266700"/>
          </a:xfrm>
        </p:grpSpPr>
        <p:sp>
          <p:nvSpPr>
            <p:cNvPr id="3" name="직사각형 2"/>
            <p:cNvSpPr/>
            <p:nvPr/>
          </p:nvSpPr>
          <p:spPr>
            <a:xfrm>
              <a:off x="5048250" y="4724400"/>
              <a:ext cx="952500" cy="2667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rgbClr val="FF0000"/>
                  </a:solidFill>
                </a:rPr>
                <a:t>전위형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5" name="직선 화살표 연결선 4"/>
            <p:cNvCxnSpPr>
              <a:stCxn id="3" idx="1"/>
            </p:cNvCxnSpPr>
            <p:nvPr/>
          </p:nvCxnSpPr>
          <p:spPr>
            <a:xfrm flipH="1">
              <a:off x="2538498" y="4857750"/>
              <a:ext cx="250975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>
            <a:off x="2709862" y="5040518"/>
            <a:ext cx="3458663" cy="266700"/>
            <a:chOff x="2542087" y="4724400"/>
            <a:chExt cx="3458663" cy="266700"/>
          </a:xfrm>
        </p:grpSpPr>
        <p:sp>
          <p:nvSpPr>
            <p:cNvPr id="20" name="직사각형 19"/>
            <p:cNvSpPr/>
            <p:nvPr/>
          </p:nvSpPr>
          <p:spPr>
            <a:xfrm>
              <a:off x="5048250" y="4724400"/>
              <a:ext cx="952500" cy="2667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후위형</a:t>
              </a:r>
            </a:p>
          </p:txBody>
        </p:sp>
        <p:cxnSp>
          <p:nvCxnSpPr>
            <p:cNvPr id="21" name="직선 화살표 연결선 20"/>
            <p:cNvCxnSpPr>
              <a:stCxn id="20" idx="1"/>
            </p:cNvCxnSpPr>
            <p:nvPr/>
          </p:nvCxnSpPr>
          <p:spPr>
            <a:xfrm flipH="1">
              <a:off x="2542087" y="4857750"/>
              <a:ext cx="250616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">
            <a:extLst>
              <a:ext uri="{FF2B5EF4-FFF2-40B4-BE49-F238E27FC236}">
                <a16:creationId xmlns:a16="http://schemas.microsoft.com/office/drawing/2014/main" id="{546C5D88-5FA5-4FBF-A284-62A35E44AD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073"/>
          <a:stretch/>
        </p:blipFill>
        <p:spPr bwMode="auto">
          <a:xfrm>
            <a:off x="6363057" y="2244451"/>
            <a:ext cx="1914049" cy="93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9059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산술 연산자</a:t>
            </a:r>
            <a:endParaRPr lang="ko-KR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815" y="1268729"/>
            <a:ext cx="6685420" cy="459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2076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산술 연산자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379937"/>
            <a:ext cx="7924665" cy="4986358"/>
            <a:chOff x="683573" y="1844824"/>
            <a:chExt cx="7924665" cy="2057613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20576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5293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4-2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395971"/>
            <a:ext cx="6366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세 자리 자연수의 각 자리 수 구하기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89306" y="1767809"/>
            <a:ext cx="7781027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다음 실행 결과를 참고하여 세 자리 자연수를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입력받은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후 각 자리의 수를 출력하는 프로그램을 작성해봅시다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2868251"/>
            <a:ext cx="7495343" cy="1103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56" y="4240464"/>
            <a:ext cx="7373144" cy="1160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7341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산술 연산자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560417"/>
            <a:ext cx="7924665" cy="4729290"/>
            <a:chOff x="683573" y="1844824"/>
            <a:chExt cx="7924665" cy="139521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395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0427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4-2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575322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1577985811"/>
              </p:ext>
            </p:extLst>
          </p:nvPr>
        </p:nvGraphicFramePr>
        <p:xfrm>
          <a:off x="871407" y="2046766"/>
          <a:ext cx="7416825" cy="4169674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3495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pt-BR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a, r1, r2, r3;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altLang="ko-KR" baseline="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printf(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세 자리 자연수를 입력하세요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  scanf(</a:t>
                      </a:r>
                      <a:r>
                        <a:rPr lang="pt-BR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, &amp;a);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  r1 = a / 100;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  r2 = (a % 100) / 10;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  r3 = (a % 10);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   printf(</a:t>
                      </a:r>
                      <a:r>
                        <a:rPr lang="pt-BR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"%d, %d, %d"</a:t>
                      </a: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, r1, r2, r3);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888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비교 연산자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02625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비교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비교 연산자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비교 연산자의 개념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왼쪽 피연산자가 오른쪽 피연산자와 비교하여</a:t>
            </a:r>
            <a:r>
              <a:rPr lang="en-US" altLang="ko-KR" dirty="0"/>
              <a:t> [</a:t>
            </a:r>
            <a:r>
              <a:rPr lang="ko-KR" altLang="en-US" dirty="0"/>
              <a:t>같다</a:t>
            </a:r>
            <a:r>
              <a:rPr lang="en-US" altLang="ko-KR" dirty="0"/>
              <a:t>, </a:t>
            </a:r>
            <a:r>
              <a:rPr lang="ko-KR" altLang="en-US" dirty="0"/>
              <a:t>같지 않다</a:t>
            </a:r>
            <a:r>
              <a:rPr lang="en-US" altLang="ko-KR" dirty="0"/>
              <a:t>, </a:t>
            </a:r>
            <a:r>
              <a:rPr lang="ko-KR" altLang="en-US" dirty="0"/>
              <a:t>크다</a:t>
            </a:r>
            <a:r>
              <a:rPr lang="en-US" altLang="ko-KR" dirty="0"/>
              <a:t>, </a:t>
            </a:r>
            <a:r>
              <a:rPr lang="ko-KR" altLang="en-US" dirty="0"/>
              <a:t>작다</a:t>
            </a:r>
            <a:r>
              <a:rPr lang="en-US" altLang="ko-KR" dirty="0"/>
              <a:t>, </a:t>
            </a:r>
            <a:r>
              <a:rPr lang="ko-KR" altLang="en-US" dirty="0"/>
              <a:t>크거나 같다</a:t>
            </a:r>
            <a:r>
              <a:rPr lang="en-US" altLang="ko-KR" dirty="0"/>
              <a:t>,</a:t>
            </a:r>
            <a:r>
              <a:rPr lang="ko-KR" altLang="en-US" dirty="0"/>
              <a:t> 작거나 같다</a:t>
            </a:r>
            <a:r>
              <a:rPr lang="en-US" altLang="ko-KR" dirty="0"/>
              <a:t>]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평가하는 데 사용함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비교 연산자의 형식</a:t>
            </a:r>
            <a:endParaRPr lang="ko-KR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216" y="4108598"/>
            <a:ext cx="6589568" cy="96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0013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비교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비교 연산의 결과</a:t>
            </a:r>
            <a:endParaRPr lang="en-US" altLang="ko-KR"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dirty="0"/>
              <a:t>비교 연산자의 계산 결과는</a:t>
            </a:r>
            <a:r>
              <a:rPr lang="en-US" altLang="ko-KR" dirty="0"/>
              <a:t> 1(</a:t>
            </a:r>
            <a:r>
              <a:rPr lang="ko-KR" altLang="en-US" dirty="0"/>
              <a:t>참</a:t>
            </a:r>
            <a:r>
              <a:rPr lang="en-US" altLang="ko-KR" dirty="0"/>
              <a:t>), 0(</a:t>
            </a:r>
            <a:r>
              <a:rPr lang="ko-KR" altLang="en-US" dirty="0"/>
              <a:t>거짓</a:t>
            </a:r>
            <a:r>
              <a:rPr lang="en-US" altLang="ko-KR" dirty="0"/>
              <a:t>)</a:t>
            </a:r>
            <a:r>
              <a:rPr lang="ko-KR" altLang="en-US" dirty="0"/>
              <a:t>으로 나타냄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endParaRPr sz="2000" dirty="0"/>
          </a:p>
        </p:txBody>
      </p:sp>
      <p:pic>
        <p:nvPicPr>
          <p:cNvPr id="20482" name="Picture 2" descr="C:\Users\변소현\Desktop\난생처음 C 언어 프로그래밍\그림\Ch4\표 4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364" y="2621419"/>
            <a:ext cx="6927273" cy="2563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4268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비교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비교 연산의 결과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807853" y="1897491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4-5] </a:t>
            </a:r>
            <a:r>
              <a:rPr lang="ko-KR" alt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조건식의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값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203382853"/>
              </p:ext>
            </p:extLst>
          </p:nvPr>
        </p:nvGraphicFramePr>
        <p:xfrm>
          <a:off x="897889" y="2260844"/>
          <a:ext cx="7416825" cy="340157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c1 = (1 == 1);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참</a:t>
                      </a:r>
                      <a:endParaRPr lang="en-US" altLang="ko-KR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c2 = (1 != 1);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거짓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c3 = (2 &gt; 1);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참</a:t>
                      </a: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c4 = (2 &lt; 1);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거짓</a:t>
                      </a: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c5 = (2 &gt;= 1);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참</a:t>
                      </a: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c6 = (2 &lt;= 1);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거짓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 %d %d %d %d %d"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c1, c2, c3, c4, c5, c6);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60"/>
          <a:stretch/>
        </p:blipFill>
        <p:spPr bwMode="auto">
          <a:xfrm>
            <a:off x="6613278" y="2322957"/>
            <a:ext cx="1632833" cy="57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1313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비교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비교 연산의 결과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807853" y="1897491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4-6]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 연산자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705784324"/>
              </p:ext>
            </p:extLst>
          </p:nvPr>
        </p:nvGraphicFramePr>
        <p:xfrm>
          <a:off x="897889" y="2260844"/>
          <a:ext cx="7416825" cy="288951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age;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나이를 입력하세요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미성년자면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0, 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성인이면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을 출력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&amp;age);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결과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age &gt;= 20);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96"/>
          <a:stretch/>
        </p:blipFill>
        <p:spPr bwMode="auto">
          <a:xfrm>
            <a:off x="5398825" y="4505630"/>
            <a:ext cx="2915889" cy="135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6927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비교 연산자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77" y="1744615"/>
            <a:ext cx="7208694" cy="995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4056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비교 연산자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50A2B4-EBDE-4A67-80FF-9232072DFC4A}"/>
              </a:ext>
            </a:extLst>
          </p:cNvPr>
          <p:cNvGrpSpPr/>
          <p:nvPr/>
        </p:nvGrpSpPr>
        <p:grpSpPr>
          <a:xfrm>
            <a:off x="615155" y="1846282"/>
            <a:ext cx="7924665" cy="3064047"/>
            <a:chOff x="615155" y="1379938"/>
            <a:chExt cx="7924665" cy="3064047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8"/>
              <a:ext cx="7924665" cy="3064047"/>
              <a:chOff x="683573" y="1844824"/>
              <a:chExt cx="7924665" cy="126437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2643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4-3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latin typeface="+mj-ea"/>
                  <a:ea typeface="+mj-ea"/>
                </a:rPr>
                <a:t>3</a:t>
              </a:r>
              <a:r>
                <a:rPr lang="ko-KR" altLang="en-US" sz="1600" b="1" dirty="0">
                  <a:latin typeface="+mj-ea"/>
                  <a:ea typeface="+mj-ea"/>
                </a:rPr>
                <a:t>의 배수 판별하기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89306" y="1767809"/>
              <a:ext cx="7781027" cy="7402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15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다음 출력처럼 </a:t>
              </a:r>
              <a:r>
                <a:rPr lang="ko-KR" altLang="en-US" sz="15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입력받은</a:t>
              </a:r>
              <a:r>
                <a:rPr lang="ko-KR" altLang="en-US" sz="15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수가 </a:t>
              </a:r>
              <a:r>
                <a:rPr lang="en-US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sz="15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배수인 경우 </a:t>
              </a:r>
              <a:r>
                <a:rPr lang="en-US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1, </a:t>
              </a:r>
              <a:r>
                <a:rPr lang="ko-KR" altLang="en-US" sz="15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아닌 경우 </a:t>
              </a:r>
              <a:r>
                <a:rPr lang="en-US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r>
                <a:rPr lang="ko-KR" altLang="en-US" sz="15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출력하는 프로그램을 작성해봅시다</a:t>
              </a:r>
              <a:r>
                <a:rPr lang="en-US" altLang="ko-KR" sz="15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457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1101" y="2656440"/>
              <a:ext cx="6772092" cy="978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7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3819" y="3789681"/>
              <a:ext cx="4572000" cy="258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279272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비교 연산자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832465"/>
            <a:ext cx="7924665" cy="3288320"/>
            <a:chOff x="683573" y="1844824"/>
            <a:chExt cx="7924665" cy="139521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395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4"/>
              <a:ext cx="1511728" cy="149970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4-3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847370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2585121217"/>
              </p:ext>
            </p:extLst>
          </p:nvPr>
        </p:nvGraphicFramePr>
        <p:xfrm>
          <a:off x="871407" y="2318814"/>
          <a:ext cx="7416825" cy="263348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n;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정수를 입력하세요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scanf(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 &amp;n);</a:t>
                      </a:r>
                      <a:endParaRPr lang="pt-BR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printf(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%d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n % 3 == 0);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3855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논리 연산자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1583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논리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논리 연산자의 개념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dirty="0" err="1"/>
              <a:t>피연산자에</a:t>
            </a:r>
            <a:r>
              <a:rPr lang="ko-KR" altLang="en-US" dirty="0"/>
              <a:t> 적용되어 연산 결과가 </a:t>
            </a:r>
            <a:r>
              <a:rPr lang="en-US" altLang="ko-KR" dirty="0"/>
              <a:t>1(</a:t>
            </a:r>
            <a:r>
              <a:rPr lang="ko-KR" altLang="en-US" dirty="0"/>
              <a:t>참</a:t>
            </a:r>
            <a:r>
              <a:rPr lang="en-US" altLang="ko-KR" dirty="0"/>
              <a:t>) </a:t>
            </a:r>
            <a:r>
              <a:rPr lang="ko-KR" altLang="en-US" dirty="0"/>
              <a:t>또는 </a:t>
            </a:r>
            <a:r>
              <a:rPr lang="en-US" altLang="ko-KR" dirty="0"/>
              <a:t>0(</a:t>
            </a:r>
            <a:r>
              <a:rPr lang="ko-KR" altLang="en-US" dirty="0"/>
              <a:t>거짓</a:t>
            </a:r>
            <a:r>
              <a:rPr lang="en-US" altLang="ko-KR" dirty="0"/>
              <a:t>)</a:t>
            </a:r>
            <a:r>
              <a:rPr lang="ko-KR" altLang="en-US" dirty="0"/>
              <a:t>이 되는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논리 부정</a:t>
            </a:r>
            <a:r>
              <a:rPr lang="en-US" altLang="ko-KR" dirty="0"/>
              <a:t>(!), </a:t>
            </a:r>
            <a:r>
              <a:rPr lang="ko-KR" altLang="en-US" dirty="0"/>
              <a:t>논리곱</a:t>
            </a:r>
            <a:r>
              <a:rPr lang="en-US" altLang="ko-KR" dirty="0"/>
              <a:t>(&amp;&amp;), </a:t>
            </a:r>
            <a:r>
              <a:rPr lang="ko-KR" altLang="en-US" dirty="0"/>
              <a:t>논리합</a:t>
            </a:r>
            <a:r>
              <a:rPr lang="en-US" altLang="ko-KR" dirty="0"/>
              <a:t>(||)</a:t>
            </a:r>
            <a:r>
              <a:rPr lang="ko-KR" altLang="en-US" dirty="0"/>
              <a:t>이 있음</a:t>
            </a:r>
            <a:endParaRPr lang="en-US" altLang="ko-KR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endParaRPr lang="en-US" altLang="ko-KR" sz="800" dirty="0"/>
          </a:p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논리 부정 연산자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논리 부정 연산자의 형태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논리 부정 연산의 결과</a:t>
            </a:r>
            <a:endParaRPr b="1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356" y="3985408"/>
            <a:ext cx="6415375" cy="72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 descr="C:\Users\변소현\Desktop\난생처음 C 언어 프로그래밍\그림\Ch4\표 4-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808" y="4806095"/>
            <a:ext cx="2899727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6636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논리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논리 부정 연산자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논리 부정 연산자의 주의할 점</a:t>
            </a:r>
            <a:endParaRPr lang="ko-KR" altLang="en-US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/>
            </a:pPr>
            <a:r>
              <a:rPr lang="ko-KR" altLang="en-US" dirty="0"/>
              <a:t>이중 부정의 결과값 </a:t>
            </a:r>
            <a:r>
              <a:rPr lang="en-US" altLang="ko-KR" dirty="0"/>
              <a:t>: a</a:t>
            </a:r>
            <a:r>
              <a:rPr lang="ko-KR" altLang="en-US" dirty="0"/>
              <a:t>와 </a:t>
            </a:r>
            <a:r>
              <a:rPr lang="en-US" altLang="ko-KR" dirty="0"/>
              <a:t>!!a</a:t>
            </a:r>
            <a:r>
              <a:rPr lang="ko-KR" altLang="en-US" dirty="0"/>
              <a:t>는 동치가 아님</a:t>
            </a:r>
            <a:endParaRPr b="1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807853" y="2882833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4-7]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이중 부정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4045854630"/>
              </p:ext>
            </p:extLst>
          </p:nvPr>
        </p:nvGraphicFramePr>
        <p:xfrm>
          <a:off x="897889" y="3246186"/>
          <a:ext cx="7416825" cy="186538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a = 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"a:%d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!!a:%d"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a, !!a);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66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987"/>
          <a:stretch/>
        </p:blipFill>
        <p:spPr bwMode="auto">
          <a:xfrm>
            <a:off x="6578265" y="3381336"/>
            <a:ext cx="1667846" cy="79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54094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논리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논리 부정 연산자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논리 부정 연산자의 주의할 점</a:t>
            </a:r>
            <a:endParaRPr lang="ko-KR" altLang="en-US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 startAt="2"/>
            </a:pPr>
            <a:r>
              <a:rPr lang="ko-KR" altLang="en-US" dirty="0"/>
              <a:t>논리 부정 연산자의 </a:t>
            </a:r>
            <a:r>
              <a:rPr lang="ko-KR" altLang="en-US" dirty="0" err="1"/>
              <a:t>피연산자는</a:t>
            </a:r>
            <a:r>
              <a:rPr lang="ko-KR" altLang="en-US" dirty="0"/>
              <a:t> 정수형이어야 함</a:t>
            </a:r>
            <a:endParaRPr lang="en-US" altLang="ko-KR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 startAt="2"/>
            </a:pPr>
            <a:r>
              <a:rPr lang="ko-KR" altLang="en-US" dirty="0" err="1"/>
              <a:t>전위형만</a:t>
            </a:r>
            <a:r>
              <a:rPr lang="ko-KR" altLang="en-US" dirty="0"/>
              <a:t> 존재함</a:t>
            </a:r>
            <a:endParaRPr lang="en-US" altLang="ko-KR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 startAt="2"/>
            </a:pPr>
            <a:r>
              <a:rPr lang="ko-KR" altLang="en-US" dirty="0" err="1"/>
              <a:t>피연산자에</a:t>
            </a:r>
            <a:r>
              <a:rPr lang="ko-KR" altLang="en-US" dirty="0"/>
              <a:t> 영향을 끼치지 않음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995883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논리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2866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논리곱 연산자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>
                <a:latin typeface="Consolas" panose="020B0609020204030204" pitchFamily="49" charset="0"/>
              </a:rPr>
              <a:t>논리곱 연산자의 형태</a:t>
            </a:r>
            <a:endParaRPr lang="en-US" altLang="ko-KR" b="1" dirty="0">
              <a:latin typeface="Consolas" panose="020B0609020204030204" pitchFamily="49" charset="0"/>
            </a:endParaRPr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endParaRPr lang="en-US" b="1" dirty="0">
              <a:latin typeface="Consolas" panose="020B0609020204030204" pitchFamily="49" charset="0"/>
            </a:endParaRPr>
          </a:p>
          <a:p>
            <a:pPr marL="447675" lvl="2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None/>
            </a:pPr>
            <a:endParaRPr lang="en-US" altLang="ko-KR" b="1" dirty="0">
              <a:latin typeface="Consolas" panose="020B0609020204030204" pitchFamily="49" charset="0"/>
            </a:endParaRPr>
          </a:p>
          <a:p>
            <a:pPr marL="447675" lvl="2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None/>
            </a:pPr>
            <a:endParaRPr lang="en-US" altLang="ko-KR" sz="1050" b="1" dirty="0">
              <a:latin typeface="Consolas" panose="020B0609020204030204" pitchFamily="49" charset="0"/>
            </a:endParaRP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>
                <a:latin typeface="Consolas" panose="020B0609020204030204" pitchFamily="49" charset="0"/>
              </a:rPr>
              <a:t>논리곱 연산의 결과</a:t>
            </a:r>
            <a:endParaRPr lang="en-US" altLang="ko-KR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2323842"/>
            <a:ext cx="7543800" cy="82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 descr="C:\Users\변소현\Desktop\난생처음 C 언어 프로그래밍\그림\Ch4\표 4-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225" y="3386066"/>
            <a:ext cx="4523527" cy="178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346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논리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2866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논리곱 연산자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>
                <a:latin typeface="Consolas" panose="020B0609020204030204" pitchFamily="49" charset="0"/>
              </a:rPr>
              <a:t>논리곱 연산자의 특징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b="1" dirty="0"/>
              <a:t>&amp;&amp; Short-Circuit </a:t>
            </a:r>
            <a:r>
              <a:rPr lang="en-US" altLang="ko-KR" dirty="0"/>
              <a:t>: </a:t>
            </a:r>
            <a:r>
              <a:rPr lang="ko-KR" altLang="en-US" dirty="0"/>
              <a:t>논리식 </a:t>
            </a:r>
            <a:r>
              <a:rPr lang="en-US" altLang="ko-KR" dirty="0"/>
              <a:t>[ a &amp;&amp; b ]</a:t>
            </a:r>
            <a:r>
              <a:rPr lang="ko-KR" altLang="en-US" dirty="0"/>
              <a:t>는 </a:t>
            </a:r>
            <a:r>
              <a:rPr lang="en-US" altLang="ko-KR" dirty="0"/>
              <a:t>a</a:t>
            </a:r>
            <a:r>
              <a:rPr lang="ko-KR" altLang="en-US" dirty="0"/>
              <a:t>가 만일 </a:t>
            </a:r>
            <a:r>
              <a:rPr lang="en-US" altLang="ko-KR" dirty="0"/>
              <a:t>0</a:t>
            </a:r>
            <a:r>
              <a:rPr lang="ko-KR" altLang="en-US" dirty="0"/>
              <a:t>이라면 </a:t>
            </a:r>
            <a:r>
              <a:rPr lang="en-US" altLang="ko-KR" dirty="0"/>
              <a:t>b</a:t>
            </a:r>
            <a:r>
              <a:rPr lang="ko-KR" altLang="en-US" dirty="0"/>
              <a:t>의 값에 상관없이 항상 </a:t>
            </a:r>
            <a:r>
              <a:rPr lang="en-US" altLang="ko-KR" dirty="0"/>
              <a:t>0</a:t>
            </a:r>
            <a:r>
              <a:rPr lang="ko-KR" altLang="en-US" dirty="0"/>
              <a:t>으로 계산됨</a:t>
            </a:r>
            <a:endParaRPr lang="en-US" altLang="ko-KR" b="1" dirty="0">
              <a:latin typeface="Consolas" panose="020B0609020204030204" pitchFamily="49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CC773CD-92AE-407C-918B-C46E10A2F083}"/>
              </a:ext>
            </a:extLst>
          </p:cNvPr>
          <p:cNvGrpSpPr/>
          <p:nvPr/>
        </p:nvGrpSpPr>
        <p:grpSpPr>
          <a:xfrm>
            <a:off x="912628" y="3199767"/>
            <a:ext cx="7506861" cy="2228739"/>
            <a:chOff x="912628" y="2934591"/>
            <a:chExt cx="7506861" cy="2228739"/>
          </a:xfrm>
        </p:grpSpPr>
        <p:sp>
          <p:nvSpPr>
            <p:cNvPr id="6" name="Google Shape;102;p7"/>
            <p:cNvSpPr txBox="1"/>
            <p:nvPr/>
          </p:nvSpPr>
          <p:spPr>
            <a:xfrm>
              <a:off x="912628" y="2934591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4-8] 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AND Short-Circuit</a:t>
              </a:r>
              <a:endParaRPr dirty="0"/>
            </a:p>
          </p:txBody>
        </p:sp>
        <p:graphicFrame>
          <p:nvGraphicFramePr>
            <p:cNvPr id="7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834702980"/>
                </p:ext>
              </p:extLst>
            </p:nvPr>
          </p:nvGraphicFramePr>
          <p:xfrm>
            <a:off x="1002664" y="3297944"/>
            <a:ext cx="7416825" cy="1865386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0 &amp;&amp; </a:t>
                        </a:r>
                        <a:r>
                          <a:rPr lang="en-US" altLang="ko-KR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"0"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1 &amp;&amp; 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"1"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);</a:t>
                        </a:r>
                        <a:endPara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28674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041"/>
            <a:stretch/>
          </p:blipFill>
          <p:spPr bwMode="auto">
            <a:xfrm>
              <a:off x="6855998" y="3372582"/>
              <a:ext cx="1526915" cy="531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348067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논리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2866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4"/>
            </a:pPr>
            <a:r>
              <a:rPr lang="ko-KR" altLang="en-US" sz="2400" dirty="0"/>
              <a:t>논리합 연산자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>
                <a:latin typeface="Consolas" panose="020B0609020204030204" pitchFamily="49" charset="0"/>
              </a:rPr>
              <a:t>논리합 연산자의 형태</a:t>
            </a:r>
            <a:endParaRPr lang="en-US" altLang="ko-KR" b="1" dirty="0">
              <a:latin typeface="Consolas" panose="020B0609020204030204" pitchFamily="49" charset="0"/>
            </a:endParaRPr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endParaRPr lang="en-US" b="1" dirty="0">
              <a:latin typeface="Consolas" panose="020B0609020204030204" pitchFamily="49" charset="0"/>
            </a:endParaRPr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endParaRPr lang="en-US" b="1" dirty="0">
              <a:latin typeface="Consolas" panose="020B0609020204030204" pitchFamily="49" charset="0"/>
            </a:endParaRPr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endParaRPr lang="en-US" altLang="ko-KR" sz="1050" b="1" dirty="0">
              <a:latin typeface="Consolas" panose="020B0609020204030204" pitchFamily="49" charset="0"/>
            </a:endParaRPr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>
                <a:latin typeface="Consolas" panose="020B0609020204030204" pitchFamily="49" charset="0"/>
              </a:rPr>
              <a:t>논리합 연산의 결과</a:t>
            </a:r>
            <a:endParaRPr lang="en-US" altLang="ko-KR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374" y="2307318"/>
            <a:ext cx="7702753" cy="871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Picture 3" descr="C:\Users\변소현\Desktop\난생처음 C 언어 프로그래밍\그림\Ch4\표 4-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560" y="3362885"/>
            <a:ext cx="4564785" cy="1786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2916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논리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2866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논리합 연산자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>
                <a:latin typeface="Consolas" panose="020B0609020204030204" pitchFamily="49" charset="0"/>
              </a:rPr>
              <a:t>논리합 연산자의 특징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b="1" dirty="0"/>
              <a:t>|| Short-Circuit </a:t>
            </a:r>
            <a:r>
              <a:rPr lang="en-US" altLang="ko-KR" dirty="0"/>
              <a:t>: </a:t>
            </a:r>
            <a:r>
              <a:rPr lang="ko-KR" altLang="en-US" dirty="0"/>
              <a:t>논리식 </a:t>
            </a:r>
            <a:r>
              <a:rPr lang="en-US" altLang="ko-KR" dirty="0"/>
              <a:t>[ a || b ]</a:t>
            </a:r>
            <a:r>
              <a:rPr lang="ko-KR" altLang="en-US" dirty="0"/>
              <a:t>는 </a:t>
            </a:r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이 아니면 </a:t>
            </a:r>
            <a:r>
              <a:rPr lang="en-US" altLang="ko-KR" dirty="0"/>
              <a:t>b</a:t>
            </a:r>
            <a:r>
              <a:rPr lang="ko-KR" altLang="en-US" dirty="0"/>
              <a:t>의 값에 상관없이 항상 </a:t>
            </a:r>
            <a:r>
              <a:rPr lang="en-US" altLang="ko-KR" dirty="0"/>
              <a:t>1</a:t>
            </a:r>
            <a:r>
              <a:rPr lang="ko-KR" altLang="en-US" dirty="0"/>
              <a:t>이 되기 때문에 </a:t>
            </a:r>
            <a:r>
              <a:rPr lang="en-US" altLang="ko-KR" dirty="0"/>
              <a:t>b</a:t>
            </a:r>
            <a:r>
              <a:rPr lang="ko-KR" altLang="en-US" dirty="0"/>
              <a:t>의 값을 구하지 않음</a:t>
            </a:r>
            <a:endParaRPr lang="en-US" altLang="ko-KR" b="1" dirty="0">
              <a:latin typeface="Consolas" panose="020B0609020204030204" pitchFamily="49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214639D-DF72-4812-A584-26B54A84CBB4}"/>
              </a:ext>
            </a:extLst>
          </p:cNvPr>
          <p:cNvGrpSpPr/>
          <p:nvPr/>
        </p:nvGrpSpPr>
        <p:grpSpPr>
          <a:xfrm>
            <a:off x="912628" y="3227199"/>
            <a:ext cx="7506861" cy="2228739"/>
            <a:chOff x="912628" y="2934591"/>
            <a:chExt cx="7506861" cy="2228739"/>
          </a:xfrm>
        </p:grpSpPr>
        <p:sp>
          <p:nvSpPr>
            <p:cNvPr id="6" name="Google Shape;102;p7"/>
            <p:cNvSpPr txBox="1"/>
            <p:nvPr/>
          </p:nvSpPr>
          <p:spPr>
            <a:xfrm>
              <a:off x="912628" y="2934591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4-9] 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OR Short-Circuit</a:t>
              </a:r>
              <a:endParaRPr dirty="0"/>
            </a:p>
          </p:txBody>
        </p:sp>
        <p:graphicFrame>
          <p:nvGraphicFramePr>
            <p:cNvPr id="7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544558836"/>
                </p:ext>
              </p:extLst>
            </p:nvPr>
          </p:nvGraphicFramePr>
          <p:xfrm>
            <a:off x="1002664" y="3297944"/>
            <a:ext cx="7416825" cy="1865386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0 || </a:t>
                        </a:r>
                        <a:r>
                          <a:rPr lang="en-US" altLang="ko-KR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"0"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1 || 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"1"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);</a:t>
                        </a:r>
                        <a:endPara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30722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3281"/>
            <a:stretch/>
          </p:blipFill>
          <p:spPr bwMode="auto">
            <a:xfrm>
              <a:off x="7064405" y="3312092"/>
              <a:ext cx="1291076" cy="592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00361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논리 연산자</a:t>
            </a:r>
            <a:endParaRPr lang="ko-KR" alt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25" y="2210687"/>
            <a:ext cx="7710200" cy="2851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15174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논리 연산자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379937"/>
            <a:ext cx="7924665" cy="3727507"/>
            <a:chOff x="683573" y="1844824"/>
            <a:chExt cx="7924665" cy="1538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5381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5293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4-4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395971"/>
            <a:ext cx="6366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j-ea"/>
                <a:ea typeface="+mj-ea"/>
              </a:rPr>
              <a:t>0</a:t>
            </a:r>
            <a:r>
              <a:rPr lang="ko-KR" altLang="en-US" sz="1600" b="1" dirty="0">
                <a:latin typeface="+mj-ea"/>
                <a:ea typeface="+mj-ea"/>
              </a:rPr>
              <a:t> 판별하기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89306" y="1767809"/>
            <a:ext cx="7781027" cy="740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다음 출력처럼 </a:t>
            </a:r>
            <a:r>
              <a:rPr lang="ko-KR" altLang="en-US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입력받는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수를 평가하여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인지 아닌지를 판별하는 프로그램을 작성해봅시다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562" y="2882909"/>
            <a:ext cx="6808749" cy="982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589" y="4140379"/>
            <a:ext cx="4822823" cy="4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90518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논리 연산자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9820" y="1618840"/>
            <a:ext cx="7924665" cy="4020488"/>
            <a:chOff x="683573" y="1844824"/>
            <a:chExt cx="7924665" cy="124317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2431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11206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4-4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644718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3722636197"/>
              </p:ext>
            </p:extLst>
          </p:nvPr>
        </p:nvGraphicFramePr>
        <p:xfrm>
          <a:off x="871407" y="2116162"/>
          <a:ext cx="7416825" cy="314554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정수를 입력하세요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scanf(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&amp;n);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n || printf(</a:t>
                      </a:r>
                      <a:r>
                        <a:rPr lang="pt-BR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"0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입니다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n &amp;&amp; printf(</a:t>
                      </a:r>
                      <a:r>
                        <a:rPr lang="pt-BR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"0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이 아닙니다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400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비트 연산자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92534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06.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비트 연산자의 개념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프로그래밍에서만 지원되는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 err="1"/>
              <a:t>피연산자는</a:t>
            </a:r>
            <a:r>
              <a:rPr lang="ko-KR" altLang="en-US" dirty="0"/>
              <a:t> 정수만 가능함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 err="1"/>
              <a:t>피연산자의</a:t>
            </a:r>
            <a:r>
              <a:rPr lang="ko-KR" altLang="en-US" dirty="0"/>
              <a:t> 모든 비트에 대해서 개별적으로 연산이 적용됨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비트 연산 후에도 </a:t>
            </a:r>
            <a:r>
              <a:rPr lang="ko-KR" altLang="en-US" dirty="0" err="1"/>
              <a:t>피연산자는</a:t>
            </a:r>
            <a:r>
              <a:rPr lang="ko-KR" altLang="en-US" dirty="0"/>
              <a:t> 변하지 않음</a:t>
            </a:r>
          </a:p>
        </p:txBody>
      </p:sp>
    </p:spTree>
    <p:extLst>
      <p:ext uri="{BB962C8B-B14F-4D97-AF65-F5344CB8AC3E}">
        <p14:creationId xmlns:p14="http://schemas.microsoft.com/office/powerpoint/2010/main" val="35149984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06.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비트 반전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비트 반전</a:t>
            </a:r>
            <a:r>
              <a:rPr lang="en-US" altLang="ko-KR" b="1" dirty="0"/>
              <a:t>(NOT)</a:t>
            </a:r>
            <a:r>
              <a:rPr lang="ko-KR" altLang="en-US" b="1" dirty="0"/>
              <a:t> 연산자의 형태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909" y="2334968"/>
            <a:ext cx="7002503" cy="757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B00DA88E-FE6A-43BA-8D16-A68A978F2970}"/>
              </a:ext>
            </a:extLst>
          </p:cNvPr>
          <p:cNvGrpSpPr/>
          <p:nvPr/>
        </p:nvGrpSpPr>
        <p:grpSpPr>
          <a:xfrm>
            <a:off x="1193474" y="3302256"/>
            <a:ext cx="6858836" cy="2228739"/>
            <a:chOff x="1223524" y="3210816"/>
            <a:chExt cx="6858836" cy="2228739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223524" y="3210816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4-10]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비트 반전 연산자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66321726"/>
                </p:ext>
              </p:extLst>
            </p:nvPr>
          </p:nvGraphicFramePr>
          <p:xfrm>
            <a:off x="1339792" y="3574169"/>
            <a:ext cx="6742568" cy="1865386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277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4979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a = 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pt-BR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"a:%d</a:t>
                        </a:r>
                        <a:r>
                          <a:rPr lang="pt-BR" altLang="ko-KR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~a:%d"</a:t>
                        </a:r>
                        <a:r>
                          <a:rPr lang="pt-BR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a, ~a);</a:t>
                        </a:r>
                        <a:endPara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33795" name="Picture 3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9898"/>
            <a:stretch/>
          </p:blipFill>
          <p:spPr bwMode="auto">
            <a:xfrm>
              <a:off x="6480388" y="3619889"/>
              <a:ext cx="1547108" cy="832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140975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06.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비트 반전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비트 반전 연산자와</a:t>
            </a:r>
            <a:r>
              <a:rPr lang="en-US" altLang="ko-KR" b="1" dirty="0"/>
              <a:t> </a:t>
            </a:r>
            <a:r>
              <a:rPr lang="ko-KR" altLang="en-US" b="1" dirty="0"/>
              <a:t>논리 부정 연산자의 차이점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비트 연산자는 </a:t>
            </a:r>
            <a:r>
              <a:rPr lang="ko-KR" altLang="en-US" dirty="0" err="1"/>
              <a:t>피연산자의</a:t>
            </a:r>
            <a:r>
              <a:rPr lang="ko-KR" altLang="en-US" dirty="0"/>
              <a:t> 모든 비트에 대해 적용됨</a:t>
            </a:r>
            <a:endParaRPr lang="ko-KR" altLang="en-US" b="1" dirty="0"/>
          </a:p>
        </p:txBody>
      </p:sp>
      <p:pic>
        <p:nvPicPr>
          <p:cNvPr id="34818" name="Picture 2" descr="C:\Users\변소현\Desktop\난생처음 C 언어 프로그래밍\그림\Ch4\그림 4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813" y="3060700"/>
            <a:ext cx="7064375" cy="227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5681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06.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 err="1"/>
              <a:t>비트곱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비트합</a:t>
            </a:r>
            <a:r>
              <a:rPr lang="en-US" altLang="ko-KR" sz="2400" dirty="0"/>
              <a:t>, </a:t>
            </a:r>
            <a:r>
              <a:rPr lang="ko-KR" altLang="en-US" sz="2400" dirty="0"/>
              <a:t>배타적 </a:t>
            </a:r>
            <a:r>
              <a:rPr lang="ko-KR" altLang="en-US" sz="2400" dirty="0" err="1"/>
              <a:t>비트합</a:t>
            </a:r>
            <a:r>
              <a:rPr lang="ko-KR" altLang="en-US" sz="2400" dirty="0"/>
              <a:t>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비트곱</a:t>
            </a:r>
            <a:r>
              <a:rPr lang="en-US" altLang="ko-KR" b="1" dirty="0"/>
              <a:t>, </a:t>
            </a:r>
            <a:r>
              <a:rPr lang="ko-KR" altLang="en-US" b="1" dirty="0" err="1"/>
              <a:t>비트합</a:t>
            </a:r>
            <a:r>
              <a:rPr lang="en-US" altLang="ko-KR" b="1" dirty="0"/>
              <a:t>, </a:t>
            </a:r>
            <a:r>
              <a:rPr lang="ko-KR" altLang="en-US" b="1" dirty="0"/>
              <a:t>배타적 </a:t>
            </a:r>
            <a:r>
              <a:rPr lang="ko-KR" altLang="en-US" b="1" dirty="0" err="1"/>
              <a:t>비트합</a:t>
            </a:r>
            <a:r>
              <a:rPr lang="ko-KR" altLang="en-US" b="1" dirty="0"/>
              <a:t> 연산의 결과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a, b</a:t>
            </a:r>
            <a:r>
              <a:rPr lang="ko-KR" altLang="en-US" dirty="0"/>
              <a:t>는 비트 연산자의 피연산자가 아닌 피연산자의 개별적인 하나의 비트 값</a:t>
            </a:r>
          </a:p>
        </p:txBody>
      </p:sp>
      <p:pic>
        <p:nvPicPr>
          <p:cNvPr id="35842" name="Picture 2" descr="C:\Users\변소현\Desktop\난생처음 C 언어 프로그래밍\그림\Ch4\표 4-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786" y="2976127"/>
            <a:ext cx="6947477" cy="184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2901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06.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 err="1"/>
              <a:t>비트곱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비트합</a:t>
            </a:r>
            <a:r>
              <a:rPr lang="en-US" altLang="ko-KR" sz="2400" dirty="0"/>
              <a:t>, </a:t>
            </a:r>
            <a:r>
              <a:rPr lang="ko-KR" altLang="en-US" sz="2400" dirty="0"/>
              <a:t>배타적 </a:t>
            </a:r>
            <a:r>
              <a:rPr lang="ko-KR" altLang="en-US" sz="2400" dirty="0" err="1"/>
              <a:t>비트합</a:t>
            </a:r>
            <a:r>
              <a:rPr lang="ko-KR" altLang="en-US" sz="2400" dirty="0"/>
              <a:t>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배타적 </a:t>
            </a:r>
            <a:r>
              <a:rPr lang="ko-KR" altLang="en-US" b="1" dirty="0" err="1"/>
              <a:t>비트합</a:t>
            </a:r>
            <a:r>
              <a:rPr lang="en-US" altLang="ko-KR" b="1" dirty="0"/>
              <a:t>(XOR) </a:t>
            </a:r>
            <a:r>
              <a:rPr lang="ko-KR" altLang="en-US" b="1" dirty="0"/>
              <a:t>수행 결과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107A352-A5FB-4FC8-8E80-58597EF089C5}"/>
              </a:ext>
            </a:extLst>
          </p:cNvPr>
          <p:cNvGrpSpPr/>
          <p:nvPr/>
        </p:nvGrpSpPr>
        <p:grpSpPr>
          <a:xfrm>
            <a:off x="1232668" y="2534541"/>
            <a:ext cx="6911560" cy="2806844"/>
            <a:chOff x="1232668" y="2534541"/>
            <a:chExt cx="6911560" cy="2806844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232668" y="2534541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4-11]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같은 변수의 </a:t>
              </a:r>
              <a:r>
                <a:rPr lang="en-US" altLang="ko-KR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XOR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828626209"/>
                </p:ext>
              </p:extLst>
            </p:nvPr>
          </p:nvGraphicFramePr>
          <p:xfrm>
            <a:off x="1339792" y="2897894"/>
            <a:ext cx="6742568" cy="1865386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277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4979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  <a:endParaRPr lang="en-US" altLang="ko-KR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a = 7;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pt-BR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pt-BR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“a XOR a: %d"</a:t>
                        </a:r>
                        <a:r>
                          <a:rPr lang="pt-BR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a ^ a);</a:t>
                        </a: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3686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3277" y="4864089"/>
              <a:ext cx="6850951" cy="477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209203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06.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4"/>
            </a:pPr>
            <a:r>
              <a:rPr lang="ko-KR" altLang="en-US" sz="2400" dirty="0"/>
              <a:t>비트 이동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비트 이동 연산자의 개념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정수 타입 값의 모든 </a:t>
            </a:r>
            <a:r>
              <a:rPr lang="ko-KR" altLang="en-US" dirty="0" err="1"/>
              <a:t>비트를</a:t>
            </a:r>
            <a:r>
              <a:rPr lang="ko-KR" altLang="en-US" dirty="0"/>
              <a:t> 왼쪽이나 오른쪽으로 이동시키는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비트 이동 연산자의 형태</a:t>
            </a:r>
            <a:endParaRPr lang="ko-KR" alt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749" y="3238551"/>
            <a:ext cx="6883977" cy="992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54455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06.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4"/>
            </a:pPr>
            <a:r>
              <a:rPr lang="ko-KR" altLang="en-US" sz="2400" dirty="0"/>
              <a:t>비트 이동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왼쪽 비트 이동 연산 </a:t>
            </a:r>
            <a:r>
              <a:rPr lang="en-US" altLang="ko-KR" b="1" dirty="0"/>
              <a:t>(&lt;&lt;)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새로 생성되는 비트는 </a:t>
            </a:r>
            <a:r>
              <a:rPr lang="en-US" altLang="ko-KR" dirty="0"/>
              <a:t>0</a:t>
            </a:r>
            <a:r>
              <a:rPr lang="ko-KR" altLang="en-US" dirty="0"/>
              <a:t>으로 채워짐</a:t>
            </a:r>
            <a:endParaRPr lang="en-US" altLang="ko-KR" dirty="0"/>
          </a:p>
        </p:txBody>
      </p:sp>
      <p:pic>
        <p:nvPicPr>
          <p:cNvPr id="38914" name="Picture 2" descr="C:\Users\변소현\Desktop\난생처음 C 언어 프로그래밍\그림\Ch4\그림 4-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469" y="3155951"/>
            <a:ext cx="6234112" cy="241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47282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06.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비트 이동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왼쪽 비트 연산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711672E-A628-4780-A6CE-6431463B3C06}"/>
              </a:ext>
            </a:extLst>
          </p:cNvPr>
          <p:cNvGrpSpPr/>
          <p:nvPr/>
        </p:nvGrpSpPr>
        <p:grpSpPr>
          <a:xfrm>
            <a:off x="1214380" y="2324991"/>
            <a:ext cx="6867980" cy="2996835"/>
            <a:chOff x="1214380" y="2324991"/>
            <a:chExt cx="6867980" cy="2996835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214380" y="2324991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4-12]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왼쪽 비트 이동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41891989"/>
                </p:ext>
              </p:extLst>
            </p:nvPr>
          </p:nvGraphicFramePr>
          <p:xfrm>
            <a:off x="1339792" y="2688344"/>
            <a:ext cx="6742568" cy="2633482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277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4979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unsigned char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a = 0b1;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pt-BR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“a &lt;&lt; 3: %d</a:t>
                        </a:r>
                        <a:r>
                          <a:rPr lang="pt-BR" altLang="ko-KR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a &lt;&lt; 3);</a:t>
                        </a:r>
                        <a:endPara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unsigned char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b = 0b1;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"b &lt;&lt; 7: %d"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, b &lt;&lt; 7);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39938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182"/>
            <a:stretch/>
          </p:blipFill>
          <p:spPr bwMode="auto">
            <a:xfrm>
              <a:off x="6088306" y="2754448"/>
              <a:ext cx="1928847" cy="797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886282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06.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비트 이동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오른쪽 비트 이동 연산 </a:t>
            </a:r>
            <a:r>
              <a:rPr lang="en-US" altLang="ko-KR" b="1" dirty="0"/>
              <a:t>(&gt;&gt;)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부호 없는 정수의 경우 </a:t>
            </a:r>
            <a:r>
              <a:rPr lang="en-US" altLang="ko-KR" dirty="0"/>
              <a:t>: </a:t>
            </a:r>
            <a:r>
              <a:rPr lang="ko-KR" altLang="en-US" dirty="0"/>
              <a:t>새로 생성되는 비트는 </a:t>
            </a:r>
            <a:r>
              <a:rPr lang="en-US" altLang="ko-KR" dirty="0"/>
              <a:t>0</a:t>
            </a:r>
            <a:r>
              <a:rPr lang="ko-KR" altLang="en-US" dirty="0"/>
              <a:t>으로 채워짐</a:t>
            </a:r>
          </a:p>
        </p:txBody>
      </p:sp>
      <p:pic>
        <p:nvPicPr>
          <p:cNvPr id="40962" name="Picture 2" descr="C:\Users\변소현\Desktop\난생처음 C 언어 프로그래밍\그림\Ch4\그림 4-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878" y="2997595"/>
            <a:ext cx="6541294" cy="246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8520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06.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비트 이동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오른쪽 비트 이동 연산 </a:t>
            </a:r>
            <a:r>
              <a:rPr lang="en-US" altLang="ko-KR" b="1" dirty="0"/>
              <a:t>(&gt;&gt;)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부호 있는 정수의 경우 </a:t>
            </a:r>
            <a:r>
              <a:rPr lang="en-US" altLang="ko-KR" dirty="0"/>
              <a:t>: </a:t>
            </a:r>
            <a:r>
              <a:rPr lang="ko-KR" altLang="en-US" dirty="0"/>
              <a:t>부호 비트</a:t>
            </a:r>
            <a:r>
              <a:rPr lang="en-US" altLang="ko-KR" dirty="0"/>
              <a:t>(</a:t>
            </a:r>
            <a:r>
              <a:rPr lang="ko-KR" altLang="en-US" dirty="0"/>
              <a:t>가장 왼쪽 비트</a:t>
            </a:r>
            <a:r>
              <a:rPr lang="en-US" altLang="ko-KR" dirty="0"/>
              <a:t>)</a:t>
            </a:r>
            <a:r>
              <a:rPr lang="ko-KR" altLang="en-US" dirty="0"/>
              <a:t>에 있는 값이 새로 생성되는 비트로 채워짐</a:t>
            </a:r>
            <a:endParaRPr lang="en-US" altLang="ko-KR" dirty="0"/>
          </a:p>
        </p:txBody>
      </p:sp>
      <p:pic>
        <p:nvPicPr>
          <p:cNvPr id="41986" name="Picture 2" descr="C:\Users\변소현\Desktop\난생처음 C 언어 프로그래밍\그림\Ch4\그림 4-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018" y="3204426"/>
            <a:ext cx="6365965" cy="237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9476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06.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비트 이동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오른쪽 비트 이동 연산 </a:t>
            </a:r>
            <a:r>
              <a:rPr lang="en-US" altLang="ko-KR" b="1" dirty="0"/>
              <a:t>(&gt;&gt;)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07F19C-15D1-417F-A7AE-40D015DD6EEE}"/>
              </a:ext>
            </a:extLst>
          </p:cNvPr>
          <p:cNvGrpSpPr/>
          <p:nvPr/>
        </p:nvGrpSpPr>
        <p:grpSpPr>
          <a:xfrm>
            <a:off x="1223524" y="2324991"/>
            <a:ext cx="6858836" cy="3913856"/>
            <a:chOff x="1223524" y="2324991"/>
            <a:chExt cx="6858836" cy="3913856"/>
          </a:xfrm>
        </p:grpSpPr>
        <p:sp>
          <p:nvSpPr>
            <p:cNvPr id="9" name="Google Shape;102;p7"/>
            <p:cNvSpPr txBox="1"/>
            <p:nvPr/>
          </p:nvSpPr>
          <p:spPr>
            <a:xfrm>
              <a:off x="1223524" y="2324991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4-13]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오른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쪽 비트 이동</a:t>
              </a:r>
              <a:endParaRPr dirty="0"/>
            </a:p>
          </p:txBody>
        </p:sp>
        <p:graphicFrame>
          <p:nvGraphicFramePr>
            <p:cNvPr id="10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28210953"/>
                </p:ext>
              </p:extLst>
            </p:nvPr>
          </p:nvGraphicFramePr>
          <p:xfrm>
            <a:off x="1339792" y="2688344"/>
            <a:ext cx="6742568" cy="2633482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277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4979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unsigned char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aseline="0" dirty="0" err="1">
                            <a:latin typeface="Consolas" panose="020B0609020204030204" pitchFamily="49" charset="0"/>
                          </a:rPr>
                          <a:t>uc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= 0b10000000;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pt-BR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"uc &gt;&gt; 7: %d</a:t>
                        </a:r>
                        <a:r>
                          <a:rPr lang="pt-BR" altLang="ko-KR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uc &gt;&gt; 7);</a:t>
                        </a:r>
                        <a:endPara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char c = 0b1;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c &gt;&gt; 7: %d"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, c &gt;&gt; 7);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4301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8046" y="5395389"/>
              <a:ext cx="6782327" cy="843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138703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06.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DE22C9-84F7-F541-0D06-0D3F6DDF7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1" y="2123260"/>
            <a:ext cx="7835318" cy="275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021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06.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65D7E62-03DE-426B-9E25-83011517A832}"/>
              </a:ext>
            </a:extLst>
          </p:cNvPr>
          <p:cNvGrpSpPr/>
          <p:nvPr/>
        </p:nvGrpSpPr>
        <p:grpSpPr>
          <a:xfrm>
            <a:off x="615155" y="1690833"/>
            <a:ext cx="7924665" cy="3612687"/>
            <a:chOff x="615155" y="1379937"/>
            <a:chExt cx="7924665" cy="3612687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7"/>
              <a:ext cx="7924665" cy="3612687"/>
              <a:chOff x="683573" y="1844824"/>
              <a:chExt cx="7924665" cy="163415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6341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4-5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세</a:t>
              </a:r>
              <a:r>
                <a:rPr lang="en-US" altLang="ko-KR" sz="1600" b="1" dirty="0">
                  <a:latin typeface="+mj-ea"/>
                  <a:ea typeface="+mj-ea"/>
                </a:rPr>
                <a:t> </a:t>
              </a:r>
              <a:r>
                <a:rPr lang="ko-KR" altLang="en-US" sz="1600" b="1" dirty="0">
                  <a:latin typeface="+mj-ea"/>
                  <a:ea typeface="+mj-ea"/>
                </a:rPr>
                <a:t>번째 비트 값 구하기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89306" y="1767809"/>
              <a:ext cx="7781027" cy="4140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입력받은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숫자의 세 번째 비트 값을 출력하는 프로그램을 작성해봅시다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505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1091" y="2433991"/>
              <a:ext cx="6221818" cy="934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5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947" y="3710813"/>
              <a:ext cx="7177743" cy="780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932276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06.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비트 연산자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9820" y="1823110"/>
            <a:ext cx="7924665" cy="3496085"/>
            <a:chOff x="683573" y="1844824"/>
            <a:chExt cx="7924665" cy="124317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2431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29588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4-5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848988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2423612849"/>
              </p:ext>
            </p:extLst>
          </p:nvPr>
        </p:nvGraphicFramePr>
        <p:xfrm>
          <a:off x="871407" y="2320432"/>
          <a:ext cx="7416825" cy="2889514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정수를 입력하세요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scanf(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&amp;n);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세 번째 비트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%d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(n &amp; 0b100) &gt;&gt; 2)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0592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복합 대입 연산자와 </a:t>
            </a:r>
            <a:r>
              <a:rPr lang="ko-KR" altLang="en-US" sz="4000" dirty="0" err="1"/>
              <a:t>삼항</a:t>
            </a:r>
            <a:r>
              <a:rPr lang="ko-KR" altLang="en-US" sz="4000" dirty="0"/>
              <a:t> 연산자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48668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07.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복합 대입 연산자와 </a:t>
            </a:r>
            <a:r>
              <a:rPr lang="ko-KR" altLang="en-US" dirty="0" err="1">
                <a:solidFill>
                  <a:schemeClr val="tx1"/>
                </a:solidFill>
              </a:rPr>
              <a:t>삼항</a:t>
            </a:r>
            <a:r>
              <a:rPr lang="ko-KR" altLang="en-US" dirty="0">
                <a:solidFill>
                  <a:schemeClr val="tx1"/>
                </a:solidFill>
              </a:rPr>
              <a:t>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/>
            </a:pPr>
            <a:r>
              <a:rPr lang="ko-KR" altLang="en-US" sz="2400" dirty="0"/>
              <a:t>복합 대입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복합 대입 연산자의 형태와 의미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ko-KR" altLang="en-US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00"/>
          <a:stretch/>
        </p:blipFill>
        <p:spPr bwMode="auto">
          <a:xfrm>
            <a:off x="1175662" y="2399068"/>
            <a:ext cx="3493141" cy="762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3" name="Picture 3" descr="C:\Users\변소현\Desktop\난생처음 C 언어 프로그래밍\그림\Ch4\표 4-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517" y="2126388"/>
            <a:ext cx="3626962" cy="351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6147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07.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복합 대입 연산자와 </a:t>
            </a:r>
            <a:r>
              <a:rPr lang="ko-KR" altLang="en-US" dirty="0" err="1">
                <a:solidFill>
                  <a:schemeClr val="tx1"/>
                </a:solidFill>
              </a:rPr>
              <a:t>삼항</a:t>
            </a:r>
            <a:r>
              <a:rPr lang="ko-KR" altLang="en-US" dirty="0">
                <a:solidFill>
                  <a:schemeClr val="tx1"/>
                </a:solidFill>
              </a:rPr>
              <a:t>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삼항</a:t>
            </a:r>
            <a:r>
              <a:rPr lang="ko-KR" altLang="en-US" sz="2400" dirty="0"/>
              <a:t> 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삼항</a:t>
            </a:r>
            <a:r>
              <a:rPr lang="ko-KR" altLang="en-US" b="1" dirty="0"/>
              <a:t> 연산자의 형태</a:t>
            </a:r>
            <a:endParaRPr lang="ko-KR" altLang="en-US" dirty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574" y="2330953"/>
            <a:ext cx="6614049" cy="723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631DA6F2-E662-4A52-A9AD-37D7C003D16F}"/>
              </a:ext>
            </a:extLst>
          </p:cNvPr>
          <p:cNvGrpSpPr/>
          <p:nvPr/>
        </p:nvGrpSpPr>
        <p:grpSpPr>
          <a:xfrm>
            <a:off x="1214380" y="3236110"/>
            <a:ext cx="6867980" cy="2955748"/>
            <a:chOff x="1214380" y="3236110"/>
            <a:chExt cx="6867980" cy="2955748"/>
          </a:xfrm>
        </p:grpSpPr>
        <p:sp>
          <p:nvSpPr>
            <p:cNvPr id="10" name="Google Shape;102;p7"/>
            <p:cNvSpPr txBox="1"/>
            <p:nvPr/>
          </p:nvSpPr>
          <p:spPr>
            <a:xfrm>
              <a:off x="1214380" y="3236110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4-14] </a:t>
              </a:r>
              <a:r>
                <a:rPr lang="ko-KR" alt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삼항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연산자</a:t>
              </a:r>
              <a:endParaRPr dirty="0"/>
            </a:p>
          </p:txBody>
        </p:sp>
        <p:graphicFrame>
          <p:nvGraphicFramePr>
            <p:cNvPr id="11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872660682"/>
                </p:ext>
              </p:extLst>
            </p:nvPr>
          </p:nvGraphicFramePr>
          <p:xfrm>
            <a:off x="1339792" y="3558376"/>
            <a:ext cx="6742568" cy="2633482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277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4979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  <a:endPara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age;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pt-BR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나이를 입력하세요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.</a:t>
                        </a:r>
                        <a:r>
                          <a:rPr lang="pt-BR" altLang="ko-KR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  <a:endParaRPr lang="en-US" altLang="ko-KR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latin typeface="Consolas" panose="020B0609020204030204" pitchFamily="49" charset="0"/>
                          </a:rPr>
                          <a:t>scanf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pt-BR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&amp;age)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age &lt; 20 ? 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미성년자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: 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성인</a:t>
                        </a:r>
                        <a:r>
                          <a:rPr lang="pt-BR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52026D7D-28BE-4C18-A6B4-B9E3B270EF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472"/>
            <a:stretch/>
          </p:blipFill>
          <p:spPr bwMode="auto">
            <a:xfrm>
              <a:off x="6012822" y="3667913"/>
              <a:ext cx="1995973" cy="1005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970882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07.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복합 대입 연산자와 </a:t>
            </a:r>
            <a:r>
              <a:rPr lang="ko-KR" altLang="en-US" dirty="0" err="1">
                <a:solidFill>
                  <a:schemeClr val="tx1"/>
                </a:solidFill>
              </a:rPr>
              <a:t>삼항</a:t>
            </a:r>
            <a:r>
              <a:rPr lang="ko-KR" altLang="en-US" dirty="0">
                <a:solidFill>
                  <a:schemeClr val="tx1"/>
                </a:solidFill>
              </a:rPr>
              <a:t> 연산자</a:t>
            </a:r>
            <a:endParaRPr lang="ko-KR" altLang="en-US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04" y="2095500"/>
            <a:ext cx="7676042" cy="312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96153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07.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복합 대입 연산자와 </a:t>
            </a:r>
            <a:r>
              <a:rPr lang="ko-KR" altLang="en-US" dirty="0" err="1">
                <a:solidFill>
                  <a:schemeClr val="tx1"/>
                </a:solidFill>
              </a:rPr>
              <a:t>삼항</a:t>
            </a:r>
            <a:r>
              <a:rPr lang="ko-KR" altLang="en-US" dirty="0">
                <a:solidFill>
                  <a:schemeClr val="tx1"/>
                </a:solidFill>
              </a:rPr>
              <a:t> 연산자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9AD294E-5AC7-45BB-9DEB-8D17113FC4EA}"/>
              </a:ext>
            </a:extLst>
          </p:cNvPr>
          <p:cNvGrpSpPr/>
          <p:nvPr/>
        </p:nvGrpSpPr>
        <p:grpSpPr>
          <a:xfrm>
            <a:off x="615155" y="1553673"/>
            <a:ext cx="7924665" cy="3727507"/>
            <a:chOff x="615155" y="1379937"/>
            <a:chExt cx="7924665" cy="3727507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7"/>
              <a:ext cx="7924665" cy="3727507"/>
              <a:chOff x="683573" y="1844824"/>
              <a:chExt cx="7924665" cy="153815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53815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4-6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>
                  <a:latin typeface="+mj-ea"/>
                  <a:ea typeface="+mj-ea"/>
                </a:rPr>
                <a:t>입력받은</a:t>
              </a:r>
              <a:r>
                <a:rPr lang="ko-KR" altLang="en-US" sz="1600" b="1" dirty="0">
                  <a:latin typeface="+mj-ea"/>
                  <a:ea typeface="+mj-ea"/>
                </a:rPr>
                <a:t> 수보다 큰 다음 짝수 구하기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89306" y="1767809"/>
              <a:ext cx="7781027" cy="7833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입력받은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수보다 큰 다음 짝수를 출력하는 프로그램을 작성해봅시다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예를 들어 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입력할 경우 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 출력되고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6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입력할 경우 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8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 출력됩니다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5017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830" y="2835859"/>
              <a:ext cx="6817977" cy="1001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17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9193" y="4122335"/>
              <a:ext cx="6805615" cy="314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126738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07.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복합 대입 연산자와 </a:t>
            </a:r>
            <a:r>
              <a:rPr lang="ko-KR" altLang="en-US" dirty="0" err="1">
                <a:solidFill>
                  <a:schemeClr val="tx1"/>
                </a:solidFill>
              </a:rPr>
              <a:t>삼항</a:t>
            </a:r>
            <a:r>
              <a:rPr lang="ko-KR" altLang="en-US" dirty="0">
                <a:solidFill>
                  <a:schemeClr val="tx1"/>
                </a:solidFill>
              </a:rPr>
              <a:t> 연산자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9820" y="1823110"/>
            <a:ext cx="7924665" cy="3701390"/>
            <a:chOff x="683573" y="1844824"/>
            <a:chExt cx="7924665" cy="124317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2431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29588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4-6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848988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2050518591"/>
              </p:ext>
            </p:extLst>
          </p:nvPr>
        </p:nvGraphicFramePr>
        <p:xfrm>
          <a:off x="871407" y="2320432"/>
          <a:ext cx="7416825" cy="314554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정수를 입력하세요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scanf(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&amp;n);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n += n %</a:t>
                      </a: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2 == 0 ? 2 : 1;</a:t>
                      </a:r>
                      <a:endParaRPr lang="pt-BR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다음 짝수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%d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n)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4704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기타 연산자와 우선순위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18196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08.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기타 연산자와 우선순위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/>
            </a:pPr>
            <a:r>
              <a:rPr lang="en-US" altLang="ko-KR" sz="2400" dirty="0" err="1"/>
              <a:t>sizeof</a:t>
            </a:r>
            <a:r>
              <a:rPr lang="en-US" altLang="ko-KR" sz="2400" dirty="0"/>
              <a:t> </a:t>
            </a:r>
            <a:r>
              <a:rPr lang="ko-KR" altLang="en-US" sz="2400" dirty="0"/>
              <a:t>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sizeof</a:t>
            </a:r>
            <a:r>
              <a:rPr lang="en-US" altLang="ko-KR" b="1" dirty="0"/>
              <a:t> </a:t>
            </a:r>
            <a:r>
              <a:rPr lang="ko-KR" altLang="en-US" b="1" dirty="0"/>
              <a:t>연산자의 개념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피연산자가</a:t>
            </a:r>
            <a:r>
              <a:rPr lang="ko-KR" altLang="en-US" dirty="0"/>
              <a:t> 차지할 수 있는 메모리 영역의 크기를 바이트 단위로 나타냄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sizeof</a:t>
            </a:r>
            <a:r>
              <a:rPr lang="en-US" altLang="ko-KR" b="1" dirty="0"/>
              <a:t> </a:t>
            </a:r>
            <a:r>
              <a:rPr lang="ko-KR" altLang="en-US" b="1" dirty="0"/>
              <a:t>연산자의 형태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ko-KR" altLang="en-US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45" y="3258671"/>
            <a:ext cx="6656727" cy="999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42686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08.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기타 연산자와 우선순위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/>
            </a:pPr>
            <a:r>
              <a:rPr lang="en-US" altLang="ko-KR" sz="2400" dirty="0" err="1"/>
              <a:t>sizeof</a:t>
            </a:r>
            <a:r>
              <a:rPr lang="en-US" altLang="ko-KR" sz="2400" dirty="0"/>
              <a:t> </a:t>
            </a:r>
            <a:r>
              <a:rPr lang="ko-KR" altLang="en-US" sz="2400" dirty="0"/>
              <a:t>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sizeof</a:t>
            </a:r>
            <a:r>
              <a:rPr lang="en-US" altLang="ko-KR" b="1" dirty="0"/>
              <a:t> </a:t>
            </a:r>
            <a:r>
              <a:rPr lang="ko-KR" altLang="en-US" b="1" dirty="0"/>
              <a:t>연산자의 사용 방식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19D2E76-E84E-4A1D-8802-510285334BB4}"/>
              </a:ext>
            </a:extLst>
          </p:cNvPr>
          <p:cNvGrpSpPr/>
          <p:nvPr/>
        </p:nvGrpSpPr>
        <p:grpSpPr>
          <a:xfrm>
            <a:off x="1241812" y="2509502"/>
            <a:ext cx="6840548" cy="3207630"/>
            <a:chOff x="1241812" y="2509502"/>
            <a:chExt cx="6840548" cy="3207630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241812" y="2509502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4-15] </a:t>
              </a:r>
              <a:r>
                <a:rPr lang="en-US" altLang="ko-KR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sizeof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572109826"/>
                </p:ext>
              </p:extLst>
            </p:nvPr>
          </p:nvGraphicFramePr>
          <p:xfrm>
            <a:off x="1339792" y="2827618"/>
            <a:ext cx="6742568" cy="2889514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277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4979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a;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s1 =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(a);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s2 =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a;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s3 =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s4 =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s5 =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(9999);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s6 =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9999;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pSp>
          <p:nvGrpSpPr>
            <p:cNvPr id="7" name="그룹 6"/>
            <p:cNvGrpSpPr/>
            <p:nvPr/>
          </p:nvGrpSpPr>
          <p:grpSpPr>
            <a:xfrm>
              <a:off x="3871914" y="4682434"/>
              <a:ext cx="2719385" cy="266700"/>
              <a:chOff x="4581527" y="4724400"/>
              <a:chExt cx="2719385" cy="266700"/>
            </a:xfrm>
          </p:grpSpPr>
          <p:sp>
            <p:nvSpPr>
              <p:cNvPr id="8" name="직사각형 7"/>
              <p:cNvSpPr/>
              <p:nvPr/>
            </p:nvSpPr>
            <p:spPr>
              <a:xfrm>
                <a:off x="5048249" y="4724400"/>
                <a:ext cx="2252663" cy="2667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rgbClr val="FF0000"/>
                    </a:solidFill>
                  </a:rPr>
                  <a:t>오류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 –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표현식이 아님</a:t>
                </a:r>
              </a:p>
            </p:txBody>
          </p:sp>
          <p:cxnSp>
            <p:nvCxnSpPr>
              <p:cNvPr id="9" name="직선 화살표 연결선 8"/>
              <p:cNvCxnSpPr>
                <a:stCxn id="8" idx="1"/>
              </p:cNvCxnSpPr>
              <p:nvPr/>
            </p:nvCxnSpPr>
            <p:spPr>
              <a:xfrm flipH="1">
                <a:off x="4581527" y="4857750"/>
                <a:ext cx="466722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93519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08.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기타 연산자와 우선순위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타입 변환</a:t>
            </a:r>
            <a:r>
              <a:rPr lang="en-US" altLang="ko-KR" sz="2400" dirty="0"/>
              <a:t> </a:t>
            </a:r>
            <a:r>
              <a:rPr lang="ko-KR" altLang="en-US" sz="2400" dirty="0"/>
              <a:t>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타입 변환 연산자의 개념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계산된 값에 타입 변환 연산자</a:t>
            </a:r>
            <a:r>
              <a:rPr lang="en-US" altLang="ko-KR" dirty="0"/>
              <a:t>(</a:t>
            </a:r>
            <a:r>
              <a:rPr lang="ko-KR" altLang="en-US" dirty="0"/>
              <a:t>명시적 타입 변환</a:t>
            </a:r>
            <a:r>
              <a:rPr lang="en-US" altLang="ko-KR" dirty="0"/>
              <a:t>)</a:t>
            </a:r>
            <a:r>
              <a:rPr lang="ko-KR" altLang="en-US" dirty="0"/>
              <a:t>를 적용할 경우</a:t>
            </a:r>
            <a:r>
              <a:rPr lang="en-US" altLang="ko-KR" dirty="0"/>
              <a:t> </a:t>
            </a:r>
            <a:r>
              <a:rPr lang="ko-KR" altLang="en-US" dirty="0"/>
              <a:t>변환 타입에 맞는 임시 값이 도출됨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타입 변환 연산자의 형태</a:t>
            </a:r>
            <a:endParaRPr lang="ko-KR" altLang="en-US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044" y="3608294"/>
            <a:ext cx="6365912" cy="709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90460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08.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기타 연산자와 우선순위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타입 변환</a:t>
            </a:r>
            <a:r>
              <a:rPr lang="en-US" altLang="ko-KR" sz="2400" dirty="0"/>
              <a:t> </a:t>
            </a:r>
            <a:r>
              <a:rPr lang="ko-KR" altLang="en-US" sz="2400" dirty="0"/>
              <a:t>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암시적 타입 변환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타입 변환 연산자가 사용되지 않고</a:t>
            </a:r>
            <a:r>
              <a:rPr lang="en-US" altLang="ko-KR" dirty="0"/>
              <a:t>, </a:t>
            </a:r>
            <a:r>
              <a:rPr lang="ko-KR" altLang="en-US" dirty="0"/>
              <a:t>자동으로 타입 변환이 됨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6641385-E14E-4789-A0EC-8FD4F99ABE79}"/>
              </a:ext>
            </a:extLst>
          </p:cNvPr>
          <p:cNvGrpSpPr/>
          <p:nvPr/>
        </p:nvGrpSpPr>
        <p:grpSpPr>
          <a:xfrm>
            <a:off x="1232668" y="2828144"/>
            <a:ext cx="6849692" cy="3508899"/>
            <a:chOff x="1232668" y="2498960"/>
            <a:chExt cx="6849692" cy="3508899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232668" y="2498960"/>
              <a:ext cx="420229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4-17]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산술 연산의 암시적 타입 변환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740335399"/>
                </p:ext>
              </p:extLst>
            </p:nvPr>
          </p:nvGraphicFramePr>
          <p:xfrm>
            <a:off x="1339792" y="2862313"/>
            <a:ext cx="6742568" cy="3145546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277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4979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a = 33554434;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float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b = 0.1;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c1 = a + b;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c2 = a + (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)b;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"c1: %d, c2: %d"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, c1, c2);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B85653B0-CA26-4500-BD37-D3E88AB4DB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00"/>
            <a:stretch/>
          </p:blipFill>
          <p:spPr bwMode="auto">
            <a:xfrm>
              <a:off x="5286951" y="2927362"/>
              <a:ext cx="2696966" cy="571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503959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08.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기타 연산자와 우선순위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타입 변환</a:t>
            </a:r>
            <a:r>
              <a:rPr lang="en-US" altLang="ko-KR" sz="2400" dirty="0"/>
              <a:t> </a:t>
            </a:r>
            <a:r>
              <a:rPr lang="ko-KR" altLang="en-US" sz="2400" dirty="0"/>
              <a:t>연산자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암시적 타입 변환과 명시적 타입 변환 비교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타입 변환을 할 경우 값을 </a:t>
            </a:r>
            <a:r>
              <a:rPr lang="ko-KR" altLang="en-US" dirty="0" err="1"/>
              <a:t>대입받을</a:t>
            </a:r>
            <a:r>
              <a:rPr lang="ko-KR" altLang="en-US" dirty="0"/>
              <a:t> 수 없음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3E9E8A1-36F0-4B6F-8286-53590C457752}"/>
              </a:ext>
            </a:extLst>
          </p:cNvPr>
          <p:cNvGrpSpPr/>
          <p:nvPr/>
        </p:nvGrpSpPr>
        <p:grpSpPr>
          <a:xfrm>
            <a:off x="1214380" y="2857741"/>
            <a:ext cx="6867980" cy="2455174"/>
            <a:chOff x="1214380" y="2528557"/>
            <a:chExt cx="6867980" cy="2455174"/>
          </a:xfrm>
        </p:grpSpPr>
        <p:sp>
          <p:nvSpPr>
            <p:cNvPr id="6" name="Google Shape;102;p7"/>
            <p:cNvSpPr txBox="1"/>
            <p:nvPr/>
          </p:nvSpPr>
          <p:spPr>
            <a:xfrm>
              <a:off x="1214380" y="2528557"/>
              <a:ext cx="492619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4-18]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암시적 타입 변환과 명시적 타입 변환</a:t>
              </a:r>
              <a:endParaRPr dirty="0"/>
            </a:p>
          </p:txBody>
        </p:sp>
        <p:graphicFrame>
          <p:nvGraphicFramePr>
            <p:cNvPr id="8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616918246"/>
                </p:ext>
              </p:extLst>
            </p:nvPr>
          </p:nvGraphicFramePr>
          <p:xfrm>
            <a:off x="1339792" y="2862313"/>
            <a:ext cx="6742568" cy="2121418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277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4979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400" b="1" i="0" u="none" strike="noStrike" cap="none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ea typeface="맑은 고딕"/>
                            <a:sym typeface="Arial"/>
                          </a:rPr>
                          <a:t>char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c = 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c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(</a:t>
                        </a: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)c = 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(</a:t>
                        </a:r>
                        <a:r>
                          <a:rPr lang="en-US" altLang="ko-KR" sz="1400" b="1" i="0" u="none" strike="noStrike" cap="none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ea typeface="맑은 고딕"/>
                            <a:sym typeface="Arial"/>
                          </a:rPr>
                          <a:t>char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)c = 3;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83136" marR="83136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pSp>
          <p:nvGrpSpPr>
            <p:cNvPr id="9" name="그룹 8"/>
            <p:cNvGrpSpPr/>
            <p:nvPr/>
          </p:nvGrpSpPr>
          <p:grpSpPr>
            <a:xfrm>
              <a:off x="3347085" y="4187134"/>
              <a:ext cx="1933574" cy="266700"/>
              <a:chOff x="5069684" y="4724400"/>
              <a:chExt cx="1933574" cy="266700"/>
            </a:xfrm>
          </p:grpSpPr>
          <p:sp>
            <p:nvSpPr>
              <p:cNvPr id="10" name="직사각형 9"/>
              <p:cNvSpPr/>
              <p:nvPr/>
            </p:nvSpPr>
            <p:spPr>
              <a:xfrm>
                <a:off x="5812633" y="4724400"/>
                <a:ext cx="1190625" cy="2667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>
                    <a:solidFill>
                      <a:srgbClr val="FF0000"/>
                    </a:solidFill>
                  </a:rPr>
                  <a:t>오류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발생</a:t>
                </a:r>
              </a:p>
            </p:txBody>
          </p:sp>
          <p:cxnSp>
            <p:nvCxnSpPr>
              <p:cNvPr id="11" name="직선 화살표 연결선 10"/>
              <p:cNvCxnSpPr>
                <a:stCxn id="10" idx="1"/>
              </p:cNvCxnSpPr>
              <p:nvPr/>
            </p:nvCxnSpPr>
            <p:spPr>
              <a:xfrm flipH="1">
                <a:off x="5069684" y="4857750"/>
                <a:ext cx="742949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그룹 14"/>
            <p:cNvGrpSpPr/>
            <p:nvPr/>
          </p:nvGrpSpPr>
          <p:grpSpPr>
            <a:xfrm>
              <a:off x="3404235" y="4444309"/>
              <a:ext cx="3271835" cy="266700"/>
              <a:chOff x="3731423" y="4724400"/>
              <a:chExt cx="3271835" cy="266700"/>
            </a:xfrm>
          </p:grpSpPr>
          <p:sp>
            <p:nvSpPr>
              <p:cNvPr id="16" name="직사각형 15"/>
              <p:cNvSpPr/>
              <p:nvPr/>
            </p:nvSpPr>
            <p:spPr>
              <a:xfrm>
                <a:off x="5812633" y="4724400"/>
                <a:ext cx="1190625" cy="2667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rgbClr val="FF0000"/>
                    </a:solidFill>
                  </a:rPr>
                  <a:t>논쟁의 여지</a:t>
                </a:r>
              </a:p>
            </p:txBody>
          </p:sp>
          <p:cxnSp>
            <p:nvCxnSpPr>
              <p:cNvPr id="17" name="직선 화살표 연결선 16"/>
              <p:cNvCxnSpPr>
                <a:stCxn id="16" idx="1"/>
              </p:cNvCxnSpPr>
              <p:nvPr/>
            </p:nvCxnSpPr>
            <p:spPr>
              <a:xfrm flipH="1">
                <a:off x="3731423" y="4857750"/>
                <a:ext cx="2081210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006262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08.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기타 연산자와 우선순위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연산자의 우선순위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결합법칙 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연산자들이 같은 우선순위에 있을 경우 적용 순서</a:t>
            </a: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연산 순서에 따라 값이 달라지기 때문에 괄호를 사용해야 함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DC2E5D-00B8-4C2C-9CDD-9B2F0ED8C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604" y="3526346"/>
            <a:ext cx="4756785" cy="148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721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08.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기타 연산자와 우선순위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연산자의 우선순위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결합법칙</a:t>
            </a:r>
            <a:endParaRPr lang="en-US" altLang="ko-KR" dirty="0"/>
          </a:p>
        </p:txBody>
      </p:sp>
      <p:pic>
        <p:nvPicPr>
          <p:cNvPr id="55298" name="Picture 2" descr="C:\Users\변소현\Desktop\난생처음 C 언어 프로그래밍\그림\Ch4\표 4-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861" y="1899903"/>
            <a:ext cx="5826174" cy="4506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643039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08.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기타 연산자와 우선순위</a:t>
            </a:r>
            <a:endParaRPr lang="ko-KR" altLang="en-US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12" y="2266950"/>
            <a:ext cx="7612826" cy="240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37815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08.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기타 연산자와 우선순위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379937"/>
            <a:ext cx="7924665" cy="4325919"/>
            <a:chOff x="683573" y="1844824"/>
            <a:chExt cx="7924665" cy="1785084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785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5293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4-7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395971"/>
            <a:ext cx="6366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가우스 함수 </a:t>
            </a:r>
            <a:r>
              <a:rPr lang="en-US" altLang="ko-KR" sz="1600" b="1" dirty="0">
                <a:latin typeface="+mj-ea"/>
                <a:ea typeface="+mj-ea"/>
              </a:rPr>
              <a:t>f(x) = [x] </a:t>
            </a:r>
            <a:r>
              <a:rPr lang="ko-KR" altLang="en-US" sz="1600" b="1" dirty="0">
                <a:latin typeface="+mj-ea"/>
                <a:ea typeface="+mj-ea"/>
              </a:rPr>
              <a:t>구현하기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89306" y="1767809"/>
            <a:ext cx="7781027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실수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대하여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넘지 않는 최대의 정수를 반환하는 가우스 함수를 구현하고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입력을 받아서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함수값을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출력하는 프로그램을 작성해봅시다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42" y="2869210"/>
            <a:ext cx="6804965" cy="995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0735E1E-87B8-E587-9975-791C3299C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042" y="4020100"/>
            <a:ext cx="6804965" cy="131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2905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08.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기타 연산자와 우선순위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9820" y="1203985"/>
            <a:ext cx="7924665" cy="5282540"/>
            <a:chOff x="683573" y="1844824"/>
            <a:chExt cx="7924665" cy="124317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2431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85763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4-7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229863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2452189369"/>
              </p:ext>
            </p:extLst>
          </p:nvPr>
        </p:nvGraphicFramePr>
        <p:xfrm>
          <a:off x="871407" y="1701307"/>
          <a:ext cx="7416825" cy="4681738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b="1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Gaus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(double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x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(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)x;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g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x – g &lt; 0 ? g – 1 : g;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g;</a:t>
                      </a:r>
                      <a:endParaRPr lang="pt-BR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d;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실수를 입력하세요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"%lf"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&amp;d);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Gaus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Gaus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(d));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7187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A4C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28612" y="342900"/>
            <a:ext cx="8505825" cy="6173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>
                <a:solidFill>
                  <a:schemeClr val="accent4"/>
                </a:solidFill>
              </a:rPr>
              <a:t>두 수의 대소 관계 파악하기</a:t>
            </a:r>
            <a:endParaRPr sz="4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3012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두 수의 대소 관계 파악하기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433636"/>
            <a:ext cx="8363272" cy="213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문제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 algn="just">
              <a:buNone/>
            </a:pPr>
            <a:r>
              <a:rPr lang="ko-KR" altLang="en-US" sz="1800" dirty="0"/>
              <a:t>두 수를 입력하면 두 수의 대소 관계를 파악하여 표현하는 프로그램을 작성해봅시다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88" y="3194514"/>
            <a:ext cx="7557025" cy="126907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두 수의 대소 관계 파악하기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433635"/>
            <a:ext cx="8363272" cy="430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 algn="just">
              <a:buNone/>
            </a:pPr>
            <a:r>
              <a:rPr lang="en-US" altLang="ko-KR" sz="1800" dirty="0">
                <a:solidFill>
                  <a:schemeClr val="accent4"/>
                </a:solidFill>
              </a:rPr>
              <a:t>1.</a:t>
            </a:r>
            <a:r>
              <a:rPr lang="en-US" altLang="ko-KR" sz="1800" dirty="0"/>
              <a:t> </a:t>
            </a:r>
            <a:r>
              <a:rPr lang="ko-KR" altLang="en-US" sz="1800" dirty="0"/>
              <a:t>두 매개변수 </a:t>
            </a:r>
            <a:r>
              <a:rPr lang="en-US" altLang="ko-KR" sz="1800" dirty="0">
                <a:latin typeface="Consolas" panose="020B0609020204030204" pitchFamily="49" charset="0"/>
              </a:rPr>
              <a:t>x, y</a:t>
            </a:r>
            <a:r>
              <a:rPr lang="ko-KR" altLang="en-US" sz="1800" dirty="0"/>
              <a:t>에 대해서 </a:t>
            </a:r>
            <a:r>
              <a:rPr lang="en-US" altLang="ko-KR" sz="1800" dirty="0">
                <a:latin typeface="Consolas" panose="020B0609020204030204" pitchFamily="49" charset="0"/>
              </a:rPr>
              <a:t>x&lt;y</a:t>
            </a:r>
            <a:r>
              <a:rPr lang="ko-KR" altLang="en-US" sz="1800" dirty="0"/>
              <a:t>이면 </a:t>
            </a:r>
            <a:r>
              <a:rPr lang="en-US" altLang="ko-KR" sz="1800" dirty="0">
                <a:latin typeface="Consolas" panose="020B0609020204030204" pitchFamily="49" charset="0"/>
              </a:rPr>
              <a:t>–1</a:t>
            </a:r>
            <a:r>
              <a:rPr lang="en-US" altLang="ko-KR" sz="1800" dirty="0"/>
              <a:t>, </a:t>
            </a:r>
            <a:r>
              <a:rPr lang="en-US" altLang="ko-KR" sz="1800" dirty="0">
                <a:latin typeface="Consolas" panose="020B0609020204030204" pitchFamily="49" charset="0"/>
              </a:rPr>
              <a:t>x==y</a:t>
            </a:r>
            <a:r>
              <a:rPr lang="ko-KR" altLang="en-US" sz="1800" dirty="0"/>
              <a:t>이면 </a:t>
            </a:r>
            <a:r>
              <a:rPr lang="en-US" altLang="ko-KR" sz="1800" dirty="0">
                <a:latin typeface="Consolas" panose="020B0609020204030204" pitchFamily="49" charset="0"/>
              </a:rPr>
              <a:t>0</a:t>
            </a:r>
            <a:r>
              <a:rPr lang="en-US" altLang="ko-KR" sz="1800" dirty="0"/>
              <a:t>, </a:t>
            </a:r>
            <a:r>
              <a:rPr lang="en-US" altLang="ko-KR" sz="1800" dirty="0">
                <a:latin typeface="Consolas" panose="020B0609020204030204" pitchFamily="49" charset="0"/>
              </a:rPr>
              <a:t>x&gt;y</a:t>
            </a:r>
            <a:r>
              <a:rPr lang="ko-KR" altLang="en-US" sz="1800" dirty="0"/>
              <a:t>이면 </a:t>
            </a:r>
            <a:r>
              <a:rPr lang="en-US" altLang="ko-KR" sz="1800" dirty="0">
                <a:latin typeface="Consolas" panose="020B0609020204030204" pitchFamily="49" charset="0"/>
              </a:rPr>
              <a:t>1</a:t>
            </a:r>
            <a:r>
              <a:rPr lang="ko-KR" altLang="en-US" sz="1800" dirty="0"/>
              <a:t>을 </a:t>
            </a:r>
            <a:br>
              <a:rPr lang="en-US" altLang="ko-KR" sz="1800" dirty="0"/>
            </a:br>
            <a:r>
              <a:rPr lang="en-US" altLang="ko-KR" sz="1800" dirty="0"/>
              <a:t>    </a:t>
            </a:r>
            <a:r>
              <a:rPr lang="ko-KR" altLang="en-US" sz="1800" dirty="0"/>
              <a:t>반환하는 </a:t>
            </a:r>
            <a:r>
              <a:rPr lang="en-US" altLang="ko-KR" sz="1800" dirty="0">
                <a:latin typeface="Consolas" panose="020B0609020204030204" pitchFamily="49" charset="0"/>
              </a:rPr>
              <a:t>compare</a:t>
            </a:r>
            <a:r>
              <a:rPr lang="en-US" altLang="ko-KR" sz="1800" dirty="0"/>
              <a:t> </a:t>
            </a:r>
            <a:r>
              <a:rPr lang="ko-KR" altLang="en-US" sz="1800" dirty="0"/>
              <a:t>함수를 만든다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1800" dirty="0"/>
          </a:p>
          <a:p>
            <a:pPr marL="0" indent="0" algn="just">
              <a:buNone/>
            </a:pPr>
            <a:r>
              <a:rPr lang="en-US" altLang="ko-KR" sz="1800" dirty="0">
                <a:solidFill>
                  <a:schemeClr val="accent4"/>
                </a:solidFill>
              </a:rPr>
              <a:t>2.</a:t>
            </a:r>
            <a:r>
              <a:rPr lang="en-US" altLang="ko-KR" sz="1800" dirty="0"/>
              <a:t> </a:t>
            </a:r>
            <a:r>
              <a:rPr lang="ko-KR" altLang="en-US" sz="1800" dirty="0"/>
              <a:t>반환 값은 </a:t>
            </a:r>
            <a:r>
              <a:rPr lang="ko-KR" altLang="en-US" sz="1800" dirty="0" err="1"/>
              <a:t>삼항</a:t>
            </a:r>
            <a:r>
              <a:rPr lang="ko-KR" altLang="en-US" sz="1800" dirty="0"/>
              <a:t> 연산자를 중첩 사용해서 구한다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1800" dirty="0"/>
          </a:p>
          <a:p>
            <a:pPr marL="0" indent="0" algn="just">
              <a:buNone/>
            </a:pPr>
            <a:r>
              <a:rPr lang="en-US" altLang="ko-KR" sz="1800" dirty="0">
                <a:solidFill>
                  <a:schemeClr val="accent4"/>
                </a:solidFill>
              </a:rPr>
              <a:t>3.</a:t>
            </a:r>
            <a:r>
              <a:rPr lang="en-US" altLang="ko-KR" sz="1800" dirty="0"/>
              <a:t> </a:t>
            </a:r>
            <a:r>
              <a:rPr lang="ko-KR" altLang="en-US" sz="1800" dirty="0" err="1"/>
              <a:t>입력받은</a:t>
            </a:r>
            <a:r>
              <a:rPr lang="ko-KR" altLang="en-US" sz="1800" dirty="0"/>
              <a:t> 두 정수를 </a:t>
            </a:r>
            <a:r>
              <a:rPr lang="en-US" altLang="ko-KR" sz="1800" dirty="0">
                <a:latin typeface="Consolas" panose="020B0609020204030204" pitchFamily="49" charset="0"/>
              </a:rPr>
              <a:t>compare</a:t>
            </a:r>
            <a:r>
              <a:rPr lang="ko-KR" altLang="en-US" sz="1800" dirty="0"/>
              <a:t>에 전달하여 대소 관계를 확인한다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1800" dirty="0"/>
          </a:p>
          <a:p>
            <a:pPr marL="0" indent="0" algn="just">
              <a:buNone/>
            </a:pPr>
            <a:r>
              <a:rPr lang="en-US" altLang="ko-KR" sz="1800" dirty="0">
                <a:solidFill>
                  <a:schemeClr val="accent4"/>
                </a:solidFill>
              </a:rPr>
              <a:t>4.</a:t>
            </a:r>
            <a:r>
              <a:rPr lang="en-US" altLang="ko-KR" sz="1800" dirty="0"/>
              <a:t> </a:t>
            </a:r>
            <a:r>
              <a:rPr lang="en-US" altLang="ko-KR" sz="1800" dirty="0" err="1">
                <a:latin typeface="Consolas" panose="020B0609020204030204" pitchFamily="49" charset="0"/>
              </a:rPr>
              <a:t>printf</a:t>
            </a:r>
            <a:r>
              <a:rPr lang="ko-KR" altLang="en-US" sz="1800" dirty="0"/>
              <a:t>의 서식 문자열을 </a:t>
            </a:r>
            <a:r>
              <a:rPr lang="ko-KR" altLang="en-US" sz="1800" dirty="0" err="1"/>
              <a:t>삼항</a:t>
            </a:r>
            <a:r>
              <a:rPr lang="ko-KR" altLang="en-US" sz="1800" dirty="0"/>
              <a:t> 연산자를 중첩 사용하여 결정한다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206908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두 수의 대소 관계 파악하기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903284"/>
            <a:ext cx="8363272" cy="99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505857674"/>
              </p:ext>
            </p:extLst>
          </p:nvPr>
        </p:nvGraphicFramePr>
        <p:xfrm>
          <a:off x="875468" y="1414653"/>
          <a:ext cx="7393064" cy="493777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0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2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19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compare(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x,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y)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ES" altLang="ko-KR" dirty="0">
                          <a:latin typeface="Consolas" panose="020B0609020204030204" pitchFamily="49" charset="0"/>
                        </a:rPr>
                        <a:t>r = x - y &lt; 0 ? -1 : x == y ? 0 :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r;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x, y;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두 정수를 공백으로 구분하여 입력하세요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d%d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&amp;x, &amp;y);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c = compare(x, y);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(c &lt; 0 ?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 &lt;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: c == 0 ?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 ==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: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 &gt;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x, y);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4884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3853</Words>
  <Application>Microsoft Office PowerPoint</Application>
  <PresentationFormat>화면 슬라이드 쇼(4:3)</PresentationFormat>
  <Paragraphs>933</Paragraphs>
  <Slides>84</Slides>
  <Notes>58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84</vt:i4>
      </vt:variant>
    </vt:vector>
  </HeadingPairs>
  <TitlesOfParts>
    <vt:vector size="91" baseType="lpstr">
      <vt:lpstr>Noto Sans Symbols</vt:lpstr>
      <vt:lpstr>Malgun Gothic</vt:lpstr>
      <vt:lpstr>Malgun Gothic</vt:lpstr>
      <vt:lpstr>Arial</vt:lpstr>
      <vt:lpstr>Consolas</vt:lpstr>
      <vt:lpstr>Verdana</vt:lpstr>
      <vt:lpstr>Office 테마</vt:lpstr>
      <vt:lpstr>Chapter 04. 표현식과 연산자</vt:lpstr>
      <vt:lpstr>PowerPoint 프레젠테이션</vt:lpstr>
      <vt:lpstr>PowerPoint 프레젠테이션</vt:lpstr>
      <vt:lpstr>PowerPoint 프레젠테이션</vt:lpstr>
      <vt:lpstr>01. 표현식과 명령문</vt:lpstr>
      <vt:lpstr>01. 표현식과 명령문</vt:lpstr>
      <vt:lpstr>01. 표현식과 명령문</vt:lpstr>
      <vt:lpstr>01. 표현식과 명령문</vt:lpstr>
      <vt:lpstr>01. 표현식과 명령문</vt:lpstr>
      <vt:lpstr>01. 표현식과 명령문</vt:lpstr>
      <vt:lpstr>01. 표현식과 명령문</vt:lpstr>
      <vt:lpstr>01. 표현식과 명령문</vt:lpstr>
      <vt:lpstr>01. 표현식과 명령문</vt:lpstr>
      <vt:lpstr>PowerPoint 프레젠테이션</vt:lpstr>
      <vt:lpstr>02. 연산자란?</vt:lpstr>
      <vt:lpstr>02. 연산자란?</vt:lpstr>
      <vt:lpstr>PowerPoint 프레젠테이션</vt:lpstr>
      <vt:lpstr>03. 산술 연산자</vt:lpstr>
      <vt:lpstr>03. 산술 연산자</vt:lpstr>
      <vt:lpstr>03. 산술 연산자</vt:lpstr>
      <vt:lpstr>03. 산술 연산자</vt:lpstr>
      <vt:lpstr>03. 산술 연산자</vt:lpstr>
      <vt:lpstr>03. 산술 연산자</vt:lpstr>
      <vt:lpstr>03. 산술 연산자</vt:lpstr>
      <vt:lpstr>03. 산술 연산자</vt:lpstr>
      <vt:lpstr>03. 산술 연산자</vt:lpstr>
      <vt:lpstr>03. 산술 연산자</vt:lpstr>
      <vt:lpstr>03. 산술 연산자</vt:lpstr>
      <vt:lpstr>PowerPoint 프레젠테이션</vt:lpstr>
      <vt:lpstr>04. 비교 연산자</vt:lpstr>
      <vt:lpstr>04. 비교 연산자</vt:lpstr>
      <vt:lpstr>04. 비교 연산자</vt:lpstr>
      <vt:lpstr>04. 비교 연산자</vt:lpstr>
      <vt:lpstr>04. 비교 연산자</vt:lpstr>
      <vt:lpstr>04. 비교 연산자</vt:lpstr>
      <vt:lpstr>04. 비교 연산자</vt:lpstr>
      <vt:lpstr>PowerPoint 프레젠테이션</vt:lpstr>
      <vt:lpstr>05. 논리 연산자</vt:lpstr>
      <vt:lpstr>05. 논리 연산자</vt:lpstr>
      <vt:lpstr>05. 논리 연산자</vt:lpstr>
      <vt:lpstr>05. 논리 연산자</vt:lpstr>
      <vt:lpstr>05. 논리 연산자</vt:lpstr>
      <vt:lpstr>05. 논리 연산자</vt:lpstr>
      <vt:lpstr>05. 논리 연산자</vt:lpstr>
      <vt:lpstr>05. 논리 연산자</vt:lpstr>
      <vt:lpstr>05. 논리 연산자</vt:lpstr>
      <vt:lpstr>05. 논리 연산자</vt:lpstr>
      <vt:lpstr>PowerPoint 프레젠테이션</vt:lpstr>
      <vt:lpstr>06. 비트 연산자</vt:lpstr>
      <vt:lpstr>06. 비트 연산자</vt:lpstr>
      <vt:lpstr>06. 비트 연산자</vt:lpstr>
      <vt:lpstr>06. 비트 연산자</vt:lpstr>
      <vt:lpstr>06. 비트 연산자</vt:lpstr>
      <vt:lpstr>06. 비트 연산자</vt:lpstr>
      <vt:lpstr>06. 비트 연산자</vt:lpstr>
      <vt:lpstr>06. 비트 연산자</vt:lpstr>
      <vt:lpstr>06. 비트 연산자</vt:lpstr>
      <vt:lpstr>06. 비트 연산자</vt:lpstr>
      <vt:lpstr>06. 비트 연산자</vt:lpstr>
      <vt:lpstr>06. 비트 연산자</vt:lpstr>
      <vt:lpstr>06. 비트 연산자</vt:lpstr>
      <vt:lpstr>06. 비트 연산자</vt:lpstr>
      <vt:lpstr>PowerPoint 프레젠테이션</vt:lpstr>
      <vt:lpstr>07. 복합 대입 연산자와 삼항 연산자</vt:lpstr>
      <vt:lpstr>07. 복합 대입 연산자와 삼항 연산자</vt:lpstr>
      <vt:lpstr>07. 복합 대입 연산자와 삼항 연산자</vt:lpstr>
      <vt:lpstr>07. 복합 대입 연산자와 삼항 연산자</vt:lpstr>
      <vt:lpstr>07. 복합 대입 연산자와 삼항 연산자</vt:lpstr>
      <vt:lpstr>PowerPoint 프레젠테이션</vt:lpstr>
      <vt:lpstr>08. 기타 연산자와 우선순위</vt:lpstr>
      <vt:lpstr>08. 기타 연산자와 우선순위</vt:lpstr>
      <vt:lpstr>08. 기타 연산자와 우선순위</vt:lpstr>
      <vt:lpstr>08. 기타 연산자와 우선순위</vt:lpstr>
      <vt:lpstr>08. 기타 연산자와 우선순위</vt:lpstr>
      <vt:lpstr>08. 기타 연산자와 우선순위</vt:lpstr>
      <vt:lpstr>08. 기타 연산자와 우선순위</vt:lpstr>
      <vt:lpstr>08. 기타 연산자와 우선순위</vt:lpstr>
      <vt:lpstr>08. 기타 연산자와 우선순위</vt:lpstr>
      <vt:lpstr>08. 기타 연산자와 우선순위</vt:lpstr>
      <vt:lpstr>PowerPoint 프레젠테이션</vt:lpstr>
      <vt:lpstr>[실전예제] 두 수의 대소 관계 파악하기</vt:lpstr>
      <vt:lpstr>[실전예제] 두 수의 대소 관계 파악하기</vt:lpstr>
      <vt:lpstr>[실전예제] 두 수의 대소 관계 파악하기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마케팅팀</cp:lastModifiedBy>
  <cp:revision>97</cp:revision>
  <dcterms:created xsi:type="dcterms:W3CDTF">2012-07-11T10:23:22Z</dcterms:created>
  <dcterms:modified xsi:type="dcterms:W3CDTF">2023-07-04T07:46:31Z</dcterms:modified>
</cp:coreProperties>
</file>