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259" r:id="rId5"/>
    <p:sldId id="260" r:id="rId6"/>
    <p:sldId id="490" r:id="rId7"/>
    <p:sldId id="526" r:id="rId8"/>
    <p:sldId id="261" r:id="rId9"/>
    <p:sldId id="273" r:id="rId10"/>
    <p:sldId id="527" r:id="rId11"/>
    <p:sldId id="528" r:id="rId12"/>
    <p:sldId id="529" r:id="rId13"/>
    <p:sldId id="498" r:id="rId14"/>
    <p:sldId id="476" r:id="rId15"/>
    <p:sldId id="530" r:id="rId16"/>
    <p:sldId id="531" r:id="rId17"/>
    <p:sldId id="532" r:id="rId18"/>
    <p:sldId id="533" r:id="rId19"/>
    <p:sldId id="433" r:id="rId20"/>
    <p:sldId id="434" r:id="rId21"/>
    <p:sldId id="287" r:id="rId22"/>
    <p:sldId id="288" r:id="rId23"/>
    <p:sldId id="534" r:id="rId24"/>
    <p:sldId id="535" r:id="rId25"/>
    <p:sldId id="536" r:id="rId26"/>
    <p:sldId id="538" r:id="rId27"/>
    <p:sldId id="539" r:id="rId28"/>
    <p:sldId id="540" r:id="rId29"/>
    <p:sldId id="541" r:id="rId30"/>
    <p:sldId id="542" r:id="rId31"/>
    <p:sldId id="543" r:id="rId32"/>
    <p:sldId id="544" r:id="rId33"/>
    <p:sldId id="545" r:id="rId34"/>
    <p:sldId id="546" r:id="rId35"/>
    <p:sldId id="547" r:id="rId36"/>
    <p:sldId id="549" r:id="rId37"/>
    <p:sldId id="439" r:id="rId38"/>
    <p:sldId id="440" r:id="rId39"/>
    <p:sldId id="301" r:id="rId40"/>
    <p:sldId id="302" r:id="rId41"/>
    <p:sldId id="550" r:id="rId42"/>
    <p:sldId id="551" r:id="rId43"/>
    <p:sldId id="552" r:id="rId44"/>
    <p:sldId id="553" r:id="rId45"/>
    <p:sldId id="555" r:id="rId46"/>
    <p:sldId id="556" r:id="rId47"/>
    <p:sldId id="557" r:id="rId48"/>
    <p:sldId id="442" r:id="rId49"/>
    <p:sldId id="443" r:id="rId50"/>
    <p:sldId id="316" r:id="rId51"/>
    <p:sldId id="264" r:id="rId52"/>
    <p:sldId id="318" r:id="rId53"/>
    <p:sldId id="267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7C"/>
    <a:srgbClr val="FDE2CB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980" y="102"/>
      </p:cViewPr>
      <p:guideLst>
        <p:guide orient="horz" pos="2160"/>
        <p:guide pos="2880"/>
        <p:guide orient="horz" pos="219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53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10. </a:t>
            </a:r>
            <a:r>
              <a:rPr lang="ko-KR" altLang="en-US" sz="3600" b="1" dirty="0">
                <a:solidFill>
                  <a:schemeClr val="lt1"/>
                </a:solidFill>
              </a:rPr>
              <a:t>포인터 기초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03. 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심화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 사용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 연산자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memset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함수 내부 구현하기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포인터의 필요성과 개념을 이해한다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포인터 변수의 정의를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포인터 연산자의 종류와 사용법을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void </a:t>
            </a:r>
            <a:r>
              <a:rPr lang="ko-KR" altLang="en-US" dirty="0"/>
              <a:t>포인터의 개념과 특징을 살펴본다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포인터란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</a:t>
            </a:r>
            <a:endParaRPr lang="ko-KR" alt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주소와 크기가 정해진 메모리의 특정 영역을 가리키고 해석하기 위해서 프로그래밍에 도입된 새로운 형태의 값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ko-KR" altLang="en-US" dirty="0"/>
              <a:t>메모리 영역의 시작 주소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메모리 영역의 크기와 해석 방법</a:t>
            </a:r>
            <a:endParaRPr lang="en-US" altLang="ko-KR" dirty="0"/>
          </a:p>
        </p:txBody>
      </p:sp>
      <p:pic>
        <p:nvPicPr>
          <p:cNvPr id="1026" name="Picture 2" descr="C:\Users\변소현\Desktop\난생처음 C 언어 프로그래밍\그림\Ch10\그림 10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055" y="3888214"/>
            <a:ext cx="3646003" cy="216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포인터에 포함되는 정보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포인터를 이용한 예시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978033" y="2554576"/>
            <a:ext cx="6869297" cy="1927470"/>
            <a:chOff x="978033" y="2649826"/>
            <a:chExt cx="6869297" cy="1927470"/>
          </a:xfrm>
        </p:grpSpPr>
        <p:sp>
          <p:nvSpPr>
            <p:cNvPr id="12" name="Google Shape;102;p7"/>
            <p:cNvSpPr txBox="1"/>
            <p:nvPr/>
          </p:nvSpPr>
          <p:spPr>
            <a:xfrm>
              <a:off x="978033" y="2649826"/>
              <a:ext cx="52513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10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포인터를 이용한 메모리 영역 읽고 쓰기</a:t>
              </a:r>
              <a:endParaRPr dirty="0"/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335134820"/>
                </p:ext>
              </p:extLst>
            </p:nvPr>
          </p:nvGraphicFramePr>
          <p:xfrm>
            <a:off x="1068069" y="2967942"/>
            <a:ext cx="6779261" cy="160935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0xABCD1234;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*p +=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97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13" y="2574697"/>
            <a:ext cx="6990674" cy="1803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46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포인터 사용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 변수를 정의하는 방법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TYPE : </a:t>
            </a:r>
            <a:r>
              <a:rPr lang="ko-KR" altLang="en-US" dirty="0"/>
              <a:t>포인터가 가리키는 대상의 타입으로</a:t>
            </a:r>
            <a:r>
              <a:rPr lang="en-US" altLang="ko-KR" dirty="0"/>
              <a:t>, ‘</a:t>
            </a:r>
            <a:r>
              <a:rPr lang="ko-KR" altLang="en-US" dirty="0"/>
              <a:t>대상 타입</a:t>
            </a:r>
            <a:r>
              <a:rPr lang="en-US" altLang="ko-KR" dirty="0"/>
              <a:t>’</a:t>
            </a:r>
            <a:r>
              <a:rPr lang="ko-KR" altLang="en-US" dirty="0"/>
              <a:t>이라고 부름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대상 주소 </a:t>
            </a:r>
            <a:r>
              <a:rPr lang="en-US" altLang="ko-KR" dirty="0"/>
              <a:t>:</a:t>
            </a:r>
            <a:r>
              <a:rPr lang="ko-KR" altLang="en-US" dirty="0"/>
              <a:t> 포인터가 가리키는 대상이 차지하는 메모리 영역의 시작 주소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* : </a:t>
            </a:r>
            <a:r>
              <a:rPr lang="ko-KR" altLang="en-US" dirty="0"/>
              <a:t>포인터 변수를 정의할 때 포인터임을 나타내는 기호</a:t>
            </a:r>
            <a:br>
              <a:rPr lang="en-US" altLang="ko-KR" dirty="0"/>
            </a:br>
            <a:r>
              <a:rPr lang="en-US" altLang="ko-KR" dirty="0"/>
              <a:t>    TYPE</a:t>
            </a:r>
            <a:r>
              <a:rPr lang="ko-KR" altLang="en-US" dirty="0"/>
              <a:t>과 </a:t>
            </a:r>
            <a:r>
              <a:rPr lang="en-US" altLang="ko-KR" dirty="0"/>
              <a:t>Name </a:t>
            </a:r>
            <a:r>
              <a:rPr lang="ko-KR" altLang="en-US" dirty="0"/>
              <a:t>사이에 있어야 함</a:t>
            </a:r>
            <a:endParaRPr lang="en-US" altLang="ko-K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85" y="2184878"/>
            <a:ext cx="7676730" cy="1021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 변수를 정의하는 방법</a:t>
            </a:r>
            <a:endParaRPr lang="en-US" altLang="ko-KR" b="1" dirty="0"/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606876" y="2991589"/>
            <a:ext cx="7958668" cy="1468815"/>
            <a:chOff x="683573" y="1844824"/>
            <a:chExt cx="7924665" cy="1886937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 타입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대상타입이 아님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 이름과 세미콜론만 생략해도 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일반적으로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TYPE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붙인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TYPE*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포인터 타입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 타입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(TYPE*)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46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 변수를 정의하는 방법</a:t>
            </a:r>
            <a:endParaRPr lang="en-US" altLang="ko-KR" b="1" dirty="0"/>
          </a:p>
        </p:txBody>
      </p:sp>
      <p:sp>
        <p:nvSpPr>
          <p:cNvPr id="10" name="Google Shape;102;p7"/>
          <p:cNvSpPr txBox="1"/>
          <p:nvPr/>
        </p:nvSpPr>
        <p:spPr>
          <a:xfrm>
            <a:off x="978033" y="2141210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타입의 포인터 변수 정의</a:t>
            </a:r>
            <a:endParaRPr dirty="0"/>
          </a:p>
        </p:txBody>
      </p:sp>
      <p:graphicFrame>
        <p:nvGraphicFramePr>
          <p:cNvPr id="11" name="Google Shape;104;p7"/>
          <p:cNvGraphicFramePr/>
          <p:nvPr>
            <p:extLst>
              <p:ext uri="{D42A27DB-BD31-4B8C-83A1-F6EECF244321}">
                <p14:modId xmlns:p14="http://schemas.microsoft.com/office/powerpoint/2010/main" val="2816982653"/>
              </p:ext>
            </p:extLst>
          </p:nvPr>
        </p:nvGraphicFramePr>
        <p:xfrm>
          <a:off x="1068069" y="2459326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lang="en-US" sz="1400" b="1" u="none" strike="noStrike" cap="none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대상 타입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: char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대상 타입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altLang="ko-KR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대상 타입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: double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%d,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8" y="5107318"/>
            <a:ext cx="6908667" cy="529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639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 변수를 정의하는 방법</a:t>
            </a:r>
            <a:endParaRPr lang="en-US" altLang="ko-KR" b="1" dirty="0"/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606876" y="2257181"/>
            <a:ext cx="7958662" cy="3448295"/>
            <a:chOff x="683573" y="1844824"/>
            <a:chExt cx="7924665" cy="4429907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442990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24204" y="4819167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 변수와 </a:t>
              </a:r>
              <a:r>
                <a:rPr lang="en-US" altLang="ko-KR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변수를 구분하기 위해 콤마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(,)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연산자가 적용되는 방식을 알아야 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 변수를 정의할 때 주의할 점 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" name="Google Shape;102;p7"/>
          <p:cNvSpPr txBox="1"/>
          <p:nvPr/>
        </p:nvSpPr>
        <p:spPr>
          <a:xfrm>
            <a:off x="978033" y="2696114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타입의 포인터 변수 정의</a:t>
            </a:r>
            <a:endParaRPr dirty="0"/>
          </a:p>
        </p:txBody>
      </p:sp>
      <p:graphicFrame>
        <p:nvGraphicFramePr>
          <p:cNvPr id="11" name="Google Shape;104;p7"/>
          <p:cNvGraphicFramePr/>
          <p:nvPr>
            <p:extLst>
              <p:ext uri="{D42A27DB-BD31-4B8C-83A1-F6EECF244321}">
                <p14:modId xmlns:p14="http://schemas.microsoft.com/office/powerpoint/2010/main" val="4059612030"/>
              </p:ext>
            </p:extLst>
          </p:nvPr>
        </p:nvGraphicFramePr>
        <p:xfrm>
          <a:off x="1068069" y="3014230"/>
          <a:ext cx="6779261" cy="160935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p1, p2, *p3;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그룹 11"/>
          <p:cNvGrpSpPr/>
          <p:nvPr/>
        </p:nvGrpSpPr>
        <p:grpSpPr>
          <a:xfrm>
            <a:off x="3660841" y="4000380"/>
            <a:ext cx="3322256" cy="437904"/>
            <a:chOff x="3660841" y="4009905"/>
            <a:chExt cx="3322256" cy="437904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4325" y="4009905"/>
              <a:ext cx="2858772" cy="437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오른쪽 화살표 2"/>
            <p:cNvSpPr/>
            <p:nvPr/>
          </p:nvSpPr>
          <p:spPr>
            <a:xfrm>
              <a:off x="3660841" y="4152900"/>
              <a:ext cx="387284" cy="150251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30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대상 타입과 객체 타입이 같은 포인터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85898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변수를 가리키는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*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253406620"/>
              </p:ext>
            </p:extLst>
          </p:nvPr>
        </p:nvGraphicFramePr>
        <p:xfrm>
          <a:off x="1068069" y="2222340"/>
          <a:ext cx="6779261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 = &amp;a;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"a: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287" y="2258916"/>
            <a:ext cx="2306467" cy="708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938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대상 타입과 객체 타입이 같은 포인터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참조</a:t>
            </a:r>
            <a:r>
              <a:rPr lang="en-US" altLang="ko-KR" b="1" dirty="0"/>
              <a:t>(&amp;) </a:t>
            </a:r>
            <a:r>
              <a:rPr lang="ko-KR" altLang="en-US" b="1" dirty="0"/>
              <a:t>연산자</a:t>
            </a:r>
            <a:endParaRPr lang="ko-KR" altLang="en-US" sz="500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2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&amp;a</a:t>
            </a:r>
            <a:r>
              <a:rPr lang="ko-KR" altLang="en-US" dirty="0"/>
              <a:t>는 변수 </a:t>
            </a:r>
            <a:r>
              <a:rPr lang="en-US" altLang="ko-KR" dirty="0"/>
              <a:t>a</a:t>
            </a:r>
            <a:r>
              <a:rPr lang="ko-KR" altLang="en-US" dirty="0"/>
              <a:t>가 나타내는 메모리 영역을 가리키는 포인터를 의미함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&amp;a</a:t>
            </a:r>
            <a:r>
              <a:rPr lang="ko-KR" altLang="en-US" dirty="0"/>
              <a:t>는 변수 </a:t>
            </a:r>
            <a:r>
              <a:rPr lang="en-US" altLang="ko-KR" dirty="0"/>
              <a:t>a</a:t>
            </a:r>
            <a:r>
              <a:rPr lang="ko-KR" altLang="en-US" dirty="0"/>
              <a:t>가 나타내는 메모리 영역의 시작 주소가 대상 주소이고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대상 타입은 </a:t>
            </a:r>
            <a:r>
              <a:rPr lang="en-US" altLang="ko-KR" dirty="0" err="1"/>
              <a:t>int</a:t>
            </a:r>
            <a:r>
              <a:rPr lang="ko-KR" altLang="en-US" dirty="0"/>
              <a:t>인 포인터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포인터 변수에 포인터를 저장할 때는 서로의 대상 타입이 일치해야 한다는 암묵적인 규칙이 있음</a:t>
            </a:r>
            <a:endParaRPr lang="en-US" altLang="ko-KR"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77666917"/>
              </p:ext>
            </p:extLst>
          </p:nvPr>
        </p:nvGraphicFramePr>
        <p:xfrm>
          <a:off x="1210944" y="2146140"/>
          <a:ext cx="6779261" cy="40656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 = &amp;a;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863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대상 타입과 객체 타입이 같은 포인터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간접</a:t>
            </a:r>
            <a:r>
              <a:rPr lang="en-US" altLang="ko-KR" b="1" dirty="0"/>
              <a:t>(*) </a:t>
            </a:r>
            <a:r>
              <a:rPr lang="ko-KR" altLang="en-US" b="1" dirty="0"/>
              <a:t>연산자</a:t>
            </a:r>
            <a:endParaRPr lang="ko-KR" altLang="en-US" sz="500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2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해당 메모리 영역을 대상 타입 변수처럼</a:t>
            </a:r>
            <a:br>
              <a:rPr lang="en-US" altLang="ko-KR" dirty="0"/>
            </a:br>
            <a:r>
              <a:rPr lang="ko-KR" altLang="en-US" dirty="0"/>
              <a:t>사용할 수 있음</a:t>
            </a:r>
            <a:endParaRPr lang="en-US" altLang="ko-KR"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304185534"/>
              </p:ext>
            </p:extLst>
          </p:nvPr>
        </p:nvGraphicFramePr>
        <p:xfrm>
          <a:off x="1210944" y="2146140"/>
          <a:ext cx="3942081" cy="40656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8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*p = 1;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170" name="Picture 2" descr="C:\Users\변소현\Desktop\난생처음 C 언어 프로그래밍\그림\Ch10\그림 10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238" y="1761968"/>
            <a:ext cx="2563615" cy="453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530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대상 타입과 객체 타입이 다른 포인터</a:t>
            </a:r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163038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변수를 접근하는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char*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924151771"/>
              </p:ext>
            </p:extLst>
          </p:nvPr>
        </p:nvGraphicFramePr>
        <p:xfrm>
          <a:off x="1068069" y="1993740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//char* p = &amp;a;           //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(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*)&amp;a;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*(p + 0)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'A'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*(p + 1)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'B'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*(p + 2)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'C'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*(p + 3)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'\0'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330" y="5379149"/>
            <a:ext cx="20859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101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대상 타입과 객체 타입이 다른 포인터</a:t>
            </a:r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pic>
        <p:nvPicPr>
          <p:cNvPr id="9218" name="Picture 2" descr="C:\Users\변소현\Desktop\난생처음 C 언어 프로그래밍\그림\Ch10\그림 10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776" y="1979468"/>
            <a:ext cx="7003761" cy="415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064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2" y="1791647"/>
            <a:ext cx="7774315" cy="336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731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2343" y="2266354"/>
            <a:ext cx="7924665" cy="2734270"/>
            <a:chOff x="615155" y="1379935"/>
            <a:chExt cx="7924665" cy="273427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2734270"/>
              <a:chOff x="683573" y="1844825"/>
              <a:chExt cx="7924665" cy="112829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1282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10-1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>
                  <a:latin typeface="+mj-ea"/>
                  <a:ea typeface="+mj-ea"/>
                </a:rPr>
                <a:t>int</a:t>
              </a:r>
              <a:r>
                <a:rPr lang="en-US" altLang="ko-KR" sz="1600" b="1" dirty="0">
                  <a:latin typeface="+mj-ea"/>
                  <a:ea typeface="+mj-ea"/>
                </a:rPr>
                <a:t> </a:t>
              </a:r>
              <a:r>
                <a:rPr lang="ko-KR" altLang="en-US" sz="1600" b="1" dirty="0">
                  <a:latin typeface="+mj-ea"/>
                  <a:ea typeface="+mj-ea"/>
                </a:rPr>
                <a:t>변수를 </a:t>
              </a:r>
              <a:r>
                <a:rPr lang="en-US" altLang="ko-KR" sz="1600" b="1" dirty="0">
                  <a:latin typeface="+mj-ea"/>
                  <a:ea typeface="+mj-ea"/>
                </a:rPr>
                <a:t>–1</a:t>
              </a:r>
              <a:r>
                <a:rPr lang="ko-KR" altLang="en-US" sz="1600" b="1" dirty="0">
                  <a:latin typeface="+mj-ea"/>
                  <a:ea typeface="+mj-ea"/>
                </a:rPr>
                <a:t>로 설정하기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789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대상 타입이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char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 포인터를 이용하여 </a:t>
              </a:r>
              <a:r>
                <a:rPr lang="en-US" altLang="ko-KR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변수를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-1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 되도록 코드를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861" y="3571874"/>
            <a:ext cx="6817977" cy="43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44" y="4165552"/>
            <a:ext cx="7199211" cy="508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 사용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9192" y="1350962"/>
            <a:ext cx="7924665" cy="4482910"/>
            <a:chOff x="615155" y="1213372"/>
            <a:chExt cx="7924665" cy="471014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2"/>
              <a:ext cx="7924665" cy="4710145"/>
              <a:chOff x="683573" y="1844824"/>
              <a:chExt cx="7924665" cy="138956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38956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10-1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016532962"/>
                </p:ext>
              </p:extLst>
            </p:nvPr>
          </p:nvGraphicFramePr>
          <p:xfrm>
            <a:off x="871407" y="1680671"/>
            <a:ext cx="7416825" cy="3843011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(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*)&amp;a;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*(p + 0) = 0b11111111;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*(p + 1) = 0b11111111;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*(p + 2) = 0b11111111;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*(p + 3) = 0b11111111;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nn-NO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포인터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참조</a:t>
            </a:r>
            <a:r>
              <a:rPr lang="en-US" altLang="ko-KR" sz="2400" dirty="0"/>
              <a:t>(&amp;)</a:t>
            </a:r>
            <a:r>
              <a:rPr lang="ko-KR" altLang="en-US" sz="2400" dirty="0"/>
              <a:t> 연산자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sz="2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피연산자가</a:t>
            </a:r>
            <a:r>
              <a:rPr lang="ko-KR" altLang="en-US" dirty="0"/>
              <a:t> 객체</a:t>
            </a:r>
            <a:r>
              <a:rPr lang="en-US" altLang="ko-KR" dirty="0"/>
              <a:t>(</a:t>
            </a:r>
            <a:r>
              <a:rPr lang="ko-KR" altLang="en-US" dirty="0"/>
              <a:t>변수나 배열</a:t>
            </a:r>
            <a:r>
              <a:rPr lang="en-US" altLang="ko-KR" dirty="0"/>
              <a:t>)</a:t>
            </a:r>
            <a:r>
              <a:rPr lang="ko-KR" altLang="en-US" dirty="0"/>
              <a:t>일 경우 해당 객체를 가리키는 포인터를 도출함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주로 </a:t>
            </a:r>
            <a:r>
              <a:rPr lang="en-US" altLang="ko-KR" dirty="0" err="1"/>
              <a:t>scanf</a:t>
            </a:r>
            <a:r>
              <a:rPr lang="ko-KR" altLang="en-US" dirty="0"/>
              <a:t>를 호출할 때 콘솔로부터 입력 값을 받는 변수를 전달하기</a:t>
            </a:r>
            <a:br>
              <a:rPr lang="en-US" altLang="ko-KR" dirty="0"/>
            </a:br>
            <a:r>
              <a:rPr lang="ko-KR" altLang="en-US" dirty="0"/>
              <a:t>위해 사용됨</a:t>
            </a:r>
            <a:endParaRPr lang="en-US" altLang="ko-K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39" y="1704423"/>
            <a:ext cx="7696247" cy="137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06" y="4972017"/>
            <a:ext cx="7676730" cy="53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산술 연산자</a:t>
            </a:r>
            <a:endParaRPr lang="en-US" altLang="ko-KR" sz="2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주소 대입 연산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포인터와 정수의 연산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95" y="2098218"/>
            <a:ext cx="7683235" cy="1099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35" y="3952341"/>
            <a:ext cx="7702753" cy="110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227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산술 연산자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포인터와 정수의 연산</a:t>
            </a:r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0663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포인터와 정수의 덧셈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163041672"/>
              </p:ext>
            </p:extLst>
          </p:nvPr>
        </p:nvGraphicFramePr>
        <p:xfrm>
          <a:off x="1068069" y="2469990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NULL;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pC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+ 1 = %p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NULL;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+ 1 = %p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NULL;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+ 1 = %p"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484" y="2544924"/>
            <a:ext cx="2158711" cy="98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030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산술 연산자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포인터와 정수의 연산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sz="1500" dirty="0" err="1"/>
              <a:t>int</a:t>
            </a:r>
            <a:r>
              <a:rPr lang="en-US" altLang="ko-KR" sz="1500" dirty="0"/>
              <a:t>* </a:t>
            </a:r>
            <a:r>
              <a:rPr lang="ko-KR" altLang="en-US" sz="1500" dirty="0"/>
              <a:t>포인터 </a:t>
            </a:r>
            <a:r>
              <a:rPr lang="en-US" altLang="ko-KR" sz="1500" dirty="0"/>
              <a:t>+ 1 </a:t>
            </a:r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대상 타입인 </a:t>
            </a:r>
            <a:r>
              <a:rPr lang="en-US" altLang="ko-KR" sz="1400" dirty="0" err="1"/>
              <a:t>int</a:t>
            </a:r>
            <a:r>
              <a:rPr lang="ko-KR" altLang="en-US" sz="1400" dirty="0"/>
              <a:t>의 크기가 </a:t>
            </a:r>
            <a:r>
              <a:rPr lang="en-US" altLang="ko-KR" sz="1400" dirty="0"/>
              <a:t>4</a:t>
            </a:r>
            <a:r>
              <a:rPr lang="ko-KR" altLang="en-US" sz="1400" dirty="0"/>
              <a:t>바이트이므로 대상 주소에 </a:t>
            </a:r>
            <a:r>
              <a:rPr lang="en-US" altLang="ko-KR" sz="1400" dirty="0"/>
              <a:t>4</a:t>
            </a:r>
            <a:r>
              <a:rPr lang="ko-KR" altLang="en-US" sz="1400" dirty="0"/>
              <a:t>의 </a:t>
            </a:r>
            <a:r>
              <a:rPr lang="en-US" altLang="ko-KR" sz="1400" dirty="0"/>
              <a:t>1</a:t>
            </a:r>
            <a:r>
              <a:rPr lang="ko-KR" altLang="en-US" sz="1400" dirty="0"/>
              <a:t>배수인 </a:t>
            </a:r>
            <a:r>
              <a:rPr lang="en-US" altLang="ko-KR" sz="1400" dirty="0"/>
              <a:t>4</a:t>
            </a:r>
            <a:r>
              <a:rPr lang="ko-KR" altLang="en-US" sz="1400" dirty="0"/>
              <a:t>를 더함</a:t>
            </a:r>
            <a:endParaRPr lang="en-US" altLang="ko-KR" sz="14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sz="1500" dirty="0"/>
              <a:t>double* </a:t>
            </a:r>
            <a:r>
              <a:rPr lang="ko-KR" altLang="en-US" sz="1500" dirty="0"/>
              <a:t>포인터 </a:t>
            </a:r>
            <a:r>
              <a:rPr lang="en-US" altLang="ko-KR" sz="1500" dirty="0"/>
              <a:t>+ 1 </a:t>
            </a:r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대상 타입인 </a:t>
            </a:r>
            <a:r>
              <a:rPr lang="en-US" altLang="ko-KR" sz="1400" dirty="0"/>
              <a:t>double</a:t>
            </a:r>
            <a:r>
              <a:rPr lang="ko-KR" altLang="en-US" sz="1400" dirty="0"/>
              <a:t>의 크기가 </a:t>
            </a:r>
            <a:r>
              <a:rPr lang="en-US" altLang="ko-KR" sz="1400" dirty="0"/>
              <a:t>8</a:t>
            </a:r>
            <a:r>
              <a:rPr lang="ko-KR" altLang="en-US" sz="1400" dirty="0"/>
              <a:t>바이트이므로 대상 주소에 </a:t>
            </a:r>
            <a:r>
              <a:rPr lang="en-US" altLang="ko-KR" sz="1400" dirty="0"/>
              <a:t>8</a:t>
            </a:r>
            <a:r>
              <a:rPr lang="ko-KR" altLang="en-US" sz="1400" dirty="0"/>
              <a:t>의 </a:t>
            </a:r>
            <a:r>
              <a:rPr lang="en-US" altLang="ko-KR" sz="1400" dirty="0"/>
              <a:t>1</a:t>
            </a:r>
            <a:r>
              <a:rPr lang="ko-KR" altLang="en-US" sz="1400" dirty="0"/>
              <a:t>배수인 </a:t>
            </a:r>
            <a:r>
              <a:rPr lang="en-US" altLang="ko-KR" sz="1400" dirty="0"/>
              <a:t>8</a:t>
            </a:r>
            <a:r>
              <a:rPr lang="ko-KR" altLang="en-US" sz="1400" dirty="0"/>
              <a:t>을 더함</a:t>
            </a:r>
            <a:endParaRPr lang="en-US" altLang="ko-KR" sz="14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sz="1500" dirty="0"/>
              <a:t>char* </a:t>
            </a:r>
            <a:r>
              <a:rPr lang="ko-KR" altLang="en-US" sz="1500" dirty="0"/>
              <a:t>포인터 </a:t>
            </a:r>
            <a:r>
              <a:rPr lang="en-US" altLang="ko-KR" sz="1500" dirty="0"/>
              <a:t>+ 1 </a:t>
            </a:r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대상 타입인 </a:t>
            </a:r>
            <a:r>
              <a:rPr lang="en-US" altLang="ko-KR" sz="1400" dirty="0"/>
              <a:t>char</a:t>
            </a:r>
            <a:r>
              <a:rPr lang="ko-KR" altLang="en-US" sz="1400" dirty="0"/>
              <a:t>의 크기가 </a:t>
            </a:r>
            <a:r>
              <a:rPr lang="en-US" altLang="ko-KR" sz="1400" dirty="0"/>
              <a:t>1</a:t>
            </a:r>
            <a:r>
              <a:rPr lang="ko-KR" altLang="en-US" sz="1400" dirty="0"/>
              <a:t>바이트이므로 대상 주소를 </a:t>
            </a:r>
            <a:r>
              <a:rPr lang="en-US" altLang="ko-KR" sz="1400" dirty="0"/>
              <a:t>1</a:t>
            </a:r>
            <a:r>
              <a:rPr lang="ko-KR" altLang="en-US" sz="1400" dirty="0"/>
              <a:t>바이트 단위로 더함</a:t>
            </a:r>
          </a:p>
        </p:txBody>
      </p:sp>
      <p:pic>
        <p:nvPicPr>
          <p:cNvPr id="15362" name="Picture 2" descr="C:\Users\변소현\Desktop\난생처음 C 언어 프로그래밍\그림\Ch10\그림 10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49" y="4503190"/>
            <a:ext cx="4070402" cy="200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0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산술 연산자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포인터와 포인터의 연산</a:t>
            </a:r>
            <a:endParaRPr lang="en-US" altLang="ko-K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52" y="2105830"/>
            <a:ext cx="6937445" cy="96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oogle Shape;102;p7"/>
          <p:cNvSpPr txBox="1"/>
          <p:nvPr/>
        </p:nvSpPr>
        <p:spPr>
          <a:xfrm>
            <a:off x="911358" y="3170031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포인터와 포인터의 뺄셈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620319121"/>
              </p:ext>
            </p:extLst>
          </p:nvPr>
        </p:nvGraphicFramePr>
        <p:xfrm>
          <a:off x="1001394" y="3533384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p1 = 32;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대상 주소가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p2 = 4;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대상 주소가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"p1 - p2 =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p1 - 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40" y="5175481"/>
            <a:ext cx="1524286" cy="644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3161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증감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증감 연산자의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포인터 변수의 대상 주소를 대상 타입 크기만큼 증감시키는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증감 연산자의 </a:t>
            </a:r>
            <a:r>
              <a:rPr lang="ko-KR" altLang="en-US" dirty="0" err="1"/>
              <a:t>피연산자는</a:t>
            </a:r>
            <a:r>
              <a:rPr lang="ko-KR" altLang="en-US" dirty="0"/>
              <a:t> 반드시 포인터 변수여야 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증감 연산의 결과 </a:t>
            </a:r>
            <a:r>
              <a:rPr lang="ko-KR" altLang="en-US" dirty="0" err="1"/>
              <a:t>피연산자인</a:t>
            </a:r>
            <a:r>
              <a:rPr lang="ko-KR" altLang="en-US" dirty="0"/>
              <a:t> 포인터 변수의 대상 주소가 달라짐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91" y="3524250"/>
            <a:ext cx="7663718" cy="165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664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증감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증감 연산자의 개념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11358" y="2169906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포인터의 증감 연산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477665769"/>
              </p:ext>
            </p:extLst>
          </p:nvPr>
        </p:nvGraphicFramePr>
        <p:xfrm>
          <a:off x="1001394" y="2533259"/>
          <a:ext cx="6779261" cy="316516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NULL;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"++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%p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++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en-US" altLang="ko-KR" sz="13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는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가 되고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4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도출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"--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%p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--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en-US" altLang="ko-KR" sz="13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는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이 되고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0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도출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++: %p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++);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0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도출한 뒤 </a:t>
                      </a:r>
                      <a:r>
                        <a:rPr lang="en-US" altLang="ko-KR" sz="13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는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--: %p"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--);    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4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도출한 뒤 </a:t>
                      </a:r>
                      <a:r>
                        <a:rPr lang="en-US" altLang="ko-KR" sz="13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는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//++(&amp;a), --(&amp;a), (&amp;a)++, (&amp;a)--;   //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오류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302" y="4958692"/>
            <a:ext cx="2401195" cy="127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0224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간접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간접</a:t>
            </a:r>
            <a:r>
              <a:rPr lang="en-US" altLang="ko-KR" b="1" dirty="0"/>
              <a:t>(*)</a:t>
            </a:r>
            <a:r>
              <a:rPr lang="ko-KR" altLang="en-US" b="1" dirty="0"/>
              <a:t> 연산자의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포인터를 통해서 간접적으로 메모리 영역을 객체처럼 나타냄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10" y="2656907"/>
            <a:ext cx="7676730" cy="819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166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35157" y="1818459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포인터의 간접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(*)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연산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147563565"/>
              </p:ext>
            </p:extLst>
          </p:nvPr>
        </p:nvGraphicFramePr>
        <p:xfrm>
          <a:off x="925193" y="2181812"/>
          <a:ext cx="4180207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1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q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&amp;q;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"q: %d, *p: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q, *p);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ko-KR" altLang="en-US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간접 연산자</a:t>
            </a:r>
            <a:endParaRPr lang="en-US" altLang="ko-KR" dirty="0"/>
          </a:p>
        </p:txBody>
      </p:sp>
      <p:pic>
        <p:nvPicPr>
          <p:cNvPr id="20482" name="Picture 2" descr="C:\Users\변소현\Desktop\난생처음 C 언어 프로그래밍\그림\Ch10\그림 10-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8" y="1762853"/>
            <a:ext cx="3177385" cy="324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7" y="4999891"/>
            <a:ext cx="7683235" cy="59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821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5"/>
            </a:pPr>
            <a:r>
              <a:rPr lang="ko-KR" altLang="en-US" sz="2400" dirty="0"/>
              <a:t>간접 멤버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간접 멤버</a:t>
            </a:r>
            <a:r>
              <a:rPr lang="en-US" altLang="ko-KR" b="1" dirty="0"/>
              <a:t>(-&gt;)</a:t>
            </a:r>
            <a:r>
              <a:rPr lang="ko-KR" altLang="en-US" b="1" dirty="0"/>
              <a:t> 연산자의 사용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구조체나 </a:t>
            </a:r>
            <a:r>
              <a:rPr lang="ko-KR" altLang="en-US" dirty="0" err="1"/>
              <a:t>공용체의</a:t>
            </a:r>
            <a:r>
              <a:rPr lang="ko-KR" altLang="en-US" dirty="0"/>
              <a:t> 객체를 가리킬 때 사용</a:t>
            </a:r>
            <a:endParaRPr lang="en-US" altLang="ko-KR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05" y="2602810"/>
            <a:ext cx="7689741" cy="111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756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6"/>
            </a:pPr>
            <a:r>
              <a:rPr lang="ko-KR" altLang="en-US" sz="2400" dirty="0"/>
              <a:t>첨자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첨자</a:t>
            </a:r>
            <a:r>
              <a:rPr lang="en-US" altLang="ko-KR" b="1" dirty="0"/>
              <a:t>([])</a:t>
            </a:r>
            <a:r>
              <a:rPr lang="ko-KR" altLang="en-US" b="1" dirty="0"/>
              <a:t> 연산자의 사용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배열에 주로 사용되지만 포인터에도 사용할 수 있음</a:t>
            </a:r>
            <a:endParaRPr lang="en-US" altLang="ko-KR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80" y="2609549"/>
            <a:ext cx="7689741" cy="1086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378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593935" y="2276766"/>
            <a:ext cx="4900121" cy="2740803"/>
            <a:chOff x="1035183" y="3825045"/>
            <a:chExt cx="4900121" cy="2740803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35183" y="3825045"/>
              <a:ext cx="462266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10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-10]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 첨자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([])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연산자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216892287"/>
                </p:ext>
              </p:extLst>
            </p:nvPr>
          </p:nvGraphicFramePr>
          <p:xfrm>
            <a:off x="1125219" y="4188398"/>
            <a:ext cx="4810085" cy="237745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4151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[3] = {1, 2, 3};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"%d, %d, 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p[0], p[1], p[2]);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6"/>
            </a:pPr>
            <a:r>
              <a:rPr lang="ko-KR" altLang="en-US" sz="2400" dirty="0"/>
              <a:t>첨자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첨자</a:t>
            </a:r>
            <a:r>
              <a:rPr lang="en-US" altLang="ko-KR" b="1" dirty="0"/>
              <a:t>([])</a:t>
            </a:r>
            <a:r>
              <a:rPr lang="ko-KR" altLang="en-US" b="1" dirty="0"/>
              <a:t> 연산자의 사용</a:t>
            </a:r>
            <a:endParaRPr lang="en-US" altLang="ko-KR" dirty="0"/>
          </a:p>
        </p:txBody>
      </p:sp>
      <p:pic>
        <p:nvPicPr>
          <p:cNvPr id="23554" name="Picture 2" descr="C:\Users\변소현\Desktop\난생처음 C 언어 프로그래밍\그림\Ch10\그림 10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228" y="2388199"/>
            <a:ext cx="3130393" cy="27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09" y="5190157"/>
            <a:ext cx="7735281" cy="61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968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7"/>
            </a:pPr>
            <a:r>
              <a:rPr lang="ko-KR" altLang="en-US" sz="2400" dirty="0"/>
              <a:t>타입 변환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변환 연산자의 사용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대상 타입이 다른 포인터를 생성하기 위하여 사용됨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16133" y="2579481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타입 변환 연산자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74288153"/>
              </p:ext>
            </p:extLst>
          </p:nvPr>
        </p:nvGraphicFramePr>
        <p:xfrm>
          <a:off x="1106169" y="2942834"/>
          <a:ext cx="6779261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s1 =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(*(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s2 =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(*p);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"s1: %d, s2: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s1, s2);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944" y="3099793"/>
            <a:ext cx="2086054" cy="61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97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55" y="1927085"/>
            <a:ext cx="6996589" cy="309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9151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포인터 연산자</a:t>
            </a:r>
            <a:endParaRPr lang="ko-KR" alt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48" y="1761485"/>
            <a:ext cx="6961104" cy="343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365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12343" y="2200275"/>
            <a:ext cx="7924665" cy="2543174"/>
            <a:chOff x="612343" y="1276350"/>
            <a:chExt cx="7924665" cy="2543174"/>
          </a:xfrm>
        </p:grpSpPr>
        <p:grpSp>
          <p:nvGrpSpPr>
            <p:cNvPr id="3" name="그룹 2"/>
            <p:cNvGrpSpPr/>
            <p:nvPr/>
          </p:nvGrpSpPr>
          <p:grpSpPr>
            <a:xfrm>
              <a:off x="612343" y="1276350"/>
              <a:ext cx="7924665" cy="2543174"/>
              <a:chOff x="615155" y="898523"/>
              <a:chExt cx="7924665" cy="2543174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898523"/>
                <a:ext cx="7924665" cy="2543174"/>
                <a:chOff x="683573" y="1646170"/>
                <a:chExt cx="7924665" cy="1049437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646170"/>
                  <a:ext cx="7920000" cy="104943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647056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10-2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916704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배열의 모든 요소를 </a:t>
                </a:r>
                <a:r>
                  <a:rPr lang="en-US" altLang="ko-KR" sz="1600" b="1" dirty="0">
                    <a:latin typeface="+mj-ea"/>
                    <a:ea typeface="+mj-ea"/>
                  </a:rPr>
                  <a:t>–1</a:t>
                </a:r>
                <a:r>
                  <a:rPr lang="ko-KR" altLang="en-US" sz="1600" b="1" dirty="0">
                    <a:latin typeface="+mj-ea"/>
                    <a:ea typeface="+mj-ea"/>
                  </a:rPr>
                  <a:t>로 설정하기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85627" y="1288542"/>
                <a:ext cx="7397419" cy="789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char* p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를 사용하여 </a:t>
                </a:r>
                <a:r>
                  <a:rPr lang="en-US" altLang="ko-KR" sz="16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int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6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arr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[32];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의 모든 요소를 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-1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로 설정하는 코드를 작성해봅시다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266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9952" y="2553965"/>
              <a:ext cx="6609795" cy="1008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737249"/>
            <a:ext cx="7924665" cy="3549127"/>
            <a:chOff x="615155" y="1556274"/>
            <a:chExt cx="7924665" cy="354912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3549127"/>
              <a:chOff x="683573" y="1844824"/>
              <a:chExt cx="7924665" cy="104704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470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471444660"/>
                </p:ext>
              </p:extLst>
            </p:nvPr>
          </p:nvGraphicFramePr>
          <p:xfrm>
            <a:off x="871407" y="2023571"/>
            <a:ext cx="7416825" cy="2929429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[32];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* p = (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*)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= 0;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&lt;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);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*p = 0b11111111;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p++;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en-US" altLang="ko-KR" sz="4000" dirty="0"/>
              <a:t>void </a:t>
            </a:r>
            <a:r>
              <a:rPr lang="ko-KR" altLang="en-US" sz="4000" dirty="0"/>
              <a:t>포인터란</a:t>
            </a:r>
            <a:r>
              <a:rPr lang="en-US" altLang="ko-KR" sz="4000" dirty="0"/>
              <a:t>?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개념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void </a:t>
            </a:r>
            <a:r>
              <a:rPr lang="ko-KR" altLang="en-US" b="1" dirty="0"/>
              <a:t>포인터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대상 타입이 없는</a:t>
            </a:r>
            <a:r>
              <a:rPr lang="en-US" altLang="ko-KR" dirty="0"/>
              <a:t>, </a:t>
            </a:r>
            <a:r>
              <a:rPr lang="ko-KR" altLang="en-US" dirty="0"/>
              <a:t>따라서 대상 타입이 </a:t>
            </a:r>
            <a:r>
              <a:rPr lang="en-US" altLang="ko-KR" dirty="0"/>
              <a:t>void</a:t>
            </a:r>
            <a:r>
              <a:rPr lang="ko-KR" altLang="en-US" dirty="0"/>
              <a:t>인 포인터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void</a:t>
            </a:r>
            <a:r>
              <a:rPr lang="ko-KR" altLang="en-US" dirty="0"/>
              <a:t>는 크기가 없으므로 </a:t>
            </a:r>
            <a:r>
              <a:rPr lang="en-US" altLang="ko-KR" dirty="0"/>
              <a:t>void </a:t>
            </a:r>
            <a:r>
              <a:rPr lang="ko-KR" altLang="en-US" dirty="0"/>
              <a:t>변수를 정의할 수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보통 메모리의 주소만을 나타내기 위하여 사용됨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특징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범용성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void </a:t>
            </a:r>
            <a:r>
              <a:rPr lang="ko-KR" altLang="en-US" dirty="0"/>
              <a:t>포인터가 변수로 사용될 경우 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어떤 타입의 포인터라도 컴파일러 경고 없이 받을 수 있음</a:t>
            </a:r>
            <a:endParaRPr lang="en-US" altLang="ko-KR" sz="14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void </a:t>
            </a:r>
            <a:r>
              <a:rPr lang="ko-KR" altLang="en-US" dirty="0"/>
              <a:t>포인터가 값으로 사용될 경우 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컴파일러 경고 없이 어떤 포인터 타입으로도 암묵적으로 변환될 수 있음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851492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특징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1016133" y="1760331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void*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873845327"/>
              </p:ext>
            </p:extLst>
          </p:nvPr>
        </p:nvGraphicFramePr>
        <p:xfrm>
          <a:off x="1106169" y="2123684"/>
          <a:ext cx="6779261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&amp;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&amp;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pV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&amp;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pV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87" y="5098736"/>
            <a:ext cx="6996588" cy="5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7371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특징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인자로 사용되는 </a:t>
            </a:r>
            <a:r>
              <a:rPr lang="en-US" altLang="ko-KR" b="1" dirty="0"/>
              <a:t>void </a:t>
            </a:r>
            <a:r>
              <a:rPr lang="ko-KR" altLang="en-US" b="1" dirty="0"/>
              <a:t>포인터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memset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이미 정의된 배열의 모든 요소를 </a:t>
            </a:r>
            <a:r>
              <a:rPr lang="en-US" altLang="ko-KR" dirty="0"/>
              <a:t>0</a:t>
            </a:r>
            <a:r>
              <a:rPr lang="ko-KR" altLang="en-US" dirty="0"/>
              <a:t>으로 만들 때 사용됨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dest</a:t>
            </a:r>
            <a:r>
              <a:rPr lang="en-US" altLang="ko-KR" dirty="0"/>
              <a:t> : </a:t>
            </a:r>
            <a:r>
              <a:rPr lang="ko-KR" altLang="en-US" dirty="0"/>
              <a:t>대상 주소에서 </a:t>
            </a:r>
            <a:r>
              <a:rPr lang="en-US" altLang="ko-KR" dirty="0"/>
              <a:t>count </a:t>
            </a:r>
            <a:r>
              <a:rPr lang="ko-KR" altLang="en-US" dirty="0"/>
              <a:t>바이트 크기의 메모리 영역에 </a:t>
            </a:r>
            <a:r>
              <a:rPr lang="en-US" altLang="ko-KR" dirty="0"/>
              <a:t>1</a:t>
            </a:r>
            <a:r>
              <a:rPr lang="ko-KR" altLang="en-US" dirty="0"/>
              <a:t>바이트씩 값 </a:t>
            </a:r>
            <a:r>
              <a:rPr lang="en-US" altLang="ko-KR" dirty="0"/>
              <a:t>c</a:t>
            </a:r>
            <a:r>
              <a:rPr lang="ko-KR" altLang="en-US" dirty="0"/>
              <a:t>를 채우는 함수이자</a:t>
            </a:r>
            <a:r>
              <a:rPr lang="en-US" altLang="ko-KR" dirty="0"/>
              <a:t>, void </a:t>
            </a:r>
            <a:r>
              <a:rPr lang="ko-KR" altLang="en-US" dirty="0"/>
              <a:t>포인터인 매개변수</a:t>
            </a:r>
            <a:endParaRPr lang="en-US" altLang="ko-KR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60" y="2301178"/>
            <a:ext cx="7644203" cy="61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841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특징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인자로 사용되는 </a:t>
            </a:r>
            <a:r>
              <a:rPr lang="en-US" altLang="ko-KR" b="1" dirty="0"/>
              <a:t>void </a:t>
            </a:r>
            <a:r>
              <a:rPr lang="ko-KR" altLang="en-US" b="1" dirty="0"/>
              <a:t>포인터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16133" y="2153244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-13]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memset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662397406"/>
              </p:ext>
            </p:extLst>
          </p:nvPr>
        </p:nvGraphicFramePr>
        <p:xfrm>
          <a:off x="1106169" y="2516597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 ] = { 1, 2, 3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memset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0,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3;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"a[%d] = 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031" y="2606004"/>
            <a:ext cx="1834608" cy="1138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884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한계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대상 주소가 있다 해도 어떤 메모리 영역도 변수처럼 사용할 수가 없음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16133" y="2475745"/>
            <a:ext cx="51941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간접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(*)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연산자의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피연산자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005501587"/>
              </p:ext>
            </p:extLst>
          </p:nvPr>
        </p:nvGraphicFramePr>
        <p:xfrm>
          <a:off x="1106169" y="2839098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&amp;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//*p = 1;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*)p = 1;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723671" y="4090985"/>
            <a:ext cx="1184341" cy="238125"/>
            <a:chOff x="2572826" y="4287772"/>
            <a:chExt cx="1136582" cy="304800"/>
          </a:xfrm>
        </p:grpSpPr>
        <p:sp>
          <p:nvSpPr>
            <p:cNvPr id="8" name="직사각형 7"/>
            <p:cNvSpPr/>
            <p:nvPr/>
          </p:nvSpPr>
          <p:spPr>
            <a:xfrm>
              <a:off x="3052183" y="4287772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H="1">
              <a:off x="2572826" y="4592572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6528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void </a:t>
            </a:r>
            <a:r>
              <a:rPr lang="ko-KR" altLang="en-US" sz="2400" dirty="0"/>
              <a:t>포인터의 한계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다른 포인터 연산을 할 수 없음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44708" y="2175052"/>
            <a:ext cx="51941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-15]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산술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증감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첨자 연산과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741312423"/>
              </p:ext>
            </p:extLst>
          </p:nvPr>
        </p:nvGraphicFramePr>
        <p:xfrm>
          <a:off x="1134744" y="2538405"/>
          <a:ext cx="6779261" cy="3657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&amp;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//*p = 1;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*(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*)p = 1;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//p++;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*)p)++;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//p[0];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((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*)p)[0];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808254" y="3767135"/>
            <a:ext cx="1184341" cy="238125"/>
            <a:chOff x="2572826" y="4287772"/>
            <a:chExt cx="1136582" cy="304800"/>
          </a:xfrm>
        </p:grpSpPr>
        <p:sp>
          <p:nvSpPr>
            <p:cNvPr id="8" name="직사각형 7"/>
            <p:cNvSpPr/>
            <p:nvPr/>
          </p:nvSpPr>
          <p:spPr>
            <a:xfrm>
              <a:off x="3052183" y="4287772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H="1">
              <a:off x="2572826" y="4592572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/>
          <p:cNvGrpSpPr/>
          <p:nvPr/>
        </p:nvGrpSpPr>
        <p:grpSpPr>
          <a:xfrm>
            <a:off x="2457450" y="4548185"/>
            <a:ext cx="1184341" cy="238125"/>
            <a:chOff x="2572826" y="4287772"/>
            <a:chExt cx="1136582" cy="304800"/>
          </a:xfrm>
        </p:grpSpPr>
        <p:sp>
          <p:nvSpPr>
            <p:cNvPr id="11" name="직사각형 10"/>
            <p:cNvSpPr/>
            <p:nvPr/>
          </p:nvSpPr>
          <p:spPr>
            <a:xfrm>
              <a:off x="3052183" y="4287772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 flipH="1">
              <a:off x="2572826" y="4592572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2545274" y="5319710"/>
            <a:ext cx="1184341" cy="238125"/>
            <a:chOff x="2572826" y="4287772"/>
            <a:chExt cx="1136582" cy="304800"/>
          </a:xfrm>
        </p:grpSpPr>
        <p:sp>
          <p:nvSpPr>
            <p:cNvPr id="14" name="직사각형 13"/>
            <p:cNvSpPr/>
            <p:nvPr/>
          </p:nvSpPr>
          <p:spPr>
            <a:xfrm>
              <a:off x="3052183" y="4287772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 flipH="1">
              <a:off x="2572826" y="4592572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4852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13" y="1876503"/>
            <a:ext cx="7032074" cy="310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5154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55193" y="2173259"/>
            <a:ext cx="7924665" cy="2606732"/>
            <a:chOff x="615155" y="1379937"/>
            <a:chExt cx="7924665" cy="260673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2606732"/>
              <a:chOff x="683573" y="1844824"/>
              <a:chExt cx="7924665" cy="107566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756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10-3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두 변수의 주소와 주소 차이 출력하기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두 변수의 주소와 주소 차이를 출력하는 함수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VariableAddress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)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두 변수의 타입 제한은 없으며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VariableAddress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함수는 두 변수의 포인터를 </a:t>
              </a:r>
              <a:r>
                <a:rPr lang="ko-KR" altLang="en-US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입력받습니다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35" y="3905250"/>
            <a:ext cx="7163430" cy="529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330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>
                <a:solidFill>
                  <a:schemeClr val="tx1"/>
                </a:solidFill>
              </a:rPr>
              <a:t>void </a:t>
            </a:r>
            <a:r>
              <a:rPr lang="ko-KR" altLang="en-US" dirty="0">
                <a:solidFill>
                  <a:schemeClr val="tx1"/>
                </a:solidFill>
              </a:rPr>
              <a:t>포인터란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2571750"/>
            <a:ext cx="7924665" cy="1837248"/>
            <a:chOff x="615155" y="1327674"/>
            <a:chExt cx="7924665" cy="18372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4"/>
              <a:ext cx="7924665" cy="1837248"/>
              <a:chOff x="683573" y="1844824"/>
              <a:chExt cx="7924665" cy="49035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4903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10-3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67827402"/>
                </p:ext>
              </p:extLst>
            </p:nvPr>
          </p:nvGraphicFramePr>
          <p:xfrm>
            <a:off x="871407" y="1794971"/>
            <a:ext cx="7416825" cy="1255651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255651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  <a:endPara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VariableAddress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* p1,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* p2)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"%p, %p, %d"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p1, p2, (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*)p1 - (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*)p2);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39212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en-US" altLang="ko-KR" sz="4000" dirty="0" err="1">
                <a:solidFill>
                  <a:schemeClr val="accent4"/>
                </a:solidFill>
              </a:rPr>
              <a:t>memset</a:t>
            </a:r>
            <a:r>
              <a:rPr lang="en-US" altLang="ko-KR" sz="4000" dirty="0">
                <a:solidFill>
                  <a:schemeClr val="accent4"/>
                </a:solidFill>
              </a:rPr>
              <a:t> </a:t>
            </a:r>
            <a:r>
              <a:rPr lang="ko-KR" altLang="en-US" sz="4000" dirty="0">
                <a:solidFill>
                  <a:schemeClr val="accent4"/>
                </a:solidFill>
              </a:rPr>
              <a:t>함수 내부 구현하기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 err="1">
                <a:solidFill>
                  <a:schemeClr val="tx1"/>
                </a:solidFill>
              </a:rPr>
              <a:t>memset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 내부 구현하기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1366961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1800" dirty="0"/>
              <a:t>[</a:t>
            </a:r>
            <a:r>
              <a:rPr lang="ko-KR" altLang="en-US" sz="1800" dirty="0"/>
              <a:t>코드 </a:t>
            </a:r>
            <a:r>
              <a:rPr lang="en-US" altLang="ko-KR" sz="1800" dirty="0"/>
              <a:t>10-13]</a:t>
            </a:r>
            <a:r>
              <a:rPr lang="ko-KR" altLang="en-US" sz="1800" dirty="0"/>
              <a:t>에서 살펴본 </a:t>
            </a:r>
            <a:r>
              <a:rPr lang="en-US" altLang="ko-KR" sz="1800" dirty="0" err="1"/>
              <a:t>memset</a:t>
            </a:r>
            <a:r>
              <a:rPr lang="en-US" altLang="ko-KR" sz="1800" dirty="0"/>
              <a:t> </a:t>
            </a:r>
            <a:r>
              <a:rPr lang="ko-KR" altLang="en-US" sz="1800" dirty="0"/>
              <a:t>함수를 </a:t>
            </a:r>
            <a:r>
              <a:rPr lang="en-US" altLang="ko-KR" sz="1800" dirty="0" err="1"/>
              <a:t>mymemset</a:t>
            </a:r>
            <a:r>
              <a:rPr lang="ko-KR" altLang="en-US" sz="1800" dirty="0"/>
              <a:t>이란 함수로 내부를 구현해봅시다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단</a:t>
            </a:r>
            <a:r>
              <a:rPr lang="en-US" altLang="ko-KR" sz="1800" dirty="0"/>
              <a:t>, </a:t>
            </a:r>
            <a:r>
              <a:rPr lang="ko-KR" altLang="en-US" sz="1800" dirty="0"/>
              <a:t>반환 값은 </a:t>
            </a:r>
            <a:r>
              <a:rPr lang="en-US" altLang="ko-KR" sz="1800" dirty="0" err="1"/>
              <a:t>dest</a:t>
            </a:r>
            <a:r>
              <a:rPr lang="en-US" altLang="ko-KR" sz="1800" dirty="0"/>
              <a:t> </a:t>
            </a:r>
            <a:r>
              <a:rPr lang="ko-KR" altLang="en-US" sz="1800" dirty="0"/>
              <a:t>그대로입니다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2939728"/>
            <a:ext cx="8425154" cy="489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323528" y="3888765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en-US" altLang="ko-KR" sz="1800" dirty="0"/>
              <a:t>1</a:t>
            </a:r>
            <a:r>
              <a:rPr lang="ko-KR" altLang="en-US" sz="1800" dirty="0"/>
              <a:t>바이트 단위로 메모리 영역에 값을 써야 하기 때문에 대상 타입이 </a:t>
            </a:r>
            <a:r>
              <a:rPr lang="en-US" altLang="ko-KR" sz="1800" dirty="0">
                <a:latin typeface="Consolas" panose="020B0609020204030204" pitchFamily="49" charset="0"/>
              </a:rPr>
              <a:t>char</a:t>
            </a:r>
            <a:r>
              <a:rPr lang="ko-KR" altLang="en-US" sz="1800" dirty="0"/>
              <a:t>인 포인터 </a:t>
            </a:r>
            <a:r>
              <a:rPr lang="en-US" altLang="ko-KR" sz="1800" dirty="0">
                <a:latin typeface="Consolas" panose="020B0609020204030204" pitchFamily="49" charset="0"/>
              </a:rPr>
              <a:t>p</a:t>
            </a:r>
            <a:r>
              <a:rPr lang="ko-KR" altLang="en-US" sz="1800" dirty="0"/>
              <a:t>를 </a:t>
            </a:r>
            <a:r>
              <a:rPr lang="en-US" altLang="ko-KR" sz="1800" dirty="0" err="1">
                <a:latin typeface="Consolas" panose="020B0609020204030204" pitchFamily="49" charset="0"/>
              </a:rPr>
              <a:t>dest</a:t>
            </a:r>
            <a:r>
              <a:rPr lang="ko-KR" altLang="en-US" sz="1800" dirty="0"/>
              <a:t>로 초기화한다</a:t>
            </a:r>
            <a:r>
              <a:rPr lang="en-US" altLang="ko-KR" sz="1800" dirty="0"/>
              <a:t>.</a:t>
            </a:r>
            <a:endParaRPr lang="en-US" altLang="ko-KR" sz="16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메모리 영역 크기만큼 </a:t>
            </a:r>
            <a:r>
              <a:rPr lang="ko-KR" altLang="en-US" sz="1800" dirty="0" err="1"/>
              <a:t>반복문으로</a:t>
            </a:r>
            <a:r>
              <a:rPr lang="ko-KR" altLang="en-US" sz="1800" dirty="0"/>
              <a:t> </a:t>
            </a:r>
            <a:r>
              <a:rPr lang="en-US" altLang="ko-KR" sz="1800" dirty="0">
                <a:latin typeface="Consolas" panose="020B0609020204030204" pitchFamily="49" charset="0"/>
              </a:rPr>
              <a:t>p[</a:t>
            </a:r>
            <a:r>
              <a:rPr lang="en-US" altLang="ko-KR" sz="1800" dirty="0" err="1">
                <a:latin typeface="Consolas" panose="020B0609020204030204" pitchFamily="49" charset="0"/>
              </a:rPr>
              <a:t>i</a:t>
            </a:r>
            <a:r>
              <a:rPr lang="en-US" altLang="ko-KR" sz="1800" dirty="0">
                <a:latin typeface="Consolas" panose="020B0609020204030204" pitchFamily="49" charset="0"/>
              </a:rPr>
              <a:t>]</a:t>
            </a:r>
            <a:r>
              <a:rPr lang="ko-KR" altLang="en-US" sz="1800" dirty="0"/>
              <a:t>에 값 </a:t>
            </a:r>
            <a:r>
              <a:rPr lang="en-US" altLang="ko-KR" sz="1800" dirty="0">
                <a:latin typeface="Consolas" panose="020B0609020204030204" pitchFamily="49" charset="0"/>
              </a:rPr>
              <a:t>c</a:t>
            </a:r>
            <a:r>
              <a:rPr lang="ko-KR" altLang="en-US" sz="1800" dirty="0"/>
              <a:t>를 대입한다</a:t>
            </a:r>
            <a:r>
              <a:rPr lang="en-US" altLang="ko-KR" sz="1800"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 err="1">
                <a:solidFill>
                  <a:schemeClr val="tx1"/>
                </a:solidFill>
              </a:rPr>
              <a:t>memset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 내부 구현하기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17955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507244240"/>
              </p:ext>
            </p:extLst>
          </p:nvPr>
        </p:nvGraphicFramePr>
        <p:xfrm>
          <a:off x="882798" y="2343150"/>
          <a:ext cx="7416825" cy="21214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mymemset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dest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size_t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count)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dest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count;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= c;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3078</TotalTime>
  <Words>2459</Words>
  <Application>Microsoft Office PowerPoint</Application>
  <PresentationFormat>화면 슬라이드 쇼(4:3)</PresentationFormat>
  <Paragraphs>622</Paragraphs>
  <Slides>53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0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10. 포인터 기초</vt:lpstr>
      <vt:lpstr>PowerPoint 프레젠테이션</vt:lpstr>
      <vt:lpstr>PowerPoint 프레젠테이션</vt:lpstr>
      <vt:lpstr>PowerPoint 프레젠테이션</vt:lpstr>
      <vt:lpstr>01. 포인터란?</vt:lpstr>
      <vt:lpstr>01. 포인터란?</vt:lpstr>
      <vt:lpstr>01. 포인터란?</vt:lpstr>
      <vt:lpstr>PowerPoint 프레젠테이션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02. 포인터 사용</vt:lpstr>
      <vt:lpstr>PowerPoint 프레젠테이션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포인터 연산자</vt:lpstr>
      <vt:lpstr>03. 전역 저장소 분류</vt:lpstr>
      <vt:lpstr>03. 전역 저장소 분류</vt:lpstr>
      <vt:lpstr>PowerPoint 프레젠테이션</vt:lpstr>
      <vt:lpstr>04. void 포인터란?</vt:lpstr>
      <vt:lpstr>04. void 포인터란?</vt:lpstr>
      <vt:lpstr>04. void 포인터란?</vt:lpstr>
      <vt:lpstr>04. void 포인터란?</vt:lpstr>
      <vt:lpstr>04. void 포인터란?</vt:lpstr>
      <vt:lpstr>04. void 포인터란?</vt:lpstr>
      <vt:lpstr>04. void 포인터란?</vt:lpstr>
      <vt:lpstr>04. void 포인터란?</vt:lpstr>
      <vt:lpstr>04. void 포인터란?</vt:lpstr>
      <vt:lpstr>04. void 포인터란?</vt:lpstr>
      <vt:lpstr>PowerPoint 프레젠테이션</vt:lpstr>
      <vt:lpstr>[실전예제] memset 함수 내부 구현하기</vt:lpstr>
      <vt:lpstr>[실전예제] memset 함수 내부 구현하기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219</cp:revision>
  <dcterms:created xsi:type="dcterms:W3CDTF">2012-07-11T10:23:22Z</dcterms:created>
  <dcterms:modified xsi:type="dcterms:W3CDTF">2022-02-21T07:48:14Z</dcterms:modified>
</cp:coreProperties>
</file>