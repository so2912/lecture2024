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65"/>
  </p:notesMasterIdLst>
  <p:handoutMasterIdLst>
    <p:handoutMasterId r:id="rId66"/>
  </p:handoutMasterIdLst>
  <p:sldIdLst>
    <p:sldId id="256" r:id="rId2"/>
    <p:sldId id="257" r:id="rId3"/>
    <p:sldId id="258" r:id="rId4"/>
    <p:sldId id="259" r:id="rId5"/>
    <p:sldId id="260" r:id="rId6"/>
    <p:sldId id="490" r:id="rId7"/>
    <p:sldId id="491" r:id="rId8"/>
    <p:sldId id="492" r:id="rId9"/>
    <p:sldId id="493" r:id="rId10"/>
    <p:sldId id="459" r:id="rId11"/>
    <p:sldId id="494" r:id="rId12"/>
    <p:sldId id="495" r:id="rId13"/>
    <p:sldId id="467" r:id="rId14"/>
    <p:sldId id="468" r:id="rId15"/>
    <p:sldId id="469" r:id="rId16"/>
    <p:sldId id="496" r:id="rId17"/>
    <p:sldId id="261" r:id="rId18"/>
    <p:sldId id="273" r:id="rId19"/>
    <p:sldId id="497" r:id="rId20"/>
    <p:sldId id="498" r:id="rId21"/>
    <p:sldId id="476" r:id="rId22"/>
    <p:sldId id="433" r:id="rId23"/>
    <p:sldId id="434" r:id="rId24"/>
    <p:sldId id="287" r:id="rId25"/>
    <p:sldId id="288" r:id="rId26"/>
    <p:sldId id="499" r:id="rId27"/>
    <p:sldId id="500" r:id="rId28"/>
    <p:sldId id="501" r:id="rId29"/>
    <p:sldId id="502" r:id="rId30"/>
    <p:sldId id="503" r:id="rId31"/>
    <p:sldId id="438" r:id="rId32"/>
    <p:sldId id="439" r:id="rId33"/>
    <p:sldId id="440" r:id="rId34"/>
    <p:sldId id="504" r:id="rId35"/>
    <p:sldId id="301" r:id="rId36"/>
    <p:sldId id="302" r:id="rId37"/>
    <p:sldId id="486" r:id="rId38"/>
    <p:sldId id="505" r:id="rId39"/>
    <p:sldId id="507" r:id="rId40"/>
    <p:sldId id="508" r:id="rId41"/>
    <p:sldId id="487" r:id="rId42"/>
    <p:sldId id="442" r:id="rId43"/>
    <p:sldId id="443" r:id="rId44"/>
    <p:sldId id="509" r:id="rId45"/>
    <p:sldId id="510" r:id="rId46"/>
    <p:sldId id="511" r:id="rId47"/>
    <p:sldId id="512" r:id="rId48"/>
    <p:sldId id="513" r:id="rId49"/>
    <p:sldId id="514" r:id="rId50"/>
    <p:sldId id="515" r:id="rId51"/>
    <p:sldId id="517" r:id="rId52"/>
    <p:sldId id="518" r:id="rId53"/>
    <p:sldId id="519" r:id="rId54"/>
    <p:sldId id="520" r:id="rId55"/>
    <p:sldId id="521" r:id="rId56"/>
    <p:sldId id="316" r:id="rId57"/>
    <p:sldId id="264" r:id="rId58"/>
    <p:sldId id="317" r:id="rId59"/>
    <p:sldId id="318" r:id="rId60"/>
    <p:sldId id="522" r:id="rId61"/>
    <p:sldId id="523" r:id="rId62"/>
    <p:sldId id="524" r:id="rId63"/>
    <p:sldId id="267" r:id="rId6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190">
          <p15:clr>
            <a:srgbClr val="A4A3A4"/>
          </p15:clr>
        </p15:guide>
        <p15:guide id="4" pos="284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4" roundtripDataSignature="AMtx7minI3MDKZStEEFPCD0pd8mEwA/T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87B7"/>
    <a:srgbClr val="F7F47C"/>
    <a:srgbClr val="FDE2CB"/>
    <a:srgbClr val="FBFBD1"/>
    <a:srgbClr val="B4A4C8"/>
    <a:srgbClr val="8AC9DA"/>
    <a:srgbClr val="F1D8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0F0E0B-0B7A-4AD7-8269-C2576374BDFF}">
  <a:tblStyle styleId="{270F0E0B-0B7A-4AD7-8269-C2576374BDF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82" autoAdjust="0"/>
    <p:restoredTop sz="94464" autoAdjust="0"/>
  </p:normalViewPr>
  <p:slideViewPr>
    <p:cSldViewPr snapToGrid="0">
      <p:cViewPr varScale="1">
        <p:scale>
          <a:sx n="105" d="100"/>
          <a:sy n="105" d="100"/>
        </p:scale>
        <p:origin x="1980" y="114"/>
      </p:cViewPr>
      <p:guideLst>
        <p:guide orient="horz" pos="2160"/>
        <p:guide pos="2880"/>
        <p:guide orient="horz" pos="2190"/>
        <p:guide pos="284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95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98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9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9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64742-9361-41AF-BEB5-9C4A02623FAB}" type="datetimeFigureOut">
              <a:rPr lang="ko-KR" altLang="en-US" smtClean="0"/>
              <a:t>2022-02-15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A8AF58-5242-4D16-97DC-D8C5673ED1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3604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4088840"/>
      </p:ext>
    </p:extLst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1">
  <p:cSld name="1_제목 슬라이드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/>
          <p:nvPr/>
        </p:nvSpPr>
        <p:spPr>
          <a:xfrm>
            <a:off x="0" y="5373216"/>
            <a:ext cx="9144000" cy="1484784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" name="Google Shape;17;p14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81257" y="320688"/>
            <a:ext cx="1800000" cy="3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2894" y="329071"/>
            <a:ext cx="3978211" cy="4684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body" idx="1"/>
          </p:nvPr>
        </p:nvSpPr>
        <p:spPr>
          <a:xfrm>
            <a:off x="755576" y="1851323"/>
            <a:ext cx="7615014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  <a:defRPr sz="2000" b="1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학습목표">
  <p:cSld name="학습목표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학습목표</a:t>
            </a:r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body" idx="1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/>
          <p:nvPr/>
        </p:nvSpPr>
        <p:spPr>
          <a:xfrm>
            <a:off x="323057" y="404813"/>
            <a:ext cx="8497887" cy="6048375"/>
          </a:xfrm>
          <a:prstGeom prst="roundRect">
            <a:avLst>
              <a:gd name="adj" fmla="val 5013"/>
            </a:avLst>
          </a:prstGeom>
          <a:solidFill>
            <a:srgbClr val="F29B8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999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" name="Google Shape;29;p17"/>
          <p:cNvSpPr/>
          <p:nvPr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17"/>
          <p:cNvSpPr/>
          <p:nvPr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algun Gothic"/>
              <a:buNone/>
              <a:defRPr sz="48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2"/>
          </p:nvPr>
        </p:nvSpPr>
        <p:spPr>
          <a:xfrm>
            <a:off x="719572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Malgun Gothic"/>
              <a:buNone/>
              <a:defRPr sz="54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섹션 목차">
  <p:cSld name="섹션 목차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5" name="Google Shape;35;p18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36;p18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8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8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208912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/>
            </a:lvl3pPr>
            <a:lvl4pPr marL="1828800" lvl="3" indent="-326136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/>
          <p:nvPr/>
        </p:nvSpPr>
        <p:spPr>
          <a:xfrm>
            <a:off x="855369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/ 63</a:t>
            </a:r>
          </a:p>
        </p:txBody>
      </p:sp>
      <p:sp>
        <p:nvSpPr>
          <p:cNvPr id="41" name="Google Shape;41;p18"/>
          <p:cNvSpPr txBox="1"/>
          <p:nvPr/>
        </p:nvSpPr>
        <p:spPr>
          <a:xfrm>
            <a:off x="824440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600" b="0" i="0" u="none" strike="noStrike" cap="none" dirty="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끝">
  <p:cSld name="1_끝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/>
          <p:nvPr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44;p19"/>
          <p:cNvSpPr/>
          <p:nvPr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5" name="Google Shape;45;p19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20272" y="5631234"/>
            <a:ext cx="1905001" cy="31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9"/>
          <p:cNvSpPr txBox="1"/>
          <p:nvPr/>
        </p:nvSpPr>
        <p:spPr>
          <a:xfrm>
            <a:off x="3084944" y="6309320"/>
            <a:ext cx="283282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Copyright© 2021 Hanbit Academy, Inc.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9"/>
          <p:cNvSpPr txBox="1"/>
          <p:nvPr/>
        </p:nvSpPr>
        <p:spPr>
          <a:xfrm>
            <a:off x="2933818" y="2492896"/>
            <a:ext cx="327636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5242C"/>
                </a:solidFill>
                <a:latin typeface="Verdana"/>
                <a:ea typeface="Verdana"/>
                <a:cs typeface="Verdana"/>
                <a:sym typeface="Verdana"/>
              </a:rPr>
              <a:t>Thank you!</a:t>
            </a:r>
            <a:endParaRPr sz="4000" b="1">
              <a:solidFill>
                <a:srgbClr val="E5242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저작권">
  <p:cSld name="1_저작권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/>
        </p:nvSpPr>
        <p:spPr>
          <a:xfrm>
            <a:off x="612452" y="981075"/>
            <a:ext cx="79914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난생처음 C 언어 프로그래밍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0"/>
          <p:cNvSpPr txBox="1"/>
          <p:nvPr/>
        </p:nvSpPr>
        <p:spPr>
          <a:xfrm>
            <a:off x="612453" y="1700213"/>
            <a:ext cx="7991475" cy="1446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[강의교안 이용 안내]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강의교안의 저작권은 한빛아카데미㈜에 있습니다.</a:t>
            </a:r>
            <a:r>
              <a:rPr lang="en-US"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100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Char char="•"/>
            </a:pPr>
            <a:r>
              <a:rPr lang="en-US" sz="1100" u="sng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자료를 무단으로 전제하거나 배포할 경우 저작권법 136조에 의거하여 최고 5년 이하의 징역 또는 5천만원 이하의 벌금에 처할 수 있고 이를 병과(倂科)할 수도 있습니다.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" name="Google Shape;51;p20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본문2">
  <p:cSld name="본문2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body" idx="2"/>
          </p:nvPr>
        </p:nvSpPr>
        <p:spPr>
          <a:xfrm>
            <a:off x="4644008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6" name="Google Shape;56;p21" descr="쿡북로고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68344" y="485909"/>
            <a:ext cx="1216025" cy="322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21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" name="Google Shape;58;p21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" name="Google Shape;59;p21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" name="Google Shape;60;p21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251520" y="274638"/>
            <a:ext cx="871296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251520" y="1600200"/>
            <a:ext cx="8712968" cy="4853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>
            <a:spLocks noGrp="1"/>
          </p:cNvSpPr>
          <p:nvPr>
            <p:ph type="title" idx="4294967295"/>
          </p:nvPr>
        </p:nvSpPr>
        <p:spPr>
          <a:xfrm>
            <a:off x="395536" y="6173660"/>
            <a:ext cx="8306320" cy="32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</a:rPr>
              <a:t>Chapter 09. </a:t>
            </a:r>
            <a:r>
              <a:rPr lang="ko-KR" altLang="en-US" sz="3600" b="1" dirty="0">
                <a:solidFill>
                  <a:schemeClr val="lt1"/>
                </a:solidFill>
              </a:rPr>
              <a:t>저장소 분류</a:t>
            </a:r>
            <a:endParaRPr dirty="0"/>
          </a:p>
        </p:txBody>
      </p:sp>
      <p:sp>
        <p:nvSpPr>
          <p:cNvPr id="66" name="Google Shape;66;p1"/>
          <p:cNvSpPr txBox="1"/>
          <p:nvPr/>
        </p:nvSpPr>
        <p:spPr>
          <a:xfrm>
            <a:off x="418840" y="5517232"/>
            <a:ext cx="8306320" cy="62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 02. C </a:t>
            </a:r>
            <a:r>
              <a:rPr lang="en-US" sz="2000" b="1" i="0" u="none" strike="noStrike" cap="none" dirty="0" err="1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언어</a:t>
            </a: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</a:t>
            </a: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000" b="1" i="0" u="none" strike="noStrike" cap="none" dirty="0" err="1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/>
        </p:nvSpPr>
        <p:spPr>
          <a:xfrm>
            <a:off x="785292" y="908720"/>
            <a:ext cx="6739458" cy="504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객체의 가시 범위와 생명 주기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자동 저장소 분류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전역 저장소 분류</a:t>
            </a:r>
            <a:endParaRPr lang="en-US" altLang="ko-KR"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정적 저장소 분류</a:t>
            </a:r>
            <a:endParaRPr lang="en-US" altLang="ko-KR"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객체의 초기화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50000"/>
              </a:lnSpc>
              <a:buClr>
                <a:schemeClr val="dk1"/>
              </a:buClr>
              <a:buSzPts val="2000"/>
            </a:pP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[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실전예제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] 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양수와 음수의 덧셈 누적하기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>
            <a:spLocks noGrp="1"/>
          </p:cNvSpPr>
          <p:nvPr>
            <p:ph type="body" idx="1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457200">
              <a:spcBef>
                <a:spcPts val="0"/>
              </a:spcBef>
            </a:pPr>
            <a:r>
              <a:rPr lang="ko-KR" altLang="en-US" dirty="0"/>
              <a:t>객체의 가시 범위와 생명 주기의 개념을 이해한다</a:t>
            </a:r>
            <a:r>
              <a:rPr lang="en-US" altLang="ko-KR" dirty="0"/>
              <a:t>.</a:t>
            </a:r>
          </a:p>
          <a:p>
            <a:pPr lvl="0" indent="-457200">
              <a:spcBef>
                <a:spcPts val="0"/>
              </a:spcBef>
            </a:pPr>
            <a:r>
              <a:rPr lang="ko-KR" altLang="en-US" dirty="0"/>
              <a:t>저장소 분류의 개념을 이해한다</a:t>
            </a:r>
            <a:r>
              <a:rPr lang="en-US" altLang="ko-KR" dirty="0"/>
              <a:t>.</a:t>
            </a:r>
          </a:p>
          <a:p>
            <a:pPr lvl="0" indent="-457200">
              <a:lnSpc>
                <a:spcPct val="150000"/>
              </a:lnSpc>
              <a:spcBef>
                <a:spcPts val="0"/>
              </a:spcBef>
            </a:pPr>
            <a:r>
              <a:rPr lang="ko-KR" altLang="en-US" dirty="0"/>
              <a:t>자동 저장소 분류</a:t>
            </a:r>
            <a:r>
              <a:rPr lang="en-US" altLang="ko-KR" dirty="0"/>
              <a:t>, </a:t>
            </a:r>
            <a:r>
              <a:rPr lang="ko-KR" altLang="en-US" dirty="0"/>
              <a:t>전역 저장소 분류</a:t>
            </a:r>
            <a:r>
              <a:rPr lang="en-US" altLang="ko-KR" dirty="0"/>
              <a:t>, </a:t>
            </a:r>
            <a:r>
              <a:rPr lang="ko-KR" altLang="en-US" dirty="0"/>
              <a:t>정적 저장소 분류의 개념과</a:t>
            </a:r>
            <a:br>
              <a:rPr lang="en-US" altLang="ko-KR" dirty="0"/>
            </a:br>
            <a:r>
              <a:rPr lang="ko-KR" altLang="en-US" dirty="0"/>
              <a:t>특징을 살펴본다</a:t>
            </a:r>
            <a:r>
              <a:rPr lang="en-US" altLang="ko-KR" dirty="0"/>
              <a:t> </a:t>
            </a:r>
          </a:p>
          <a:p>
            <a:pPr lvl="0" indent="-457200">
              <a:spcBef>
                <a:spcPts val="0"/>
              </a:spcBef>
            </a:pPr>
            <a:r>
              <a:rPr lang="ko-KR" altLang="en-US" dirty="0"/>
              <a:t>전역</a:t>
            </a:r>
            <a:r>
              <a:rPr lang="en-US" altLang="ko-KR" dirty="0"/>
              <a:t>, </a:t>
            </a:r>
            <a:r>
              <a:rPr lang="ko-KR" altLang="en-US" dirty="0"/>
              <a:t>정적</a:t>
            </a:r>
            <a:r>
              <a:rPr lang="en-US" altLang="ko-KR" dirty="0"/>
              <a:t>, </a:t>
            </a:r>
            <a:r>
              <a:rPr lang="ko-KR" altLang="en-US" dirty="0"/>
              <a:t>지역 객체의 초기화 과정을 살펴본다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dirty="0"/>
              <a:t>객체의 가시 범위와</a:t>
            </a:r>
          </a:p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dirty="0"/>
              <a:t>생명 주기</a:t>
            </a:r>
            <a:endParaRPr dirty="0"/>
          </a:p>
        </p:txBody>
      </p:sp>
      <p:sp>
        <p:nvSpPr>
          <p:cNvPr id="82" name="Google Shape;82;p4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01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객체의 가시 범위와 생명 주기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객체의 가시 범위</a:t>
            </a:r>
            <a:endParaRPr lang="en-US" altLang="ko-KR" b="1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5F2B922-BEA1-4659-9D86-9048DCD99819}"/>
              </a:ext>
            </a:extLst>
          </p:cNvPr>
          <p:cNvGrpSpPr/>
          <p:nvPr/>
        </p:nvGrpSpPr>
        <p:grpSpPr>
          <a:xfrm>
            <a:off x="978033" y="1637509"/>
            <a:ext cx="6869297" cy="4717241"/>
            <a:chOff x="978033" y="1573501"/>
            <a:chExt cx="6869297" cy="4717241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978033" y="1573501"/>
              <a:ext cx="4622667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9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-1] 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함수 안에서 사용한 객체의 사용</a:t>
              </a:r>
              <a:endParaRPr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792759792"/>
                </p:ext>
              </p:extLst>
            </p:nvPr>
          </p:nvGraphicFramePr>
          <p:xfrm>
            <a:off x="1068069" y="1936854"/>
            <a:ext cx="6779261" cy="4353888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18002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sz="13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sz="13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sz="13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18 </a:t>
                        </a:r>
                        <a:endParaRPr sz="1300" dirty="0"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30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300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sz="130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  <a:endParaRPr lang="en-US" altLang="ko-KR" sz="130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void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func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b = 3;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brr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[1] = { 4 };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"%d"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a);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"%d"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sz="130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arr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[0]);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30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a = 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30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arr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[1] = { 2 };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30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func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30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"%d"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b);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30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"%d"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sz="130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brr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[0]);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pSp>
          <p:nvGrpSpPr>
            <p:cNvPr id="10" name="그룹 9"/>
            <p:cNvGrpSpPr/>
            <p:nvPr/>
          </p:nvGrpSpPr>
          <p:grpSpPr>
            <a:xfrm>
              <a:off x="4010026" y="3529584"/>
              <a:ext cx="914399" cy="314325"/>
              <a:chOff x="4010026" y="3657600"/>
              <a:chExt cx="914399" cy="314325"/>
            </a:xfrm>
          </p:grpSpPr>
          <p:sp>
            <p:nvSpPr>
              <p:cNvPr id="3" name="오른쪽 중괄호 2"/>
              <p:cNvSpPr/>
              <p:nvPr/>
            </p:nvSpPr>
            <p:spPr>
              <a:xfrm>
                <a:off x="4010026" y="3667125"/>
                <a:ext cx="247650" cy="304800"/>
              </a:xfrm>
              <a:prstGeom prst="rightBrac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직사각형 8"/>
              <p:cNvSpPr/>
              <p:nvPr/>
            </p:nvSpPr>
            <p:spPr>
              <a:xfrm>
                <a:off x="4267200" y="3657600"/>
                <a:ext cx="657225" cy="3048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rgbClr val="FF0000"/>
                    </a:solidFill>
                  </a:rPr>
                  <a:t>오류</a:t>
                </a:r>
              </a:p>
            </p:txBody>
          </p:sp>
        </p:grpSp>
        <p:grpSp>
          <p:nvGrpSpPr>
            <p:cNvPr id="16" name="그룹 15"/>
            <p:cNvGrpSpPr/>
            <p:nvPr/>
          </p:nvGrpSpPr>
          <p:grpSpPr>
            <a:xfrm>
              <a:off x="4324350" y="5658993"/>
              <a:ext cx="914399" cy="314325"/>
              <a:chOff x="4010026" y="3657600"/>
              <a:chExt cx="914399" cy="314325"/>
            </a:xfrm>
          </p:grpSpPr>
          <p:sp>
            <p:nvSpPr>
              <p:cNvPr id="17" name="오른쪽 중괄호 16"/>
              <p:cNvSpPr/>
              <p:nvPr/>
            </p:nvSpPr>
            <p:spPr>
              <a:xfrm>
                <a:off x="4010026" y="3667125"/>
                <a:ext cx="247650" cy="304800"/>
              </a:xfrm>
              <a:prstGeom prst="rightBrac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/>
              <p:cNvSpPr/>
              <p:nvPr/>
            </p:nvSpPr>
            <p:spPr>
              <a:xfrm>
                <a:off x="4267200" y="3657600"/>
                <a:ext cx="657225" cy="3048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rgbClr val="FF0000"/>
                    </a:solidFill>
                  </a:rPr>
                  <a:t>오류</a:t>
                </a: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객체의 가시 범위와 생명 주기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/>
              <a:t>객체의 가시 범위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지역 객체의 가시 범위</a:t>
            </a:r>
            <a:endParaRPr lang="ko-KR" altLang="en-US" dirty="0"/>
          </a:p>
        </p:txBody>
      </p:sp>
      <p:sp>
        <p:nvSpPr>
          <p:cNvPr id="12" name="Google Shape;102;p7"/>
          <p:cNvSpPr txBox="1"/>
          <p:nvPr/>
        </p:nvSpPr>
        <p:spPr>
          <a:xfrm>
            <a:off x="978033" y="2087851"/>
            <a:ext cx="525131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-2]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변수가 모든 함수에서 사용 가능하다면 </a:t>
            </a:r>
            <a:r>
              <a:rPr lang="en-US" altLang="ko-KR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4866" y="2542644"/>
            <a:ext cx="2119312" cy="650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Google Shape;104;p7">
            <a:extLst>
              <a:ext uri="{FF2B5EF4-FFF2-40B4-BE49-F238E27FC236}">
                <a16:creationId xmlns:a16="http://schemas.microsoft.com/office/drawing/2014/main" id="{9A7C5112-4342-4D3E-A968-01B46ABFE5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3246733"/>
              </p:ext>
            </p:extLst>
          </p:nvPr>
        </p:nvGraphicFramePr>
        <p:xfrm>
          <a:off x="1068069" y="2451204"/>
          <a:ext cx="6779261" cy="391364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  <a:endParaRPr lang="en-US" altLang="ko-KR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not(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arg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 a = !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arg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 a =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b = not(a);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"%d, %d"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a, b);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783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객체의 가시 범위와 생명 주기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/>
              <a:t>객체의 가시 범위</a:t>
            </a:r>
            <a:endParaRPr lang="en-US" altLang="ko-KR" dirty="0"/>
          </a:p>
        </p:txBody>
      </p:sp>
      <p:sp>
        <p:nvSpPr>
          <p:cNvPr id="12" name="Google Shape;102;p7"/>
          <p:cNvSpPr txBox="1"/>
          <p:nvPr/>
        </p:nvSpPr>
        <p:spPr>
          <a:xfrm>
            <a:off x="978033" y="1630651"/>
            <a:ext cx="525131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-3]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변수가 모든 함수에서 사용 가능하다면 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dirty="0"/>
          </a:p>
        </p:txBody>
      </p:sp>
      <p:graphicFrame>
        <p:nvGraphicFramePr>
          <p:cNvPr id="8" name="Google Shape;104;p7">
            <a:extLst>
              <a:ext uri="{FF2B5EF4-FFF2-40B4-BE49-F238E27FC236}">
                <a16:creationId xmlns:a16="http://schemas.microsoft.com/office/drawing/2014/main" id="{6C558BCC-21A3-4DF8-8820-28778BCDF9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4419783"/>
              </p:ext>
            </p:extLst>
          </p:nvPr>
        </p:nvGraphicFramePr>
        <p:xfrm>
          <a:off x="1063758" y="1994004"/>
          <a:ext cx="6779261" cy="435388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f(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 a =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g(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 a = 2;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f();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g();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a);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7302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객체의 가시 범위와 생명 주기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/>
              <a:t>객체의 가시 범위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전역 객체의 가시 범위</a:t>
            </a:r>
            <a:endParaRPr lang="ko-KR" altLang="en-US" dirty="0"/>
          </a:p>
        </p:txBody>
      </p:sp>
      <p:sp>
        <p:nvSpPr>
          <p:cNvPr id="12" name="Google Shape;102;p7"/>
          <p:cNvSpPr txBox="1"/>
          <p:nvPr/>
        </p:nvSpPr>
        <p:spPr>
          <a:xfrm>
            <a:off x="978033" y="2087851"/>
            <a:ext cx="525131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5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5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5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r>
              <a:rPr lang="en-US" sz="15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-3] </a:t>
            </a:r>
            <a:r>
              <a:rPr lang="ko-KR" altLang="en-US" sz="15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전역 객체</a:t>
            </a:r>
            <a:r>
              <a:rPr lang="en-US" altLang="ko-KR" sz="15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5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</a:t>
            </a:r>
            <a:r>
              <a:rPr lang="en-US" altLang="ko-KR" sz="15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5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배열</a:t>
            </a:r>
            <a:r>
              <a:rPr lang="en-US" altLang="ko-KR" sz="15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sz="1500" dirty="0"/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999367770"/>
              </p:ext>
            </p:extLst>
          </p:nvPr>
        </p:nvGraphicFramePr>
        <p:xfrm>
          <a:off x="1059813" y="2451204"/>
          <a:ext cx="6779261" cy="411614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g =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garr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[1] = { 1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g++;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garr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[0]++;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"Before: %d, %d</a:t>
                      </a:r>
                      <a:r>
                        <a:rPr lang="en-US" altLang="ko-KR" sz="13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g,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garr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[0]);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"After: %d, %d"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g,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garr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[0]);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332" y="2532129"/>
            <a:ext cx="1939350" cy="951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1707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객체의 가시 범위와 생명 주기</a:t>
            </a:r>
            <a:endParaRPr lang="ko-KR" altLang="en-US" dirty="0"/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/>
              <a:t>객체의 가시 범위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전역 객체의 가시 범위</a:t>
            </a:r>
            <a:endParaRPr lang="ko-KR" altLang="en-US" dirty="0"/>
          </a:p>
        </p:txBody>
      </p:sp>
      <p:pic>
        <p:nvPicPr>
          <p:cNvPr id="3075" name="Picture 3" descr="C:\Users\변소현\Desktop\난생처음 C 언어 프로그래밍\그림\Ch9\표 9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163" y="2362962"/>
            <a:ext cx="5507673" cy="14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499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객체의 가시 범위와 생명 주기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2"/>
            <a:ext cx="8424936" cy="465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/>
              <a:t>객체의 생명 주기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객체의 생성과 소멸의 개념</a:t>
            </a:r>
            <a:endParaRPr lang="en-US" sz="500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객체의 생성 </a:t>
            </a:r>
            <a:r>
              <a:rPr lang="en-US" altLang="ko-KR" dirty="0"/>
              <a:t>:</a:t>
            </a:r>
            <a:r>
              <a:rPr lang="ko-KR" altLang="en-US" dirty="0"/>
              <a:t> 메모리의 영역을 마련하여 이름을 붙여주는 것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객체의 소멸 </a:t>
            </a:r>
            <a:r>
              <a:rPr lang="en-US" altLang="ko-KR" dirty="0"/>
              <a:t>: </a:t>
            </a:r>
            <a:r>
              <a:rPr lang="ko-KR" altLang="en-US" dirty="0"/>
              <a:t>객체와 연결된 메모리 영역에서 이름이 해제되는 것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객체의 생명 주기 </a:t>
            </a:r>
            <a:r>
              <a:rPr lang="en-US" altLang="ko-KR" dirty="0"/>
              <a:t>: </a:t>
            </a:r>
            <a:r>
              <a:rPr lang="ko-KR" altLang="en-US" dirty="0"/>
              <a:t>메모리 영역이 객체와 연결되는 순간부터 연결이</a:t>
            </a:r>
            <a:r>
              <a:rPr lang="en-US" altLang="ko-KR" dirty="0"/>
              <a:t> </a:t>
            </a:r>
            <a:r>
              <a:rPr lang="ko-KR" altLang="en-US" dirty="0"/>
              <a:t>끊길 때까지 기간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82401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객체의 가시 범위와 생명 주기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2"/>
            <a:ext cx="8424936" cy="465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/>
              <a:t>객체의 생명 주기</a:t>
            </a:r>
            <a:endParaRPr sz="2400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978033" y="1592551"/>
            <a:ext cx="525131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5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5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5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5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r>
              <a:rPr lang="en-US" sz="15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-3] </a:t>
            </a:r>
            <a:r>
              <a:rPr lang="ko-KR" altLang="en-US" sz="15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객체의 생명 주기 </a:t>
            </a:r>
            <a:r>
              <a:rPr lang="en-US" altLang="ko-KR" sz="15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</a:t>
            </a:r>
            <a:r>
              <a:rPr lang="ko-KR" altLang="en-US" sz="15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메모리 재활용</a:t>
            </a:r>
            <a:endParaRPr sz="1500"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2624702698"/>
              </p:ext>
            </p:extLst>
          </p:nvPr>
        </p:nvGraphicFramePr>
        <p:xfrm>
          <a:off x="1059813" y="1955904"/>
          <a:ext cx="6779261" cy="459163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19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f(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a[1] = { 7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</a:t>
                      </a:r>
                      <a:r>
                        <a:rPr lang="en-US" altLang="ko-KR" sz="13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a[0]);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g(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b[1];         </a:t>
                      </a:r>
                      <a:r>
                        <a:rPr lang="en-US" altLang="ko-KR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초기화 안 됨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</a:t>
                      </a:r>
                      <a:r>
                        <a:rPr lang="en-US" altLang="ko-KR" sz="13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b[0]);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just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f();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g();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698" y="2049301"/>
            <a:ext cx="1750034" cy="858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245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객체의 가시 범위와 생명 주기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2"/>
            <a:ext cx="8424936" cy="465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/>
              <a:t>객체의 생명 주기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함수 호출에 따른 </a:t>
            </a:r>
            <a:r>
              <a:rPr lang="ko-KR" altLang="en-US" b="1" dirty="0" err="1"/>
              <a:t>스택</a:t>
            </a:r>
            <a:r>
              <a:rPr lang="ko-KR" altLang="en-US" b="1" dirty="0"/>
              <a:t> 프레임의 변화</a:t>
            </a:r>
            <a:endParaRPr lang="en-US" altLang="ko-KR" dirty="0"/>
          </a:p>
        </p:txBody>
      </p:sp>
      <p:pic>
        <p:nvPicPr>
          <p:cNvPr id="5122" name="Picture 2" descr="C:\Users\변소현\Desktop\난생처음 C 언어 프로그래밍\그림\Ch9\그림 9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13" y="2709863"/>
            <a:ext cx="7597775" cy="2027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8996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객체의 가시 범위와 생명 주기</a:t>
            </a:r>
            <a:endParaRPr lang="ko-KR" alt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920" y="2019377"/>
            <a:ext cx="7026159" cy="310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3132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객체의 가시 범위와 생명 주기</a:t>
            </a:r>
            <a:endParaRPr lang="ko-KR" altLang="en-US" dirty="0"/>
          </a:p>
        </p:txBody>
      </p:sp>
      <p:grpSp>
        <p:nvGrpSpPr>
          <p:cNvPr id="10" name="그룹 9"/>
          <p:cNvGrpSpPr/>
          <p:nvPr/>
        </p:nvGrpSpPr>
        <p:grpSpPr>
          <a:xfrm>
            <a:off x="606555" y="1412678"/>
            <a:ext cx="7940903" cy="4540448"/>
            <a:chOff x="692280" y="1412678"/>
            <a:chExt cx="7940903" cy="4540448"/>
          </a:xfrm>
        </p:grpSpPr>
        <p:grpSp>
          <p:nvGrpSpPr>
            <p:cNvPr id="8" name="그룹 7"/>
            <p:cNvGrpSpPr/>
            <p:nvPr/>
          </p:nvGrpSpPr>
          <p:grpSpPr>
            <a:xfrm>
              <a:off x="692280" y="1412678"/>
              <a:ext cx="7940903" cy="4540448"/>
              <a:chOff x="692280" y="1412678"/>
              <a:chExt cx="7940903" cy="4540448"/>
            </a:xfrm>
          </p:grpSpPr>
          <p:grpSp>
            <p:nvGrpSpPr>
              <p:cNvPr id="3" name="그룹 2"/>
              <p:cNvGrpSpPr/>
              <p:nvPr/>
            </p:nvGrpSpPr>
            <p:grpSpPr>
              <a:xfrm>
                <a:off x="692280" y="1412678"/>
                <a:ext cx="7940903" cy="4540448"/>
                <a:chOff x="615155" y="1379936"/>
                <a:chExt cx="7940903" cy="4540448"/>
              </a:xfrm>
            </p:grpSpPr>
            <p:grpSp>
              <p:nvGrpSpPr>
                <p:cNvPr id="4" name="Google Shape;129;p9"/>
                <p:cNvGrpSpPr/>
                <p:nvPr/>
              </p:nvGrpSpPr>
              <p:grpSpPr>
                <a:xfrm>
                  <a:off x="615155" y="1379936"/>
                  <a:ext cx="7924665" cy="4540448"/>
                  <a:chOff x="683573" y="1844824"/>
                  <a:chExt cx="7924665" cy="1873609"/>
                </a:xfrm>
                <a:solidFill>
                  <a:schemeClr val="accent5">
                    <a:lumMod val="20000"/>
                    <a:lumOff val="80000"/>
                  </a:schemeClr>
                </a:solidFill>
              </p:grpSpPr>
              <p:sp>
                <p:nvSpPr>
                  <p:cNvPr id="5" name="Google Shape;130;p9"/>
                  <p:cNvSpPr/>
                  <p:nvPr/>
                </p:nvSpPr>
                <p:spPr>
                  <a:xfrm>
                    <a:off x="688238" y="1844824"/>
                    <a:ext cx="7920000" cy="187360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2700" cap="flat" cmpd="sng">
                    <a:solidFill>
                      <a:srgbClr val="8AC9D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7" name="Google Shape;132;p9"/>
                  <p:cNvSpPr/>
                  <p:nvPr/>
                </p:nvSpPr>
                <p:spPr>
                  <a:xfrm>
                    <a:off x="683573" y="1844825"/>
                    <a:ext cx="1511728" cy="152935"/>
                  </a:xfrm>
                  <a:prstGeom prst="rect">
                    <a:avLst/>
                  </a:prstGeom>
                  <a:solidFill>
                    <a:srgbClr val="8AC9DA"/>
                  </a:solidFill>
                  <a:ln>
                    <a:solidFill>
                      <a:srgbClr val="8AC9DA"/>
                    </a:solidFill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LAB 9-1</a:t>
                    </a:r>
                    <a:endParaRPr sz="1600" b="1" dirty="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sp>
              <p:nvSpPr>
                <p:cNvPr id="9" name="TextBox 8"/>
                <p:cNvSpPr txBox="1"/>
                <p:nvPr/>
              </p:nvSpPr>
              <p:spPr>
                <a:xfrm>
                  <a:off x="2126883" y="1395971"/>
                  <a:ext cx="636644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600" b="1" dirty="0">
                      <a:latin typeface="+mj-ea"/>
                      <a:ea typeface="+mj-ea"/>
                    </a:rPr>
                    <a:t>알파벳 배열에 </a:t>
                  </a:r>
                  <a:r>
                    <a:rPr lang="en-US" altLang="ko-KR" sz="1600" b="1" dirty="0">
                      <a:latin typeface="+mj-ea"/>
                      <a:ea typeface="+mj-ea"/>
                    </a:rPr>
                    <a:t>A-Z </a:t>
                  </a:r>
                  <a:r>
                    <a:rPr lang="ko-KR" altLang="en-US" sz="1600" b="1" dirty="0">
                      <a:latin typeface="+mj-ea"/>
                      <a:ea typeface="+mj-ea"/>
                    </a:rPr>
                    <a:t>채우기</a:t>
                  </a:r>
                </a:p>
              </p:txBody>
            </p:sp>
            <p:sp>
              <p:nvSpPr>
                <p:cNvPr id="12" name="직사각형 11"/>
                <p:cNvSpPr/>
                <p:nvPr/>
              </p:nvSpPr>
              <p:spPr>
                <a:xfrm>
                  <a:off x="775031" y="1767809"/>
                  <a:ext cx="7781027" cy="115910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1600" dirty="0">
                      <a:latin typeface="Consolas" panose="020B0609020204030204" pitchFamily="49" charset="0"/>
                      <a:ea typeface="맑은 고딕" panose="020B0503020000020004" pitchFamily="50" charset="-127"/>
                    </a:rPr>
                    <a:t>다음 실행 결과를 참고하여 </a:t>
                  </a:r>
                  <a:r>
                    <a:rPr lang="ko-KR" altLang="en-US" sz="1600" dirty="0" err="1">
                      <a:latin typeface="Consolas" panose="020B0609020204030204" pitchFamily="49" charset="0"/>
                      <a:ea typeface="맑은 고딕" panose="020B0503020000020004" pitchFamily="50" charset="-127"/>
                    </a:rPr>
                    <a:t>입력받은</a:t>
                  </a:r>
                  <a:r>
                    <a:rPr lang="ko-KR" altLang="en-US" sz="1600" dirty="0">
                      <a:latin typeface="Consolas" panose="020B0609020204030204" pitchFamily="49" charset="0"/>
                      <a:ea typeface="맑은 고딕" panose="020B0503020000020004" pitchFamily="50" charset="-127"/>
                    </a:rPr>
                    <a:t> 수를 보관하면서 이전에 보관된 수는 출력하는 프로그램을 작성해봅시다</a:t>
                  </a:r>
                  <a:r>
                    <a:rPr lang="en-US" altLang="ko-KR" sz="1600" dirty="0">
                      <a:latin typeface="Consolas" panose="020B0609020204030204" pitchFamily="49" charset="0"/>
                      <a:ea typeface="맑은 고딕" panose="020B0503020000020004" pitchFamily="50" charset="-127"/>
                    </a:rPr>
                    <a:t>. </a:t>
                  </a:r>
                  <a:r>
                    <a:rPr lang="ko-KR" altLang="en-US" sz="1600" dirty="0">
                      <a:latin typeface="Consolas" panose="020B0609020204030204" pitchFamily="49" charset="0"/>
                      <a:ea typeface="맑은 고딕" panose="020B0503020000020004" pitchFamily="50" charset="-127"/>
                    </a:rPr>
                    <a:t>단</a:t>
                  </a:r>
                  <a:r>
                    <a:rPr lang="en-US" altLang="ko-KR" sz="1600" dirty="0">
                      <a:latin typeface="Consolas" panose="020B0609020204030204" pitchFamily="49" charset="0"/>
                      <a:ea typeface="맑은 고딕" panose="020B0503020000020004" pitchFamily="50" charset="-127"/>
                    </a:rPr>
                    <a:t>, </a:t>
                  </a:r>
                  <a:r>
                    <a:rPr lang="ko-KR" altLang="en-US" sz="1600" dirty="0">
                      <a:latin typeface="Consolas" panose="020B0609020204030204" pitchFamily="49" charset="0"/>
                      <a:ea typeface="맑은 고딕" panose="020B0503020000020004" pitchFamily="50" charset="-127"/>
                    </a:rPr>
                    <a:t>최초 보관된 수는 </a:t>
                  </a:r>
                  <a:r>
                    <a:rPr lang="en-US" altLang="ko-KR" sz="1600" dirty="0">
                      <a:latin typeface="Consolas" panose="020B0609020204030204" pitchFamily="49" charset="0"/>
                      <a:ea typeface="맑은 고딕" panose="020B0503020000020004" pitchFamily="50" charset="-127"/>
                    </a:rPr>
                    <a:t>0</a:t>
                  </a:r>
                  <a:r>
                    <a:rPr lang="ko-KR" altLang="en-US" sz="1600" dirty="0">
                      <a:latin typeface="Consolas" panose="020B0609020204030204" pitchFamily="49" charset="0"/>
                      <a:ea typeface="맑은 고딕" panose="020B0503020000020004" pitchFamily="50" charset="-127"/>
                    </a:rPr>
                    <a:t>이며</a:t>
                  </a:r>
                  <a:r>
                    <a:rPr lang="en-US" altLang="ko-KR" sz="1600" dirty="0">
                      <a:latin typeface="Consolas" panose="020B0609020204030204" pitchFamily="49" charset="0"/>
                      <a:ea typeface="맑은 고딕" panose="020B0503020000020004" pitchFamily="50" charset="-127"/>
                    </a:rPr>
                    <a:t>, 0</a:t>
                  </a:r>
                  <a:r>
                    <a:rPr lang="ko-KR" altLang="en-US" sz="1600" dirty="0">
                      <a:latin typeface="Consolas" panose="020B0609020204030204" pitchFamily="49" charset="0"/>
                      <a:ea typeface="맑은 고딕" panose="020B0503020000020004" pitchFamily="50" charset="-127"/>
                    </a:rPr>
                    <a:t>을 보관할 경우 프로그램을 종료합니다</a:t>
                  </a:r>
                  <a:r>
                    <a:rPr lang="en-US" altLang="ko-KR" sz="1600" dirty="0">
                      <a:latin typeface="Consolas" panose="020B0609020204030204" pitchFamily="49" charset="0"/>
                      <a:ea typeface="맑은 고딕" panose="020B0503020000020004" pitchFamily="50" charset="-127"/>
                    </a:rPr>
                    <a:t>.</a:t>
                  </a:r>
                  <a:endPara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pic>
            <p:nvPicPr>
              <p:cNvPr id="6" name="Picture 2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74970" y="3045066"/>
                <a:ext cx="6204075" cy="1644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7171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0242" y="4879677"/>
              <a:ext cx="4923516" cy="794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80843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객체의 가시 범위와 생명 주기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0295" y="1350253"/>
            <a:ext cx="7920000" cy="4698122"/>
            <a:chOff x="610295" y="2078298"/>
            <a:chExt cx="7920000" cy="4698122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0295" y="2078298"/>
              <a:ext cx="7920000" cy="4698122"/>
              <a:chOff x="678713" y="1844824"/>
              <a:chExt cx="7920000" cy="1386020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78713" y="1844824"/>
                <a:ext cx="7920000" cy="13860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0427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9-1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2093203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842995273"/>
                </p:ext>
              </p:extLst>
            </p:nvPr>
          </p:nvGraphicFramePr>
          <p:xfrm>
            <a:off x="871407" y="2545599"/>
            <a:ext cx="7416825" cy="4169674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218149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01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02 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03 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04 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05 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06 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15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16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#define </a:t>
                        </a:r>
                        <a:r>
                          <a:rPr lang="en-US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_CRT_SECURE_NO_WARNINGS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g_Number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= 0;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SaveNumber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n)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r = </a:t>
                        </a:r>
                        <a:r>
                          <a:rPr lang="en-US" altLang="ko-KR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g_Number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g_Number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= n;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return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r;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n;</a:t>
                        </a:r>
                        <a:endPara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54481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객체의 가시 범위와 생명 주기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0295" y="1781178"/>
            <a:ext cx="7920000" cy="2983620"/>
            <a:chOff x="610295" y="2078297"/>
            <a:chExt cx="7920000" cy="2983620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0295" y="2078297"/>
              <a:ext cx="7920000" cy="2983620"/>
              <a:chOff x="678713" y="1844824"/>
              <a:chExt cx="7920000" cy="880215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78713" y="1844824"/>
                <a:ext cx="7920000" cy="88021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0427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9-1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2093203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871423325"/>
                </p:ext>
              </p:extLst>
            </p:nvPr>
          </p:nvGraphicFramePr>
          <p:xfrm>
            <a:off x="871407" y="2545599"/>
            <a:ext cx="7416825" cy="2377450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218149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17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18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19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20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21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22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23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24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25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do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ko-KR" altLang="en-US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보관할 수를 입력하세요 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 "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scanf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"%d"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&amp;n);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ko-KR" altLang="en-US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이전 보관된 수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: %d</a:t>
                        </a:r>
                        <a:r>
                          <a:rPr lang="en-US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SaveNumber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(n));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}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while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(n);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  <a:endPara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8072137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sz="4000" dirty="0"/>
              <a:t>자동 저장소 분류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자동 저장소 분류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ko-KR" altLang="en-US" sz="2400" dirty="0"/>
              <a:t>자동 저장소 분류의 개념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자동</a:t>
            </a:r>
            <a:r>
              <a:rPr lang="en-US" altLang="ko-KR" b="1" dirty="0"/>
              <a:t>(auto) </a:t>
            </a:r>
            <a:r>
              <a:rPr lang="ko-KR" altLang="en-US" b="1" dirty="0"/>
              <a:t>저장소 분류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함수의 매개변수나 지역 객체를 위한 분류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자동 저장 분류의 가시 범위는 함수 안의 블록으로 좁혀짐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 err="1"/>
              <a:t>복합문은</a:t>
            </a:r>
            <a:r>
              <a:rPr lang="ko-KR" altLang="en-US" dirty="0"/>
              <a:t> </a:t>
            </a:r>
            <a:r>
              <a:rPr lang="ko-KR" altLang="en-US" dirty="0" err="1"/>
              <a:t>복합문을</a:t>
            </a:r>
            <a:r>
              <a:rPr lang="ko-KR" altLang="en-US" dirty="0"/>
              <a:t> 포함할 수 있다는 점을 주의해야 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09042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자동 저장소 분류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ko-KR" altLang="en-US" sz="2400" dirty="0"/>
              <a:t>자동 저장소 분류의 개념</a:t>
            </a:r>
          </a:p>
        </p:txBody>
      </p:sp>
      <p:sp>
        <p:nvSpPr>
          <p:cNvPr id="4" name="Google Shape;102;p7"/>
          <p:cNvSpPr txBox="1"/>
          <p:nvPr/>
        </p:nvSpPr>
        <p:spPr>
          <a:xfrm>
            <a:off x="978033" y="1768665"/>
            <a:ext cx="46226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-6]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가시 범위의 중첩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2343882764"/>
              </p:ext>
            </p:extLst>
          </p:nvPr>
        </p:nvGraphicFramePr>
        <p:xfrm>
          <a:off x="1068069" y="2132018"/>
          <a:ext cx="6779261" cy="416967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arg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arg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 = 2;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{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b = 3;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b = 4;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(0);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9" name="그룹 8"/>
          <p:cNvGrpSpPr/>
          <p:nvPr/>
        </p:nvGrpSpPr>
        <p:grpSpPr>
          <a:xfrm>
            <a:off x="2609850" y="4457700"/>
            <a:ext cx="1133472" cy="304800"/>
            <a:chOff x="2609850" y="4476750"/>
            <a:chExt cx="1133472" cy="304800"/>
          </a:xfrm>
        </p:grpSpPr>
        <p:sp>
          <p:nvSpPr>
            <p:cNvPr id="8" name="직사각형 7"/>
            <p:cNvSpPr/>
            <p:nvPr/>
          </p:nvSpPr>
          <p:spPr>
            <a:xfrm>
              <a:off x="3086097" y="4476750"/>
              <a:ext cx="657225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FF0000"/>
                  </a:solidFill>
                </a:rPr>
                <a:t>오류</a:t>
              </a:r>
            </a:p>
          </p:txBody>
        </p:sp>
        <p:cxnSp>
          <p:nvCxnSpPr>
            <p:cNvPr id="3" name="직선 화살표 연결선 2"/>
            <p:cNvCxnSpPr>
              <a:stCxn id="8" idx="1"/>
            </p:cNvCxnSpPr>
            <p:nvPr/>
          </p:nvCxnSpPr>
          <p:spPr>
            <a:xfrm flipH="1">
              <a:off x="2609850" y="4629150"/>
              <a:ext cx="476247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03559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자동 저장소 분류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가시 범위의 특징</a:t>
            </a:r>
          </a:p>
        </p:txBody>
      </p:sp>
      <p:sp>
        <p:nvSpPr>
          <p:cNvPr id="4" name="Google Shape;102;p7"/>
          <p:cNvSpPr txBox="1"/>
          <p:nvPr/>
        </p:nvSpPr>
        <p:spPr>
          <a:xfrm>
            <a:off x="978033" y="2049487"/>
            <a:ext cx="46226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-7]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가시 범위와 우선권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2616013627"/>
              </p:ext>
            </p:extLst>
          </p:nvPr>
        </p:nvGraphicFramePr>
        <p:xfrm>
          <a:off x="1068069" y="2412840"/>
          <a:ext cx="6779261" cy="340157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 = 1;    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첫 번째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{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 = 2; 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두 번째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a);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}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a);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2986" y="2509754"/>
            <a:ext cx="1723946" cy="806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0938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자동 저장소 분류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059" y="2317428"/>
            <a:ext cx="6972931" cy="2318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98633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자동 저장소 분류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612343" y="2266354"/>
            <a:ext cx="7924665" cy="2420541"/>
            <a:chOff x="612343" y="1379935"/>
            <a:chExt cx="7924665" cy="2420541"/>
          </a:xfrm>
        </p:grpSpPr>
        <p:grpSp>
          <p:nvGrpSpPr>
            <p:cNvPr id="3" name="그룹 2"/>
            <p:cNvGrpSpPr/>
            <p:nvPr/>
          </p:nvGrpSpPr>
          <p:grpSpPr>
            <a:xfrm>
              <a:off x="612343" y="1379935"/>
              <a:ext cx="7924665" cy="2420541"/>
              <a:chOff x="615155" y="1379935"/>
              <a:chExt cx="7924665" cy="2420541"/>
            </a:xfrm>
          </p:grpSpPr>
          <p:grpSp>
            <p:nvGrpSpPr>
              <p:cNvPr id="4" name="Google Shape;129;p9"/>
              <p:cNvGrpSpPr/>
              <p:nvPr/>
            </p:nvGrpSpPr>
            <p:grpSpPr>
              <a:xfrm>
                <a:off x="615155" y="1379935"/>
                <a:ext cx="7924665" cy="2420541"/>
                <a:chOff x="683573" y="1844825"/>
                <a:chExt cx="7924665" cy="998833"/>
              </a:xfrm>
              <a:solidFill>
                <a:schemeClr val="accent5">
                  <a:lumMod val="20000"/>
                  <a:lumOff val="80000"/>
                </a:schemeClr>
              </a:solidFill>
            </p:grpSpPr>
            <p:sp>
              <p:nvSpPr>
                <p:cNvPr id="5" name="Google Shape;130;p9"/>
                <p:cNvSpPr/>
                <p:nvPr/>
              </p:nvSpPr>
              <p:spPr>
                <a:xfrm>
                  <a:off x="688238" y="1844825"/>
                  <a:ext cx="7920000" cy="998833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2700" cap="flat" cmpd="sng">
                  <a:solidFill>
                    <a:srgbClr val="8AC9D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7" name="Google Shape;132;p9"/>
                <p:cNvSpPr/>
                <p:nvPr/>
              </p:nvSpPr>
              <p:spPr>
                <a:xfrm>
                  <a:off x="683573" y="1844825"/>
                  <a:ext cx="1511728" cy="152935"/>
                </a:xfrm>
                <a:prstGeom prst="rect">
                  <a:avLst/>
                </a:prstGeom>
                <a:solidFill>
                  <a:srgbClr val="8AC9DA"/>
                </a:solidFill>
                <a:ln>
                  <a:solidFill>
                    <a:srgbClr val="8AC9DA"/>
                  </a:solidFill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 b="1" dirty="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LAB 9-2</a:t>
                  </a:r>
                  <a:endParaRPr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9" name="TextBox 8"/>
              <p:cNvSpPr txBox="1"/>
              <p:nvPr/>
            </p:nvSpPr>
            <p:spPr>
              <a:xfrm>
                <a:off x="2126883" y="1395971"/>
                <a:ext cx="636644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b="1" dirty="0">
                    <a:latin typeface="+mj-ea"/>
                    <a:ea typeface="+mj-ea"/>
                  </a:rPr>
                  <a:t>같은 이름이지만 서로 다른 제어 변수 사용하기</a:t>
                </a:r>
              </a:p>
            </p:txBody>
          </p:sp>
          <p:sp>
            <p:nvSpPr>
              <p:cNvPr id="12" name="직사각형 11"/>
              <p:cNvSpPr/>
              <p:nvPr/>
            </p:nvSpPr>
            <p:spPr>
              <a:xfrm>
                <a:off x="836842" y="1815434"/>
                <a:ext cx="7485956" cy="7897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같은 이름이지만 서로 다른 제어 변수를 사용하는 이중 </a:t>
                </a:r>
                <a:r>
                  <a:rPr lang="en-US" altLang="ko-KR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for</a:t>
                </a:r>
                <a:r>
                  <a:rPr lang="ko-KR" altLang="en-US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문으로 구구단을 출력하는 프로그램을 작성해봅시다</a:t>
                </a:r>
                <a:r>
                  <a:rPr lang="en-US" altLang="ko-KR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.</a:t>
                </a:r>
                <a:endPara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24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58" y="2895951"/>
              <a:ext cx="7188533" cy="580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101832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자동 저장소 분류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619192" y="1350962"/>
            <a:ext cx="7924665" cy="4710145"/>
            <a:chOff x="615155" y="1213372"/>
            <a:chExt cx="7924665" cy="4710145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213372"/>
              <a:ext cx="7924665" cy="4710145"/>
              <a:chOff x="683573" y="1844824"/>
              <a:chExt cx="7924665" cy="1389567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38956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0427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7-2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22827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947208167"/>
                </p:ext>
              </p:extLst>
            </p:nvPr>
          </p:nvGraphicFramePr>
          <p:xfrm>
            <a:off x="871407" y="1680671"/>
            <a:ext cx="7416825" cy="4169674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230083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06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16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nn-NO" altLang="ko-KR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r;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nn-NO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for</a:t>
                        </a: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nn-NO" altLang="ko-KR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i = 2; i &lt; 10; i++)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nn-NO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r = i;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for(</a:t>
                        </a:r>
                        <a:r>
                          <a:rPr lang="nn-NO" altLang="ko-KR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pt-BR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i = 1; i &lt; 10; i++)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printf(</a:t>
                        </a:r>
                        <a:r>
                          <a:rPr lang="pt-BR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 * %d = %d</a:t>
                        </a:r>
                        <a:r>
                          <a:rPr lang="pt-BR" altLang="ko-KR" b="1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pt-BR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pt-BR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r, i, r * i);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printf(</a:t>
                        </a:r>
                        <a:r>
                          <a:rPr lang="pt-BR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pt-BR" altLang="ko-KR" b="1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pt-BR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pt-BR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  <a:endPara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3098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altLang="en-US" sz="4000" dirty="0"/>
              <a:t>전역</a:t>
            </a:r>
            <a:r>
              <a:rPr lang="en-US" altLang="ko-KR" sz="4000" dirty="0"/>
              <a:t> </a:t>
            </a:r>
            <a:r>
              <a:rPr lang="ko-KR" altLang="en-US" sz="4000" dirty="0"/>
              <a:t>저장소 분류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2424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전역 저장소 분류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/>
              <a:t>전역 저장소 분류의 개념</a:t>
            </a:r>
            <a:endParaRPr lang="en-US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전역</a:t>
            </a:r>
            <a:r>
              <a:rPr lang="en-US" altLang="ko-KR" b="1" dirty="0"/>
              <a:t>(extern) </a:t>
            </a:r>
            <a:r>
              <a:rPr lang="ko-KR" altLang="en-US" b="1" dirty="0"/>
              <a:t>저장소 분류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가시 범위가 프로그램 전체이고</a:t>
            </a:r>
            <a:r>
              <a:rPr lang="en-US" altLang="ko-KR" dirty="0"/>
              <a:t>, </a:t>
            </a:r>
            <a:r>
              <a:rPr lang="ko-KR" altLang="en-US" dirty="0"/>
              <a:t>생명 주기는 프로그램의 시작부터</a:t>
            </a:r>
            <a:br>
              <a:rPr lang="en-US" altLang="ko-KR" dirty="0"/>
            </a:br>
            <a:r>
              <a:rPr lang="ko-KR" altLang="en-US" dirty="0"/>
              <a:t>끝인 객체들의 분류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489277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전역 저장소 분류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/>
              <a:t>전역 저장소 분류의 개념</a:t>
            </a:r>
            <a:endParaRPr lang="en-US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전역</a:t>
            </a:r>
            <a:r>
              <a:rPr lang="en-US" altLang="ko-KR" b="1" dirty="0"/>
              <a:t>(extern) </a:t>
            </a:r>
            <a:r>
              <a:rPr lang="ko-KR" altLang="en-US" b="1" dirty="0"/>
              <a:t>저장소 분류</a:t>
            </a:r>
            <a:endParaRPr lang="en-US" altLang="ko-KR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978033" y="2335237"/>
            <a:ext cx="46226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-8]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전역 저장소 분류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1756082616"/>
              </p:ext>
            </p:extLst>
          </p:nvPr>
        </p:nvGraphicFramePr>
        <p:xfrm>
          <a:off x="1068069" y="2698590"/>
          <a:ext cx="6779261" cy="314554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g = 2;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g;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g = 1;     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문제 없음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" name="그룹 5"/>
          <p:cNvGrpSpPr/>
          <p:nvPr/>
        </p:nvGrpSpPr>
        <p:grpSpPr>
          <a:xfrm>
            <a:off x="2790823" y="3248025"/>
            <a:ext cx="1133472" cy="304800"/>
            <a:chOff x="2609850" y="4476750"/>
            <a:chExt cx="1133472" cy="304800"/>
          </a:xfrm>
        </p:grpSpPr>
        <p:sp>
          <p:nvSpPr>
            <p:cNvPr id="7" name="직사각형 6"/>
            <p:cNvSpPr/>
            <p:nvPr/>
          </p:nvSpPr>
          <p:spPr>
            <a:xfrm>
              <a:off x="3086097" y="4476750"/>
              <a:ext cx="657225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FF0000"/>
                  </a:solidFill>
                </a:rPr>
                <a:t>오류</a:t>
              </a:r>
            </a:p>
          </p:txBody>
        </p:sp>
        <p:cxnSp>
          <p:nvCxnSpPr>
            <p:cNvPr id="8" name="직선 화살표 연결선 7"/>
            <p:cNvCxnSpPr>
              <a:stCxn id="7" idx="1"/>
            </p:cNvCxnSpPr>
            <p:nvPr/>
          </p:nvCxnSpPr>
          <p:spPr>
            <a:xfrm flipH="1">
              <a:off x="2609850" y="4629150"/>
              <a:ext cx="476247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77134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전역 저장소 분류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/>
              <a:t>전역 저장소 분류의 개념</a:t>
            </a:r>
            <a:endParaRPr lang="en-US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전역 객체의 선언 위치</a:t>
            </a:r>
            <a:endParaRPr lang="en-US" altLang="ko-KR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978033" y="2335237"/>
            <a:ext cx="685151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-9]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다른 소스 파일의 전역 변수 선언                       </a:t>
            </a:r>
            <a:r>
              <a:rPr lang="en-US" altLang="ko-KR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Function.c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942320428"/>
              </p:ext>
            </p:extLst>
          </p:nvPr>
        </p:nvGraphicFramePr>
        <p:xfrm>
          <a:off x="1068069" y="2698590"/>
          <a:ext cx="6779261" cy="406560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56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g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1;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Google Shape;102;p7"/>
          <p:cNvSpPr txBox="1"/>
          <p:nvPr/>
        </p:nvSpPr>
        <p:spPr>
          <a:xfrm>
            <a:off x="965467" y="3363937"/>
            <a:ext cx="685151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en-US" altLang="ko-KR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Main.c</a:t>
            </a:r>
            <a:endParaRPr dirty="0"/>
          </a:p>
        </p:txBody>
      </p:sp>
      <p:graphicFrame>
        <p:nvGraphicFramePr>
          <p:cNvPr id="10" name="Google Shape;104;p7"/>
          <p:cNvGraphicFramePr/>
          <p:nvPr>
            <p:extLst>
              <p:ext uri="{D42A27DB-BD31-4B8C-83A1-F6EECF244321}">
                <p14:modId xmlns:p14="http://schemas.microsoft.com/office/powerpoint/2010/main" val="855685409"/>
              </p:ext>
            </p:extLst>
          </p:nvPr>
        </p:nvGraphicFramePr>
        <p:xfrm>
          <a:off x="1055503" y="3727290"/>
          <a:ext cx="6779261" cy="160935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56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06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g);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1" name="그룹 10"/>
          <p:cNvGrpSpPr/>
          <p:nvPr/>
        </p:nvGrpSpPr>
        <p:grpSpPr>
          <a:xfrm>
            <a:off x="3595682" y="4791075"/>
            <a:ext cx="1133472" cy="304800"/>
            <a:chOff x="2609850" y="4476750"/>
            <a:chExt cx="1133472" cy="304800"/>
          </a:xfrm>
        </p:grpSpPr>
        <p:sp>
          <p:nvSpPr>
            <p:cNvPr id="12" name="직사각형 11"/>
            <p:cNvSpPr/>
            <p:nvPr/>
          </p:nvSpPr>
          <p:spPr>
            <a:xfrm>
              <a:off x="3086097" y="4476750"/>
              <a:ext cx="657225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FF0000"/>
                  </a:solidFill>
                </a:rPr>
                <a:t>오류</a:t>
              </a:r>
            </a:p>
          </p:txBody>
        </p:sp>
        <p:cxnSp>
          <p:nvCxnSpPr>
            <p:cNvPr id="13" name="직선 화살표 연결선 12"/>
            <p:cNvCxnSpPr>
              <a:stCxn id="12" idx="1"/>
            </p:cNvCxnSpPr>
            <p:nvPr/>
          </p:nvCxnSpPr>
          <p:spPr>
            <a:xfrm flipH="1">
              <a:off x="2609850" y="4629150"/>
              <a:ext cx="476247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213481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전역 저장소 분류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en-US" altLang="ko-KR" sz="2400" dirty="0"/>
              <a:t>extern </a:t>
            </a:r>
            <a:r>
              <a:rPr lang="ko-KR" altLang="en-US" sz="2400" dirty="0"/>
              <a:t>지정자</a:t>
            </a:r>
            <a:endParaRPr lang="en-US" b="1" dirty="0"/>
          </a:p>
        </p:txBody>
      </p:sp>
      <p:grpSp>
        <p:nvGrpSpPr>
          <p:cNvPr id="2" name="그룹 1"/>
          <p:cNvGrpSpPr/>
          <p:nvPr/>
        </p:nvGrpSpPr>
        <p:grpSpPr>
          <a:xfrm>
            <a:off x="978033" y="2173312"/>
            <a:ext cx="6869297" cy="769913"/>
            <a:chOff x="978033" y="2335237"/>
            <a:chExt cx="6869297" cy="769913"/>
          </a:xfrm>
        </p:grpSpPr>
        <p:sp>
          <p:nvSpPr>
            <p:cNvPr id="4" name="Google Shape;102;p7"/>
            <p:cNvSpPr txBox="1"/>
            <p:nvPr/>
          </p:nvSpPr>
          <p:spPr>
            <a:xfrm>
              <a:off x="978033" y="2335237"/>
              <a:ext cx="6851517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9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-10]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extern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을 이용한 전역 객체의 순수 선언  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         </a:t>
              </a:r>
              <a:r>
                <a:rPr lang="en-US" altLang="ko-KR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Function.c</a:t>
              </a:r>
              <a:endParaRPr dirty="0"/>
            </a:p>
          </p:txBody>
        </p:sp>
        <p:graphicFrame>
          <p:nvGraphicFramePr>
            <p:cNvPr id="5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293304731"/>
                </p:ext>
              </p:extLst>
            </p:nvPr>
          </p:nvGraphicFramePr>
          <p:xfrm>
            <a:off x="1068069" y="2698590"/>
            <a:ext cx="6779261" cy="406560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40656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g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= 1;</a:t>
                        </a:r>
                        <a:endPara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4A1670A-61D7-4B9A-9315-7B26321676B8}"/>
              </a:ext>
            </a:extLst>
          </p:cNvPr>
          <p:cNvGrpSpPr/>
          <p:nvPr/>
        </p:nvGrpSpPr>
        <p:grpSpPr>
          <a:xfrm>
            <a:off x="965467" y="3202012"/>
            <a:ext cx="6869297" cy="2484771"/>
            <a:chOff x="965467" y="3363937"/>
            <a:chExt cx="6869297" cy="2484771"/>
          </a:xfrm>
        </p:grpSpPr>
        <p:sp>
          <p:nvSpPr>
            <p:cNvPr id="12" name="Google Shape;102;p7">
              <a:extLst>
                <a:ext uri="{FF2B5EF4-FFF2-40B4-BE49-F238E27FC236}">
                  <a16:creationId xmlns:a16="http://schemas.microsoft.com/office/drawing/2014/main" id="{60B493FD-ACAA-478E-B25A-A3B28CE8BD15}"/>
                </a:ext>
              </a:extLst>
            </p:cNvPr>
            <p:cNvSpPr txBox="1"/>
            <p:nvPr/>
          </p:nvSpPr>
          <p:spPr>
            <a:xfrm>
              <a:off x="965467" y="3363937"/>
              <a:ext cx="6851517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-KR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</a:t>
              </a:r>
              <a:r>
                <a:rPr lang="en-US" altLang="ko-KR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Main.c</a:t>
              </a:r>
              <a:endParaRPr dirty="0"/>
            </a:p>
          </p:txBody>
        </p:sp>
        <p:graphicFrame>
          <p:nvGraphicFramePr>
            <p:cNvPr id="13" name="Google Shape;104;p7">
              <a:extLst>
                <a:ext uri="{FF2B5EF4-FFF2-40B4-BE49-F238E27FC236}">
                  <a16:creationId xmlns:a16="http://schemas.microsoft.com/office/drawing/2014/main" id="{E562C288-773B-4B87-996C-8DBEACAC4AF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536154043"/>
                </p:ext>
              </p:extLst>
            </p:nvPr>
          </p:nvGraphicFramePr>
          <p:xfrm>
            <a:off x="1055503" y="3727290"/>
            <a:ext cx="6779261" cy="2121418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40656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08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rgbClr val="0070C0"/>
                            </a:solidFill>
                            <a:highlight>
                              <a:srgbClr val="FFFF00"/>
                            </a:highlight>
                            <a:latin typeface="Consolas" panose="020B0609020204030204" pitchFamily="49" charset="0"/>
                          </a:rPr>
                          <a:t>extern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highlight>
                              <a:srgbClr val="FFFF00"/>
                            </a:highlight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Consolas" panose="020B0609020204030204" pitchFamily="49" charset="0"/>
                          </a:rPr>
                          <a:t> g;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"%d"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g);     </a:t>
                        </a:r>
                        <a:r>
                          <a:rPr lang="en-US" altLang="ko-KR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// </a:t>
                        </a:r>
                        <a:r>
                          <a:rPr lang="ko-KR" altLang="en-US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문제 해결</a:t>
                        </a:r>
                        <a:endPara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0311016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전역 저장소 분류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en-US" altLang="ko-KR" sz="2400" dirty="0"/>
              <a:t>extern </a:t>
            </a:r>
            <a:r>
              <a:rPr lang="ko-KR" altLang="en-US" sz="2400" dirty="0"/>
              <a:t>지정자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주의 사항 </a:t>
            </a:r>
            <a:r>
              <a:rPr lang="en-US" altLang="ko-KR" b="1" dirty="0"/>
              <a:t>1. </a:t>
            </a:r>
            <a:r>
              <a:rPr lang="ko-KR" altLang="en-US" b="1" dirty="0"/>
              <a:t>링크 오류 발생</a:t>
            </a:r>
            <a:endParaRPr lang="en-US" b="1" dirty="0"/>
          </a:p>
        </p:txBody>
      </p:sp>
      <p:grpSp>
        <p:nvGrpSpPr>
          <p:cNvPr id="12" name="그룹 11"/>
          <p:cNvGrpSpPr/>
          <p:nvPr/>
        </p:nvGrpSpPr>
        <p:grpSpPr>
          <a:xfrm>
            <a:off x="3595682" y="4448175"/>
            <a:ext cx="1133472" cy="304800"/>
            <a:chOff x="2609850" y="4476750"/>
            <a:chExt cx="1133472" cy="304800"/>
          </a:xfrm>
        </p:grpSpPr>
        <p:sp>
          <p:nvSpPr>
            <p:cNvPr id="13" name="직사각형 12"/>
            <p:cNvSpPr/>
            <p:nvPr/>
          </p:nvSpPr>
          <p:spPr>
            <a:xfrm>
              <a:off x="3086097" y="4476750"/>
              <a:ext cx="657225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FF0000"/>
                  </a:solidFill>
                </a:rPr>
                <a:t>오류</a:t>
              </a:r>
            </a:p>
          </p:txBody>
        </p:sp>
        <p:cxnSp>
          <p:nvCxnSpPr>
            <p:cNvPr id="14" name="직선 화살표 연결선 13"/>
            <p:cNvCxnSpPr>
              <a:stCxn id="13" idx="1"/>
            </p:cNvCxnSpPr>
            <p:nvPr/>
          </p:nvCxnSpPr>
          <p:spPr>
            <a:xfrm flipH="1">
              <a:off x="2609850" y="4629150"/>
              <a:ext cx="476247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E383267-41B7-4AF8-98EF-9254A81AC4BE}"/>
              </a:ext>
            </a:extLst>
          </p:cNvPr>
          <p:cNvGrpSpPr/>
          <p:nvPr/>
        </p:nvGrpSpPr>
        <p:grpSpPr>
          <a:xfrm>
            <a:off x="1032576" y="2516212"/>
            <a:ext cx="6869297" cy="2484771"/>
            <a:chOff x="965467" y="3363937"/>
            <a:chExt cx="6869297" cy="2484771"/>
          </a:xfrm>
        </p:grpSpPr>
        <p:sp>
          <p:nvSpPr>
            <p:cNvPr id="15" name="Google Shape;102;p7">
              <a:extLst>
                <a:ext uri="{FF2B5EF4-FFF2-40B4-BE49-F238E27FC236}">
                  <a16:creationId xmlns:a16="http://schemas.microsoft.com/office/drawing/2014/main" id="{6A4DD024-B0EE-4925-B4C0-408E6061FC0F}"/>
                </a:ext>
              </a:extLst>
            </p:cNvPr>
            <p:cNvSpPr txBox="1"/>
            <p:nvPr/>
          </p:nvSpPr>
          <p:spPr>
            <a:xfrm>
              <a:off x="965467" y="3363937"/>
              <a:ext cx="6851517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sym typeface="Malgun Gothic"/>
                </a:rPr>
                <a:t>[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sym typeface="Malgun Gothic"/>
                </a:rPr>
                <a:t>코드 </a:t>
              </a:r>
              <a:r>
                <a:rPr lang="en-US" altLang="ko-KR" sz="1600" b="1" dirty="0">
                  <a:solidFill>
                    <a:srgbClr val="E36C09"/>
                  </a:solidFill>
                  <a:latin typeface="Malgun Gothic"/>
                  <a:ea typeface="Malgun Gothic"/>
                  <a:sym typeface="Malgun Gothic"/>
                </a:rPr>
                <a:t>9-11] 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sym typeface="Malgun Gothic"/>
                </a:rPr>
                <a:t>전역 객체의 순수 선언만 할 경우</a:t>
              </a:r>
              <a:endParaRPr dirty="0"/>
            </a:p>
          </p:txBody>
        </p:sp>
        <p:graphicFrame>
          <p:nvGraphicFramePr>
            <p:cNvPr id="16" name="Google Shape;104;p7">
              <a:extLst>
                <a:ext uri="{FF2B5EF4-FFF2-40B4-BE49-F238E27FC236}">
                  <a16:creationId xmlns:a16="http://schemas.microsoft.com/office/drawing/2014/main" id="{15DD11AD-20D1-49DB-B05B-2A9C0B324AE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715852237"/>
                </p:ext>
              </p:extLst>
            </p:nvPr>
          </p:nvGraphicFramePr>
          <p:xfrm>
            <a:off x="1055503" y="3727290"/>
            <a:ext cx="6779261" cy="2121418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40656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08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rgbClr val="0070C0"/>
                            </a:solidFill>
                            <a:highlight>
                              <a:srgbClr val="FFFF00"/>
                            </a:highlight>
                            <a:latin typeface="Consolas" panose="020B0609020204030204" pitchFamily="49" charset="0"/>
                          </a:rPr>
                          <a:t>extern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highlight>
                              <a:srgbClr val="FFFF00"/>
                            </a:highlight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Consolas" panose="020B0609020204030204" pitchFamily="49" charset="0"/>
                          </a:rPr>
                          <a:t> h;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"%d"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h);</a:t>
                        </a:r>
                        <a:endPara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914147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전역 저장소 분류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en-US" altLang="ko-KR" sz="2400" dirty="0"/>
              <a:t>extern </a:t>
            </a:r>
            <a:r>
              <a:rPr lang="ko-KR" altLang="en-US" sz="2400" dirty="0"/>
              <a:t>지정자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주의 사항 </a:t>
            </a:r>
            <a:r>
              <a:rPr lang="en-US" altLang="ko-KR" b="1" dirty="0"/>
              <a:t>2. </a:t>
            </a:r>
            <a:r>
              <a:rPr lang="ko-KR" altLang="en-US" b="1" dirty="0"/>
              <a:t>순수하게 선언만 할 때는 초기화가 불가능</a:t>
            </a:r>
            <a:endParaRPr lang="en-US" b="1" dirty="0"/>
          </a:p>
        </p:txBody>
      </p:sp>
      <p:grpSp>
        <p:nvGrpSpPr>
          <p:cNvPr id="2" name="그룹 1"/>
          <p:cNvGrpSpPr/>
          <p:nvPr/>
        </p:nvGrpSpPr>
        <p:grpSpPr>
          <a:xfrm>
            <a:off x="978033" y="2354287"/>
            <a:ext cx="6869297" cy="769913"/>
            <a:chOff x="978033" y="2335237"/>
            <a:chExt cx="6869297" cy="769913"/>
          </a:xfrm>
        </p:grpSpPr>
        <p:sp>
          <p:nvSpPr>
            <p:cNvPr id="4" name="Google Shape;102;p7"/>
            <p:cNvSpPr txBox="1"/>
            <p:nvPr/>
          </p:nvSpPr>
          <p:spPr>
            <a:xfrm>
              <a:off x="978033" y="2335237"/>
              <a:ext cx="6851517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9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-13] </a:t>
              </a:r>
              <a:r>
                <a:rPr lang="en-US" altLang="ko-KR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extern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 초기화                                          </a:t>
              </a:r>
              <a:r>
                <a:rPr lang="en-US" altLang="ko-KR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Function.c</a:t>
              </a:r>
              <a:endParaRPr dirty="0"/>
            </a:p>
          </p:txBody>
        </p:sp>
        <p:graphicFrame>
          <p:nvGraphicFramePr>
            <p:cNvPr id="5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1143649258"/>
                </p:ext>
              </p:extLst>
            </p:nvPr>
          </p:nvGraphicFramePr>
          <p:xfrm>
            <a:off x="1068069" y="2698590"/>
            <a:ext cx="6779261" cy="406560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40656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g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= 1;</a:t>
                        </a:r>
                        <a:endPara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grpSp>
        <p:nvGrpSpPr>
          <p:cNvPr id="11" name="그룹 10"/>
          <p:cNvGrpSpPr/>
          <p:nvPr/>
        </p:nvGrpSpPr>
        <p:grpSpPr>
          <a:xfrm>
            <a:off x="3557582" y="5314950"/>
            <a:ext cx="1133472" cy="304800"/>
            <a:chOff x="2609850" y="4476750"/>
            <a:chExt cx="1133472" cy="304800"/>
          </a:xfrm>
        </p:grpSpPr>
        <p:sp>
          <p:nvSpPr>
            <p:cNvPr id="12" name="직사각형 11"/>
            <p:cNvSpPr/>
            <p:nvPr/>
          </p:nvSpPr>
          <p:spPr>
            <a:xfrm>
              <a:off x="3086097" y="4476750"/>
              <a:ext cx="657225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FF0000"/>
                  </a:solidFill>
                </a:rPr>
                <a:t>오류</a:t>
              </a:r>
            </a:p>
          </p:txBody>
        </p:sp>
        <p:cxnSp>
          <p:nvCxnSpPr>
            <p:cNvPr id="13" name="직선 화살표 연결선 12"/>
            <p:cNvCxnSpPr>
              <a:stCxn id="12" idx="1"/>
            </p:cNvCxnSpPr>
            <p:nvPr/>
          </p:nvCxnSpPr>
          <p:spPr>
            <a:xfrm flipH="1">
              <a:off x="2609850" y="4629150"/>
              <a:ext cx="476247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0E9C9C3-5BFC-4FE0-94AA-2A23D8C53FA0}"/>
              </a:ext>
            </a:extLst>
          </p:cNvPr>
          <p:cNvGrpSpPr/>
          <p:nvPr/>
        </p:nvGrpSpPr>
        <p:grpSpPr>
          <a:xfrm>
            <a:off x="978033" y="3367086"/>
            <a:ext cx="6851517" cy="2484771"/>
            <a:chOff x="965467" y="3363937"/>
            <a:chExt cx="6851517" cy="2484771"/>
          </a:xfrm>
        </p:grpSpPr>
        <p:sp>
          <p:nvSpPr>
            <p:cNvPr id="15" name="Google Shape;102;p7">
              <a:extLst>
                <a:ext uri="{FF2B5EF4-FFF2-40B4-BE49-F238E27FC236}">
                  <a16:creationId xmlns:a16="http://schemas.microsoft.com/office/drawing/2014/main" id="{A8BA7662-6D8A-43D1-A550-EE954011DC50}"/>
                </a:ext>
              </a:extLst>
            </p:cNvPr>
            <p:cNvSpPr txBox="1"/>
            <p:nvPr/>
          </p:nvSpPr>
          <p:spPr>
            <a:xfrm>
              <a:off x="965467" y="3363937"/>
              <a:ext cx="6851517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-KR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</a:t>
              </a:r>
              <a:r>
                <a:rPr lang="en-US" altLang="ko-KR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Main.c</a:t>
              </a:r>
              <a:endParaRPr dirty="0"/>
            </a:p>
          </p:txBody>
        </p:sp>
        <p:graphicFrame>
          <p:nvGraphicFramePr>
            <p:cNvPr id="16" name="Google Shape;104;p7">
              <a:extLst>
                <a:ext uri="{FF2B5EF4-FFF2-40B4-BE49-F238E27FC236}">
                  <a16:creationId xmlns:a16="http://schemas.microsoft.com/office/drawing/2014/main" id="{9B08F92B-F78D-41A7-80B3-B1B8853DEA7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561952550"/>
                </p:ext>
              </p:extLst>
            </p:nvPr>
          </p:nvGraphicFramePr>
          <p:xfrm>
            <a:off x="1037723" y="3727290"/>
            <a:ext cx="6779261" cy="2121418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40656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08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rgbClr val="0070C0"/>
                            </a:solidFill>
                            <a:highlight>
                              <a:srgbClr val="FFFF00"/>
                            </a:highlight>
                            <a:latin typeface="Consolas" panose="020B0609020204030204" pitchFamily="49" charset="0"/>
                          </a:rPr>
                          <a:t>extern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highlight>
                              <a:srgbClr val="FFFF00"/>
                            </a:highlight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Consolas" panose="020B0609020204030204" pitchFamily="49" charset="0"/>
                          </a:rPr>
                          <a:t> g = 2;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"%d"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g);</a:t>
                        </a:r>
                        <a:endPara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176273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전역 저장소 분류</a:t>
            </a:r>
            <a:endParaRPr lang="ko-KR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684" y="2393253"/>
            <a:ext cx="7014332" cy="2566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95367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전역 저장소 분류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2343" y="1209676"/>
            <a:ext cx="7924665" cy="4895850"/>
            <a:chOff x="615155" y="898524"/>
            <a:chExt cx="7924665" cy="4895850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898524"/>
              <a:ext cx="7924665" cy="4895850"/>
              <a:chOff x="683573" y="1646170"/>
              <a:chExt cx="7924665" cy="2020265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646170"/>
                <a:ext cx="7920000" cy="202026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647056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9-3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916704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입출금 처리 프로그램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885627" y="1288542"/>
              <a:ext cx="7397419" cy="10924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다음 출력처럼 입출금 처리 프로그램을 작성해봅시다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단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,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입출금액이 양수이면 입금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,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음수이면 출금으로 입출금 여부를 출력합니다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단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,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입출금액이 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0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인 경우 프로그램을 종료합니다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</a:t>
              </a:r>
              <a:endPara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000" y="2768648"/>
            <a:ext cx="6209988" cy="1904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476" y="4896971"/>
            <a:ext cx="5131048" cy="787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01960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전역 저장소 분류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24680" y="1184798"/>
            <a:ext cx="7924665" cy="4968353"/>
            <a:chOff x="615155" y="1556273"/>
            <a:chExt cx="7924665" cy="4968353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556273"/>
              <a:ext cx="7924665" cy="4968353"/>
              <a:chOff x="683573" y="1844824"/>
              <a:chExt cx="7924665" cy="1465742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46574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0427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US" altLang="ko-KR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9-3</a:t>
                </a: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57117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1576583352"/>
                </p:ext>
              </p:extLst>
            </p:nvPr>
          </p:nvGraphicFramePr>
          <p:xfrm>
            <a:off x="871407" y="2023571"/>
            <a:ext cx="7416825" cy="4425706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230083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01</a:t>
                        </a:r>
                        <a:endParaRPr sz="14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02 </a:t>
                        </a:r>
                        <a:endParaRPr sz="14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03 </a:t>
                        </a:r>
                        <a:endParaRPr sz="14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04 </a:t>
                        </a:r>
                        <a:endParaRPr sz="14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05 </a:t>
                        </a:r>
                        <a:endParaRPr sz="14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06 </a:t>
                        </a:r>
                        <a:endParaRPr sz="14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17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400" b="1" dirty="0">
                            <a:latin typeface="Consolas" panose="020B0609020204030204" pitchFamily="49" charset="0"/>
                          </a:rPr>
                          <a:t>#define </a:t>
                        </a:r>
                        <a:r>
                          <a:rPr lang="en-US" altLang="ko-KR" sz="1400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_CRT_SECURE_NO_WARNINGS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400" b="1" dirty="0"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4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400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sz="14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400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400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400" b="1" baseline="0" dirty="0"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400" b="1" baseline="0" dirty="0" err="1">
                            <a:latin typeface="Consolas" panose="020B0609020204030204" pitchFamily="49" charset="0"/>
                          </a:rPr>
                          <a:t>g_Balance</a:t>
                        </a:r>
                        <a:r>
                          <a:rPr lang="en-US" altLang="ko-KR" sz="1400" b="1" baseline="0" dirty="0">
                            <a:latin typeface="Consolas" panose="020B0609020204030204" pitchFamily="49" charset="0"/>
                          </a:rPr>
                          <a:t> = 0;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400" b="1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400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void</a:t>
                        </a:r>
                        <a:r>
                          <a:rPr lang="en-US" altLang="ko-KR" sz="1400" b="1" baseline="0" dirty="0">
                            <a:latin typeface="Consolas" panose="020B0609020204030204" pitchFamily="49" charset="0"/>
                          </a:rPr>
                          <a:t> Deposit(</a:t>
                        </a:r>
                        <a:r>
                          <a:rPr lang="en-US" altLang="ko-KR" sz="1400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400" b="1" baseline="0" dirty="0">
                            <a:latin typeface="Consolas" panose="020B0609020204030204" pitchFamily="49" charset="0"/>
                          </a:rPr>
                          <a:t> amount)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400" b="1" baseline="0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400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400" b="1" baseline="0" dirty="0" err="1">
                            <a:latin typeface="Consolas" panose="020B0609020204030204" pitchFamily="49" charset="0"/>
                          </a:rPr>
                          <a:t>g_Balance</a:t>
                        </a:r>
                        <a:r>
                          <a:rPr lang="en-US" altLang="ko-KR" sz="1400" b="1" baseline="0" dirty="0">
                            <a:latin typeface="Consolas" panose="020B0609020204030204" pitchFamily="49" charset="0"/>
                          </a:rPr>
                          <a:t> += amount;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400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400" b="1" baseline="0" dirty="0" err="1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400" b="1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4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ko-KR" altLang="en-US" sz="14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입금</a:t>
                        </a:r>
                        <a:r>
                          <a:rPr lang="en-US" altLang="ko-KR" sz="14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: %d</a:t>
                        </a:r>
                        <a:r>
                          <a:rPr lang="ko-KR" altLang="en-US" sz="14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원</a:t>
                        </a:r>
                        <a:r>
                          <a:rPr lang="en-US" altLang="ko-KR" sz="14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ko-KR" altLang="en-US" sz="14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잔고</a:t>
                        </a:r>
                        <a:r>
                          <a:rPr lang="en-US" altLang="ko-KR" sz="14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: %d</a:t>
                        </a:r>
                        <a:r>
                          <a:rPr lang="ko-KR" altLang="en-US" sz="14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원</a:t>
                        </a:r>
                        <a:r>
                          <a:rPr lang="en-US" altLang="ko-KR" sz="1400" b="1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en-US" altLang="ko-KR" sz="14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sz="1400" b="1" baseline="0" dirty="0">
                            <a:latin typeface="Consolas" panose="020B0609020204030204" pitchFamily="49" charset="0"/>
                          </a:rPr>
                          <a:t>, amount, </a:t>
                        </a:r>
                        <a:r>
                          <a:rPr lang="en-US" altLang="ko-KR" sz="1400" b="1" baseline="0" dirty="0" err="1">
                            <a:latin typeface="Consolas" panose="020B0609020204030204" pitchFamily="49" charset="0"/>
                          </a:rPr>
                          <a:t>g_Balance</a:t>
                        </a:r>
                        <a:r>
                          <a:rPr lang="en-US" altLang="ko-KR" sz="1400" b="1" baseline="0" dirty="0"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400" b="1" baseline="0" dirty="0">
                            <a:latin typeface="Consolas" panose="020B0609020204030204" pitchFamily="49" charset="0"/>
                          </a:rPr>
                          <a:t> 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400" b="1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400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void</a:t>
                        </a:r>
                        <a:r>
                          <a:rPr lang="en-US" altLang="ko-KR" sz="1400" b="1" baseline="0" dirty="0">
                            <a:latin typeface="Consolas" panose="020B0609020204030204" pitchFamily="49" charset="0"/>
                          </a:rPr>
                          <a:t> Withdraw(</a:t>
                        </a:r>
                        <a:r>
                          <a:rPr lang="en-US" altLang="ko-KR" sz="1400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400" b="1" baseline="0" dirty="0">
                            <a:latin typeface="Consolas" panose="020B0609020204030204" pitchFamily="49" charset="0"/>
                          </a:rPr>
                          <a:t> amount)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400" b="1" baseline="0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400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400" b="1" baseline="0" dirty="0" err="1">
                            <a:latin typeface="Consolas" panose="020B0609020204030204" pitchFamily="49" charset="0"/>
                          </a:rPr>
                          <a:t>g_Balance</a:t>
                        </a:r>
                        <a:r>
                          <a:rPr lang="en-US" altLang="ko-KR" sz="1400" b="1" baseline="0" dirty="0">
                            <a:latin typeface="Consolas" panose="020B0609020204030204" pitchFamily="49" charset="0"/>
                          </a:rPr>
                          <a:t> -= amount;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400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400" b="1" baseline="0" dirty="0" err="1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400" b="1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4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ko-KR" altLang="en-US" sz="14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출금</a:t>
                        </a:r>
                        <a:r>
                          <a:rPr lang="en-US" altLang="ko-KR" sz="14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: %d</a:t>
                        </a:r>
                        <a:r>
                          <a:rPr lang="ko-KR" altLang="en-US" sz="14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원</a:t>
                        </a:r>
                        <a:r>
                          <a:rPr lang="en-US" altLang="ko-KR" sz="14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ko-KR" altLang="en-US" sz="14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잔고</a:t>
                        </a:r>
                        <a:r>
                          <a:rPr lang="en-US" altLang="ko-KR" sz="14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: %d</a:t>
                        </a:r>
                        <a:r>
                          <a:rPr lang="ko-KR" altLang="en-US" sz="14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원</a:t>
                        </a:r>
                        <a:r>
                          <a:rPr lang="en-US" altLang="ko-KR" sz="1400" b="1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en-US" altLang="ko-KR" sz="14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sz="1400" b="1" baseline="0" dirty="0">
                            <a:latin typeface="Consolas" panose="020B0609020204030204" pitchFamily="49" charset="0"/>
                          </a:rPr>
                          <a:t>, amount, </a:t>
                        </a:r>
                        <a:r>
                          <a:rPr lang="en-US" altLang="ko-KR" sz="1400" b="1" baseline="0" dirty="0" err="1">
                            <a:latin typeface="Consolas" panose="020B0609020204030204" pitchFamily="49" charset="0"/>
                          </a:rPr>
                          <a:t>g_Balance</a:t>
                        </a:r>
                        <a:r>
                          <a:rPr lang="en-US" altLang="ko-KR" sz="1400" b="1" baseline="0" dirty="0"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400" b="1" baseline="0" dirty="0"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822177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전역 저장소 분류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5155" y="1184798"/>
            <a:ext cx="7924665" cy="4968353"/>
            <a:chOff x="615155" y="1556273"/>
            <a:chExt cx="7924665" cy="4968353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556273"/>
              <a:ext cx="7924665" cy="4968353"/>
              <a:chOff x="683573" y="1844824"/>
              <a:chExt cx="7924665" cy="1465742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46574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0427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US" altLang="ko-KR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9-3</a:t>
                </a: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57117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361266969"/>
                </p:ext>
              </p:extLst>
            </p:nvPr>
          </p:nvGraphicFramePr>
          <p:xfrm>
            <a:off x="871407" y="2023571"/>
            <a:ext cx="7416825" cy="4425706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230083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18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34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amount;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while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(1)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ko-KR" altLang="en-US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입출금액을 입력하세요 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 "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scanf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"%d"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, &amp;amount);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(amount &gt; 0)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      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Deposit(amount);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else if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(amount &lt; 0)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        Withdraw(-amount);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else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        </a:t>
                        </a:r>
                        <a:r>
                          <a:rPr lang="en-US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break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  }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}</a:t>
                        </a:r>
                        <a:endParaRPr lang="en-US" altLang="ko-KR" b="1" baseline="0" dirty="0"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071495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sz="4000" dirty="0"/>
              <a:t>정적 저장소 분류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02625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정적 저장소 분류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/>
              <a:t>정적 저장소 분류의 개념</a:t>
            </a:r>
            <a:endParaRPr lang="en-US" altLang="ko-KR"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정적</a:t>
            </a:r>
            <a:r>
              <a:rPr lang="en-US" altLang="ko-KR" b="1" dirty="0"/>
              <a:t>(static) </a:t>
            </a:r>
            <a:r>
              <a:rPr lang="ko-KR" altLang="en-US" b="1" dirty="0"/>
              <a:t>저장소 분류의 특징</a:t>
            </a:r>
            <a:endParaRPr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생명 주기는 전역 저장소 분류와 같지만 가시 범위는 유동적임</a:t>
            </a:r>
            <a:endParaRPr lang="en-US" altLang="ko-KR" dirty="0"/>
          </a:p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en-US" altLang="ko-KR" sz="2400" dirty="0"/>
              <a:t>static </a:t>
            </a:r>
            <a:r>
              <a:rPr lang="ko-KR" altLang="en-US" sz="2400" dirty="0"/>
              <a:t>지정자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정적 개체를 지정하기 위함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선언된 위치에 따라 정적</a:t>
            </a:r>
            <a:r>
              <a:rPr lang="en-US" altLang="ko-KR" dirty="0"/>
              <a:t> </a:t>
            </a:r>
            <a:r>
              <a:rPr lang="ko-KR" altLang="en-US" dirty="0"/>
              <a:t>지역 객체 혹은 정적 전역 객체로 나뉨</a:t>
            </a:r>
            <a:endParaRPr lang="en-US" altLang="ko-KR" dirty="0"/>
          </a:p>
        </p:txBody>
      </p:sp>
      <p:pic>
        <p:nvPicPr>
          <p:cNvPr id="13314" name="Picture 2" descr="C:\Users\변소현\Desktop\난생처음 C 언어 프로그래밍\그림\Ch9\표 9-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532" y="4202257"/>
            <a:ext cx="6892636" cy="1558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00133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정적 저장소 분류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정적 지역 객체</a:t>
            </a:r>
            <a:endParaRPr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dirty="0"/>
              <a:t>static</a:t>
            </a:r>
            <a:r>
              <a:rPr lang="ko-KR" altLang="en-US" dirty="0"/>
              <a:t>을 지정하여 지역 객체로 선언한 것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프로그램 실행 내내 살아있으면서 함수가 호출될 때마다 재활용됨</a:t>
            </a:r>
            <a:endParaRPr dirty="0"/>
          </a:p>
        </p:txBody>
      </p:sp>
      <p:sp>
        <p:nvSpPr>
          <p:cNvPr id="7" name="Google Shape;102;p7"/>
          <p:cNvSpPr txBox="1"/>
          <p:nvPr/>
        </p:nvSpPr>
        <p:spPr>
          <a:xfrm>
            <a:off x="978033" y="2635590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-14]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정적 지역 변수</a:t>
            </a:r>
            <a:endParaRPr dirty="0"/>
          </a:p>
        </p:txBody>
      </p:sp>
      <p:graphicFrame>
        <p:nvGraphicFramePr>
          <p:cNvPr id="8" name="Google Shape;104;p7"/>
          <p:cNvGraphicFramePr/>
          <p:nvPr>
            <p:extLst>
              <p:ext uri="{D42A27DB-BD31-4B8C-83A1-F6EECF244321}">
                <p14:modId xmlns:p14="http://schemas.microsoft.com/office/powerpoint/2010/main" val="4049094089"/>
              </p:ext>
            </p:extLst>
          </p:nvPr>
        </p:nvGraphicFramePr>
        <p:xfrm>
          <a:off x="1068069" y="2998943"/>
          <a:ext cx="6779261" cy="340291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static </a:t>
                      </a: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 =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s++;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</a:t>
                      </a:r>
                      <a:r>
                        <a:rPr lang="en-US" altLang="ko-KR" sz="13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s);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();   </a:t>
                      </a:r>
                      <a:r>
                        <a:rPr lang="en-US" altLang="ko-KR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1 </a:t>
                      </a:r>
                      <a:r>
                        <a:rPr lang="ko-KR" altLang="en-US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출력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();   </a:t>
                      </a:r>
                      <a:r>
                        <a:rPr lang="en-US" altLang="ko-KR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2 </a:t>
                      </a:r>
                      <a:r>
                        <a:rPr lang="ko-KR" altLang="en-US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출력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5620" y="3080925"/>
            <a:ext cx="2010262" cy="878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64100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정적 저장소 분류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정적 지역 객체</a:t>
            </a:r>
            <a:endParaRPr sz="2400" dirty="0"/>
          </a:p>
        </p:txBody>
      </p:sp>
      <p:sp>
        <p:nvSpPr>
          <p:cNvPr id="7" name="Google Shape;102;p7"/>
          <p:cNvSpPr txBox="1"/>
          <p:nvPr/>
        </p:nvSpPr>
        <p:spPr>
          <a:xfrm>
            <a:off x="978033" y="1606890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-14]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정적 지역 변수</a:t>
            </a:r>
            <a:endParaRPr dirty="0"/>
          </a:p>
        </p:txBody>
      </p:sp>
      <p:graphicFrame>
        <p:nvGraphicFramePr>
          <p:cNvPr id="8" name="Google Shape;104;p7"/>
          <p:cNvGraphicFramePr/>
          <p:nvPr>
            <p:extLst>
              <p:ext uri="{D42A27DB-BD31-4B8C-83A1-F6EECF244321}">
                <p14:modId xmlns:p14="http://schemas.microsoft.com/office/powerpoint/2010/main" val="3081741911"/>
              </p:ext>
            </p:extLst>
          </p:nvPr>
        </p:nvGraphicFramePr>
        <p:xfrm>
          <a:off x="1068069" y="1970243"/>
          <a:ext cx="7015228" cy="3878400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08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3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265">
                  <a:extLst>
                    <a:ext uri="{9D8B030D-6E8A-4147-A177-3AD203B41FA5}">
                      <a16:colId xmlns:a16="http://schemas.microsoft.com/office/drawing/2014/main" val="3994629216"/>
                    </a:ext>
                  </a:extLst>
                </a:gridCol>
                <a:gridCol w="3067617">
                  <a:extLst>
                    <a:ext uri="{9D8B030D-6E8A-4147-A177-3AD203B41FA5}">
                      <a16:colId xmlns:a16="http://schemas.microsoft.com/office/drawing/2014/main" val="3099849215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static </a:t>
                      </a: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 =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s++;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static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 =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s++;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("%d ", s);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("%d\r\n", s);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21</a:t>
                      </a:r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Picture 2">
            <a:extLst>
              <a:ext uri="{FF2B5EF4-FFF2-40B4-BE49-F238E27FC236}">
                <a16:creationId xmlns:a16="http://schemas.microsoft.com/office/drawing/2014/main" id="{2DD9F650-B91C-4F20-8EED-B0B8C362C4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936"/>
          <a:stretch/>
        </p:blipFill>
        <p:spPr bwMode="auto">
          <a:xfrm>
            <a:off x="5616327" y="4972078"/>
            <a:ext cx="2384673" cy="8197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21838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정적 저장소 분류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4"/>
            </a:pPr>
            <a:r>
              <a:rPr lang="ko-KR" altLang="en-US" sz="2400" dirty="0"/>
              <a:t>정적 전역 객체</a:t>
            </a:r>
            <a:endParaRPr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dirty="0"/>
              <a:t>static</a:t>
            </a:r>
            <a:r>
              <a:rPr lang="ko-KR" altLang="en-US" dirty="0"/>
              <a:t>을 지정하여 전역 객체를 선언한 것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일반 전역 객체처럼 </a:t>
            </a:r>
            <a:r>
              <a:rPr lang="en-US" altLang="ko-KR" dirty="0"/>
              <a:t>extern </a:t>
            </a:r>
            <a:r>
              <a:rPr lang="ko-KR" altLang="en-US" dirty="0"/>
              <a:t>지정자를 사용할 수 없음</a:t>
            </a:r>
            <a:endParaRPr dirty="0"/>
          </a:p>
        </p:txBody>
      </p:sp>
      <p:grpSp>
        <p:nvGrpSpPr>
          <p:cNvPr id="9" name="그룹 8"/>
          <p:cNvGrpSpPr/>
          <p:nvPr/>
        </p:nvGrpSpPr>
        <p:grpSpPr>
          <a:xfrm>
            <a:off x="978033" y="2706712"/>
            <a:ext cx="6869297" cy="769913"/>
            <a:chOff x="978033" y="2335237"/>
            <a:chExt cx="6869297" cy="769913"/>
          </a:xfrm>
        </p:grpSpPr>
        <p:sp>
          <p:nvSpPr>
            <p:cNvPr id="10" name="Google Shape;102;p7"/>
            <p:cNvSpPr txBox="1"/>
            <p:nvPr/>
          </p:nvSpPr>
          <p:spPr>
            <a:xfrm>
              <a:off x="978033" y="2335237"/>
              <a:ext cx="6851517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9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-16] 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정적 전역 변수                               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         </a:t>
              </a:r>
              <a:r>
                <a:rPr lang="en-US" altLang="ko-KR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Function.c</a:t>
              </a:r>
              <a:endParaRPr dirty="0"/>
            </a:p>
          </p:txBody>
        </p:sp>
        <p:graphicFrame>
          <p:nvGraphicFramePr>
            <p:cNvPr id="11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1612333385"/>
                </p:ext>
              </p:extLst>
            </p:nvPr>
          </p:nvGraphicFramePr>
          <p:xfrm>
            <a:off x="1068069" y="2698590"/>
            <a:ext cx="6779261" cy="406560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40656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static</a:t>
                        </a:r>
                        <a:r>
                          <a:rPr lang="en-US" altLang="ko-KR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sg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= 1;</a:t>
                        </a:r>
                        <a:endPara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grpSp>
        <p:nvGrpSpPr>
          <p:cNvPr id="12" name="그룹 11"/>
          <p:cNvGrpSpPr/>
          <p:nvPr/>
        </p:nvGrpSpPr>
        <p:grpSpPr>
          <a:xfrm>
            <a:off x="965467" y="3735412"/>
            <a:ext cx="6869297" cy="2484771"/>
            <a:chOff x="965467" y="3363937"/>
            <a:chExt cx="6869297" cy="2484771"/>
          </a:xfrm>
        </p:grpSpPr>
        <p:sp>
          <p:nvSpPr>
            <p:cNvPr id="13" name="Google Shape;102;p7"/>
            <p:cNvSpPr txBox="1"/>
            <p:nvPr/>
          </p:nvSpPr>
          <p:spPr>
            <a:xfrm>
              <a:off x="965467" y="3363937"/>
              <a:ext cx="6851517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-KR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</a:t>
              </a:r>
              <a:r>
                <a:rPr lang="en-US" altLang="ko-KR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Main.c</a:t>
              </a:r>
              <a:endParaRPr dirty="0"/>
            </a:p>
          </p:txBody>
        </p:sp>
        <p:graphicFrame>
          <p:nvGraphicFramePr>
            <p:cNvPr id="14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713110711"/>
                </p:ext>
              </p:extLst>
            </p:nvPr>
          </p:nvGraphicFramePr>
          <p:xfrm>
            <a:off x="1055503" y="3727290"/>
            <a:ext cx="6779261" cy="2121418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40656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08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static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sg = 2;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"%d"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sg);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289" y="5547493"/>
            <a:ext cx="1738975" cy="672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71424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정적 저장소 분류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4"/>
            </a:pPr>
            <a:r>
              <a:rPr lang="ko-KR" altLang="en-US" sz="2400" dirty="0"/>
              <a:t>정적 전역 객체</a:t>
            </a:r>
            <a:endParaRPr sz="2400" dirty="0"/>
          </a:p>
        </p:txBody>
      </p:sp>
      <p:grpSp>
        <p:nvGrpSpPr>
          <p:cNvPr id="9" name="그룹 8"/>
          <p:cNvGrpSpPr/>
          <p:nvPr/>
        </p:nvGrpSpPr>
        <p:grpSpPr>
          <a:xfrm>
            <a:off x="978033" y="1967136"/>
            <a:ext cx="6869297" cy="769913"/>
            <a:chOff x="978033" y="2335237"/>
            <a:chExt cx="6869297" cy="769913"/>
          </a:xfrm>
        </p:grpSpPr>
        <p:sp>
          <p:nvSpPr>
            <p:cNvPr id="10" name="Google Shape;102;p7"/>
            <p:cNvSpPr txBox="1"/>
            <p:nvPr/>
          </p:nvSpPr>
          <p:spPr>
            <a:xfrm>
              <a:off x="978033" y="2335237"/>
              <a:ext cx="6851517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9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-17] 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전역 변수와 정적 전역 변수의 우선순위  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         </a:t>
              </a:r>
              <a:r>
                <a:rPr lang="en-US" altLang="ko-KR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Function.c</a:t>
              </a:r>
              <a:endParaRPr dirty="0"/>
            </a:p>
          </p:txBody>
        </p:sp>
        <p:graphicFrame>
          <p:nvGraphicFramePr>
            <p:cNvPr id="11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291573330"/>
                </p:ext>
              </p:extLst>
            </p:nvPr>
          </p:nvGraphicFramePr>
          <p:xfrm>
            <a:off x="1068069" y="2698590"/>
            <a:ext cx="6779261" cy="406560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40656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sg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= 1;</a:t>
                        </a:r>
                        <a:endPara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grpSp>
        <p:nvGrpSpPr>
          <p:cNvPr id="12" name="그룹 11"/>
          <p:cNvGrpSpPr/>
          <p:nvPr/>
        </p:nvGrpSpPr>
        <p:grpSpPr>
          <a:xfrm>
            <a:off x="965467" y="2995836"/>
            <a:ext cx="6869297" cy="2484771"/>
            <a:chOff x="965467" y="3363937"/>
            <a:chExt cx="6869297" cy="2484771"/>
          </a:xfrm>
        </p:grpSpPr>
        <p:sp>
          <p:nvSpPr>
            <p:cNvPr id="13" name="Google Shape;102;p7"/>
            <p:cNvSpPr txBox="1"/>
            <p:nvPr/>
          </p:nvSpPr>
          <p:spPr>
            <a:xfrm>
              <a:off x="965467" y="3363937"/>
              <a:ext cx="6851517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-KR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</a:t>
              </a:r>
              <a:r>
                <a:rPr lang="en-US" altLang="ko-KR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Main.c</a:t>
              </a:r>
              <a:endParaRPr dirty="0"/>
            </a:p>
          </p:txBody>
        </p:sp>
        <p:graphicFrame>
          <p:nvGraphicFramePr>
            <p:cNvPr id="14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753609521"/>
                </p:ext>
              </p:extLst>
            </p:nvPr>
          </p:nvGraphicFramePr>
          <p:xfrm>
            <a:off x="1055503" y="3727290"/>
            <a:ext cx="6779261" cy="2121418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40656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08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static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sg = 2;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"%d"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sg);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0577" y="4780485"/>
            <a:ext cx="1738975" cy="672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33108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정적 저장소 분류</a:t>
            </a:r>
            <a:endParaRPr lang="ko-KR" alt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298" y="2024360"/>
            <a:ext cx="6961103" cy="2809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55128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정적 저장소 분류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555193" y="1622368"/>
            <a:ext cx="7924665" cy="4616506"/>
            <a:chOff x="612343" y="1879543"/>
            <a:chExt cx="7924665" cy="4616506"/>
          </a:xfrm>
        </p:grpSpPr>
        <p:grpSp>
          <p:nvGrpSpPr>
            <p:cNvPr id="3" name="그룹 2"/>
            <p:cNvGrpSpPr/>
            <p:nvPr/>
          </p:nvGrpSpPr>
          <p:grpSpPr>
            <a:xfrm>
              <a:off x="612343" y="1879543"/>
              <a:ext cx="7924665" cy="4616506"/>
              <a:chOff x="615155" y="1379937"/>
              <a:chExt cx="7924665" cy="4616506"/>
            </a:xfrm>
          </p:grpSpPr>
          <p:grpSp>
            <p:nvGrpSpPr>
              <p:cNvPr id="4" name="Google Shape;129;p9"/>
              <p:cNvGrpSpPr/>
              <p:nvPr/>
            </p:nvGrpSpPr>
            <p:grpSpPr>
              <a:xfrm>
                <a:off x="615155" y="1379937"/>
                <a:ext cx="7924665" cy="4616506"/>
                <a:chOff x="683573" y="1844824"/>
                <a:chExt cx="7924665" cy="1904994"/>
              </a:xfrm>
              <a:solidFill>
                <a:schemeClr val="accent5">
                  <a:lumMod val="20000"/>
                  <a:lumOff val="80000"/>
                </a:schemeClr>
              </a:solidFill>
            </p:grpSpPr>
            <p:sp>
              <p:nvSpPr>
                <p:cNvPr id="5" name="Google Shape;130;p9"/>
                <p:cNvSpPr/>
                <p:nvPr/>
              </p:nvSpPr>
              <p:spPr>
                <a:xfrm>
                  <a:off x="688238" y="1844824"/>
                  <a:ext cx="7920000" cy="1904994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2700" cap="flat" cmpd="sng">
                  <a:solidFill>
                    <a:srgbClr val="8AC9D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7" name="Google Shape;132;p9"/>
                <p:cNvSpPr/>
                <p:nvPr/>
              </p:nvSpPr>
              <p:spPr>
                <a:xfrm>
                  <a:off x="683573" y="1844825"/>
                  <a:ext cx="1511728" cy="152935"/>
                </a:xfrm>
                <a:prstGeom prst="rect">
                  <a:avLst/>
                </a:prstGeom>
                <a:solidFill>
                  <a:srgbClr val="8AC9DA"/>
                </a:solidFill>
                <a:ln>
                  <a:solidFill>
                    <a:srgbClr val="8AC9DA"/>
                  </a:solidFill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 b="1" dirty="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LAB 9-4</a:t>
                  </a:r>
                  <a:endParaRPr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9" name="TextBox 8"/>
              <p:cNvSpPr txBox="1"/>
              <p:nvPr/>
            </p:nvSpPr>
            <p:spPr>
              <a:xfrm>
                <a:off x="2126883" y="1395971"/>
                <a:ext cx="636644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b="1" dirty="0">
                    <a:latin typeface="+mj-ea"/>
                    <a:ea typeface="+mj-ea"/>
                  </a:rPr>
                  <a:t>개선된 입출금 처리 프로그램</a:t>
                </a:r>
              </a:p>
            </p:txBody>
          </p:sp>
          <p:sp>
            <p:nvSpPr>
              <p:cNvPr id="12" name="직사각형 11"/>
              <p:cNvSpPr/>
              <p:nvPr/>
            </p:nvSpPr>
            <p:spPr>
              <a:xfrm>
                <a:off x="689306" y="1767809"/>
                <a:ext cx="7781027" cy="7897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ko-KR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[LAB 9-3]</a:t>
                </a:r>
                <a:r>
                  <a:rPr lang="ko-KR" altLang="en-US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에서 만들었던 입출금 처리 프로그램에 기능을 추가해봅시다</a:t>
                </a:r>
                <a:r>
                  <a:rPr lang="en-US" altLang="ko-KR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. </a:t>
                </a:r>
                <a:r>
                  <a:rPr lang="ko-KR" altLang="en-US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입출금마다 </a:t>
                </a:r>
                <a:r>
                  <a:rPr lang="ko-KR" altLang="en-US" sz="1600" dirty="0" err="1">
                    <a:latin typeface="Consolas" panose="020B0609020204030204" pitchFamily="49" charset="0"/>
                    <a:ea typeface="맑은 고딕" panose="020B0503020000020004" pitchFamily="50" charset="-127"/>
                  </a:rPr>
                  <a:t>총입금액과</a:t>
                </a:r>
                <a:r>
                  <a:rPr lang="ko-KR" altLang="en-US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600" dirty="0" err="1">
                    <a:latin typeface="Consolas" panose="020B0609020204030204" pitchFamily="49" charset="0"/>
                    <a:ea typeface="맑은 고딕" panose="020B0503020000020004" pitchFamily="50" charset="-127"/>
                  </a:rPr>
                  <a:t>총출금액도</a:t>
                </a:r>
                <a:r>
                  <a:rPr lang="ko-KR" altLang="en-US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 같이 출력합니다</a:t>
                </a:r>
                <a:r>
                  <a:rPr lang="en-US" altLang="ko-KR" sz="16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. </a:t>
                </a:r>
                <a:endPara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843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7504" y="3190191"/>
              <a:ext cx="5634692" cy="2166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35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2481" y="5528416"/>
              <a:ext cx="6544737" cy="709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213300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정적 저장소 분류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5155" y="1553651"/>
            <a:ext cx="7924665" cy="4492103"/>
            <a:chOff x="615155" y="1327673"/>
            <a:chExt cx="7924665" cy="4492103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27673"/>
              <a:ext cx="7924665" cy="4492103"/>
              <a:chOff x="683573" y="1844824"/>
              <a:chExt cx="7924665" cy="1198934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19893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94336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9-4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4257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129131017"/>
                </p:ext>
              </p:extLst>
            </p:nvPr>
          </p:nvGraphicFramePr>
          <p:xfrm>
            <a:off x="871407" y="1794971"/>
            <a:ext cx="7416825" cy="3913642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230083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06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#define </a:t>
                        </a:r>
                        <a:r>
                          <a:rPr lang="en-US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_CRT_SECURE_NO_WARNINGS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studio.h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g_Balance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= 0;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void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Deposit(</a:t>
                        </a: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amount)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static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s_Total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= 0;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g_Balance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+= amount;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s_Total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+= amount;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ko-KR" altLang="en-US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입금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: %d</a:t>
                        </a:r>
                        <a:r>
                          <a:rPr lang="ko-KR" altLang="en-US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원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ko-KR" altLang="en-US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총입금액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: %d</a:t>
                        </a:r>
                        <a:r>
                          <a:rPr lang="ko-KR" altLang="en-US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원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ko-KR" altLang="en-US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잔고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: %d</a:t>
                        </a:r>
                        <a:r>
                          <a:rPr lang="ko-KR" altLang="en-US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원</a:t>
                        </a:r>
                        <a:r>
                          <a:rPr lang="en-US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          amount, </a:t>
                        </a:r>
                        <a:r>
                          <a:rPr lang="en-US" altLang="ko-KR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s_Total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g_Balance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392121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정적 저장소 분류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5155" y="1553651"/>
            <a:ext cx="7924665" cy="4492103"/>
            <a:chOff x="615155" y="1327673"/>
            <a:chExt cx="7924665" cy="4492103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27673"/>
              <a:ext cx="7924665" cy="4492103"/>
              <a:chOff x="683573" y="1844824"/>
              <a:chExt cx="7924665" cy="1198934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19893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94336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9-4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4257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2001783533"/>
                </p:ext>
              </p:extLst>
            </p:nvPr>
          </p:nvGraphicFramePr>
          <p:xfrm>
            <a:off x="871407" y="1794971"/>
            <a:ext cx="7416825" cy="3913642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230083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16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30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void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Withdraw(</a:t>
                        </a: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amount)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static </a:t>
                        </a:r>
                        <a:r>
                          <a:rPr lang="en-US" altLang="ko-KR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baseline="0" dirty="0" err="1">
                            <a:latin typeface="Consolas" panose="020B0609020204030204" pitchFamily="49" charset="0"/>
                          </a:rPr>
                          <a:t>s_Total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= 0;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g_Balance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-= amount;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s_Total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+= amount;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ko-KR" altLang="en-US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출금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: %d</a:t>
                        </a:r>
                        <a:r>
                          <a:rPr lang="ko-KR" altLang="en-US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원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ko-KR" altLang="en-US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총출금액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: %d</a:t>
                        </a:r>
                        <a:r>
                          <a:rPr lang="ko-KR" altLang="en-US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원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ko-KR" altLang="en-US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잔고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: %d</a:t>
                        </a:r>
                        <a:r>
                          <a:rPr lang="ko-KR" altLang="en-US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원</a:t>
                        </a:r>
                        <a:r>
                          <a:rPr lang="en-US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,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              amount, </a:t>
                        </a:r>
                        <a:r>
                          <a:rPr lang="en-US" altLang="ko-KR" b="1" baseline="0" dirty="0" err="1">
                            <a:latin typeface="Consolas" panose="020B0609020204030204" pitchFamily="49" charset="0"/>
                          </a:rPr>
                          <a:t>s_Total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b="1" baseline="0" dirty="0" err="1">
                            <a:latin typeface="Consolas" panose="020B0609020204030204" pitchFamily="49" charset="0"/>
                          </a:rPr>
                          <a:t>g_Balance</a:t>
                        </a: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amount;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while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(1)</a:t>
                        </a: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831301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정적 저장소 분류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5155" y="1553650"/>
            <a:ext cx="7924665" cy="3780348"/>
            <a:chOff x="615155" y="1327672"/>
            <a:chExt cx="7924665" cy="3780348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27672"/>
              <a:ext cx="7924665" cy="3780348"/>
              <a:chOff x="683573" y="1844824"/>
              <a:chExt cx="7924665" cy="1008968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0089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94336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9-4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4257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2143012013"/>
                </p:ext>
              </p:extLst>
            </p:nvPr>
          </p:nvGraphicFramePr>
          <p:xfrm>
            <a:off x="871407" y="1794971"/>
            <a:ext cx="7416825" cy="3230083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230083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31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40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41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42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ko-KR" altLang="en-US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입출금액을 입력하세요 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 "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  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scanf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"%d"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, &amp;amount);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(amount &gt; 0)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      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Deposit(amount);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else if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(amount &lt; 0)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      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Withdraw(-amount);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else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        </a:t>
                        </a:r>
                        <a:r>
                          <a:rPr lang="en-US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break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}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}</a:t>
                        </a:r>
                        <a:endParaRPr lang="en-US" altLang="ko-KR" b="1" baseline="0" dirty="0"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831301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sz="4000" dirty="0"/>
              <a:t>객체의 초기화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96427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객체의 초기화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/>
              <a:t>전역</a:t>
            </a:r>
            <a:r>
              <a:rPr lang="en-US" altLang="ko-KR" sz="2400" dirty="0"/>
              <a:t>, </a:t>
            </a:r>
            <a:r>
              <a:rPr lang="ko-KR" altLang="en-US" sz="2400" dirty="0"/>
              <a:t>정적 객체의 초기화</a:t>
            </a:r>
            <a:endParaRPr lang="en-US" altLang="ko-KR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전역 객체의 초기화</a:t>
            </a:r>
            <a:endParaRPr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명시적으로 초기화를 하지 않을 경우 자동으로 </a:t>
            </a:r>
            <a:r>
              <a:rPr lang="en-US" altLang="ko-KR" dirty="0"/>
              <a:t>0</a:t>
            </a:r>
            <a:r>
              <a:rPr lang="ko-KR" altLang="en-US" dirty="0"/>
              <a:t>으로 초기화됨</a:t>
            </a:r>
            <a:endParaRPr lang="en-US" altLang="ko-KR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978033" y="2669420"/>
            <a:ext cx="5489442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-18]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정적 지역 객체의 가시 범위 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블록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263778287"/>
              </p:ext>
            </p:extLst>
          </p:nvPr>
        </p:nvGraphicFramePr>
        <p:xfrm>
          <a:off x="1068069" y="3032773"/>
          <a:ext cx="6779261" cy="2377450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g1;    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0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초기화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g2 = 1;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1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초기화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"g1:%d, g2:%d"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g1, g2);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945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9"/>
          <a:stretch/>
        </p:blipFill>
        <p:spPr bwMode="auto">
          <a:xfrm>
            <a:off x="1000468" y="5459077"/>
            <a:ext cx="6857657" cy="645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21025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객체의 초기화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/>
              <a:t>전역</a:t>
            </a:r>
            <a:r>
              <a:rPr lang="en-US" altLang="ko-KR" sz="2400" dirty="0"/>
              <a:t>, </a:t>
            </a:r>
            <a:r>
              <a:rPr lang="ko-KR" altLang="en-US" sz="2400" dirty="0"/>
              <a:t>정적 객체의 초기화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전역 객체의 초기화</a:t>
            </a:r>
            <a:endParaRPr lang="ko-KR" altLang="en-US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978033" y="2274625"/>
            <a:ext cx="5489442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-19]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정적 변수의 </a:t>
            </a:r>
            <a:r>
              <a:rPr lang="ko-KR" altLang="en-US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비상수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초기화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2573985106"/>
              </p:ext>
            </p:extLst>
          </p:nvPr>
        </p:nvGraphicFramePr>
        <p:xfrm>
          <a:off x="1068069" y="2637978"/>
          <a:ext cx="6779261" cy="314554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get(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g1 =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g2 = g1;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g3 = get();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" name="그룹 6"/>
          <p:cNvGrpSpPr/>
          <p:nvPr/>
        </p:nvGrpSpPr>
        <p:grpSpPr>
          <a:xfrm>
            <a:off x="3095627" y="4333875"/>
            <a:ext cx="914399" cy="314325"/>
            <a:chOff x="4010026" y="3657600"/>
            <a:chExt cx="914399" cy="314325"/>
          </a:xfrm>
        </p:grpSpPr>
        <p:sp>
          <p:nvSpPr>
            <p:cNvPr id="8" name="오른쪽 중괄호 7"/>
            <p:cNvSpPr/>
            <p:nvPr/>
          </p:nvSpPr>
          <p:spPr>
            <a:xfrm>
              <a:off x="4010026" y="3667125"/>
              <a:ext cx="247650" cy="304800"/>
            </a:xfrm>
            <a:prstGeom prst="rightBrac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4267200" y="3657600"/>
              <a:ext cx="657225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FF0000"/>
                  </a:solidFill>
                </a:rPr>
                <a:t>오류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97542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객체의 초기화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/>
              <a:t>전역</a:t>
            </a:r>
            <a:r>
              <a:rPr lang="en-US" altLang="ko-KR" sz="2400" dirty="0"/>
              <a:t>, </a:t>
            </a:r>
            <a:r>
              <a:rPr lang="ko-KR" altLang="en-US" sz="2400" dirty="0"/>
              <a:t>정적 객체의 초기화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정적 객체의 초기화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명시적으로 초기화를 하지 않을 경우 프로그램이 시작할 때 자동으로 </a:t>
            </a:r>
            <a:r>
              <a:rPr lang="en-US" altLang="ko-KR" dirty="0"/>
              <a:t>0</a:t>
            </a:r>
            <a:r>
              <a:rPr lang="ko-KR" altLang="en-US" dirty="0"/>
              <a:t>으로 초기화됨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선언과 </a:t>
            </a:r>
            <a:r>
              <a:rPr lang="ko-KR" altLang="en-US" dirty="0" err="1"/>
              <a:t>동시에초기화할</a:t>
            </a:r>
            <a:r>
              <a:rPr lang="ko-KR" altLang="en-US" dirty="0"/>
              <a:t> 경우 초기값은 오직 상수여야 함</a:t>
            </a:r>
          </a:p>
        </p:txBody>
      </p:sp>
    </p:spTree>
    <p:extLst>
      <p:ext uri="{BB962C8B-B14F-4D97-AF65-F5344CB8AC3E}">
        <p14:creationId xmlns:p14="http://schemas.microsoft.com/office/powerpoint/2010/main" val="16519316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객체의 초기화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지역 객체의 초기화</a:t>
            </a:r>
            <a:endParaRPr lang="en-US" altLang="ko-KR" sz="2400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명시적으로 초기화를 하지 않을 경우 자동으로 초기화되지 않음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지역 객체가 차지하고 있는 메모리 영역의 이전 상태를 그대로 사용함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초기화되지 않거나 특정 값이 대입되지 않은 상태를 미정의 값이라고 함</a:t>
            </a:r>
          </a:p>
        </p:txBody>
      </p:sp>
      <p:sp>
        <p:nvSpPr>
          <p:cNvPr id="5" name="Google Shape;102;p7"/>
          <p:cNvSpPr txBox="1"/>
          <p:nvPr/>
        </p:nvSpPr>
        <p:spPr>
          <a:xfrm>
            <a:off x="978033" y="3078995"/>
            <a:ext cx="5489442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-20]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 변수의 초기화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2127257951"/>
              </p:ext>
            </p:extLst>
          </p:nvPr>
        </p:nvGraphicFramePr>
        <p:xfrm>
          <a:off x="1068069" y="3442348"/>
          <a:ext cx="6779261" cy="263348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[1];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[0]);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" name="그룹 6"/>
          <p:cNvGrpSpPr/>
          <p:nvPr/>
        </p:nvGrpSpPr>
        <p:grpSpPr>
          <a:xfrm>
            <a:off x="3948114" y="4772025"/>
            <a:ext cx="1133472" cy="304800"/>
            <a:chOff x="2609850" y="4476750"/>
            <a:chExt cx="1133472" cy="304800"/>
          </a:xfrm>
        </p:grpSpPr>
        <p:sp>
          <p:nvSpPr>
            <p:cNvPr id="8" name="직사각형 7"/>
            <p:cNvSpPr/>
            <p:nvPr/>
          </p:nvSpPr>
          <p:spPr>
            <a:xfrm>
              <a:off x="3086097" y="4476750"/>
              <a:ext cx="657225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FF0000"/>
                  </a:solidFill>
                </a:rPr>
                <a:t>오류</a:t>
              </a:r>
            </a:p>
          </p:txBody>
        </p:sp>
        <p:cxnSp>
          <p:nvCxnSpPr>
            <p:cNvPr id="9" name="직선 화살표 연결선 8"/>
            <p:cNvCxnSpPr>
              <a:stCxn id="8" idx="1"/>
            </p:cNvCxnSpPr>
            <p:nvPr/>
          </p:nvCxnSpPr>
          <p:spPr>
            <a:xfrm flipH="1">
              <a:off x="2609850" y="4629150"/>
              <a:ext cx="476247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91505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객체의 초기화</a:t>
            </a:r>
            <a:endParaRPr lang="ko-KR" alt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342" y="2168263"/>
            <a:ext cx="6967016" cy="257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35361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객체의 초기화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555193" y="1168372"/>
            <a:ext cx="7924665" cy="5165753"/>
            <a:chOff x="615155" y="1379937"/>
            <a:chExt cx="7924665" cy="5165753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79937"/>
              <a:ext cx="7924665" cy="5165753"/>
              <a:chOff x="683573" y="1844824"/>
              <a:chExt cx="7924665" cy="2131640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21316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9-5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95971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덧셈이 누적되는 프로그램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689306" y="1767809"/>
              <a:ext cx="7781027" cy="7461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다음 실행 결과를 참고하여 입력하는 수들의 덧셈 과정을 보여주는 프로그램을 작성해봅시다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단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,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입력하는 수가 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0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인 경우 프로그램을 종료합니다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</a:t>
              </a:r>
              <a:endPara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12" y="2495852"/>
            <a:ext cx="6204075" cy="1904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895" y="4563493"/>
            <a:ext cx="6512210" cy="1509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44445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객체의 초기화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5155" y="1553651"/>
            <a:ext cx="7924665" cy="4492103"/>
            <a:chOff x="615155" y="1327673"/>
            <a:chExt cx="7924665" cy="4492103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27673"/>
              <a:ext cx="7924665" cy="4492103"/>
              <a:chOff x="683573" y="1844824"/>
              <a:chExt cx="7924665" cy="1198934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19893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94336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9-5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4257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90616869"/>
                </p:ext>
              </p:extLst>
            </p:nvPr>
          </p:nvGraphicFramePr>
          <p:xfrm>
            <a:off x="871407" y="1794971"/>
            <a:ext cx="7416825" cy="3913642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230083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06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#define </a:t>
                        </a:r>
                        <a:r>
                          <a:rPr lang="en-US" altLang="ko-KR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_CRT_SECURE_NO_WARNINGS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studio.h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g_Sum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void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add(</a:t>
                        </a: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n)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static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s_Index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static </a:t>
                        </a: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s_Arr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[1024];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g_Sum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+= n;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s_Arr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[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s_Index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] = n;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s_Index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++;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 "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s_Arr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[0]);</a:t>
                        </a:r>
                        <a:endPara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925153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객체의 초기화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5155" y="1553651"/>
            <a:ext cx="7924665" cy="4492103"/>
            <a:chOff x="615155" y="1327673"/>
            <a:chExt cx="7924665" cy="4492103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27673"/>
              <a:ext cx="7924665" cy="4492103"/>
              <a:chOff x="683573" y="1844824"/>
              <a:chExt cx="7924665" cy="1198934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19893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94336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9-5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4257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2830764951"/>
                </p:ext>
              </p:extLst>
            </p:nvPr>
          </p:nvGraphicFramePr>
          <p:xfrm>
            <a:off x="871407" y="1794971"/>
            <a:ext cx="7416825" cy="3913642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230083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16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30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 </a:t>
                        </a:r>
                        <a:r>
                          <a:rPr lang="en-US" altLang="ko-KR" b="1" dirty="0">
                            <a:solidFill>
                              <a:srgbClr val="9D87B7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for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= 1; 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&lt; 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s_Index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; 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++)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b="1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s_Arr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[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] &gt; 0)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        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"+ %d "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s_Arr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[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]);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   </a:t>
                        </a:r>
                        <a:r>
                          <a:rPr lang="en-US" altLang="ko-KR" b="1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else if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s_Arr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[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] &lt; 0)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        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"+ - %d "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, -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s_Arr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[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]);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"= %d\r\n"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b="1" dirty="0" err="1">
                            <a:latin typeface="Consolas" panose="020B0609020204030204" pitchFamily="49" charset="0"/>
                          </a:rPr>
                          <a:t>g_Sum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while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(1)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>
                            <a:latin typeface="Consolas" panose="020B0609020204030204" pitchFamily="49" charset="0"/>
                          </a:rPr>
                          <a:t>{</a:t>
                        </a:r>
                        <a:endPara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0277625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객체의 초기화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5155" y="1553652"/>
            <a:ext cx="7924665" cy="3313624"/>
            <a:chOff x="615155" y="1327674"/>
            <a:chExt cx="7924665" cy="3313624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27674"/>
              <a:ext cx="7924665" cy="3313624"/>
              <a:chOff x="683573" y="1844824"/>
              <a:chExt cx="7924665" cy="884400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884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94336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9-5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4257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2104600919"/>
                </p:ext>
              </p:extLst>
            </p:nvPr>
          </p:nvGraphicFramePr>
          <p:xfrm>
            <a:off x="871407" y="1794971"/>
            <a:ext cx="7416825" cy="2703451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2703451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31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40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</a:t>
                        </a: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n;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</a:t>
                        </a:r>
                        <a:r>
                          <a:rPr lang="en-US" altLang="ko-KR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ko-KR" altLang="en-US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더할 수를 입력하세요 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 "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</a:t>
                        </a:r>
                        <a:r>
                          <a:rPr lang="en-US" altLang="ko-KR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scanf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"%d"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&amp;n);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</a:t>
                        </a:r>
                        <a:r>
                          <a:rPr lang="en-US" altLang="ko-KR" b="1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(n)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   add(n);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</a:t>
                        </a:r>
                        <a:r>
                          <a:rPr lang="en-US" altLang="ko-KR" b="1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else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   </a:t>
                        </a:r>
                        <a:r>
                          <a:rPr lang="en-US" altLang="ko-KR" b="1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break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}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598936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4A4C8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모서리가 둥근 직사각형 3"/>
          <p:cNvSpPr/>
          <p:nvPr/>
        </p:nvSpPr>
        <p:spPr>
          <a:xfrm>
            <a:off x="328612" y="342900"/>
            <a:ext cx="8505825" cy="61737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sz="4000" dirty="0">
                <a:solidFill>
                  <a:schemeClr val="accent4"/>
                </a:solidFill>
              </a:rPr>
              <a:t>양수와 음수의 덧셈 누적하기</a:t>
            </a:r>
            <a:endParaRPr sz="40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3012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ko-KR" altLang="en-US" dirty="0">
                <a:solidFill>
                  <a:schemeClr val="tx1"/>
                </a:solidFill>
              </a:rPr>
              <a:t>양수와 음수의 덧셈 누적하기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23527" y="1366961"/>
            <a:ext cx="8639498" cy="1357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문제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  <a:p>
            <a:pPr marL="0" indent="0">
              <a:buNone/>
            </a:pPr>
            <a:r>
              <a:rPr lang="en-US" altLang="ko-KR" sz="1800" dirty="0"/>
              <a:t>[LAB 9-5]</a:t>
            </a:r>
            <a:r>
              <a:rPr lang="ko-KR" altLang="en-US" sz="1800" dirty="0"/>
              <a:t>에서 작성한 덧셈 과정을 보여주는 프로그램의 기능을 개선하여 다음과 같이 양수와 음수를 각각 모아서 보여주는 방식이 되도록 작성해봅시다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91" y="2999973"/>
            <a:ext cx="7663718" cy="2686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ko-KR" altLang="en-US" dirty="0">
                <a:solidFill>
                  <a:schemeClr val="tx1"/>
                </a:solidFill>
              </a:rPr>
              <a:t>문자 배열 합치기</a:t>
            </a:r>
            <a:endParaRPr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23528" y="1228970"/>
            <a:ext cx="8363272" cy="579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  <a:p>
            <a:pPr marL="0" indent="0">
              <a:buFont typeface="Noto Sans Symbols"/>
              <a:buNone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-342900" algn="just">
              <a:buClr>
                <a:srgbClr val="7030A0"/>
              </a:buClr>
              <a:buSzPct val="100000"/>
              <a:buAutoNum type="arabicPeriod"/>
            </a:pPr>
            <a:r>
              <a:rPr lang="ko-KR" altLang="en-US" sz="1800" dirty="0"/>
              <a:t>양수와 음수를 분리하여 처리하기 위하여 양수용 배열과 인덱스</a:t>
            </a:r>
            <a:r>
              <a:rPr lang="en-US" altLang="ko-KR" sz="1800" dirty="0"/>
              <a:t>, </a:t>
            </a:r>
            <a:r>
              <a:rPr lang="ko-KR" altLang="en-US" sz="1800" dirty="0"/>
              <a:t>음수용 배열과 인덱스를 정적 지역 배열과 정적 지역 변수로 각각 선언한다</a:t>
            </a:r>
            <a:r>
              <a:rPr lang="en-US" altLang="ko-KR" sz="1800" dirty="0"/>
              <a:t>.</a:t>
            </a:r>
          </a:p>
          <a:p>
            <a:pPr marL="342900" indent="-342900" algn="just">
              <a:buAutoNum type="arabicPeriod"/>
            </a:pPr>
            <a:endParaRPr lang="en-US" altLang="ko-KR" sz="1800" dirty="0"/>
          </a:p>
          <a:p>
            <a:pPr marL="342900" indent="-342900" algn="just">
              <a:buClr>
                <a:srgbClr val="7030A0"/>
              </a:buClr>
              <a:buSzPct val="100000"/>
              <a:buAutoNum type="arabicPeriod"/>
            </a:pPr>
            <a:r>
              <a:rPr lang="ko-KR" altLang="en-US" sz="1800" dirty="0"/>
              <a:t>단 한 번이라도 양수나 음수가 입력된 경우에 한하여 괄호를 출력한다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20690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ko-KR" altLang="en-US" dirty="0">
                <a:solidFill>
                  <a:schemeClr val="tx1"/>
                </a:solidFill>
              </a:rPr>
              <a:t>문자 배열 합치기</a:t>
            </a:r>
            <a:endParaRPr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33214" y="995486"/>
            <a:ext cx="8363272" cy="497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3395194782"/>
              </p:ext>
            </p:extLst>
          </p:nvPr>
        </p:nvGraphicFramePr>
        <p:xfrm>
          <a:off x="882798" y="1543050"/>
          <a:ext cx="7416825" cy="468173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18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g_Sum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add(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n)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static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s_plusIndex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static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s_plusArr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[256];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static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s_minusIndex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static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s_minusArr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[256];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g_Sum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+= n;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(n &gt; 0)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s_plusArr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s_plusIndex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 = n;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4488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ko-KR" altLang="en-US" dirty="0">
                <a:solidFill>
                  <a:schemeClr val="tx1"/>
                </a:solidFill>
              </a:rPr>
              <a:t>문자 배열 합치기</a:t>
            </a:r>
            <a:endParaRPr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33214" y="995486"/>
            <a:ext cx="8363272" cy="497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1252320715"/>
              </p:ext>
            </p:extLst>
          </p:nvPr>
        </p:nvGraphicFramePr>
        <p:xfrm>
          <a:off x="882798" y="1543050"/>
          <a:ext cx="7416825" cy="468173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20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21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22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23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24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25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26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27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28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29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30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31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32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33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34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35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36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s_plusIndex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++;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else if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(n &lt; 0)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s_minusArr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s_minusIndex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] = n;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s_minusIndex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++;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s_plusIndex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&gt; 0)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"( %d "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s_plusArr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[0]);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= 1;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&lt;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s_plusIndex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;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++)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"+ %d "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s_plusArr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]);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")"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s_minusIndex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&gt; 0)</a:t>
                      </a: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299146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ko-KR" altLang="en-US" dirty="0">
                <a:solidFill>
                  <a:schemeClr val="tx1"/>
                </a:solidFill>
              </a:rPr>
              <a:t>문자 배열 합치기</a:t>
            </a:r>
            <a:endParaRPr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33214" y="995486"/>
            <a:ext cx="8363272" cy="497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3835370053"/>
              </p:ext>
            </p:extLst>
          </p:nvPr>
        </p:nvGraphicFramePr>
        <p:xfrm>
          <a:off x="882798" y="1543050"/>
          <a:ext cx="7416825" cy="468173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37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38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39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40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41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42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43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44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45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46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47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48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49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50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51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52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53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54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 - ( %d "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, -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s_minusArr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[0]);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for(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= 1;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&lt;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s_minusIndex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;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++)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"+ %d "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, -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s_minusArr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]);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")"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 = %d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g_Sum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(1)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n;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더할 수를 입력하세요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 "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, &amp;n);</a:t>
                      </a: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60371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ko-KR" altLang="en-US" dirty="0">
                <a:solidFill>
                  <a:schemeClr val="tx1"/>
                </a:solidFill>
              </a:rPr>
              <a:t>문자 배열 합치기</a:t>
            </a:r>
            <a:endParaRPr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33214" y="995486"/>
            <a:ext cx="8363272" cy="497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3845235134"/>
              </p:ext>
            </p:extLst>
          </p:nvPr>
        </p:nvGraphicFramePr>
        <p:xfrm>
          <a:off x="882798" y="1543050"/>
          <a:ext cx="7416825" cy="1865386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55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56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57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58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59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60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61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(n)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add(n);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else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break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  </a:t>
                      </a: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1678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2208</TotalTime>
  <Words>3651</Words>
  <Application>Microsoft Office PowerPoint</Application>
  <PresentationFormat>화면 슬라이드 쇼(4:3)</PresentationFormat>
  <Paragraphs>1148</Paragraphs>
  <Slides>63</Slides>
  <Notes>41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63</vt:i4>
      </vt:variant>
    </vt:vector>
  </HeadingPairs>
  <TitlesOfParts>
    <vt:vector size="70" baseType="lpstr">
      <vt:lpstr>Noto Sans Symbols</vt:lpstr>
      <vt:lpstr>맑은 고딕</vt:lpstr>
      <vt:lpstr>맑은 고딕</vt:lpstr>
      <vt:lpstr>Arial</vt:lpstr>
      <vt:lpstr>Consolas</vt:lpstr>
      <vt:lpstr>Verdana</vt:lpstr>
      <vt:lpstr>Office 테마</vt:lpstr>
      <vt:lpstr>Chapter 09. 저장소 분류</vt:lpstr>
      <vt:lpstr>PowerPoint 프레젠테이션</vt:lpstr>
      <vt:lpstr>PowerPoint 프레젠테이션</vt:lpstr>
      <vt:lpstr>PowerPoint 프레젠테이션</vt:lpstr>
      <vt:lpstr>01. 객체의 가시 범위와 생명 주기</vt:lpstr>
      <vt:lpstr>01. 객체의 가시 범위와 생명 주기</vt:lpstr>
      <vt:lpstr>01. 객체의 가시 범위와 생명 주기</vt:lpstr>
      <vt:lpstr>01. 객체의 가시 범위와 생명 주기</vt:lpstr>
      <vt:lpstr>01. 객체의 가시 범위와 생명 주기</vt:lpstr>
      <vt:lpstr>01. 객체의 가시 범위와 생명 주기</vt:lpstr>
      <vt:lpstr>01. 객체의 가시 범위와 생명 주기</vt:lpstr>
      <vt:lpstr>01. 객체의 가시 범위와 생명 주기</vt:lpstr>
      <vt:lpstr>01. 객체의 가시 범위와 생명 주기</vt:lpstr>
      <vt:lpstr>01. 객체의 가시 범위와 생명 주기</vt:lpstr>
      <vt:lpstr>01. 객체의 가시 범위와 생명 주기</vt:lpstr>
      <vt:lpstr>01. 객체의 가시 범위와 생명 주기</vt:lpstr>
      <vt:lpstr>PowerPoint 프레젠테이션</vt:lpstr>
      <vt:lpstr>02. 자동 저장소 분류</vt:lpstr>
      <vt:lpstr>02. 자동 저장소 분류</vt:lpstr>
      <vt:lpstr>02. 자동 저장소 분류</vt:lpstr>
      <vt:lpstr>02. 자동 저장소 분류</vt:lpstr>
      <vt:lpstr>02. 자동 저장소 분류</vt:lpstr>
      <vt:lpstr>02. 자동 저장소 분류</vt:lpstr>
      <vt:lpstr>PowerPoint 프레젠테이션</vt:lpstr>
      <vt:lpstr>03. 전역 저장소 분류</vt:lpstr>
      <vt:lpstr>03. 전역 저장소 분류</vt:lpstr>
      <vt:lpstr>03. 전역 저장소 분류</vt:lpstr>
      <vt:lpstr>03. 전역 저장소 분류</vt:lpstr>
      <vt:lpstr>03. 전역 저장소 분류</vt:lpstr>
      <vt:lpstr>03. 전역 저장소 분류</vt:lpstr>
      <vt:lpstr>03. 전역 저장소 분류</vt:lpstr>
      <vt:lpstr>03. 전역 저장소 분류</vt:lpstr>
      <vt:lpstr>03. 전역 저장소 분류</vt:lpstr>
      <vt:lpstr>03. 전역 저장소 분류</vt:lpstr>
      <vt:lpstr>PowerPoint 프레젠테이션</vt:lpstr>
      <vt:lpstr>04. 정적 저장소 분류</vt:lpstr>
      <vt:lpstr>04. 정적 저장소 분류</vt:lpstr>
      <vt:lpstr>04. 정적 저장소 분류</vt:lpstr>
      <vt:lpstr>04. 정적 저장소 분류</vt:lpstr>
      <vt:lpstr>04. 정적 저장소 분류</vt:lpstr>
      <vt:lpstr>04. 정적 저장소 분류</vt:lpstr>
      <vt:lpstr>04. 정적 저장소 분류</vt:lpstr>
      <vt:lpstr>04. 정적 저장소 분류</vt:lpstr>
      <vt:lpstr>04. 정적 저장소 분류</vt:lpstr>
      <vt:lpstr>04. 정적 저장소 분류</vt:lpstr>
      <vt:lpstr>PowerPoint 프레젠테이션</vt:lpstr>
      <vt:lpstr>05. 객체의 초기화</vt:lpstr>
      <vt:lpstr>05. 객체의 초기화</vt:lpstr>
      <vt:lpstr>05. 객체의 초기화</vt:lpstr>
      <vt:lpstr>05. 객체의 초기화</vt:lpstr>
      <vt:lpstr>05. 객체의 초기화</vt:lpstr>
      <vt:lpstr>05. 객체의 초기화</vt:lpstr>
      <vt:lpstr>05. 객체의 초기화</vt:lpstr>
      <vt:lpstr>05. 객체의 초기화</vt:lpstr>
      <vt:lpstr>05. 객체의 초기화</vt:lpstr>
      <vt:lpstr>PowerPoint 프레젠테이션</vt:lpstr>
      <vt:lpstr>[실전예제] 양수와 음수의 덧셈 누적하기</vt:lpstr>
      <vt:lpstr>[실전예제] 문자 배열 합치기</vt:lpstr>
      <vt:lpstr>[실전예제] 문자 배열 합치기</vt:lpstr>
      <vt:lpstr>[실전예제] 문자 배열 합치기</vt:lpstr>
      <vt:lpstr>[실전예제] 문자 배열 합치기</vt:lpstr>
      <vt:lpstr>[실전예제] 문자 배열 합치기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01. 프로그래밍과 C 언어</dc:title>
  <dc:creator>서지영</dc:creator>
  <cp:lastModifiedBy>마케팅팀</cp:lastModifiedBy>
  <cp:revision>195</cp:revision>
  <dcterms:created xsi:type="dcterms:W3CDTF">2012-07-11T10:23:22Z</dcterms:created>
  <dcterms:modified xsi:type="dcterms:W3CDTF">2022-02-15T03:27:58Z</dcterms:modified>
</cp:coreProperties>
</file>