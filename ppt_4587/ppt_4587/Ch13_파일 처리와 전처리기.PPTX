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75"/>
  </p:notesMasterIdLst>
  <p:handoutMasterIdLst>
    <p:handoutMasterId r:id="rId76"/>
  </p:handoutMasterIdLst>
  <p:sldIdLst>
    <p:sldId id="256" r:id="rId2"/>
    <p:sldId id="257" r:id="rId3"/>
    <p:sldId id="258" r:id="rId4"/>
    <p:sldId id="259" r:id="rId5"/>
    <p:sldId id="260" r:id="rId6"/>
    <p:sldId id="639" r:id="rId7"/>
    <p:sldId id="584" r:id="rId8"/>
    <p:sldId id="560" r:id="rId9"/>
    <p:sldId id="561" r:id="rId10"/>
    <p:sldId id="261" r:id="rId11"/>
    <p:sldId id="273" r:id="rId12"/>
    <p:sldId id="588" r:id="rId13"/>
    <p:sldId id="641" r:id="rId14"/>
    <p:sldId id="640" r:id="rId15"/>
    <p:sldId id="591" r:id="rId16"/>
    <p:sldId id="642" r:id="rId17"/>
    <p:sldId id="643" r:id="rId18"/>
    <p:sldId id="644" r:id="rId19"/>
    <p:sldId id="645" r:id="rId20"/>
    <p:sldId id="646" r:id="rId21"/>
    <p:sldId id="433" r:id="rId22"/>
    <p:sldId id="434" r:id="rId23"/>
    <p:sldId id="287" r:id="rId24"/>
    <p:sldId id="288" r:id="rId25"/>
    <p:sldId id="647" r:id="rId26"/>
    <p:sldId id="648" r:id="rId27"/>
    <p:sldId id="650" r:id="rId28"/>
    <p:sldId id="651" r:id="rId29"/>
    <p:sldId id="652" r:id="rId30"/>
    <p:sldId id="653" r:id="rId31"/>
    <p:sldId id="654" r:id="rId32"/>
    <p:sldId id="655" r:id="rId33"/>
    <p:sldId id="656" r:id="rId34"/>
    <p:sldId id="657" r:id="rId35"/>
    <p:sldId id="659" r:id="rId36"/>
    <p:sldId id="660" r:id="rId37"/>
    <p:sldId id="661" r:id="rId38"/>
    <p:sldId id="662" r:id="rId39"/>
    <p:sldId id="549" r:id="rId40"/>
    <p:sldId id="439" r:id="rId41"/>
    <p:sldId id="440" r:id="rId42"/>
    <p:sldId id="663" r:id="rId43"/>
    <p:sldId id="601" r:id="rId44"/>
    <p:sldId id="602" r:id="rId45"/>
    <p:sldId id="664" r:id="rId46"/>
    <p:sldId id="665" r:id="rId47"/>
    <p:sldId id="667" r:id="rId48"/>
    <p:sldId id="668" r:id="rId49"/>
    <p:sldId id="669" r:id="rId50"/>
    <p:sldId id="670" r:id="rId51"/>
    <p:sldId id="671" r:id="rId52"/>
    <p:sldId id="672" r:id="rId53"/>
    <p:sldId id="680" r:id="rId54"/>
    <p:sldId id="673" r:id="rId55"/>
    <p:sldId id="681" r:id="rId56"/>
    <p:sldId id="674" r:id="rId57"/>
    <p:sldId id="606" r:id="rId58"/>
    <p:sldId id="675" r:id="rId59"/>
    <p:sldId id="611" r:id="rId60"/>
    <p:sldId id="612" r:id="rId61"/>
    <p:sldId id="676" r:id="rId62"/>
    <p:sldId id="677" r:id="rId63"/>
    <p:sldId id="678" r:id="rId64"/>
    <p:sldId id="618" r:id="rId65"/>
    <p:sldId id="619" r:id="rId66"/>
    <p:sldId id="620" r:id="rId67"/>
    <p:sldId id="316" r:id="rId68"/>
    <p:sldId id="264" r:id="rId69"/>
    <p:sldId id="578" r:id="rId70"/>
    <p:sldId id="679" r:id="rId71"/>
    <p:sldId id="318" r:id="rId72"/>
    <p:sldId id="635" r:id="rId73"/>
    <p:sldId id="267" r:id="rId74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196">
          <p15:clr>
            <a:srgbClr val="A4A3A4"/>
          </p15:clr>
        </p15:guide>
        <p15:guide id="4" pos="285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6" roundtripDataSignature="AMtx7minI3MDKZStEEFPCD0pd8mEwA/T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47C"/>
    <a:srgbClr val="05E1AD"/>
    <a:srgbClr val="22FAC7"/>
    <a:srgbClr val="66FFCC"/>
    <a:srgbClr val="00FFCC"/>
    <a:srgbClr val="00FFFF"/>
    <a:srgbClr val="FDE2CB"/>
    <a:srgbClr val="FBFBD1"/>
    <a:srgbClr val="9D87B7"/>
    <a:srgbClr val="B4A4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70F0E0B-0B7A-4AD7-8269-C2576374BDFF}">
  <a:tblStyle styleId="{270F0E0B-0B7A-4AD7-8269-C2576374BDFF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55" autoAdjust="0"/>
    <p:restoredTop sz="94464" autoAdjust="0"/>
  </p:normalViewPr>
  <p:slideViewPr>
    <p:cSldViewPr snapToGrid="0">
      <p:cViewPr varScale="1">
        <p:scale>
          <a:sx n="105" d="100"/>
          <a:sy n="105" d="100"/>
        </p:scale>
        <p:origin x="2016" y="114"/>
      </p:cViewPr>
      <p:guideLst>
        <p:guide orient="horz" pos="2160"/>
        <p:guide pos="2880"/>
        <p:guide orient="horz" pos="2196"/>
        <p:guide pos="285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00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8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96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9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handoutMaster" Target="handoutMasters/handoutMaster1.xml"/><Relationship Id="rId97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F64742-9361-41AF-BEB5-9C4A02623FAB}" type="datetimeFigureOut">
              <a:rPr lang="ko-KR" altLang="en-US" smtClean="0"/>
              <a:t>2022-02-22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A8AF58-5242-4D16-97DC-D8C5673ED1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236044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44088840"/>
      </p:ext>
    </p:extLst>
  </p:cSld>
  <p:clrMap bg1="lt1" tx1="dk1" bg2="dk2" tx2="lt2" accent1="accent1" accent2="accent2" accent3="accent3" accent4="accent4" accent5="accent5" accent6="accent6" hlink="hlink" folHlink="folHlink"/>
  <p:hf sldNum="0"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8405118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8967487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5" name="Google Shape;1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5" name="Google Shape;1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슬라이드1">
  <p:cSld name="1_제목 슬라이드1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/>
          <p:nvPr/>
        </p:nvSpPr>
        <p:spPr>
          <a:xfrm>
            <a:off x="0" y="5373216"/>
            <a:ext cx="9144000" cy="1484784"/>
          </a:xfrm>
          <a:prstGeom prst="rect">
            <a:avLst/>
          </a:prstGeom>
          <a:solidFill>
            <a:srgbClr val="E524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7" name="Google Shape;17;p14" descr="C:\Users\김현용\Desktop\제호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81257" y="320688"/>
            <a:ext cx="1800000" cy="3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82894" y="329071"/>
            <a:ext cx="3978211" cy="4684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목차">
  <p:cSld name="목차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/>
          <p:nvPr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목차</a:t>
            </a:r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body" idx="1"/>
          </p:nvPr>
        </p:nvSpPr>
        <p:spPr>
          <a:xfrm>
            <a:off x="755576" y="1851323"/>
            <a:ext cx="7615014" cy="4104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AutoNum type="arabicPeriod"/>
              <a:defRPr sz="2000" b="1">
                <a:solidFill>
                  <a:schemeClr val="dk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5"/>
          <p:cNvSpPr/>
          <p:nvPr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학습목표">
  <p:cSld name="학습목표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학습목표</a:t>
            </a:r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body" idx="1"/>
          </p:nvPr>
        </p:nvSpPr>
        <p:spPr>
          <a:xfrm>
            <a:off x="755576" y="1844824"/>
            <a:ext cx="7704856" cy="4104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>
                <a:solidFill>
                  <a:schemeClr val="dk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/>
          <p:nvPr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사용자 지정 레이아웃">
  <p:cSld name="2_사용자 지정 레이아웃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/>
          <p:nvPr/>
        </p:nvSpPr>
        <p:spPr>
          <a:xfrm>
            <a:off x="323057" y="404813"/>
            <a:ext cx="8497887" cy="6048375"/>
          </a:xfrm>
          <a:prstGeom prst="roundRect">
            <a:avLst>
              <a:gd name="adj" fmla="val 5013"/>
            </a:avLst>
          </a:prstGeom>
          <a:solidFill>
            <a:srgbClr val="F29B8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999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" name="Google Shape;29;p17"/>
          <p:cNvSpPr/>
          <p:nvPr/>
        </p:nvSpPr>
        <p:spPr>
          <a:xfrm>
            <a:off x="719101" y="341260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" name="Google Shape;30;p17"/>
          <p:cNvSpPr/>
          <p:nvPr/>
        </p:nvSpPr>
        <p:spPr>
          <a:xfrm>
            <a:off x="719101" y="2348880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" name="Google Shape;31;p17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algun Gothic"/>
              <a:buNone/>
              <a:defRPr sz="4800" b="1">
                <a:solidFill>
                  <a:schemeClr val="lt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body" idx="2"/>
          </p:nvPr>
        </p:nvSpPr>
        <p:spPr>
          <a:xfrm>
            <a:off x="719572" y="2348880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Malgun Gothic"/>
              <a:buNone/>
              <a:defRPr sz="5400" b="1">
                <a:solidFill>
                  <a:schemeClr val="lt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섹션 목차">
  <p:cSld name="섹션 목차">
    <p:bg>
      <p:bgPr>
        <a:solidFill>
          <a:schemeClr val="lt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6840760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5" name="Google Shape;35;p18"/>
          <p:cNvCxnSpPr/>
          <p:nvPr/>
        </p:nvCxnSpPr>
        <p:spPr>
          <a:xfrm>
            <a:off x="2124744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" name="Google Shape;36;p18"/>
          <p:cNvCxnSpPr/>
          <p:nvPr/>
        </p:nvCxnSpPr>
        <p:spPr>
          <a:xfrm>
            <a:off x="4464496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8"/>
          <p:cNvCxnSpPr/>
          <p:nvPr/>
        </p:nvCxnSpPr>
        <p:spPr>
          <a:xfrm>
            <a:off x="6804248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8"/>
          <p:cNvCxnSpPr/>
          <p:nvPr/>
        </p:nvCxnSpPr>
        <p:spPr>
          <a:xfrm>
            <a:off x="0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" name="Google Shape;39;p18"/>
          <p:cNvSpPr txBox="1">
            <a:spLocks noGrp="1"/>
          </p:cNvSpPr>
          <p:nvPr>
            <p:ph type="body" idx="1"/>
          </p:nvPr>
        </p:nvSpPr>
        <p:spPr>
          <a:xfrm>
            <a:off x="539552" y="1196752"/>
            <a:ext cx="8208912" cy="54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/>
            </a:lvl3pPr>
            <a:lvl4pPr marL="1828800" lvl="3" indent="-326136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/>
          <p:nvPr/>
        </p:nvSpPr>
        <p:spPr>
          <a:xfrm>
            <a:off x="8553698" y="6525344"/>
            <a:ext cx="648072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/ 73</a:t>
            </a:r>
          </a:p>
        </p:txBody>
      </p:sp>
      <p:sp>
        <p:nvSpPr>
          <p:cNvPr id="41" name="Google Shape;41;p18"/>
          <p:cNvSpPr txBox="1"/>
          <p:nvPr/>
        </p:nvSpPr>
        <p:spPr>
          <a:xfrm>
            <a:off x="8244408" y="6525344"/>
            <a:ext cx="648072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600" b="0" i="0" u="none" strike="noStrike" cap="non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끝">
  <p:cSld name="1_끝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9"/>
          <p:cNvSpPr/>
          <p:nvPr/>
        </p:nvSpPr>
        <p:spPr>
          <a:xfrm>
            <a:off x="-1" y="6165304"/>
            <a:ext cx="9144001" cy="692696"/>
          </a:xfrm>
          <a:prstGeom prst="rect">
            <a:avLst/>
          </a:prstGeom>
          <a:solidFill>
            <a:srgbClr val="E524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" name="Google Shape;44;p19"/>
          <p:cNvSpPr/>
          <p:nvPr/>
        </p:nvSpPr>
        <p:spPr>
          <a:xfrm>
            <a:off x="0" y="6092750"/>
            <a:ext cx="9144000" cy="72554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5" name="Google Shape;45;p19" descr="C:\Users\김현용\Desktop\제호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020272" y="5631234"/>
            <a:ext cx="1905001" cy="317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9"/>
          <p:cNvSpPr txBox="1"/>
          <p:nvPr/>
        </p:nvSpPr>
        <p:spPr>
          <a:xfrm>
            <a:off x="3084944" y="6309320"/>
            <a:ext cx="283282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Copyright© 2021 Hanbit Academy, Inc.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rights reserved.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9"/>
          <p:cNvSpPr txBox="1"/>
          <p:nvPr/>
        </p:nvSpPr>
        <p:spPr>
          <a:xfrm>
            <a:off x="2933818" y="2492896"/>
            <a:ext cx="327636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E5242C"/>
                </a:solidFill>
                <a:latin typeface="Verdana"/>
                <a:ea typeface="Verdana"/>
                <a:cs typeface="Verdana"/>
                <a:sym typeface="Verdana"/>
              </a:rPr>
              <a:t>Thank you!</a:t>
            </a:r>
            <a:endParaRPr sz="4000" b="1">
              <a:solidFill>
                <a:srgbClr val="E5242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저작권">
  <p:cSld name="1_저작권">
    <p:bg>
      <p:bgPr>
        <a:solidFill>
          <a:schemeClr val="lt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/>
          <p:nvPr/>
        </p:nvSpPr>
        <p:spPr>
          <a:xfrm>
            <a:off x="612452" y="981075"/>
            <a:ext cx="799147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난생처음 C 언어 프로그래밍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0"/>
          <p:cNvSpPr txBox="1"/>
          <p:nvPr/>
        </p:nvSpPr>
        <p:spPr>
          <a:xfrm>
            <a:off x="612453" y="1700213"/>
            <a:ext cx="7991475" cy="1446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>
              <a:solidFill>
                <a:srgbClr val="22222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0C0C0C"/>
                </a:solidFill>
                <a:latin typeface="Malgun Gothic"/>
                <a:ea typeface="Malgun Gothic"/>
                <a:cs typeface="Malgun Gothic"/>
                <a:sym typeface="Malgun Gothic"/>
              </a:rPr>
              <a:t>[강의교안 이용 안내]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 강의교안의 저작권은 한빛아카데미㈜에 있습니다.</a:t>
            </a:r>
            <a:r>
              <a:rPr lang="en-US"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sz="1100">
              <a:solidFill>
                <a:srgbClr val="22222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Char char="•"/>
            </a:pPr>
            <a:r>
              <a:rPr lang="en-US" sz="1100" u="sng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자료를 무단으로 전제하거나 배포할 경우 저작권법 136조에 의거하여 최고 5년 이하의 징역 또는 5천만원 이하의 벌금에 처할 수 있고 이를 병과(倂科)할 수도 있습니다.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" name="Google Shape;51;p20"/>
          <p:cNvSpPr/>
          <p:nvPr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본문2">
  <p:cSld name="본문2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1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560840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1"/>
          <p:cNvSpPr txBox="1">
            <a:spLocks noGrp="1"/>
          </p:cNvSpPr>
          <p:nvPr>
            <p:ph type="body" idx="1"/>
          </p:nvPr>
        </p:nvSpPr>
        <p:spPr>
          <a:xfrm>
            <a:off x="539552" y="1196752"/>
            <a:ext cx="3924944" cy="54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1600"/>
              <a:buFont typeface="Noto Sans Symbols"/>
              <a:buChar char="■"/>
              <a:defRPr sz="1600" b="1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  <a:defRPr sz="1200"/>
            </a:lvl2pPr>
            <a:lvl3pPr marL="1371600" lvl="2" indent="-3048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Char char="•"/>
              <a:defRPr sz="1200"/>
            </a:lvl3pPr>
            <a:lvl4pPr marL="1828800" lvl="3" indent="-295656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56"/>
              <a:buChar char="–"/>
              <a:defRPr sz="1100"/>
            </a:lvl4pPr>
            <a:lvl5pPr marL="2286000" lvl="4" indent="-2984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21"/>
          <p:cNvSpPr txBox="1">
            <a:spLocks noGrp="1"/>
          </p:cNvSpPr>
          <p:nvPr>
            <p:ph type="body" idx="2"/>
          </p:nvPr>
        </p:nvSpPr>
        <p:spPr>
          <a:xfrm>
            <a:off x="4644008" y="1196752"/>
            <a:ext cx="3924944" cy="54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1600"/>
              <a:buFont typeface="Noto Sans Symbols"/>
              <a:buChar char="■"/>
              <a:defRPr sz="1600" b="1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  <a:defRPr sz="1200"/>
            </a:lvl2pPr>
            <a:lvl3pPr marL="1371600" lvl="2" indent="-3048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Char char="•"/>
              <a:defRPr sz="1200"/>
            </a:lvl3pPr>
            <a:lvl4pPr marL="1828800" lvl="3" indent="-295656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56"/>
              <a:buChar char="–"/>
              <a:defRPr sz="1100"/>
            </a:lvl4pPr>
            <a:lvl5pPr marL="2286000" lvl="4" indent="-2984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56" name="Google Shape;56;p21" descr="쿡북로고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68344" y="485909"/>
            <a:ext cx="1216025" cy="3222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" name="Google Shape;57;p21"/>
          <p:cNvCxnSpPr/>
          <p:nvPr/>
        </p:nvCxnSpPr>
        <p:spPr>
          <a:xfrm>
            <a:off x="2124744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8" name="Google Shape;58;p21"/>
          <p:cNvCxnSpPr/>
          <p:nvPr/>
        </p:nvCxnSpPr>
        <p:spPr>
          <a:xfrm>
            <a:off x="4464496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" name="Google Shape;59;p21"/>
          <p:cNvCxnSpPr/>
          <p:nvPr/>
        </p:nvCxnSpPr>
        <p:spPr>
          <a:xfrm>
            <a:off x="6804248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" name="Google Shape;60;p21"/>
          <p:cNvCxnSpPr/>
          <p:nvPr/>
        </p:nvCxnSpPr>
        <p:spPr>
          <a:xfrm>
            <a:off x="0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251520" y="274638"/>
            <a:ext cx="8712968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251520" y="1600200"/>
            <a:ext cx="8712968" cy="4853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0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"/>
          <p:cNvSpPr txBox="1">
            <a:spLocks noGrp="1"/>
          </p:cNvSpPr>
          <p:nvPr>
            <p:ph type="title" idx="4294967295"/>
          </p:nvPr>
        </p:nvSpPr>
        <p:spPr>
          <a:xfrm>
            <a:off x="395536" y="6173660"/>
            <a:ext cx="8306320" cy="321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lt1"/>
                </a:solidFill>
              </a:rPr>
              <a:t>Chapter 13. </a:t>
            </a:r>
            <a:r>
              <a:rPr lang="ko-KR" altLang="en-US" sz="3600" b="1">
                <a:solidFill>
                  <a:schemeClr val="lt1"/>
                </a:solidFill>
              </a:rPr>
              <a:t>파일 처리와 전처리기</a:t>
            </a:r>
            <a:endParaRPr dirty="0"/>
          </a:p>
        </p:txBody>
      </p:sp>
      <p:sp>
        <p:nvSpPr>
          <p:cNvPr id="66" name="Google Shape;66;p1"/>
          <p:cNvSpPr txBox="1"/>
          <p:nvPr/>
        </p:nvSpPr>
        <p:spPr>
          <a:xfrm>
            <a:off x="418840" y="5517232"/>
            <a:ext cx="8306320" cy="625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Part 03. C </a:t>
            </a:r>
            <a:r>
              <a:rPr lang="en-US" sz="2000" b="1" i="0" u="none" strike="noStrike" cap="none" dirty="0" err="1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언어</a:t>
            </a:r>
            <a:r>
              <a:rPr lang="en-US" sz="2000" b="1" i="0" u="none" strike="noStrike" cap="none" dirty="0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2000" b="1" dirty="0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심화</a:t>
            </a:r>
            <a:r>
              <a:rPr lang="en-US" sz="2000" b="1" i="0" u="none" strike="noStrike" cap="none" dirty="0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2000" b="1" i="0" u="none" strike="noStrike" cap="none" dirty="0" err="1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"/>
          <p:cNvSpPr txBox="1"/>
          <p:nvPr/>
        </p:nvSpPr>
        <p:spPr>
          <a:xfrm>
            <a:off x="785292" y="908720"/>
            <a:ext cx="6739458" cy="504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lang="en-US"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457200">
              <a:lnSpc>
                <a:spcPct val="150000"/>
              </a:lnSpc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파일과 파일 시스템</a:t>
            </a:r>
            <a:endParaRPr lang="en-US" altLang="ko-KR" sz="20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457200">
              <a:lnSpc>
                <a:spcPct val="150000"/>
              </a:lnSpc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기본 파일 처리</a:t>
            </a:r>
            <a:endParaRPr lang="en-US" altLang="ko-KR" sz="20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457200">
              <a:lnSpc>
                <a:spcPct val="150000"/>
              </a:lnSpc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파일 입출력</a:t>
            </a:r>
            <a:endParaRPr lang="en-US" altLang="ko-KR" sz="20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457200">
              <a:lnSpc>
                <a:spcPct val="150000"/>
              </a:lnSpc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ko-KR" altLang="en-US" sz="20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전처리와</a:t>
            </a: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20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지시문</a:t>
            </a:r>
            <a:endParaRPr lang="en-US" altLang="ko-KR" sz="20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457200">
              <a:lnSpc>
                <a:spcPct val="150000"/>
              </a:lnSpc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조건부 컴파일 </a:t>
            </a:r>
            <a:r>
              <a:rPr lang="ko-KR" altLang="en-US" sz="20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지시문</a:t>
            </a:r>
            <a:endParaRPr lang="en-US" altLang="ko-KR" sz="20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lvl="0">
              <a:lnSpc>
                <a:spcPct val="150000"/>
              </a:lnSpc>
              <a:buClr>
                <a:schemeClr val="dk1"/>
              </a:buClr>
              <a:buSzPts val="2000"/>
            </a:pPr>
            <a:r>
              <a:rPr lang="en-US" altLang="ko-KR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[</a:t>
            </a: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실전예제</a:t>
            </a:r>
            <a:r>
              <a:rPr lang="en-US" altLang="ko-KR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] C </a:t>
            </a: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드라이브의 파일을 </a:t>
            </a:r>
            <a:r>
              <a:rPr lang="en-US" altLang="ko-KR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D </a:t>
            </a: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드라이브에 복사하기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 txBox="1">
            <a:spLocks noGrp="1"/>
          </p:cNvSpPr>
          <p:nvPr>
            <p:ph type="body" idx="1"/>
          </p:nvPr>
        </p:nvSpPr>
        <p:spPr>
          <a:xfrm>
            <a:off x="755576" y="1844824"/>
            <a:ext cx="7704856" cy="4104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indent="-457200">
              <a:spcBef>
                <a:spcPts val="0"/>
              </a:spcBef>
            </a:pPr>
            <a:r>
              <a:rPr lang="ko-KR" altLang="en-US" dirty="0"/>
              <a:t>파일 시스템과 파일 </a:t>
            </a:r>
            <a:r>
              <a:rPr lang="en-US" altLang="ko-KR" dirty="0"/>
              <a:t>API</a:t>
            </a:r>
            <a:r>
              <a:rPr lang="ko-KR" altLang="en-US" dirty="0"/>
              <a:t>의 개념과 필요성을 이해한다</a:t>
            </a:r>
            <a:r>
              <a:rPr lang="en-US" altLang="ko-KR" dirty="0"/>
              <a:t>. </a:t>
            </a:r>
          </a:p>
          <a:p>
            <a:pPr lvl="0" indent="-457200">
              <a:spcBef>
                <a:spcPts val="0"/>
              </a:spcBef>
            </a:pPr>
            <a:r>
              <a:rPr lang="en-US" altLang="ko-KR" dirty="0"/>
              <a:t>FILE </a:t>
            </a:r>
            <a:r>
              <a:rPr lang="ko-KR" altLang="en-US" dirty="0"/>
              <a:t>객체를 이해하고 파일 모드에 따른 접근을 살펴본다</a:t>
            </a:r>
            <a:r>
              <a:rPr lang="en-US" altLang="ko-KR" dirty="0"/>
              <a:t>. </a:t>
            </a:r>
          </a:p>
          <a:p>
            <a:pPr lvl="0" indent="-457200">
              <a:spcBef>
                <a:spcPts val="0"/>
              </a:spcBef>
            </a:pPr>
            <a:r>
              <a:rPr lang="ko-KR" altLang="en-US" dirty="0"/>
              <a:t>파일 열기와 닫기</a:t>
            </a:r>
            <a:r>
              <a:rPr lang="en-US" altLang="ko-KR" dirty="0"/>
              <a:t>, </a:t>
            </a:r>
            <a:r>
              <a:rPr lang="ko-KR" altLang="en-US" dirty="0"/>
              <a:t>쓰기와 읽기를 이해하고 실습한다</a:t>
            </a:r>
            <a:r>
              <a:rPr lang="en-US" altLang="ko-KR" dirty="0"/>
              <a:t>. </a:t>
            </a:r>
          </a:p>
          <a:p>
            <a:pPr lvl="0" indent="-457200">
              <a:spcBef>
                <a:spcPts val="0"/>
              </a:spcBef>
            </a:pPr>
            <a:r>
              <a:rPr lang="ko-KR" altLang="en-US" dirty="0" err="1"/>
              <a:t>전처리기의</a:t>
            </a:r>
            <a:r>
              <a:rPr lang="ko-KR" altLang="en-US" dirty="0"/>
              <a:t> 개념을 이해하고 종류를 살펴본다</a:t>
            </a:r>
            <a:r>
              <a:rPr lang="en-US" altLang="ko-KR" dirty="0"/>
              <a:t>. </a:t>
            </a:r>
          </a:p>
          <a:p>
            <a:pPr lvl="0" indent="-457200">
              <a:spcBef>
                <a:spcPts val="0"/>
              </a:spcBef>
            </a:pPr>
            <a:r>
              <a:rPr lang="ko-KR" altLang="en-US" dirty="0"/>
              <a:t>조건부 컴파일 지시문의 개념과 종류를 살펴본다</a:t>
            </a:r>
            <a:r>
              <a:rPr lang="en-US" altLang="ko-KR" dirty="0"/>
              <a:t>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4000"/>
            </a:pPr>
            <a:r>
              <a:rPr lang="ko-KR" altLang="en-US" dirty="0"/>
              <a:t>파일과 파일 시스템</a:t>
            </a:r>
            <a:endParaRPr dirty="0"/>
          </a:p>
        </p:txBody>
      </p:sp>
      <p:sp>
        <p:nvSpPr>
          <p:cNvPr id="82" name="Google Shape;82;p4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/>
              <a:t>01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파일과 파일 시스템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911001"/>
            <a:ext cx="8424936" cy="5251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/>
            </a:pPr>
            <a:r>
              <a:rPr lang="ko-KR" altLang="en-US" sz="2400" dirty="0"/>
              <a:t>파일 시스템과 파일 </a:t>
            </a:r>
            <a:r>
              <a:rPr lang="en-US" altLang="ko-KR" sz="2400" dirty="0"/>
              <a:t>API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파일</a:t>
            </a:r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연관된 정보들을 모아서 저장하는 하나의 논리적인 단위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파일명</a:t>
            </a:r>
            <a:r>
              <a:rPr lang="en-US" altLang="ko-KR" dirty="0"/>
              <a:t>(</a:t>
            </a:r>
            <a:r>
              <a:rPr lang="ko-KR" altLang="en-US" dirty="0"/>
              <a:t>경로</a:t>
            </a:r>
            <a:r>
              <a:rPr lang="en-US" altLang="ko-KR" dirty="0"/>
              <a:t>)</a:t>
            </a:r>
            <a:r>
              <a:rPr lang="ko-KR" altLang="en-US" dirty="0"/>
              <a:t>을 통해 식별됨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파일 시스템</a:t>
            </a:r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파일들을 관리하기 위하여 사용함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/>
              <a:t>API(Application Programming Interface)</a:t>
            </a:r>
            <a:endParaRPr lang="ko-KR" altLang="en-US" b="1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파일 시스템에 보관된 파일을 처리할 수 있음</a:t>
            </a:r>
            <a:endParaRPr lang="en-US" altLang="ko-KR" dirty="0"/>
          </a:p>
        </p:txBody>
      </p:sp>
      <p:pic>
        <p:nvPicPr>
          <p:cNvPr id="2" name="Picture 2" descr="C:\Users\변소현\Desktop\난생처음 C 언어 프로그래밍\그림\Ch13\그림 13-1.jp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2458" y="3922776"/>
            <a:ext cx="4351365" cy="2682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파일과 파일 시스템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911001"/>
            <a:ext cx="8424936" cy="5251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en-US" altLang="ko-KR" sz="2400" dirty="0"/>
              <a:t>C </a:t>
            </a:r>
            <a:r>
              <a:rPr lang="ko-KR" altLang="en-US" sz="2400" dirty="0"/>
              <a:t>표준 라이브러리</a:t>
            </a:r>
            <a:endParaRPr lang="en-US" altLang="ko-KR"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/>
              <a:t>C </a:t>
            </a:r>
            <a:r>
              <a:rPr lang="ko-KR" altLang="en-US" b="1" dirty="0"/>
              <a:t>언어의 파일 처리</a:t>
            </a:r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/>
              <a:t>C </a:t>
            </a:r>
            <a:r>
              <a:rPr lang="ko-KR" altLang="en-US" dirty="0"/>
              <a:t>표준 라이브러리를 통해서 파일을 처리할 수 있는 기능을 제공함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즉 각 운영체제의 파일 </a:t>
            </a:r>
            <a:r>
              <a:rPr lang="en-US" altLang="ko-KR" dirty="0"/>
              <a:t>API</a:t>
            </a:r>
            <a:r>
              <a:rPr lang="ko-KR" altLang="en-US" dirty="0"/>
              <a:t>를 사용하지 않고도 윈도우 또는 </a:t>
            </a:r>
            <a:r>
              <a:rPr lang="ko-KR" altLang="en-US" dirty="0" err="1"/>
              <a:t>리눅스에서</a:t>
            </a:r>
            <a:r>
              <a:rPr lang="ko-KR" altLang="en-US" dirty="0"/>
              <a:t> 파일을 처리하는 프로그램을 만들 수 있음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91050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파일과 파일 시스템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8406" y="2001509"/>
            <a:ext cx="6451937" cy="2854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04077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파일과 파일 시스템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612343" y="2190154"/>
            <a:ext cx="7924665" cy="2800945"/>
            <a:chOff x="615155" y="1379935"/>
            <a:chExt cx="7924665" cy="2800945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1379935"/>
              <a:ext cx="7924665" cy="2800945"/>
              <a:chOff x="683573" y="1844825"/>
              <a:chExt cx="7924665" cy="1155806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844825"/>
                <a:ext cx="7920000" cy="115580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152935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13-1</a:t>
                </a:r>
                <a:endParaRPr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1395971"/>
              <a:ext cx="6366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특정한 파일을 삭제하는 프로그램</a:t>
              </a: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836842" y="1815434"/>
              <a:ext cx="7485956" cy="109241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C 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표준 라이브러리에서 파일을 삭제하는 함수는 </a:t>
              </a:r>
              <a:r>
                <a:rPr lang="en-US" altLang="ko-KR" sz="1500" dirty="0" err="1">
                  <a:latin typeface="Consolas" panose="020B0609020204030204" pitchFamily="49" charset="0"/>
                  <a:ea typeface="맑은 고딕" panose="020B0503020000020004" pitchFamily="50" charset="-127"/>
                </a:rPr>
                <a:t>int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 remove(</a:t>
              </a:r>
              <a:r>
                <a:rPr lang="en-US" altLang="ko-KR" sz="1500" dirty="0" err="1">
                  <a:latin typeface="Consolas" panose="020B0609020204030204" pitchFamily="49" charset="0"/>
                  <a:ea typeface="맑은 고딕" panose="020B0503020000020004" pitchFamily="50" charset="-127"/>
                </a:rPr>
                <a:t>const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 char* </a:t>
              </a:r>
              <a:r>
                <a:rPr lang="en-US" altLang="ko-KR" sz="1500" dirty="0" err="1">
                  <a:latin typeface="Consolas" panose="020B0609020204030204" pitchFamily="49" charset="0"/>
                  <a:ea typeface="맑은 고딕" panose="020B0503020000020004" pitchFamily="50" charset="-127"/>
                </a:rPr>
                <a:t>fname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);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이며 헤더 파일 </a:t>
              </a:r>
              <a:r>
                <a:rPr lang="en-US" altLang="ko-KR" sz="1500" dirty="0" err="1">
                  <a:latin typeface="Consolas" panose="020B0609020204030204" pitchFamily="49" charset="0"/>
                  <a:ea typeface="맑은 고딕" panose="020B0503020000020004" pitchFamily="50" charset="-127"/>
                </a:rPr>
                <a:t>stdio.h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에 선언되어 있습니다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. </a:t>
              </a:r>
              <a:r>
                <a:rPr lang="ko-KR" altLang="en-US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이 함수를 이용하여 특정한 파일 한 개를 삭제하는 프로그램을 작성해봅시다</a:t>
              </a:r>
              <a:r>
                <a:rPr lang="en-US" altLang="ko-KR" sz="15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.</a:t>
              </a:r>
              <a:endPara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588" y="3910488"/>
            <a:ext cx="6583772" cy="800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6862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파일과 파일 시스템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619192" y="2447133"/>
            <a:ext cx="7924665" cy="2229642"/>
            <a:chOff x="615155" y="1213376"/>
            <a:chExt cx="7924665" cy="4313309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1213376"/>
              <a:ext cx="7924665" cy="4313309"/>
              <a:chOff x="683573" y="1844825"/>
              <a:chExt cx="7924665" cy="1272494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844825"/>
                <a:ext cx="7920000" cy="127249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223784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13-1</a:t>
                </a:r>
                <a:endParaRPr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1320408"/>
              <a:ext cx="37697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정답</a:t>
              </a:r>
            </a:p>
          </p:txBody>
        </p:sp>
        <p:graphicFrame>
          <p:nvGraphicFramePr>
            <p:cNvPr id="13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3733689521"/>
                </p:ext>
              </p:extLst>
            </p:nvPr>
          </p:nvGraphicFramePr>
          <p:xfrm>
            <a:off x="871407" y="2145431"/>
            <a:ext cx="7416825" cy="3272232"/>
          </p:xfrm>
          <a:graphic>
            <a:graphicData uri="http://schemas.openxmlformats.org/drawingml/2006/table">
              <a:tbl>
                <a:tblPr firstRow="1" bandRow="1">
                  <a:tableStyleId>{BDBED569-4797-4DF1-A0F4-6AAB3CD982D8}</a:tableStyleId>
                </a:tblPr>
                <a:tblGrid>
                  <a:gridCol w="4320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98477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1691487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01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02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03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04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05 </a:t>
                        </a:r>
                        <a:endParaRPr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u="none" strike="noStrike" cap="none" dirty="0">
                            <a:latin typeface="Consolas" panose="020B0609020204030204" pitchFamily="49" charset="0"/>
                            <a:sym typeface="Consolas"/>
                          </a:rPr>
                          <a:t>06</a:t>
                        </a:r>
                      </a:p>
                    </a:txBody>
                    <a:tcPr marL="91450" marR="91450" marT="45725" marB="45725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b="1" baseline="0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stdio.h</a:t>
                        </a:r>
                        <a:r>
                          <a:rPr lang="en-US" altLang="ko-KR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main( 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remove(</a:t>
                        </a:r>
                        <a:r>
                          <a:rPr lang="en-US" altLang="ko-KR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"D:</a:t>
                        </a:r>
                        <a:r>
                          <a:rPr lang="en-US" altLang="ko-KR" b="1" baseline="0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\\</a:t>
                        </a:r>
                        <a:r>
                          <a:rPr lang="en-US" altLang="ko-KR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TestFile.txt"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</a:t>
                        </a:r>
                      </a:p>
                    </a:txBody>
                    <a:tcPr marL="91450" marR="91450" marT="45725" marB="45725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830731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4000"/>
            </a:pPr>
            <a:r>
              <a:rPr lang="ko-KR" altLang="en-US" sz="4000" dirty="0"/>
              <a:t>기본 파일 처리</a:t>
            </a:r>
            <a:endParaRPr sz="4000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/>
              <a:t>02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02.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기본 파일 처리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/>
            </a:pPr>
            <a:r>
              <a:rPr lang="en-US" altLang="ko-KR" sz="2400" dirty="0"/>
              <a:t>FILE </a:t>
            </a:r>
            <a:r>
              <a:rPr lang="ko-KR" altLang="en-US" sz="2400" dirty="0"/>
              <a:t>객체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/>
              <a:t>FILE </a:t>
            </a:r>
            <a:r>
              <a:rPr lang="ko-KR" altLang="en-US" b="1" dirty="0"/>
              <a:t>객체의 사용</a:t>
            </a:r>
            <a:endParaRPr lang="en-US" altLang="ko-KR" b="1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파일을 다루기 위한 </a:t>
            </a:r>
            <a:r>
              <a:rPr lang="ko-KR" altLang="en-US" dirty="0" err="1"/>
              <a:t>식별자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대부분의 </a:t>
            </a:r>
            <a:r>
              <a:rPr lang="en-US" altLang="ko-KR" dirty="0"/>
              <a:t>C </a:t>
            </a:r>
            <a:r>
              <a:rPr lang="ko-KR" altLang="en-US" dirty="0"/>
              <a:t>표준 라이브러리에서 구조체로 정의됨</a:t>
            </a:r>
            <a:endParaRPr lang="en-US" altLang="ko-KR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5858" y="3075246"/>
            <a:ext cx="6984759" cy="1277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9042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02.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기본 파일 처리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ko-KR" altLang="en-US" sz="2400" dirty="0"/>
              <a:t>파일 열기 및 닫기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파일 열기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경로를 통해서 파일을 지정한 후 파일 처리 식별자인 구조체 </a:t>
            </a:r>
            <a:r>
              <a:rPr lang="en-US" altLang="ko-KR" dirty="0"/>
              <a:t>FILE </a:t>
            </a:r>
            <a:r>
              <a:rPr lang="ko-KR" altLang="en-US" dirty="0"/>
              <a:t>객체를 생성하여 파일을 엶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/>
              <a:t>filename : </a:t>
            </a:r>
            <a:r>
              <a:rPr lang="en-US" altLang="ko-KR" dirty="0" err="1"/>
              <a:t>fopen</a:t>
            </a:r>
            <a:r>
              <a:rPr lang="ko-KR" altLang="en-US" dirty="0"/>
              <a:t>이 호출되면 첫 번째 매개변수인 </a:t>
            </a:r>
            <a:r>
              <a:rPr lang="en-US" altLang="ko-KR" dirty="0"/>
              <a:t>filename</a:t>
            </a:r>
            <a:r>
              <a:rPr lang="ko-KR" altLang="en-US" dirty="0"/>
              <a:t>이 나타내는 파일의 처리 식별자인 </a:t>
            </a:r>
            <a:r>
              <a:rPr lang="en-US" altLang="ko-KR" dirty="0"/>
              <a:t>FILE </a:t>
            </a:r>
            <a:r>
              <a:rPr lang="ko-KR" altLang="en-US" dirty="0"/>
              <a:t>객체가 생성되고</a:t>
            </a:r>
            <a:r>
              <a:rPr lang="en-US" altLang="ko-KR" dirty="0"/>
              <a:t>, </a:t>
            </a:r>
            <a:r>
              <a:rPr lang="ko-KR" altLang="en-US" dirty="0"/>
              <a:t>해당 </a:t>
            </a:r>
            <a:r>
              <a:rPr lang="en-US" altLang="ko-KR" dirty="0"/>
              <a:t>FILE </a:t>
            </a:r>
            <a:r>
              <a:rPr lang="ko-KR" altLang="en-US" dirty="0"/>
              <a:t>객체를 가리키는 </a:t>
            </a:r>
            <a:r>
              <a:rPr lang="en-US" altLang="ko-KR" dirty="0"/>
              <a:t>FILE </a:t>
            </a:r>
            <a:r>
              <a:rPr lang="ko-KR" altLang="en-US" dirty="0"/>
              <a:t>포인터가 반환됨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/>
              <a:t>mode : </a:t>
            </a:r>
            <a:r>
              <a:rPr lang="ko-KR" altLang="en-US" dirty="0"/>
              <a:t>파일이 열릴 때 접근 모드를 나타내며 보통 파일 모드라 불림</a:t>
            </a:r>
            <a:endParaRPr lang="en-US" altLang="ko-KR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7377" y="3035733"/>
            <a:ext cx="6978846" cy="615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54811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02.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기본 파일 처리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ko-KR" altLang="en-US" sz="2400" dirty="0"/>
              <a:t>파일 열기 및 닫기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파일 닫기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모든 작업이 끝나서 더 이상 파일 처리가 필요 없어 </a:t>
            </a:r>
            <a:r>
              <a:rPr lang="en-US" altLang="ko-KR" dirty="0"/>
              <a:t>FILE </a:t>
            </a:r>
            <a:r>
              <a:rPr lang="ko-KR" altLang="en-US" dirty="0"/>
              <a:t>객체를 삭제하는 과정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파일 처리 과정</a:t>
            </a:r>
            <a:endParaRPr lang="en-US" altLang="ko-KR" b="1" dirty="0"/>
          </a:p>
          <a:p>
            <a:pPr marL="971550" lvl="3" indent="-342900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  <a:buFont typeface="+mj-ea"/>
              <a:buAutoNum type="circleNumDbPlain"/>
            </a:pPr>
            <a:r>
              <a:rPr lang="ko-KR" altLang="en-US" dirty="0"/>
              <a:t>파일 열기 </a:t>
            </a:r>
            <a:r>
              <a:rPr lang="en-US" altLang="ko-KR" dirty="0"/>
              <a:t>: FILE </a:t>
            </a:r>
            <a:r>
              <a:rPr lang="ko-KR" altLang="en-US" dirty="0"/>
              <a:t>포인터를 획득함</a:t>
            </a:r>
            <a:r>
              <a:rPr lang="en-US" altLang="ko-KR" dirty="0"/>
              <a:t>(</a:t>
            </a:r>
            <a:r>
              <a:rPr lang="ko-KR" altLang="en-US" dirty="0"/>
              <a:t>파일 열기 실패할 경우 오류 처리</a:t>
            </a:r>
            <a:r>
              <a:rPr lang="en-US" altLang="ko-KR" dirty="0"/>
              <a:t>)</a:t>
            </a:r>
          </a:p>
          <a:p>
            <a:pPr marL="971550" lvl="3" indent="-342900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  <a:buFont typeface="+mj-ea"/>
              <a:buAutoNum type="circleNumDbPlain"/>
            </a:pPr>
            <a:r>
              <a:rPr lang="ko-KR" altLang="en-US" dirty="0"/>
              <a:t>파일 작업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FILE </a:t>
            </a:r>
            <a:r>
              <a:rPr lang="ko-KR" altLang="en-US" dirty="0"/>
              <a:t>포인터를 통하여 파일을 읽고 씀</a:t>
            </a:r>
            <a:r>
              <a:rPr lang="en-US" altLang="ko-KR" dirty="0"/>
              <a:t> </a:t>
            </a:r>
          </a:p>
          <a:p>
            <a:pPr marL="971550" lvl="3" indent="-342900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  <a:buFont typeface="+mj-ea"/>
              <a:buAutoNum type="circleNumDbPlain"/>
            </a:pPr>
            <a:r>
              <a:rPr lang="ko-KR" altLang="en-US" dirty="0"/>
              <a:t>파일 닫기 </a:t>
            </a:r>
            <a:r>
              <a:rPr lang="en-US" altLang="ko-KR" dirty="0"/>
              <a:t>: FILE </a:t>
            </a:r>
            <a:r>
              <a:rPr lang="ko-KR" altLang="en-US" dirty="0"/>
              <a:t>객체를 삭제함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endParaRPr lang="en-US" altLang="ko-KR" b="1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2107" y="2562104"/>
            <a:ext cx="7037987" cy="579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52053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02.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기본 파일 처리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ko-KR" altLang="en-US" sz="2400" dirty="0"/>
              <a:t>파일 열기 및 닫기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endParaRPr lang="en-US" altLang="ko-KR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90E73A76-111D-44EC-9C3F-15E1F9F2B5B5}"/>
              </a:ext>
            </a:extLst>
          </p:cNvPr>
          <p:cNvGrpSpPr/>
          <p:nvPr/>
        </p:nvGrpSpPr>
        <p:grpSpPr>
          <a:xfrm>
            <a:off x="1082808" y="1657211"/>
            <a:ext cx="7557629" cy="4694262"/>
            <a:chOff x="1082808" y="1584059"/>
            <a:chExt cx="7557629" cy="4694262"/>
          </a:xfrm>
        </p:grpSpPr>
        <p:sp>
          <p:nvSpPr>
            <p:cNvPr id="6" name="Google Shape;102;p7"/>
            <p:cNvSpPr txBox="1"/>
            <p:nvPr/>
          </p:nvSpPr>
          <p:spPr>
            <a:xfrm>
              <a:off x="1082808" y="1584059"/>
              <a:ext cx="5937117" cy="3403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/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13-1] </a:t>
              </a:r>
              <a:r>
                <a:rPr lang="en-US" sz="1600" b="1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fopen</a:t>
              </a:r>
              <a:r>
                <a:rPr 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</a:t>
              </a:r>
              <a:r>
                <a:rPr lang="en-US" sz="1600" b="1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fclose</a:t>
              </a:r>
              <a:endParaRPr dirty="0"/>
            </a:p>
          </p:txBody>
        </p:sp>
        <p:graphicFrame>
          <p:nvGraphicFramePr>
            <p:cNvPr id="7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500028425"/>
                </p:ext>
              </p:extLst>
            </p:nvPr>
          </p:nvGraphicFramePr>
          <p:xfrm>
            <a:off x="1172844" y="1924433"/>
            <a:ext cx="6779261" cy="4353888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39491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384351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1180022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  <a:endParaRPr sz="1300" b="1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02 </a:t>
                        </a:r>
                        <a:endParaRPr sz="1300" b="1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03 </a:t>
                        </a:r>
                        <a:endParaRPr sz="1300" b="1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18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#define </a:t>
                        </a:r>
                        <a:r>
                          <a:rPr lang="en-US" altLang="ko-KR" sz="1300" b="1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_CRT_SECURE_NO_WARNINGS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sz="1300" b="1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stdio.h</a:t>
                        </a:r>
                        <a:r>
                          <a:rPr lang="en-US" altLang="ko-KR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sz="1300" b="1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errno.h</a:t>
                        </a:r>
                        <a:r>
                          <a:rPr lang="en-US" altLang="ko-KR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sz="1300" b="1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string.h</a:t>
                        </a:r>
                        <a:r>
                          <a:rPr lang="en-US" altLang="ko-KR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main( 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FILE* f = </a:t>
                        </a:r>
                        <a:r>
                          <a:rPr lang="en-US" altLang="ko-KR" sz="1300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fopen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"C:</a:t>
                        </a:r>
                        <a:r>
                          <a:rPr lang="en-US" altLang="ko-KR" sz="1300" b="1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\\</a:t>
                        </a:r>
                        <a:r>
                          <a:rPr lang="en-US" altLang="ko-KR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NotExist.txt"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</a:t>
                        </a:r>
                        <a:r>
                          <a:rPr lang="en-US" altLang="ko-KR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en-US" altLang="ko-KR" sz="1300" b="1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rb</a:t>
                        </a:r>
                        <a:r>
                          <a:rPr lang="en-US" altLang="ko-KR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="1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if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(f)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sz="1300" b="1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// ...</a:t>
                        </a:r>
                        <a:r>
                          <a:rPr lang="ko-KR" altLang="en-US" sz="1300" b="1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파일 작업</a:t>
                        </a:r>
                        <a:r>
                          <a:rPr lang="en-US" altLang="ko-KR" sz="1300" b="1" dirty="0">
                            <a:solidFill>
                              <a:srgbClr val="00B050"/>
                            </a:solidFill>
                            <a:latin typeface="Consolas" panose="020B0609020204030204" pitchFamily="49" charset="0"/>
                          </a:rPr>
                          <a:t>...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sz="1300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fclose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(f);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}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="1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else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sz="1300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"Error: %d, %s"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</a:t>
                        </a:r>
                        <a:r>
                          <a:rPr lang="en-US" altLang="ko-KR" sz="1300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errno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</a:t>
                        </a:r>
                        <a:r>
                          <a:rPr lang="en-US" altLang="ko-KR" sz="1300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strerror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300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errno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));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pic>
          <p:nvPicPr>
            <p:cNvPr id="614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99413" y="2138556"/>
              <a:ext cx="3241024" cy="514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3634167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02.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기본 파일 처리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3"/>
            </a:pPr>
            <a:r>
              <a:rPr lang="ko-KR" altLang="en-US" sz="2400" dirty="0"/>
              <a:t>파일 모드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파일 모드의 개념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파일을 열 때 어떤 목적으로 사용할지 여부를 지정함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파일을 여는 목적에 따라서 허용 여부나 동작이 달라질 수 있음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접근 제한 모드</a:t>
            </a:r>
            <a:endParaRPr lang="en-US" altLang="ko-KR" dirty="0"/>
          </a:p>
        </p:txBody>
      </p:sp>
      <p:pic>
        <p:nvPicPr>
          <p:cNvPr id="8194" name="Picture 2" descr="C:\Users\변소현\Desktop\난생처음 C 언어 프로그래밍\그림\Ch13\표 13-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9805" y="3495675"/>
            <a:ext cx="5230091" cy="2369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63935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02.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기본 파일 처리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3"/>
            </a:pPr>
            <a:r>
              <a:rPr lang="ko-KR" altLang="en-US" sz="2400" dirty="0"/>
              <a:t>파일 모드</a:t>
            </a:r>
          </a:p>
        </p:txBody>
      </p:sp>
      <p:sp>
        <p:nvSpPr>
          <p:cNvPr id="5" name="Google Shape;102;p7"/>
          <p:cNvSpPr txBox="1"/>
          <p:nvPr/>
        </p:nvSpPr>
        <p:spPr>
          <a:xfrm>
            <a:off x="1082808" y="1584059"/>
            <a:ext cx="5937117" cy="34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13-2] </a:t>
            </a:r>
            <a:r>
              <a:rPr lang="en-US" sz="1600" b="1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fileopen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업그레이드</a:t>
            </a:r>
            <a:endParaRPr dirty="0"/>
          </a:p>
        </p:txBody>
      </p:sp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3580568796"/>
              </p:ext>
            </p:extLst>
          </p:nvPr>
        </p:nvGraphicFramePr>
        <p:xfrm>
          <a:off x="1172844" y="1924433"/>
          <a:ext cx="6779261" cy="4169674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b="1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b="1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b="1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16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#define </a:t>
                      </a:r>
                      <a:r>
                        <a:rPr lang="en-US" altLang="ko-KR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_CRT_SECURE_NO_WARNINGS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b="1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b="1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errno.h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b="1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string.h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FILE* </a:t>
                      </a:r>
                      <a:r>
                        <a:rPr lang="en-US" altLang="ko-KR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fileopen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const</a:t>
                      </a:r>
                      <a:r>
                        <a:rPr lang="en-US" altLang="ko-KR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char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 filename)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FILE* f = </a:t>
                      </a:r>
                      <a:r>
                        <a:rPr lang="en-US" altLang="ko-KR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fopen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(filename, 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"r+"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(!f &amp;&amp; </a:t>
                      </a:r>
                      <a:r>
                        <a:rPr lang="en-US" altLang="ko-KR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errno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== ENOENT)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f = </a:t>
                      </a:r>
                      <a:r>
                        <a:rPr lang="en-US" altLang="ko-KR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fopen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(filename, 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"w+"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f;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38998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02.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기본 파일 처리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3"/>
            </a:pPr>
            <a:r>
              <a:rPr lang="ko-KR" altLang="en-US" sz="2400" dirty="0"/>
              <a:t>파일 모드</a:t>
            </a:r>
          </a:p>
        </p:txBody>
      </p:sp>
      <p:sp>
        <p:nvSpPr>
          <p:cNvPr id="5" name="Google Shape;102;p7"/>
          <p:cNvSpPr txBox="1"/>
          <p:nvPr/>
        </p:nvSpPr>
        <p:spPr>
          <a:xfrm>
            <a:off x="1082808" y="1584059"/>
            <a:ext cx="5937117" cy="34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13-2] </a:t>
            </a:r>
            <a:r>
              <a:rPr lang="en-US" sz="1600" b="1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fileopen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업그레이드</a:t>
            </a:r>
            <a:endParaRPr dirty="0"/>
          </a:p>
        </p:txBody>
      </p:sp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1154708683"/>
              </p:ext>
            </p:extLst>
          </p:nvPr>
        </p:nvGraphicFramePr>
        <p:xfrm>
          <a:off x="1172844" y="1924433"/>
          <a:ext cx="6779261" cy="3401578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2728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29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FILE* f = </a:t>
                      </a:r>
                      <a:r>
                        <a:rPr lang="en-US" altLang="ko-KR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fileopen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("D:</a:t>
                      </a:r>
                      <a:r>
                        <a:rPr lang="en-US" altLang="ko-KR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\\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NotExist.txt");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(f)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="1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// ...</a:t>
                      </a:r>
                      <a:r>
                        <a:rPr lang="ko-KR" altLang="en-US" b="1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파일 작업</a:t>
                      </a:r>
                      <a:r>
                        <a:rPr lang="en-US" altLang="ko-KR" b="1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...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fclose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(f);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else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en-US" altLang="ko-KR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"Error: %d, %s"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errno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strerror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errno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96092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02.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기본 파일 처리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3"/>
            </a:pPr>
            <a:r>
              <a:rPr lang="ko-KR" altLang="en-US" sz="2400" dirty="0"/>
              <a:t>파일 모드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변환 모드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윈도우 환경에서 실습을 위한 </a:t>
            </a:r>
            <a:r>
              <a:rPr lang="ko-KR" altLang="en-US" dirty="0" err="1"/>
              <a:t>비표준</a:t>
            </a:r>
            <a:r>
              <a:rPr lang="ko-KR" altLang="en-US" dirty="0"/>
              <a:t> 모드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 운영체제의 줄 바꿈 호환성을 맞추기 위하여 해당 파일이 텍스트인지 바이너리인지를 나타냄</a:t>
            </a:r>
            <a:endParaRPr lang="en-US" altLang="ko-KR" dirty="0"/>
          </a:p>
        </p:txBody>
      </p:sp>
      <p:pic>
        <p:nvPicPr>
          <p:cNvPr id="9218" name="Picture 2" descr="C:\Users\변소현\Desktop\난생처음 C 언어 프로그래밍\그림\Ch13\표 13-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5825" y="3648075"/>
            <a:ext cx="4716463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17758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02.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기본 파일 처리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3"/>
            </a:pPr>
            <a:r>
              <a:rPr lang="ko-KR" altLang="en-US" sz="2400" dirty="0"/>
              <a:t>파일 모드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접근 제한 모드와 변환 모드의 조합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파일을 열 때는 두 모드를 조합하여 파일 모드로 지정함</a:t>
            </a:r>
            <a:endParaRPr lang="en-US" altLang="ko-KR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4124" y="2595190"/>
            <a:ext cx="7002503" cy="526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449774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02.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기본 파일 처리</a:t>
            </a:r>
            <a:endParaRPr lang="ko-KR" altLang="en-US" dirty="0"/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7271" y="1681601"/>
            <a:ext cx="6355158" cy="3494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97087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02.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기본 파일 처리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612343" y="2325101"/>
            <a:ext cx="7924665" cy="1729083"/>
            <a:chOff x="615155" y="1379934"/>
            <a:chExt cx="7924665" cy="1729083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1379934"/>
              <a:ext cx="7924665" cy="1729083"/>
              <a:chOff x="683573" y="1844825"/>
              <a:chExt cx="7924665" cy="713504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844825"/>
                <a:ext cx="7920000" cy="71350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844825"/>
                <a:ext cx="1511728" cy="152935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13-2</a:t>
                </a:r>
                <a:endParaRPr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1395971"/>
              <a:ext cx="6366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원하는 경로에 빈 파일 생성하기</a:t>
              </a: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836842" y="1815434"/>
              <a:ext cx="7485956" cy="115910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원하는 경로</a:t>
              </a:r>
              <a:r>
                <a:rPr lang="en-US" altLang="ko-KR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(</a:t>
              </a:r>
              <a:r>
                <a:rPr lang="ko-KR" altLang="en-US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이 책의 경우 </a:t>
              </a:r>
              <a:r>
                <a:rPr lang="en-US" altLang="ko-KR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D:\NewTestFile.txt)</a:t>
              </a:r>
              <a:r>
                <a:rPr lang="ko-KR" altLang="en-US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에 빈 파일을 생성하는 프로그램을 작성해봅시다</a:t>
              </a:r>
              <a:r>
                <a:rPr lang="en-US" altLang="ko-KR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. </a:t>
              </a:r>
              <a:r>
                <a:rPr lang="ko-KR" altLang="en-US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파일 열기에 실패할 경우 오류를 확인할 수 있게 오류 처리도 포함합니다</a:t>
              </a:r>
              <a:r>
                <a:rPr lang="en-US" altLang="ko-KR" sz="1600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.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101832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02.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기본 파일 처리</a:t>
            </a:r>
            <a:endParaRPr lang="ko-KR" altLang="en-US" dirty="0"/>
          </a:p>
        </p:txBody>
      </p:sp>
      <p:grpSp>
        <p:nvGrpSpPr>
          <p:cNvPr id="4" name="Google Shape;129;p9"/>
          <p:cNvGrpSpPr/>
          <p:nvPr/>
        </p:nvGrpSpPr>
        <p:grpSpPr>
          <a:xfrm>
            <a:off x="623857" y="1579564"/>
            <a:ext cx="7924665" cy="4221162"/>
            <a:chOff x="683573" y="1844824"/>
            <a:chExt cx="7924665" cy="1245309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" name="Google Shape;130;p9"/>
            <p:cNvSpPr/>
            <p:nvPr/>
          </p:nvSpPr>
          <p:spPr>
            <a:xfrm>
              <a:off x="688238" y="1844824"/>
              <a:ext cx="7920000" cy="124530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rgbClr val="8AC9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" name="Google Shape;132;p9"/>
            <p:cNvSpPr/>
            <p:nvPr/>
          </p:nvSpPr>
          <p:spPr>
            <a:xfrm>
              <a:off x="683573" y="1844825"/>
              <a:ext cx="1511728" cy="104275"/>
            </a:xfrm>
            <a:prstGeom prst="rect">
              <a:avLst/>
            </a:prstGeom>
            <a:solidFill>
              <a:srgbClr val="8AC9DA"/>
            </a:solidFill>
            <a:ln>
              <a:solidFill>
                <a:srgbClr val="8AC9DA"/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LAB 13-2</a:t>
              </a:r>
              <a:endParaRPr sz="16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135585" y="1594466"/>
            <a:ext cx="37697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j-ea"/>
                <a:ea typeface="+mj-ea"/>
              </a:rPr>
              <a:t>정답</a:t>
            </a:r>
          </a:p>
        </p:txBody>
      </p:sp>
      <p:graphicFrame>
        <p:nvGraphicFramePr>
          <p:cNvPr id="13" name="Google Shape;104;p7"/>
          <p:cNvGraphicFramePr/>
          <p:nvPr>
            <p:extLst>
              <p:ext uri="{D42A27DB-BD31-4B8C-83A1-F6EECF244321}">
                <p14:modId xmlns:p14="http://schemas.microsoft.com/office/powerpoint/2010/main" val="1665279073"/>
              </p:ext>
            </p:extLst>
          </p:nvPr>
        </p:nvGraphicFramePr>
        <p:xfrm>
          <a:off x="880109" y="2046862"/>
          <a:ext cx="7416825" cy="365761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1566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01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02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03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04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05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06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</a:txBody>
                  <a:tcPr marL="91450" marR="91450"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#define </a:t>
                      </a:r>
                      <a:r>
                        <a:rPr lang="en-US" altLang="ko-KR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_CRT_SECURE_NO_WARNINGS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b="1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b="1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errno.h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b="1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string.h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nn-NO" altLang="ko-KR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altLang="ko-KR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nn-NO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FILE* f = fopen(</a:t>
                      </a:r>
                      <a:r>
                        <a:rPr lang="nn-NO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"D:</a:t>
                      </a:r>
                      <a:r>
                        <a:rPr lang="nn-NO" altLang="ko-KR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\\</a:t>
                      </a:r>
                      <a:r>
                        <a:rPr lang="nn-NO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NewTestFile.txt"</a:t>
                      </a:r>
                      <a:r>
                        <a:rPr lang="nn-NO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nn-NO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"wb"</a:t>
                      </a:r>
                      <a:r>
                        <a:rPr lang="nn-NO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nn-NO" altLang="ko-KR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nn-NO" altLang="ko-KR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nn-NO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(f)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</a:t>
                      </a:r>
                      <a:r>
                        <a:rPr lang="nn-NO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fclose(f);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nn-NO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nn-NO" altLang="ko-KR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else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</a:t>
                      </a:r>
                      <a:r>
                        <a:rPr lang="nn-NO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printf(</a:t>
                      </a:r>
                      <a:r>
                        <a:rPr lang="nn-NO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"Error: %d, %s"</a:t>
                      </a:r>
                      <a:r>
                        <a:rPr lang="nn-NO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errno, strerror(errno));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0987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4000"/>
            </a:pPr>
            <a:r>
              <a:rPr lang="ko-KR" altLang="en-US" sz="4000" dirty="0"/>
              <a:t>파일 입출력</a:t>
            </a:r>
            <a:endParaRPr sz="4000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 dirty="0"/>
              <a:t>03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324248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파일 입출력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/>
            </a:pPr>
            <a:r>
              <a:rPr lang="ko-KR" altLang="en-US" sz="2400" dirty="0"/>
              <a:t>파일 위치 표시자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파일 위치 표시자의 개념</a:t>
            </a:r>
            <a:endParaRPr lang="en-US" altLang="ko-KR" b="1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파일 안의 특정 위치를 나타내는 객체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파일 위치 표시자의 필요성</a:t>
            </a:r>
            <a:endParaRPr lang="en-US" altLang="ko-KR" b="1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파일을 읽고 쓸 때 시작 위치를 지정하기 위하여 사용됨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파일 위치 표시자 설정</a:t>
            </a:r>
            <a:endParaRPr lang="en-US" altLang="ko-KR" b="1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8513" y="3878764"/>
            <a:ext cx="6414624" cy="702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 descr="C:\Users\변소현\Desktop\난생처음 C 언어 프로그래밍\그림\Ch13\표 13-3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9982" y="4898664"/>
            <a:ext cx="3768148" cy="1516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89277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파일 입출력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/>
            </a:pPr>
            <a:r>
              <a:rPr lang="ko-KR" altLang="en-US" sz="2400" dirty="0"/>
              <a:t>파일 위치 표시자</a:t>
            </a:r>
          </a:p>
        </p:txBody>
      </p:sp>
      <p:grpSp>
        <p:nvGrpSpPr>
          <p:cNvPr id="6" name="Google Shape;118;p8"/>
          <p:cNvGrpSpPr>
            <a:grpSpLocks noChangeAspect="1"/>
          </p:cNvGrpSpPr>
          <p:nvPr/>
        </p:nvGrpSpPr>
        <p:grpSpPr>
          <a:xfrm>
            <a:off x="1062361" y="2736195"/>
            <a:ext cx="6981177" cy="1842994"/>
            <a:chOff x="-351138" y="1780618"/>
            <a:chExt cx="9252255" cy="3151320"/>
          </a:xfrm>
        </p:grpSpPr>
        <p:sp>
          <p:nvSpPr>
            <p:cNvPr id="7" name="Google Shape;119;p8"/>
            <p:cNvSpPr/>
            <p:nvPr/>
          </p:nvSpPr>
          <p:spPr>
            <a:xfrm>
              <a:off x="-326750" y="1862052"/>
              <a:ext cx="9227867" cy="3069886"/>
            </a:xfrm>
            <a:prstGeom prst="rect">
              <a:avLst/>
            </a:prstGeom>
            <a:solidFill>
              <a:srgbClr val="EAF1DD"/>
            </a:solidFill>
            <a:ln w="12700" cap="flat" cmpd="sng">
              <a:solidFill>
                <a:srgbClr val="008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" name="Google Shape;120;p8"/>
            <p:cNvSpPr txBox="1"/>
            <p:nvPr/>
          </p:nvSpPr>
          <p:spPr>
            <a:xfrm>
              <a:off x="-351138" y="2265383"/>
              <a:ext cx="9075526" cy="14088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447675" lvl="1" indent="-180975">
                <a:lnSpc>
                  <a:spcPct val="150000"/>
                </a:lnSpc>
                <a:spcBef>
                  <a:spcPts val="600"/>
                </a:spcBef>
                <a:buClr>
                  <a:srgbClr val="3C479D"/>
                </a:buClr>
                <a:buSzPts val="1600"/>
                <a:buFont typeface="Noto Sans Symbols"/>
                <a:buChar char="▪"/>
              </a:pPr>
              <a:r>
                <a:rPr lang="ko-KR" altLang="en-US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파일 크기가 </a:t>
              </a:r>
              <a:r>
                <a:rPr lang="en-US" altLang="ko-KR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2GB</a:t>
              </a:r>
              <a:r>
                <a:rPr lang="ko-KR" altLang="en-US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를 넘어가는 경우 때문에 윈도우에서는 어쩔 수 없이 </a:t>
              </a:r>
              <a:r>
                <a:rPr lang="ko-KR" altLang="en-US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비표준</a:t>
              </a:r>
              <a:r>
                <a:rPr lang="ko-KR" altLang="en-US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함수인 </a:t>
              </a:r>
              <a:r>
                <a:rPr lang="en-US" altLang="ko-KR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_fseeki64</a:t>
              </a:r>
              <a:r>
                <a:rPr lang="ko-KR" altLang="en-US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를 사용할 때도 있음</a:t>
              </a:r>
              <a:endPara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447675" lvl="1" indent="-180975">
                <a:lnSpc>
                  <a:spcPct val="150000"/>
                </a:lnSpc>
                <a:spcBef>
                  <a:spcPts val="600"/>
                </a:spcBef>
                <a:buClr>
                  <a:srgbClr val="3C479D"/>
                </a:buClr>
                <a:buSzPts val="1600"/>
                <a:buFont typeface="Noto Sans Symbols"/>
                <a:buChar char="▪"/>
              </a:pPr>
              <a:r>
                <a:rPr lang="ko-KR" altLang="en-US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컴퓨터의 급격한 발전으로 </a:t>
              </a:r>
              <a:r>
                <a:rPr lang="en-US" altLang="ko-KR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2GB</a:t>
              </a:r>
              <a:r>
                <a:rPr lang="ko-KR" altLang="en-US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를 넘는 파일들이 많으므로 각 플랫폼의 </a:t>
              </a:r>
              <a:r>
                <a:rPr lang="en-US" altLang="ko-KR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64</a:t>
              </a:r>
              <a:r>
                <a:rPr lang="ko-KR" altLang="en-US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비트용 </a:t>
              </a:r>
              <a:r>
                <a:rPr lang="en-US" altLang="ko-KR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fseek</a:t>
              </a:r>
              <a:r>
                <a:rPr lang="ko-KR" altLang="en-US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을 찾아서 사용하는 것이 좋음</a:t>
              </a:r>
              <a:endParaRPr lang="en-US" alt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" name="Google Shape;121;p8"/>
            <p:cNvSpPr/>
            <p:nvPr/>
          </p:nvSpPr>
          <p:spPr>
            <a:xfrm>
              <a:off x="-326750" y="1862053"/>
              <a:ext cx="1805179" cy="526480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 err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하나</a:t>
              </a:r>
              <a:r>
                <a:rPr lang="en-US"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더 </a:t>
              </a:r>
              <a:r>
                <a:rPr lang="en-US" sz="1600" b="1" dirty="0" err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알기</a:t>
              </a:r>
              <a:endParaRPr dirty="0"/>
            </a:p>
          </p:txBody>
        </p:sp>
        <p:sp>
          <p:nvSpPr>
            <p:cNvPr id="10" name="Google Shape;122;p8"/>
            <p:cNvSpPr txBox="1"/>
            <p:nvPr/>
          </p:nvSpPr>
          <p:spPr>
            <a:xfrm>
              <a:off x="1424827" y="1780618"/>
              <a:ext cx="5595372" cy="6594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>
                <a:lnSpc>
                  <a:spcPct val="150000"/>
                </a:lnSpc>
                <a:buClr>
                  <a:srgbClr val="3C479D"/>
                </a:buClr>
                <a:buSzPts val="1800"/>
              </a:pPr>
              <a:r>
                <a:rPr lang="ko-KR" altLang="en-US" sz="1600" b="1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비표준</a:t>
              </a:r>
              <a:r>
                <a:rPr lang="ko-KR" altLang="en-US" sz="1600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함수 </a:t>
              </a:r>
              <a:r>
                <a:rPr lang="en-US" altLang="ko-KR" sz="1600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_fseeki64</a:t>
              </a:r>
              <a:endParaRPr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7024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파일 입출력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/>
            </a:pPr>
            <a:r>
              <a:rPr lang="ko-KR" altLang="en-US" sz="2400" dirty="0"/>
              <a:t>파일 위치 표시자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AC5719B-D222-4399-926B-D81B782B0F1F}"/>
              </a:ext>
            </a:extLst>
          </p:cNvPr>
          <p:cNvGrpSpPr/>
          <p:nvPr/>
        </p:nvGrpSpPr>
        <p:grpSpPr>
          <a:xfrm>
            <a:off x="1082808" y="1624487"/>
            <a:ext cx="6869297" cy="4932006"/>
            <a:chOff x="1082808" y="1715927"/>
            <a:chExt cx="6869297" cy="4932006"/>
          </a:xfrm>
        </p:grpSpPr>
        <p:sp>
          <p:nvSpPr>
            <p:cNvPr id="11" name="Google Shape;102;p7"/>
            <p:cNvSpPr txBox="1"/>
            <p:nvPr/>
          </p:nvSpPr>
          <p:spPr>
            <a:xfrm>
              <a:off x="1082808" y="1715927"/>
              <a:ext cx="5937117" cy="3403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/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13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-3</a:t>
              </a:r>
              <a:r>
                <a:rPr 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] seek </a:t>
              </a:r>
              <a:r>
                <a:rPr lang="ko-KR" alt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함수</a:t>
              </a:r>
              <a:endParaRPr dirty="0"/>
            </a:p>
          </p:txBody>
        </p:sp>
        <p:graphicFrame>
          <p:nvGraphicFramePr>
            <p:cNvPr id="12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3368377282"/>
                </p:ext>
              </p:extLst>
            </p:nvPr>
          </p:nvGraphicFramePr>
          <p:xfrm>
            <a:off x="1172844" y="2056301"/>
            <a:ext cx="6779261" cy="4591632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39491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384351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1180022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19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#define </a:t>
                        </a:r>
                        <a:r>
                          <a:rPr lang="en-US" altLang="ko-KR" sz="1300" b="1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_CRT_SECURE_NO_WARNINGS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sz="1300" b="1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stdio.h</a:t>
                        </a:r>
                        <a:r>
                          <a:rPr lang="en-US" altLang="ko-KR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sz="1300" b="1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errno.h</a:t>
                        </a:r>
                        <a:r>
                          <a:rPr lang="en-US" altLang="ko-KR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sz="1300" b="1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string.h</a:t>
                        </a:r>
                        <a:r>
                          <a:rPr lang="en-US" altLang="ko-KR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main( 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FILE* f = </a:t>
                        </a:r>
                        <a:r>
                          <a:rPr lang="en-US" altLang="ko-KR" sz="1300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fopen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"D:</a:t>
                        </a:r>
                        <a:r>
                          <a:rPr lang="en-US" altLang="ko-KR" sz="1300" b="1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\\</a:t>
                        </a:r>
                        <a:r>
                          <a:rPr lang="en-US" altLang="ko-KR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TestFile.txt"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</a:t>
                        </a:r>
                        <a:r>
                          <a:rPr lang="en-US" altLang="ko-KR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en-US" altLang="ko-KR" sz="1300" b="1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wb</a:t>
                        </a:r>
                        <a:r>
                          <a:rPr lang="en-US" altLang="ko-KR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="1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if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(f)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sz="1300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fseek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(f, 0, SEEK_END);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sz="1300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fseek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(f, 0, SEEK_SET);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sz="1300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fseek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(f, 30, SEEK_CUR);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sz="1300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fclose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(f);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}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   else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sz="1300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"Error: %d, %s"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</a:t>
                        </a:r>
                        <a:r>
                          <a:rPr lang="en-US" altLang="ko-KR" sz="1300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errno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</a:t>
                        </a:r>
                        <a:r>
                          <a:rPr lang="en-US" altLang="ko-KR" sz="1300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strerror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300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errno</a:t>
                        </a: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));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7832623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파일 입출력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/>
            </a:pPr>
            <a:r>
              <a:rPr lang="ko-KR" altLang="en-US" sz="2400" dirty="0"/>
              <a:t>파일 위치 표시자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파일 위치 표시자의 현재 위치 구하기</a:t>
            </a:r>
            <a:endParaRPr lang="en-US" altLang="ko-KR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endParaRPr lang="en-US" altLang="ko-KR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endParaRPr lang="en-US" altLang="ko-KR" b="1" dirty="0"/>
          </a:p>
          <a:p>
            <a:pPr marL="1085850" lvl="3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dirty="0" err="1"/>
              <a:t>ftell</a:t>
            </a:r>
            <a:r>
              <a:rPr lang="en-US" altLang="ko-KR" dirty="0"/>
              <a:t>, ftelli64 </a:t>
            </a:r>
            <a:r>
              <a:rPr lang="ko-KR" altLang="en-US" dirty="0"/>
              <a:t>함수 </a:t>
            </a:r>
            <a:r>
              <a:rPr lang="en-US" altLang="ko-KR" dirty="0"/>
              <a:t>: </a:t>
            </a:r>
            <a:r>
              <a:rPr lang="ko-KR" altLang="en-US" dirty="0"/>
              <a:t>파일</a:t>
            </a:r>
            <a:r>
              <a:rPr lang="en-US" altLang="ko-KR" dirty="0"/>
              <a:t> </a:t>
            </a:r>
            <a:r>
              <a:rPr lang="ko-KR" altLang="en-US" dirty="0"/>
              <a:t>위치 표시자가 나타내는 현지 위치를 반환함</a:t>
            </a:r>
            <a:endParaRPr lang="en-US" altLang="ko-KR" dirty="0"/>
          </a:p>
          <a:p>
            <a:pPr marL="1085850" lvl="3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/>
              <a:t>이 함수를 응용하면 파일의 크기를 알아낼 수 있음</a:t>
            </a:r>
            <a:endParaRPr lang="en-US" altLang="ko-KR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494" y="2071295"/>
            <a:ext cx="6401612" cy="696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467494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파일 입출력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/>
            </a:pPr>
            <a:r>
              <a:rPr lang="ko-KR" altLang="en-US" sz="2400" dirty="0"/>
              <a:t>파일 위치 표시자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74CB0FC-E3DC-4584-A967-D670DD6BD2F4}"/>
              </a:ext>
            </a:extLst>
          </p:cNvPr>
          <p:cNvGrpSpPr/>
          <p:nvPr/>
        </p:nvGrpSpPr>
        <p:grpSpPr>
          <a:xfrm>
            <a:off x="1073664" y="1557909"/>
            <a:ext cx="6869297" cy="5244172"/>
            <a:chOff x="1082808" y="2051685"/>
            <a:chExt cx="6869297" cy="5244172"/>
          </a:xfrm>
        </p:grpSpPr>
        <p:sp>
          <p:nvSpPr>
            <p:cNvPr id="7" name="Google Shape;102;p7"/>
            <p:cNvSpPr txBox="1"/>
            <p:nvPr/>
          </p:nvSpPr>
          <p:spPr>
            <a:xfrm>
              <a:off x="1082808" y="2051685"/>
              <a:ext cx="5937117" cy="3403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/>
              <a:r>
                <a:rPr lang="en-US" altLang="ko-KR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ko-KR" alt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 </a:t>
              </a:r>
              <a:r>
                <a:rPr lang="en-US" altLang="ko-KR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13-4] </a:t>
              </a:r>
              <a:r>
                <a:rPr lang="en-US" altLang="ko-KR" sz="1600" b="1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ftell</a:t>
              </a:r>
              <a:r>
                <a:rPr lang="en-US" altLang="ko-KR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ko-KR" alt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함수</a:t>
              </a:r>
              <a:endParaRPr lang="ko-KR" altLang="en-US" sz="1600" dirty="0"/>
            </a:p>
          </p:txBody>
        </p:sp>
        <p:graphicFrame>
          <p:nvGraphicFramePr>
            <p:cNvPr id="8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3390742861"/>
                </p:ext>
              </p:extLst>
            </p:nvPr>
          </p:nvGraphicFramePr>
          <p:xfrm>
            <a:off x="1172844" y="2392059"/>
            <a:ext cx="6779261" cy="4903798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39491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384351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1180022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11</a:t>
                        </a:r>
                        <a:endParaRPr lang="en-US" sz="12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22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#define </a:t>
                        </a:r>
                        <a:r>
                          <a:rPr lang="en-US" altLang="ko-KR" sz="1200" b="1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_CRT_SECURE_NO_WARNINGS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sz="12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sz="1200" b="1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stdio.h</a:t>
                        </a:r>
                        <a:r>
                          <a:rPr lang="en-US" altLang="ko-KR" sz="12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sz="12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sz="1200" b="1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errno.h</a:t>
                        </a:r>
                        <a:r>
                          <a:rPr lang="en-US" altLang="ko-KR" sz="12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sz="12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sz="1200" b="1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string.h</a:t>
                        </a:r>
                        <a:r>
                          <a:rPr lang="en-US" altLang="ko-KR" sz="12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2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main( 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FILE* f = </a:t>
                        </a:r>
                        <a:r>
                          <a:rPr lang="en-US" altLang="ko-KR" sz="1200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fopen</a:t>
                        </a: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2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"C:</a:t>
                        </a:r>
                        <a:r>
                          <a:rPr lang="en-US" altLang="ko-KR" sz="1200" b="1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\\</a:t>
                        </a:r>
                        <a:r>
                          <a:rPr lang="en-US" altLang="ko-KR" sz="12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Windows</a:t>
                        </a:r>
                        <a:r>
                          <a:rPr lang="en-US" altLang="ko-KR" sz="1200" b="1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\\</a:t>
                        </a:r>
                        <a:r>
                          <a:rPr lang="en-US" altLang="ko-KR" sz="12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win.ini"</a:t>
                        </a: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</a:t>
                        </a:r>
                        <a:r>
                          <a:rPr lang="en-US" altLang="ko-KR" sz="12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en-US" altLang="ko-KR" sz="1200" b="1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rb</a:t>
                        </a:r>
                        <a:r>
                          <a:rPr lang="en-US" altLang="ko-KR" sz="12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2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200" b="1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if</a:t>
                        </a: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(f)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sz="1200" b="1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start = </a:t>
                        </a:r>
                        <a:r>
                          <a:rPr lang="en-US" altLang="ko-KR" sz="1200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ftell</a:t>
                        </a: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(f);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2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sz="1200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fseek</a:t>
                        </a: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(f, 0, SEEK_END);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sz="1200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end = </a:t>
                        </a:r>
                        <a:r>
                          <a:rPr lang="en-US" altLang="ko-KR" sz="1200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ftell</a:t>
                        </a: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(f);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2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sz="1200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2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"start:%d, end:%d"</a:t>
                        </a: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start, end);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sz="1200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fclose</a:t>
                        </a: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(f);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}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200" b="1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else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sz="1200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2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"Error: %d, %s"</a:t>
                        </a: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</a:t>
                        </a:r>
                        <a:r>
                          <a:rPr lang="en-US" altLang="ko-KR" sz="1200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errno</a:t>
                        </a: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</a:t>
                        </a:r>
                        <a:r>
                          <a:rPr lang="en-US" altLang="ko-KR" sz="1200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strerror</a:t>
                        </a: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200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errno</a:t>
                        </a: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));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pic>
          <p:nvPicPr>
            <p:cNvPr id="14338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0122"/>
            <a:stretch/>
          </p:blipFill>
          <p:spPr bwMode="auto">
            <a:xfrm>
              <a:off x="5816225" y="2664885"/>
              <a:ext cx="2099304" cy="5500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6140126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파일 입출력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 startAt="2"/>
            </a:pPr>
            <a:r>
              <a:rPr lang="ko-KR" altLang="en-US" sz="2400" dirty="0"/>
              <a:t>파일 쓰기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파일 쓰기 함수의 종류</a:t>
            </a:r>
            <a:endParaRPr lang="en-US" altLang="ko-KR" b="1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 err="1"/>
              <a:t>fputc</a:t>
            </a:r>
            <a:r>
              <a:rPr lang="en-US" altLang="ko-KR" dirty="0"/>
              <a:t> </a:t>
            </a:r>
            <a:r>
              <a:rPr lang="ko-KR" altLang="en-US" dirty="0"/>
              <a:t>함수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 err="1"/>
              <a:t>fputs</a:t>
            </a:r>
            <a:r>
              <a:rPr lang="en-US" altLang="ko-KR" dirty="0"/>
              <a:t> </a:t>
            </a:r>
            <a:r>
              <a:rPr lang="ko-KR" altLang="en-US" dirty="0"/>
              <a:t>함수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 err="1"/>
              <a:t>fwrite</a:t>
            </a:r>
            <a:r>
              <a:rPr lang="en-US" altLang="ko-KR" dirty="0"/>
              <a:t> </a:t>
            </a:r>
            <a:r>
              <a:rPr lang="ko-KR" altLang="en-US" dirty="0"/>
              <a:t>함수</a:t>
            </a:r>
            <a:endParaRPr lang="en-US" altLang="ko-KR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0822" y="2531500"/>
            <a:ext cx="6972931" cy="520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118" y="3844285"/>
            <a:ext cx="6978845" cy="520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666" y="5169676"/>
            <a:ext cx="7049815" cy="538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98881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파일 입출력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 startAt="2"/>
            </a:pPr>
            <a:r>
              <a:rPr lang="ko-KR" altLang="en-US" sz="2400" dirty="0"/>
              <a:t>파일 쓰기</a:t>
            </a:r>
          </a:p>
        </p:txBody>
      </p:sp>
      <p:sp>
        <p:nvSpPr>
          <p:cNvPr id="7" name="Google Shape;102;p7"/>
          <p:cNvSpPr txBox="1"/>
          <p:nvPr/>
        </p:nvSpPr>
        <p:spPr>
          <a:xfrm>
            <a:off x="1082808" y="1597011"/>
            <a:ext cx="5937117" cy="34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13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-5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en-US" sz="1600" b="1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fputc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함수</a:t>
            </a:r>
            <a:endParaRPr dirty="0"/>
          </a:p>
        </p:txBody>
      </p:sp>
      <p:graphicFrame>
        <p:nvGraphicFramePr>
          <p:cNvPr id="8" name="Google Shape;104;p7"/>
          <p:cNvGraphicFramePr/>
          <p:nvPr>
            <p:extLst>
              <p:ext uri="{D42A27DB-BD31-4B8C-83A1-F6EECF244321}">
                <p14:modId xmlns:p14="http://schemas.microsoft.com/office/powerpoint/2010/main" val="160008018"/>
              </p:ext>
            </p:extLst>
          </p:nvPr>
        </p:nvGraphicFramePr>
        <p:xfrm>
          <a:off x="1172844" y="1937385"/>
          <a:ext cx="6779261" cy="4116144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#define </a:t>
                      </a:r>
                      <a:r>
                        <a:rPr lang="en-US" altLang="ko-KR" sz="1300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_CRT_SECURE_NO_WARNINGS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sz="1300" b="1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sz="1300" b="1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errno.h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sz="1300" b="1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string.h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FILE* f = </a:t>
                      </a:r>
                      <a:r>
                        <a:rPr lang="en-US" altLang="ko-KR" sz="13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fopen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"D:</a:t>
                      </a:r>
                      <a:r>
                        <a:rPr lang="en-US" altLang="ko-KR" sz="1300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\\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TestFile.txt"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sz="1300" b="1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wb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(f)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sz="13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fputc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'C'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f);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sz="13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fclose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(f);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   else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sz="13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"Error: %d, %s"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sz="13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errno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sz="13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strerror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errno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89909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파일 입출력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 startAt="2"/>
            </a:pPr>
            <a:r>
              <a:rPr lang="ko-KR" altLang="en-US" sz="2400" dirty="0"/>
              <a:t>파일 쓰기</a:t>
            </a:r>
          </a:p>
        </p:txBody>
      </p:sp>
      <p:sp>
        <p:nvSpPr>
          <p:cNvPr id="7" name="Google Shape;102;p7"/>
          <p:cNvSpPr txBox="1"/>
          <p:nvPr/>
        </p:nvSpPr>
        <p:spPr>
          <a:xfrm>
            <a:off x="1082808" y="1597011"/>
            <a:ext cx="5937117" cy="34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13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-6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en-US" sz="1600" b="1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fputs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함수</a:t>
            </a:r>
            <a:endParaRPr dirty="0"/>
          </a:p>
        </p:txBody>
      </p:sp>
      <p:graphicFrame>
        <p:nvGraphicFramePr>
          <p:cNvPr id="9" name="Google Shape;104;p7">
            <a:extLst>
              <a:ext uri="{FF2B5EF4-FFF2-40B4-BE49-F238E27FC236}">
                <a16:creationId xmlns:a16="http://schemas.microsoft.com/office/drawing/2014/main" id="{05DA9D06-E4F8-46E8-9A60-0CEDA73963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3159741"/>
              </p:ext>
            </p:extLst>
          </p:nvPr>
        </p:nvGraphicFramePr>
        <p:xfrm>
          <a:off x="1172844" y="1937385"/>
          <a:ext cx="6779261" cy="4116144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#define </a:t>
                      </a:r>
                      <a:r>
                        <a:rPr lang="en-US" altLang="ko-KR" sz="1300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_CRT_SECURE_NO_WARNINGS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sz="1300" b="1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sz="1300" b="1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errno.h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sz="1300" b="1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string.h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FILE* f = </a:t>
                      </a:r>
                      <a:r>
                        <a:rPr lang="en-US" altLang="ko-KR" sz="13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fopen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"D:</a:t>
                      </a:r>
                      <a:r>
                        <a:rPr lang="en-US" altLang="ko-KR" sz="1300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\\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TestFile.txt"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sz="1300" b="1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wb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(f)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sz="1300" b="1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fputs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"0123456789</a:t>
                      </a:r>
                      <a:r>
                        <a:rPr lang="en-US" altLang="ko-KR" sz="1300" b="1" dirty="0">
                          <a:solidFill>
                            <a:srgbClr val="7030A0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0123456789"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, f);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sz="13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fclose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(f);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   else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sz="13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"Error: %d, %s"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sz="13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errno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sz="13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strerror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errno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67963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파일 입출력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 startAt="2"/>
            </a:pPr>
            <a:r>
              <a:rPr lang="ko-KR" altLang="en-US" sz="2400" dirty="0"/>
              <a:t>파일 쓰기</a:t>
            </a:r>
          </a:p>
        </p:txBody>
      </p:sp>
      <p:sp>
        <p:nvSpPr>
          <p:cNvPr id="7" name="Google Shape;102;p7"/>
          <p:cNvSpPr txBox="1"/>
          <p:nvPr/>
        </p:nvSpPr>
        <p:spPr>
          <a:xfrm>
            <a:off x="1082808" y="1511286"/>
            <a:ext cx="5937117" cy="34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13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-7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en-US" sz="1600" b="1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fwrite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함수</a:t>
            </a:r>
            <a:endParaRPr dirty="0"/>
          </a:p>
        </p:txBody>
      </p:sp>
      <p:graphicFrame>
        <p:nvGraphicFramePr>
          <p:cNvPr id="9" name="Google Shape;104;p7">
            <a:extLst>
              <a:ext uri="{FF2B5EF4-FFF2-40B4-BE49-F238E27FC236}">
                <a16:creationId xmlns:a16="http://schemas.microsoft.com/office/drawing/2014/main" id="{8B9F1F97-7F7E-4A46-BCEC-FA29EB1F4D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234155"/>
              </p:ext>
            </p:extLst>
          </p:nvPr>
        </p:nvGraphicFramePr>
        <p:xfrm>
          <a:off x="1172844" y="1851660"/>
          <a:ext cx="6779261" cy="4591632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19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#define </a:t>
                      </a:r>
                      <a:r>
                        <a:rPr lang="en-US" altLang="ko-KR" sz="1300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_CRT_SECURE_NO_WARNINGS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sz="1300" b="1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sz="1300" b="1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errno.h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sz="1300" b="1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string.h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FILE* f = </a:t>
                      </a:r>
                      <a:r>
                        <a:rPr lang="en-US" altLang="ko-KR" sz="13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fopen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"D:</a:t>
                      </a:r>
                      <a:r>
                        <a:rPr lang="en-US" altLang="ko-KR" sz="1300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\\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TestFile.txt"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sz="1300" b="1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wb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char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sz="13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str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 ] = 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난생처음 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C </a:t>
                      </a:r>
                      <a:r>
                        <a:rPr lang="ko-KR" altLang="en-US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프로그래밍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(f)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sz="1300" b="1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fwrite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="1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str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, 1, </a:t>
                      </a:r>
                      <a:r>
                        <a:rPr lang="en-US" altLang="ko-KR" sz="1300" b="1" dirty="0" err="1">
                          <a:solidFill>
                            <a:srgbClr val="0070C0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sizeof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="1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str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) - 1, f);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sz="13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fclose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(f);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   else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sz="13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"Error: %d, %s"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sz="13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errno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sz="13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strerror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errno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55440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파일 입출력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 startAt="3"/>
            </a:pPr>
            <a:r>
              <a:rPr lang="ko-KR" altLang="en-US" sz="2400" dirty="0"/>
              <a:t>파일 읽기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파일 읽기 함수의 종류</a:t>
            </a:r>
            <a:endParaRPr lang="en-US" altLang="ko-KR" b="1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 err="1"/>
              <a:t>fgetc</a:t>
            </a:r>
            <a:r>
              <a:rPr lang="en-US" altLang="ko-KR" dirty="0"/>
              <a:t> </a:t>
            </a:r>
            <a:r>
              <a:rPr lang="ko-KR" altLang="en-US" dirty="0"/>
              <a:t>함수 </a:t>
            </a:r>
            <a:r>
              <a:rPr lang="en-US" altLang="ko-KR" dirty="0"/>
              <a:t>: 1</a:t>
            </a:r>
            <a:r>
              <a:rPr lang="ko-KR" altLang="en-US" dirty="0"/>
              <a:t>바이트를 파일에서 읽고 반환함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n-US" altLang="ko-KR" sz="600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 err="1"/>
              <a:t>fgets</a:t>
            </a:r>
            <a:r>
              <a:rPr lang="en-US" altLang="ko-KR" dirty="0"/>
              <a:t> </a:t>
            </a:r>
            <a:r>
              <a:rPr lang="ko-KR" altLang="en-US" dirty="0"/>
              <a:t>함수 </a:t>
            </a:r>
            <a:r>
              <a:rPr lang="en-US" altLang="ko-KR" dirty="0"/>
              <a:t>: </a:t>
            </a:r>
            <a:r>
              <a:rPr lang="ko-KR" altLang="en-US" dirty="0"/>
              <a:t>텍스트 파일을 기준으로 파일 위치 표시자의 위치부터 한 줄을 읽은 후</a:t>
            </a:r>
            <a:r>
              <a:rPr lang="en-US" altLang="ko-KR" dirty="0"/>
              <a:t>, </a:t>
            </a:r>
            <a:r>
              <a:rPr lang="ko-KR" altLang="en-US" dirty="0"/>
              <a:t>첫 번째 매개변수가 가리키는 문자 배열에 저장함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n-US" altLang="ko-KR" sz="800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 err="1"/>
              <a:t>fread</a:t>
            </a:r>
            <a:r>
              <a:rPr lang="en-US" altLang="ko-KR" dirty="0"/>
              <a:t> </a:t>
            </a:r>
            <a:r>
              <a:rPr lang="ko-KR" altLang="en-US" dirty="0"/>
              <a:t>함수 </a:t>
            </a:r>
            <a:r>
              <a:rPr lang="en-US" altLang="ko-KR" dirty="0"/>
              <a:t>: </a:t>
            </a:r>
            <a:r>
              <a:rPr lang="ko-KR" altLang="en-US" dirty="0"/>
              <a:t>파일 표시자의 위치부터 </a:t>
            </a:r>
            <a:r>
              <a:rPr lang="en-US" altLang="ko-KR" dirty="0"/>
              <a:t>size * count</a:t>
            </a:r>
            <a:r>
              <a:rPr lang="ko-KR" altLang="en-US" dirty="0"/>
              <a:t> 바이트만큼 읽은 후 첫 번째 매개변수가 가리키는 메모리 영역을 복사함</a:t>
            </a:r>
            <a:endParaRPr lang="en-US" altLang="ko-KR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3982" y="2558170"/>
            <a:ext cx="6955187" cy="520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8543" y="4018947"/>
            <a:ext cx="7008417" cy="555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3982" y="5543979"/>
            <a:ext cx="6996588" cy="538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3189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파일 입출력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 startAt="3"/>
            </a:pPr>
            <a:r>
              <a:rPr lang="ko-KR" altLang="en-US" sz="2400" dirty="0"/>
              <a:t>파일 읽기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27CF2CFB-BD97-4055-9917-7C5DF746FF21}"/>
              </a:ext>
            </a:extLst>
          </p:cNvPr>
          <p:cNvGrpSpPr/>
          <p:nvPr/>
        </p:nvGrpSpPr>
        <p:grpSpPr>
          <a:xfrm>
            <a:off x="1082808" y="1514715"/>
            <a:ext cx="6869297" cy="5024716"/>
            <a:chOff x="1082808" y="1514715"/>
            <a:chExt cx="6869297" cy="5024716"/>
          </a:xfrm>
        </p:grpSpPr>
        <p:sp>
          <p:nvSpPr>
            <p:cNvPr id="7" name="Google Shape;102;p7"/>
            <p:cNvSpPr txBox="1"/>
            <p:nvPr/>
          </p:nvSpPr>
          <p:spPr>
            <a:xfrm>
              <a:off x="1082808" y="1514715"/>
              <a:ext cx="5937117" cy="3403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/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13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-8</a:t>
              </a:r>
              <a:r>
                <a:rPr 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] </a:t>
              </a:r>
              <a:r>
                <a:rPr lang="en-US" sz="1600" b="1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fgetc</a:t>
              </a:r>
              <a:endParaRPr dirty="0"/>
            </a:p>
          </p:txBody>
        </p:sp>
        <p:graphicFrame>
          <p:nvGraphicFramePr>
            <p:cNvPr id="8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9589943"/>
                </p:ext>
              </p:extLst>
            </p:nvPr>
          </p:nvGraphicFramePr>
          <p:xfrm>
            <a:off x="1172844" y="1855089"/>
            <a:ext cx="6779261" cy="4684342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39491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384351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1180022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21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#define </a:t>
                        </a:r>
                        <a:r>
                          <a:rPr lang="en-US" altLang="ko-KR" sz="1200" b="1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_CRT_SECURE_NO_WARNINGS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sz="12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sz="1200" b="1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stdio.h</a:t>
                        </a:r>
                        <a:r>
                          <a:rPr lang="en-US" altLang="ko-KR" sz="12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sz="12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sz="1200" b="1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errno.h</a:t>
                        </a:r>
                        <a:r>
                          <a:rPr lang="en-US" altLang="ko-KR" sz="12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sz="12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sz="1200" b="1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string.h</a:t>
                        </a:r>
                        <a:r>
                          <a:rPr lang="en-US" altLang="ko-KR" sz="12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2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main( 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FILE* f = </a:t>
                        </a:r>
                        <a:r>
                          <a:rPr lang="en-US" altLang="ko-KR" sz="1200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fopen</a:t>
                        </a: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2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"D:</a:t>
                        </a:r>
                        <a:r>
                          <a:rPr lang="en-US" altLang="ko-KR" sz="1200" b="1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\\</a:t>
                        </a:r>
                        <a:r>
                          <a:rPr lang="en-US" altLang="ko-KR" sz="12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TestFile.txt"</a:t>
                        </a: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</a:t>
                        </a:r>
                        <a:r>
                          <a:rPr lang="en-US" altLang="ko-KR" sz="12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en-US" altLang="ko-KR" sz="1200" b="1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wb</a:t>
                        </a:r>
                        <a:r>
                          <a:rPr lang="en-US" altLang="ko-KR" sz="12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+"</a:t>
                        </a: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2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200" b="1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if</a:t>
                        </a: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(f)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sz="1200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fputc</a:t>
                        </a: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2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'A'</a:t>
                        </a: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f);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2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sz="1200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fseek</a:t>
                        </a: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(f, 0, SEEK_SET);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sz="1200" b="1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c = </a:t>
                        </a:r>
                        <a:r>
                          <a:rPr lang="en-US" altLang="ko-KR" sz="1200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fgetc</a:t>
                        </a: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(f);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sz="1200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2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"read: %c"</a:t>
                        </a: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c);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sz="1200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fclose</a:t>
                        </a: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(f);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}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   else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sz="1200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2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"Error: %d, %s"</a:t>
                        </a: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</a:t>
                        </a:r>
                        <a:r>
                          <a:rPr lang="en-US" altLang="ko-KR" sz="1200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errno</a:t>
                        </a: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</a:t>
                        </a:r>
                        <a:r>
                          <a:rPr lang="en-US" altLang="ko-KR" sz="1200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strerror</a:t>
                        </a: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200" b="1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errno</a:t>
                        </a: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));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B4C45161-0588-457D-9F2E-5513A6FF883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0908"/>
            <a:stretch/>
          </p:blipFill>
          <p:spPr bwMode="auto">
            <a:xfrm>
              <a:off x="6549725" y="1950020"/>
              <a:ext cx="1332404" cy="4908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8258743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파일 입출력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 startAt="3"/>
            </a:pPr>
            <a:r>
              <a:rPr lang="ko-KR" altLang="en-US" sz="2400" dirty="0"/>
              <a:t>파일 읽기</a:t>
            </a:r>
          </a:p>
        </p:txBody>
      </p:sp>
      <p:sp>
        <p:nvSpPr>
          <p:cNvPr id="7" name="Google Shape;102;p7"/>
          <p:cNvSpPr txBox="1"/>
          <p:nvPr/>
        </p:nvSpPr>
        <p:spPr>
          <a:xfrm>
            <a:off x="1082808" y="1597011"/>
            <a:ext cx="5937117" cy="34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13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-9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en-US" sz="1600" b="1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fgets</a:t>
            </a:r>
            <a:endParaRPr dirty="0"/>
          </a:p>
        </p:txBody>
      </p:sp>
      <p:graphicFrame>
        <p:nvGraphicFramePr>
          <p:cNvPr id="8" name="Google Shape;104;p7"/>
          <p:cNvGraphicFramePr/>
          <p:nvPr>
            <p:extLst>
              <p:ext uri="{D42A27DB-BD31-4B8C-83A1-F6EECF244321}">
                <p14:modId xmlns:p14="http://schemas.microsoft.com/office/powerpoint/2010/main" val="298851494"/>
              </p:ext>
            </p:extLst>
          </p:nvPr>
        </p:nvGraphicFramePr>
        <p:xfrm>
          <a:off x="1172844" y="1937385"/>
          <a:ext cx="6779261" cy="4116144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#define </a:t>
                      </a:r>
                      <a:r>
                        <a:rPr lang="en-US" altLang="ko-KR" sz="1300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_CRT_SECURE_NO_WARNINGS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sz="1300" b="1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sz="1300" b="1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errno.h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sz="1300" b="1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string.h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FILE* f = </a:t>
                      </a:r>
                      <a:r>
                        <a:rPr lang="en-US" altLang="ko-KR" sz="13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fopen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"D:</a:t>
                      </a:r>
                      <a:r>
                        <a:rPr lang="en-US" altLang="ko-KR" sz="1300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\\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TestFile.txt"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sz="1300" b="1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wb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+"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char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sz="13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str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[128];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(f)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{</a:t>
                      </a:r>
                      <a:endParaRPr lang="en-US" altLang="ko-KR" sz="1300" b="1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sz="1300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fputs</a:t>
                      </a: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"0123456789</a:t>
                      </a:r>
                      <a:r>
                        <a:rPr lang="en-US" altLang="ko-KR" sz="1300" b="1" baseline="0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en-US" altLang="ko-KR" sz="1300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0123456789"</a:t>
                      </a: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f)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="1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sz="1300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fseek</a:t>
                      </a: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(f, 0, SEEK_SET);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sz="1300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fgets</a:t>
                      </a: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(str, </a:t>
                      </a:r>
                      <a:r>
                        <a:rPr lang="en-US" altLang="ko-KR" sz="1300" b="1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sizeof</a:t>
                      </a: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(str), f);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75987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파일 입출력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 startAt="3"/>
            </a:pPr>
            <a:r>
              <a:rPr lang="ko-KR" altLang="en-US" sz="2400" dirty="0"/>
              <a:t>파일 읽기</a:t>
            </a:r>
          </a:p>
        </p:txBody>
      </p:sp>
      <p:sp>
        <p:nvSpPr>
          <p:cNvPr id="7" name="Google Shape;102;p7"/>
          <p:cNvSpPr txBox="1"/>
          <p:nvPr/>
        </p:nvSpPr>
        <p:spPr>
          <a:xfrm>
            <a:off x="1082808" y="1597011"/>
            <a:ext cx="5937117" cy="34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13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-9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en-US" sz="1600" b="1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fgets</a:t>
            </a:r>
            <a:endParaRPr dirty="0"/>
          </a:p>
        </p:txBody>
      </p:sp>
      <p:graphicFrame>
        <p:nvGraphicFramePr>
          <p:cNvPr id="8" name="Google Shape;104;p7"/>
          <p:cNvGraphicFramePr/>
          <p:nvPr>
            <p:extLst>
              <p:ext uri="{D42A27DB-BD31-4B8C-83A1-F6EECF244321}">
                <p14:modId xmlns:p14="http://schemas.microsoft.com/office/powerpoint/2010/main" val="2540532085"/>
              </p:ext>
            </p:extLst>
          </p:nvPr>
        </p:nvGraphicFramePr>
        <p:xfrm>
          <a:off x="1172844" y="1937385"/>
          <a:ext cx="6779261" cy="1738704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24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sz="1300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"read: %s"</a:t>
                      </a: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sz="1300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str</a:t>
                      </a: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="1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sz="13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fclose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(f);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else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sz="13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"Error: %d, %s"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sz="13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errno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sz="13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strerror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errno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556" y="3738531"/>
            <a:ext cx="6797549" cy="542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360694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파일 입출력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 startAt="3"/>
            </a:pPr>
            <a:r>
              <a:rPr lang="ko-KR" altLang="en-US" sz="2400" dirty="0"/>
              <a:t>파일 읽기</a:t>
            </a:r>
          </a:p>
        </p:txBody>
      </p:sp>
      <p:sp>
        <p:nvSpPr>
          <p:cNvPr id="7" name="Google Shape;102;p7"/>
          <p:cNvSpPr txBox="1"/>
          <p:nvPr/>
        </p:nvSpPr>
        <p:spPr>
          <a:xfrm>
            <a:off x="1082808" y="1597011"/>
            <a:ext cx="5937117" cy="34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13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-10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en-US" sz="1600" b="1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fread</a:t>
            </a:r>
            <a:endParaRPr dirty="0"/>
          </a:p>
        </p:txBody>
      </p:sp>
      <p:graphicFrame>
        <p:nvGraphicFramePr>
          <p:cNvPr id="8" name="Google Shape;104;p7"/>
          <p:cNvGraphicFramePr/>
          <p:nvPr>
            <p:extLst>
              <p:ext uri="{D42A27DB-BD31-4B8C-83A1-F6EECF244321}">
                <p14:modId xmlns:p14="http://schemas.microsoft.com/office/powerpoint/2010/main" val="3776070695"/>
              </p:ext>
            </p:extLst>
          </p:nvPr>
        </p:nvGraphicFramePr>
        <p:xfrm>
          <a:off x="1172844" y="1937385"/>
          <a:ext cx="6779261" cy="4116144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#define </a:t>
                      </a:r>
                      <a:r>
                        <a:rPr lang="en-US" altLang="ko-KR" sz="1300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_CRT_SECURE_NO_WARNINGS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sz="1300" b="1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sz="1300" b="1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errno.h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sz="1300" b="1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string.h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FILE* f = </a:t>
                      </a:r>
                      <a:r>
                        <a:rPr lang="en-US" altLang="ko-KR" sz="13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fopen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"D:</a:t>
                      </a:r>
                      <a:r>
                        <a:rPr lang="en-US" altLang="ko-KR" sz="1300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\\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TestFile.txt"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sz="1300" b="1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wb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+"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char </a:t>
                      </a:r>
                      <a:r>
                        <a:rPr lang="en-US" altLang="ko-KR" sz="13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outstr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 ] = 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난생처음 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C </a:t>
                      </a:r>
                      <a:r>
                        <a:rPr lang="ko-KR" altLang="en-US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프로그래밍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char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sz="13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instr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[128] = { 0 };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(f)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sz="13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fwrite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outstr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1, </a:t>
                      </a:r>
                      <a:r>
                        <a:rPr lang="en-US" altLang="ko-KR" sz="1300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sizeof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outstr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 - 1, f);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sz="13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fseek</a:t>
                      </a:r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(f, 0, SEEK_SET);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51488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파일 입출력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 startAt="3"/>
            </a:pPr>
            <a:r>
              <a:rPr lang="ko-KR" altLang="en-US" sz="2400" dirty="0"/>
              <a:t>파일 읽기</a:t>
            </a:r>
          </a:p>
        </p:txBody>
      </p:sp>
      <p:sp>
        <p:nvSpPr>
          <p:cNvPr id="7" name="Google Shape;102;p7"/>
          <p:cNvSpPr txBox="1"/>
          <p:nvPr/>
        </p:nvSpPr>
        <p:spPr>
          <a:xfrm>
            <a:off x="1082808" y="1597011"/>
            <a:ext cx="5937117" cy="34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 </a:t>
            </a:r>
            <a:r>
              <a:rPr lang="en-US" altLang="ko-KR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13-10] </a:t>
            </a:r>
            <a:r>
              <a:rPr lang="en-US" altLang="ko-KR" sz="1600" b="1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fread</a:t>
            </a:r>
            <a:endParaRPr lang="en-US" altLang="ko-KR" sz="1600" dirty="0"/>
          </a:p>
        </p:txBody>
      </p:sp>
      <p:graphicFrame>
        <p:nvGraphicFramePr>
          <p:cNvPr id="8" name="Google Shape;104;p7"/>
          <p:cNvGraphicFramePr/>
          <p:nvPr>
            <p:extLst>
              <p:ext uri="{D42A27DB-BD31-4B8C-83A1-F6EECF244321}">
                <p14:modId xmlns:p14="http://schemas.microsoft.com/office/powerpoint/2010/main" val="54222202"/>
              </p:ext>
            </p:extLst>
          </p:nvPr>
        </p:nvGraphicFramePr>
        <p:xfrm>
          <a:off x="1172844" y="1937385"/>
          <a:ext cx="6779261" cy="1976448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2425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sz="1300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fread</a:t>
                      </a: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instr</a:t>
                      </a: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1, </a:t>
                      </a:r>
                      <a:r>
                        <a:rPr lang="en-US" altLang="ko-KR" sz="1300" b="1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sizeof</a:t>
                      </a: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instr</a:t>
                      </a: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), f);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sz="1300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"read: %s"</a:t>
                      </a: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sz="1300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instr</a:t>
                      </a: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="1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sz="1300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fclose</a:t>
                      </a: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(f);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="1" baseline="0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else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sz="1300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"Error: %d, %s"</a:t>
                      </a: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sz="1300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errno</a:t>
                      </a: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sz="1300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strerror</a:t>
                      </a: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errno</a:t>
                      </a: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  <a:endParaRPr lang="en-US" altLang="ko-KR" sz="1300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672" y="4008805"/>
            <a:ext cx="6869297" cy="483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637910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파일 입출력</a:t>
            </a:r>
            <a:endParaRPr lang="ko-KR" altLang="en-US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2897" y="1366359"/>
            <a:ext cx="5842318" cy="44761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63658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파일 입출력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619191" y="1771650"/>
            <a:ext cx="7924665" cy="3505199"/>
            <a:chOff x="615155" y="898523"/>
            <a:chExt cx="7924665" cy="3505199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898523"/>
              <a:ext cx="7924665" cy="3505199"/>
              <a:chOff x="683573" y="1646170"/>
              <a:chExt cx="7924665" cy="1446415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646170"/>
                <a:ext cx="7920000" cy="144641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647056"/>
                <a:ext cx="1511728" cy="152935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13-3</a:t>
                </a:r>
                <a:endParaRPr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916704"/>
              <a:ext cx="6366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파일 한 줄씩 읽기</a:t>
              </a: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885627" y="1288542"/>
              <a:ext cx="7397419" cy="3793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altLang="ko-KR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C:\Windows\win.ini </a:t>
              </a:r>
              <a:r>
                <a:rPr lang="ko-KR" altLang="en-US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파일을 한 줄 단위로 읽어서 출력하는 프로그램을 작성하시오</a:t>
              </a:r>
              <a:r>
                <a:rPr lang="en-US" altLang="ko-KR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.</a:t>
              </a:r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700" y="2661611"/>
            <a:ext cx="6828300" cy="1534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5383" y="4377114"/>
            <a:ext cx="6613235" cy="713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01960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파일 입출력</a:t>
            </a:r>
            <a:endParaRPr lang="ko-KR" altLang="en-US" dirty="0"/>
          </a:p>
        </p:txBody>
      </p:sp>
      <p:grpSp>
        <p:nvGrpSpPr>
          <p:cNvPr id="4" name="Google Shape;129;p9"/>
          <p:cNvGrpSpPr/>
          <p:nvPr/>
        </p:nvGrpSpPr>
        <p:grpSpPr>
          <a:xfrm>
            <a:off x="624680" y="1280049"/>
            <a:ext cx="7924665" cy="4626975"/>
            <a:chOff x="683573" y="1844824"/>
            <a:chExt cx="7924665" cy="1365030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" name="Google Shape;130;p9"/>
            <p:cNvSpPr/>
            <p:nvPr/>
          </p:nvSpPr>
          <p:spPr>
            <a:xfrm>
              <a:off x="688238" y="1844824"/>
              <a:ext cx="7920000" cy="136503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rgbClr val="8AC9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" name="Google Shape;132;p9"/>
            <p:cNvSpPr/>
            <p:nvPr/>
          </p:nvSpPr>
          <p:spPr>
            <a:xfrm>
              <a:off x="683573" y="1844825"/>
              <a:ext cx="1511728" cy="104275"/>
            </a:xfrm>
            <a:prstGeom prst="rect">
              <a:avLst/>
            </a:prstGeom>
            <a:solidFill>
              <a:srgbClr val="8AC9DA"/>
            </a:solidFill>
            <a:ln>
              <a:solidFill>
                <a:srgbClr val="8AC9DA"/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 algn="ctr"/>
              <a:r>
                <a:rPr lang="en-US" altLang="ko-KR"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LAB 13-3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136408" y="1294951"/>
            <a:ext cx="37697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j-ea"/>
                <a:ea typeface="+mj-ea"/>
              </a:rPr>
              <a:t>정답</a:t>
            </a:r>
          </a:p>
        </p:txBody>
      </p:sp>
      <p:graphicFrame>
        <p:nvGraphicFramePr>
          <p:cNvPr id="13" name="Google Shape;104;p7"/>
          <p:cNvGraphicFramePr/>
          <p:nvPr>
            <p:extLst>
              <p:ext uri="{D42A27DB-BD31-4B8C-83A1-F6EECF244321}">
                <p14:modId xmlns:p14="http://schemas.microsoft.com/office/powerpoint/2010/main" val="1076239660"/>
              </p:ext>
            </p:extLst>
          </p:nvPr>
        </p:nvGraphicFramePr>
        <p:xfrm>
          <a:off x="880932" y="1747346"/>
          <a:ext cx="7416825" cy="3913642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942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01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02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03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04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05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06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</a:txBody>
                  <a:tcPr marL="91450" marR="91450"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#define </a:t>
                      </a:r>
                      <a:r>
                        <a:rPr lang="en-US" altLang="ko-KR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_CRT_SECURE_NO_WARNINGS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b="1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b="1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errno.h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b="1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string.h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FILE* f = </a:t>
                      </a:r>
                      <a:r>
                        <a:rPr lang="en-US" altLang="ko-KR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fopen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"C:</a:t>
                      </a:r>
                      <a:r>
                        <a:rPr lang="en-US" altLang="ko-KR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\\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Windows</a:t>
                      </a:r>
                      <a:r>
                        <a:rPr lang="en-US" altLang="ko-KR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\\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win.ini"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="1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rb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(f)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char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str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[128];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while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(1)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   </a:t>
                      </a:r>
                      <a:r>
                        <a:rPr lang="en-US" altLang="ko-KR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r = </a:t>
                      </a:r>
                      <a:r>
                        <a:rPr lang="en-US" altLang="ko-KR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fgets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(str, </a:t>
                      </a:r>
                      <a:r>
                        <a:rPr lang="en-US" altLang="ko-KR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sizeof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(str), f);</a:t>
                      </a:r>
                    </a:p>
                  </a:txBody>
                  <a:tcPr marL="91450" marR="91450" marT="45725" marB="45725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22177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03. </a:t>
            </a:r>
            <a:r>
              <a:rPr lang="ko-KR" altLang="en-US" dirty="0">
                <a:solidFill>
                  <a:schemeClr val="tx1"/>
                </a:solidFill>
              </a:rPr>
              <a:t>파일 입출력</a:t>
            </a:r>
            <a:endParaRPr lang="ko-KR" altLang="en-US" dirty="0"/>
          </a:p>
        </p:txBody>
      </p:sp>
      <p:grpSp>
        <p:nvGrpSpPr>
          <p:cNvPr id="4" name="Google Shape;129;p9"/>
          <p:cNvGrpSpPr/>
          <p:nvPr/>
        </p:nvGrpSpPr>
        <p:grpSpPr>
          <a:xfrm>
            <a:off x="624680" y="1280048"/>
            <a:ext cx="7924665" cy="4535535"/>
            <a:chOff x="683573" y="1844824"/>
            <a:chExt cx="7924665" cy="1266229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" name="Google Shape;130;p9"/>
            <p:cNvSpPr/>
            <p:nvPr/>
          </p:nvSpPr>
          <p:spPr>
            <a:xfrm>
              <a:off x="688238" y="1844824"/>
              <a:ext cx="7920000" cy="126622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rgbClr val="8AC9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" name="Google Shape;132;p9"/>
            <p:cNvSpPr/>
            <p:nvPr/>
          </p:nvSpPr>
          <p:spPr>
            <a:xfrm>
              <a:off x="683573" y="1844825"/>
              <a:ext cx="1511728" cy="104275"/>
            </a:xfrm>
            <a:prstGeom prst="rect">
              <a:avLst/>
            </a:prstGeom>
            <a:solidFill>
              <a:srgbClr val="8AC9DA"/>
            </a:solidFill>
            <a:ln>
              <a:solidFill>
                <a:srgbClr val="8AC9DA"/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 algn="ctr"/>
              <a:r>
                <a:rPr lang="en-US" altLang="ko-KR"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LAB 13-3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136408" y="1294951"/>
            <a:ext cx="37697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j-ea"/>
                <a:ea typeface="+mj-ea"/>
              </a:rPr>
              <a:t>정답</a:t>
            </a:r>
          </a:p>
        </p:txBody>
      </p:sp>
      <p:graphicFrame>
        <p:nvGraphicFramePr>
          <p:cNvPr id="13" name="Google Shape;104;p7"/>
          <p:cNvGraphicFramePr/>
          <p:nvPr>
            <p:extLst>
              <p:ext uri="{D42A27DB-BD31-4B8C-83A1-F6EECF244321}">
                <p14:modId xmlns:p14="http://schemas.microsoft.com/office/powerpoint/2010/main" val="3358580566"/>
              </p:ext>
            </p:extLst>
          </p:nvPr>
        </p:nvGraphicFramePr>
        <p:xfrm>
          <a:off x="880932" y="1747346"/>
          <a:ext cx="7416825" cy="3913642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942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16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17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</a:p>
                  </a:txBody>
                  <a:tcPr marL="91450" marR="91450"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   </a:t>
                      </a:r>
                      <a:r>
                        <a:rPr lang="en-US" altLang="ko-KR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(r)      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      </a:t>
                      </a:r>
                      <a:r>
                        <a:rPr lang="en-US" altLang="ko-KR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("%s", </a:t>
                      </a:r>
                      <a:r>
                        <a:rPr lang="en-US" altLang="ko-KR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str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   </a:t>
                      </a:r>
                      <a:r>
                        <a:rPr lang="en-US" altLang="ko-KR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else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   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      </a:t>
                      </a:r>
                      <a:r>
                        <a:rPr lang="en-US" altLang="ko-KR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break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fclose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(f);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else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"Read Error: %d, %s"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errno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strerror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errno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77686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4000"/>
            </a:pPr>
            <a:r>
              <a:rPr lang="ko-KR" altLang="en-US" sz="4000" dirty="0"/>
              <a:t>전처리 </a:t>
            </a:r>
            <a:r>
              <a:rPr lang="ko-KR" altLang="en-US" sz="4000" dirty="0" err="1"/>
              <a:t>지시문</a:t>
            </a:r>
            <a:endParaRPr sz="4000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 dirty="0"/>
              <a:t>04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435255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전처리 </a:t>
            </a:r>
            <a:r>
              <a:rPr lang="ko-KR" altLang="en-US" dirty="0" err="1">
                <a:solidFill>
                  <a:schemeClr val="tx1"/>
                </a:solidFill>
              </a:rPr>
              <a:t>지시문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/>
            </a:pPr>
            <a:r>
              <a:rPr lang="ko-KR" altLang="en-US" sz="2400" dirty="0" err="1"/>
              <a:t>전처리기와</a:t>
            </a:r>
            <a:r>
              <a:rPr lang="ko-KR" altLang="en-US" sz="2400" dirty="0"/>
              <a:t> 전처리 지시문의 개념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전처리기</a:t>
            </a:r>
            <a:r>
              <a:rPr lang="en-US" altLang="ko-KR" b="1" dirty="0"/>
              <a:t>(Preprocess)</a:t>
            </a:r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전처리 </a:t>
            </a:r>
            <a:r>
              <a:rPr lang="en-US" altLang="ko-KR" dirty="0"/>
              <a:t>: </a:t>
            </a:r>
            <a:r>
              <a:rPr lang="ko-KR" altLang="en-US" dirty="0"/>
              <a:t>컴파일의 품질을 높이기 위해서 소스를 정리하는 작업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 err="1"/>
              <a:t>전처리기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 err="1"/>
              <a:t>전처리를</a:t>
            </a:r>
            <a:r>
              <a:rPr lang="ko-KR" altLang="en-US" dirty="0"/>
              <a:t> 전담하는 프로그램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전처리 </a:t>
            </a:r>
            <a:r>
              <a:rPr lang="ko-KR" altLang="en-US" b="1" dirty="0" err="1"/>
              <a:t>지시문</a:t>
            </a:r>
            <a:endParaRPr lang="en-US" altLang="ko-KR" b="1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전처리 구문은 </a:t>
            </a:r>
            <a:r>
              <a:rPr lang="en-US" altLang="ko-KR" dirty="0"/>
              <a:t>#</a:t>
            </a:r>
            <a:r>
              <a:rPr lang="ko-KR" altLang="en-US" dirty="0"/>
              <a:t>으로 시작하는 </a:t>
            </a:r>
            <a:r>
              <a:rPr lang="ko-KR" altLang="en-US" dirty="0" err="1"/>
              <a:t>지시문</a:t>
            </a:r>
            <a:r>
              <a:rPr lang="en-US" altLang="ko-KR" dirty="0"/>
              <a:t>(directives)</a:t>
            </a:r>
            <a:r>
              <a:rPr lang="ko-KR" altLang="en-US" dirty="0"/>
              <a:t>으로 구성됨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대표적으로 </a:t>
            </a:r>
            <a:r>
              <a:rPr lang="en-US" altLang="ko-KR" dirty="0">
                <a:latin typeface="Consolas" panose="020B0609020204030204" pitchFamily="49" charset="0"/>
              </a:rPr>
              <a:t>#include</a:t>
            </a:r>
            <a:r>
              <a:rPr lang="en-US" altLang="ko-KR" dirty="0">
                <a:latin typeface="+mn-ea"/>
                <a:ea typeface="+mn-ea"/>
              </a:rPr>
              <a:t>,</a:t>
            </a:r>
            <a:r>
              <a:rPr lang="en-US" altLang="ko-KR" dirty="0">
                <a:latin typeface="Consolas" panose="020B0609020204030204" pitchFamily="49" charset="0"/>
              </a:rPr>
              <a:t> #define</a:t>
            </a:r>
            <a:r>
              <a:rPr lang="en-US" altLang="ko-KR" sz="1050" dirty="0">
                <a:latin typeface="+mn-ea"/>
              </a:rPr>
              <a:t> ,</a:t>
            </a:r>
            <a:r>
              <a:rPr lang="en-US" altLang="ko-KR" dirty="0">
                <a:latin typeface="Consolas" panose="020B0609020204030204" pitchFamily="49" charset="0"/>
              </a:rPr>
              <a:t> #if</a:t>
            </a:r>
            <a:r>
              <a:rPr lang="en-US" altLang="ko-KR" dirty="0"/>
              <a:t> </a:t>
            </a:r>
            <a:r>
              <a:rPr lang="ko-KR" altLang="en-US" dirty="0"/>
              <a:t>등이 있음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8036983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전처리 </a:t>
            </a:r>
            <a:r>
              <a:rPr lang="ko-KR" altLang="en-US" dirty="0" err="1">
                <a:solidFill>
                  <a:schemeClr val="tx1"/>
                </a:solidFill>
              </a:rPr>
              <a:t>지시문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0027" y="1053876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 startAt="2"/>
            </a:pPr>
            <a:r>
              <a:rPr lang="en-US" altLang="ko-KR" sz="2400" dirty="0"/>
              <a:t>#include</a:t>
            </a:r>
            <a:endParaRPr lang="ko-KR" altLang="en-US"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/>
              <a:t>헤더 파일을 포함하는 기능을 수행함</a:t>
            </a:r>
            <a:endParaRPr lang="en-US" altLang="ko-KR" dirty="0"/>
          </a:p>
        </p:txBody>
      </p:sp>
      <p:sp>
        <p:nvSpPr>
          <p:cNvPr id="4" name="Google Shape;102;p7"/>
          <p:cNvSpPr txBox="1"/>
          <p:nvPr/>
        </p:nvSpPr>
        <p:spPr>
          <a:xfrm>
            <a:off x="1082808" y="2131695"/>
            <a:ext cx="3346317" cy="34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13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-11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소스 파일 </a:t>
            </a:r>
            <a:r>
              <a:rPr lang="en-US" altLang="ko-KR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#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include</a:t>
            </a:r>
            <a:endParaRPr dirty="0"/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1006074798"/>
              </p:ext>
            </p:extLst>
          </p:nvPr>
        </p:nvGraphicFramePr>
        <p:xfrm>
          <a:off x="1172844" y="2472069"/>
          <a:ext cx="6779261" cy="394956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95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double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PI( );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2479860503"/>
              </p:ext>
            </p:extLst>
          </p:nvPr>
        </p:nvGraphicFramePr>
        <p:xfrm>
          <a:off x="1172844" y="3224544"/>
          <a:ext cx="6779261" cy="3145546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95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b="1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="1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Function.c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"PI: %f"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PI( ));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double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PI(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3.141592;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102;p7"/>
          <p:cNvSpPr txBox="1"/>
          <p:nvPr/>
        </p:nvSpPr>
        <p:spPr>
          <a:xfrm>
            <a:off x="4657725" y="2142483"/>
            <a:ext cx="3346317" cy="34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r"/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Function.c</a:t>
            </a:r>
            <a:endParaRPr dirty="0"/>
          </a:p>
        </p:txBody>
      </p:sp>
      <p:sp>
        <p:nvSpPr>
          <p:cNvPr id="8" name="Google Shape;102;p7"/>
          <p:cNvSpPr txBox="1"/>
          <p:nvPr/>
        </p:nvSpPr>
        <p:spPr>
          <a:xfrm>
            <a:off x="4657724" y="2856858"/>
            <a:ext cx="3346317" cy="34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r"/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Main.c</a:t>
            </a:r>
            <a:endParaRPr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0771" y="5699822"/>
            <a:ext cx="2543731" cy="624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0377825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전처리 </a:t>
            </a:r>
            <a:r>
              <a:rPr lang="ko-KR" altLang="en-US" dirty="0" err="1">
                <a:solidFill>
                  <a:schemeClr val="tx1"/>
                </a:solidFill>
              </a:rPr>
              <a:t>지시문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0027" y="1053876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 startAt="2"/>
            </a:pPr>
            <a:r>
              <a:rPr lang="en-US" altLang="ko-KR" sz="2400" dirty="0"/>
              <a:t>#include</a:t>
            </a:r>
            <a:endParaRPr lang="ko-KR" altLang="en-US" sz="2400" dirty="0"/>
          </a:p>
        </p:txBody>
      </p:sp>
      <p:sp>
        <p:nvSpPr>
          <p:cNvPr id="4" name="Google Shape;102;p7"/>
          <p:cNvSpPr txBox="1"/>
          <p:nvPr/>
        </p:nvSpPr>
        <p:spPr>
          <a:xfrm>
            <a:off x="1082807" y="1696071"/>
            <a:ext cx="4241667" cy="351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13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-12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소스 파일 </a:t>
            </a:r>
            <a:r>
              <a:rPr lang="en-US" altLang="ko-KR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#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include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주의점</a:t>
            </a:r>
            <a:endParaRPr dirty="0"/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2494837564"/>
              </p:ext>
            </p:extLst>
          </p:nvPr>
        </p:nvGraphicFramePr>
        <p:xfrm>
          <a:off x="1172844" y="2036445"/>
          <a:ext cx="6779261" cy="1609354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95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double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g_PI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= 3.141592;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double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PI( 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g_PI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2749211920"/>
              </p:ext>
            </p:extLst>
          </p:nvPr>
        </p:nvGraphicFramePr>
        <p:xfrm>
          <a:off x="1172844" y="4122420"/>
          <a:ext cx="6779261" cy="1865386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95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b="1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="1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Function.c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"%f"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PI( ));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102;p7"/>
          <p:cNvSpPr txBox="1"/>
          <p:nvPr/>
        </p:nvSpPr>
        <p:spPr>
          <a:xfrm>
            <a:off x="4657725" y="1706859"/>
            <a:ext cx="3346317" cy="34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r"/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Function.c</a:t>
            </a:r>
            <a:endParaRPr dirty="0"/>
          </a:p>
        </p:txBody>
      </p:sp>
      <p:sp>
        <p:nvSpPr>
          <p:cNvPr id="8" name="Google Shape;102;p7"/>
          <p:cNvSpPr txBox="1"/>
          <p:nvPr/>
        </p:nvSpPr>
        <p:spPr>
          <a:xfrm>
            <a:off x="4657724" y="3754734"/>
            <a:ext cx="3346317" cy="34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r"/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Main.c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377901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전처리 </a:t>
            </a:r>
            <a:r>
              <a:rPr lang="ko-KR" altLang="en-US" dirty="0" err="1">
                <a:solidFill>
                  <a:schemeClr val="tx1"/>
                </a:solidFill>
              </a:rPr>
              <a:t>지시문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0027" y="1053876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 startAt="3"/>
            </a:pPr>
            <a:r>
              <a:rPr lang="en-US" altLang="ko-KR" sz="2400" dirty="0"/>
              <a:t>#define</a:t>
            </a:r>
            <a:endParaRPr lang="ko-KR" altLang="en-US"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/>
              <a:t>매크로를 정의하는 </a:t>
            </a:r>
            <a:r>
              <a:rPr lang="ko-KR" altLang="en-US" dirty="0" err="1"/>
              <a:t>지시문</a:t>
            </a:r>
            <a:endParaRPr lang="en-US" altLang="ko-KR" dirty="0"/>
          </a:p>
          <a:p>
            <a:pPr marL="1085850" lvl="3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/>
              <a:t>매크로 </a:t>
            </a:r>
            <a:r>
              <a:rPr lang="en-US" altLang="ko-KR" dirty="0"/>
              <a:t>: </a:t>
            </a:r>
            <a:r>
              <a:rPr lang="ko-KR" altLang="en-US" dirty="0"/>
              <a:t>입력 문자열을 대체 문자열로 교체하는 규칙</a:t>
            </a:r>
            <a:endParaRPr lang="en-US" altLang="ko-KR" dirty="0"/>
          </a:p>
          <a:p>
            <a:pPr marL="1085850" lvl="3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/>
              <a:t>매크로 전개 </a:t>
            </a:r>
            <a:r>
              <a:rPr lang="en-US" altLang="ko-KR" dirty="0"/>
              <a:t>: </a:t>
            </a:r>
            <a:r>
              <a:rPr lang="ko-KR" altLang="en-US" dirty="0"/>
              <a:t>매크로가 적용되어 대체 문자열로 교체되는 과정</a:t>
            </a:r>
            <a:endParaRPr lang="en-US" altLang="ko-KR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2685" y="3110348"/>
            <a:ext cx="6990674" cy="1082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9415487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전처리 </a:t>
            </a:r>
            <a:r>
              <a:rPr lang="ko-KR" altLang="en-US" dirty="0" err="1">
                <a:solidFill>
                  <a:schemeClr val="tx1"/>
                </a:solidFill>
              </a:rPr>
              <a:t>지시문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0027" y="1053876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 startAt="3"/>
            </a:pPr>
            <a:r>
              <a:rPr lang="en-US" altLang="ko-KR" sz="2400" dirty="0"/>
              <a:t>#define</a:t>
            </a:r>
            <a:endParaRPr lang="ko-KR" altLang="en-US" sz="2400" dirty="0"/>
          </a:p>
        </p:txBody>
      </p:sp>
      <p:sp>
        <p:nvSpPr>
          <p:cNvPr id="4" name="Google Shape;102;p7"/>
          <p:cNvSpPr txBox="1"/>
          <p:nvPr/>
        </p:nvSpPr>
        <p:spPr>
          <a:xfrm>
            <a:off x="1082808" y="1791321"/>
            <a:ext cx="3346317" cy="34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13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-13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] #define</a:t>
            </a:r>
            <a:endParaRPr dirty="0"/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3056657692"/>
              </p:ext>
            </p:extLst>
          </p:nvPr>
        </p:nvGraphicFramePr>
        <p:xfrm>
          <a:off x="1172844" y="2131695"/>
          <a:ext cx="6779261" cy="3145546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95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s-E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&lt;stdio.h&gt;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altLang="ko-KR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#define </a:t>
                      </a:r>
                      <a:r>
                        <a:rPr lang="es-ES" altLang="ko-KR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MACRO_X</a:t>
                      </a:r>
                      <a:r>
                        <a:rPr lang="es-E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#define </a:t>
                      </a:r>
                      <a:r>
                        <a:rPr lang="es-ES" altLang="ko-KR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MACRO_Y</a:t>
                      </a:r>
                      <a:r>
                        <a:rPr lang="es-E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altLang="ko-KR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altLang="ko-KR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s-E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s-ES" altLang="ko-KR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s-E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x = </a:t>
                      </a:r>
                      <a:r>
                        <a:rPr lang="es-ES" altLang="ko-KR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MACRO_X</a:t>
                      </a:r>
                      <a:r>
                        <a:rPr lang="es-E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s-E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s-ES" altLang="ko-KR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char</a:t>
                      </a:r>
                      <a:r>
                        <a:rPr lang="es-E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 y = </a:t>
                      </a:r>
                      <a:r>
                        <a:rPr lang="es-E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"MACRO_Y"</a:t>
                      </a:r>
                      <a:r>
                        <a:rPr lang="es-E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altLang="ko-KR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printf(</a:t>
                      </a:r>
                      <a:r>
                        <a:rPr lang="es-ES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"x: %d, y: %s"</a:t>
                      </a:r>
                      <a:r>
                        <a:rPr lang="es-E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x, y);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 </a:t>
                      </a:r>
                      <a:endParaRPr lang="en-US" altLang="ko-KR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754" y="2251329"/>
            <a:ext cx="2806799" cy="448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035171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전처리 </a:t>
            </a:r>
            <a:r>
              <a:rPr lang="ko-KR" altLang="en-US" dirty="0" err="1">
                <a:solidFill>
                  <a:schemeClr val="tx1"/>
                </a:solidFill>
              </a:rPr>
              <a:t>지시문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0027" y="1053876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 startAt="3"/>
            </a:pPr>
            <a:r>
              <a:rPr lang="en-US" altLang="ko-KR" sz="2400" dirty="0"/>
              <a:t>#define</a:t>
            </a:r>
            <a:endParaRPr lang="ko-KR" altLang="en-US"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매크로 전개</a:t>
            </a:r>
            <a:endParaRPr lang="en-US" altLang="ko-KR" b="1" dirty="0"/>
          </a:p>
          <a:p>
            <a:pPr marL="1085850" lvl="3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/>
              <a:t>매크로 전개 순서의 특이성 확인</a:t>
            </a:r>
            <a:endParaRPr lang="en-US" altLang="ko-KR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A577547-8CAD-43E0-A911-CDAB0601B518}"/>
              </a:ext>
            </a:extLst>
          </p:cNvPr>
          <p:cNvGrpSpPr/>
          <p:nvPr/>
        </p:nvGrpSpPr>
        <p:grpSpPr>
          <a:xfrm>
            <a:off x="1082808" y="2618211"/>
            <a:ext cx="7044513" cy="3341486"/>
            <a:chOff x="1082808" y="2087859"/>
            <a:chExt cx="7044513" cy="3341486"/>
          </a:xfrm>
        </p:grpSpPr>
        <p:sp>
          <p:nvSpPr>
            <p:cNvPr id="5" name="Google Shape;102;p7"/>
            <p:cNvSpPr txBox="1"/>
            <p:nvPr/>
          </p:nvSpPr>
          <p:spPr>
            <a:xfrm>
              <a:off x="1082808" y="2087859"/>
              <a:ext cx="3346317" cy="3403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/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13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-14</a:t>
              </a:r>
              <a:r>
                <a:rPr 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] </a:t>
              </a:r>
              <a:r>
                <a:rPr lang="ko-KR" alt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매크로 전개 순서</a:t>
              </a:r>
              <a:endParaRPr dirty="0"/>
            </a:p>
          </p:txBody>
        </p:sp>
        <p:graphicFrame>
          <p:nvGraphicFramePr>
            <p:cNvPr id="6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1802373684"/>
                </p:ext>
              </p:extLst>
            </p:nvPr>
          </p:nvGraphicFramePr>
          <p:xfrm>
            <a:off x="1172844" y="2428233"/>
            <a:ext cx="6779261" cy="2377450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39491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384351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394956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09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s-E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&lt;stdio.h&gt;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s-E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#define</a:t>
                        </a:r>
                        <a:r>
                          <a:rPr lang="es-E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s-ES" altLang="ko-KR" b="1" baseline="0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Y</a:t>
                        </a:r>
                        <a:r>
                          <a:rPr lang="es-E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(X + 1)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#define </a:t>
                        </a:r>
                        <a:r>
                          <a:rPr lang="es-ES" altLang="ko-KR" b="1" baseline="0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X</a:t>
                        </a:r>
                        <a:r>
                          <a:rPr lang="es-E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s-E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b="1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s-E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main( 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printf(</a:t>
                        </a:r>
                        <a:r>
                          <a:rPr lang="es-ES" altLang="ko-KR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"Y: %d"</a:t>
                        </a:r>
                        <a:r>
                          <a:rPr lang="es-E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</a:t>
                        </a:r>
                        <a:r>
                          <a:rPr lang="es-ES" altLang="ko-KR" b="1" baseline="0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Y</a:t>
                        </a:r>
                        <a:r>
                          <a:rPr lang="es-E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</a:t>
                        </a:r>
                        <a:endPara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pic>
          <p:nvPicPr>
            <p:cNvPr id="25602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8904" y="4914804"/>
              <a:ext cx="7008417" cy="514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02367668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전처리 </a:t>
            </a:r>
            <a:r>
              <a:rPr lang="ko-KR" altLang="en-US" dirty="0" err="1">
                <a:solidFill>
                  <a:schemeClr val="tx1"/>
                </a:solidFill>
              </a:rPr>
              <a:t>지시문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0027" y="1053876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 startAt="3"/>
            </a:pPr>
            <a:r>
              <a:rPr lang="en-US" altLang="ko-KR" sz="2400" dirty="0"/>
              <a:t>#define</a:t>
            </a:r>
            <a:endParaRPr lang="ko-KR" altLang="en-US"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매크로 전개 실패</a:t>
            </a:r>
            <a:endParaRPr lang="en-US" altLang="ko-KR" b="1" dirty="0"/>
          </a:p>
          <a:p>
            <a:pPr marL="1085850" lvl="3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/>
              <a:t>무한 순환은 허용되지 않음</a:t>
            </a:r>
            <a:endParaRPr lang="en-US" altLang="ko-KR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7ECA21AA-CA94-4B62-9294-80966DF61D6B}"/>
              </a:ext>
            </a:extLst>
          </p:cNvPr>
          <p:cNvGrpSpPr/>
          <p:nvPr/>
        </p:nvGrpSpPr>
        <p:grpSpPr>
          <a:xfrm>
            <a:off x="1082808" y="2737083"/>
            <a:ext cx="6869297" cy="2717824"/>
            <a:chOff x="1082808" y="2087859"/>
            <a:chExt cx="6869297" cy="2717824"/>
          </a:xfrm>
        </p:grpSpPr>
        <p:sp>
          <p:nvSpPr>
            <p:cNvPr id="5" name="Google Shape;102;p7"/>
            <p:cNvSpPr txBox="1"/>
            <p:nvPr/>
          </p:nvSpPr>
          <p:spPr>
            <a:xfrm>
              <a:off x="1082808" y="2087859"/>
              <a:ext cx="3346317" cy="3403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/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13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-15</a:t>
              </a:r>
              <a:r>
                <a:rPr 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] </a:t>
              </a:r>
              <a:r>
                <a:rPr lang="ko-KR" alt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매크로 전개 실패 </a:t>
              </a:r>
              <a:r>
                <a:rPr lang="en-US" altLang="ko-KR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</a:t>
              </a:r>
              <a:endParaRPr dirty="0"/>
            </a:p>
          </p:txBody>
        </p:sp>
        <p:graphicFrame>
          <p:nvGraphicFramePr>
            <p:cNvPr id="6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764762141"/>
                </p:ext>
              </p:extLst>
            </p:nvPr>
          </p:nvGraphicFramePr>
          <p:xfrm>
            <a:off x="1172844" y="2428233"/>
            <a:ext cx="6779261" cy="2377450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39491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384351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394956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09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s-E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&lt;stdio.h&gt;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s-E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#define</a:t>
                        </a:r>
                        <a:r>
                          <a:rPr lang="es-E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s-ES" altLang="ko-KR" b="1" baseline="0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Y</a:t>
                        </a:r>
                        <a:r>
                          <a:rPr lang="es-E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(X + 1)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#define </a:t>
                        </a:r>
                        <a:r>
                          <a:rPr lang="es-ES" altLang="ko-KR" b="1" baseline="0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X</a:t>
                        </a:r>
                        <a:r>
                          <a:rPr lang="es-E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(Y + 1)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s-E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b="1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s-E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main( 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printf(</a:t>
                        </a:r>
                        <a:r>
                          <a:rPr lang="es-ES" altLang="ko-KR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"Y: %d"</a:t>
                        </a:r>
                        <a:r>
                          <a:rPr lang="es-E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</a:t>
                        </a:r>
                        <a:r>
                          <a:rPr lang="es-ES" altLang="ko-KR" b="1" baseline="0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Y</a:t>
                        </a:r>
                        <a:r>
                          <a:rPr lang="es-E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</a:t>
                        </a:r>
                        <a:endPara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grpSp>
          <p:nvGrpSpPr>
            <p:cNvPr id="9" name="그룹 8"/>
            <p:cNvGrpSpPr/>
            <p:nvPr/>
          </p:nvGrpSpPr>
          <p:grpSpPr>
            <a:xfrm>
              <a:off x="3914775" y="4286250"/>
              <a:ext cx="1304925" cy="257175"/>
              <a:chOff x="3914775" y="4286250"/>
              <a:chExt cx="1304925" cy="257175"/>
            </a:xfrm>
          </p:grpSpPr>
          <p:cxnSp>
            <p:nvCxnSpPr>
              <p:cNvPr id="7" name="직선 화살표 연결선 6"/>
              <p:cNvCxnSpPr/>
              <p:nvPr/>
            </p:nvCxnSpPr>
            <p:spPr>
              <a:xfrm flipH="1">
                <a:off x="3914775" y="4410075"/>
                <a:ext cx="438150" cy="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직사각형 7"/>
              <p:cNvSpPr/>
              <p:nvPr/>
            </p:nvSpPr>
            <p:spPr>
              <a:xfrm>
                <a:off x="4352925" y="4286250"/>
                <a:ext cx="866775" cy="257175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rgbClr val="FF0000"/>
                    </a:solidFill>
                  </a:rPr>
                  <a:t>오류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4321829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전처리 </a:t>
            </a:r>
            <a:r>
              <a:rPr lang="ko-KR" altLang="en-US" dirty="0" err="1">
                <a:solidFill>
                  <a:schemeClr val="tx1"/>
                </a:solidFill>
              </a:rPr>
              <a:t>지시문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0027" y="1053876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 startAt="3"/>
            </a:pPr>
            <a:r>
              <a:rPr lang="en-US" altLang="ko-KR" sz="2400" dirty="0"/>
              <a:t>#define</a:t>
            </a:r>
            <a:endParaRPr lang="ko-KR" altLang="en-US"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매크로 전개 실패</a:t>
            </a:r>
            <a:endParaRPr lang="en-US" altLang="ko-KR" b="1" dirty="0"/>
          </a:p>
          <a:p>
            <a:pPr marL="1085850" lvl="3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/>
              <a:t>토큰이 </a:t>
            </a:r>
            <a:r>
              <a:rPr lang="en-US" altLang="ko-KR" dirty="0"/>
              <a:t>0</a:t>
            </a:r>
            <a:r>
              <a:rPr lang="ko-KR" altLang="en-US" dirty="0"/>
              <a:t>개인 경우 대체 문자열이 없음</a:t>
            </a:r>
            <a:endParaRPr lang="en-US" altLang="ko-KR" dirty="0"/>
          </a:p>
          <a:p>
            <a:pPr marL="1085850" lvl="3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/>
              <a:t>이런 경우 매크로를 전개하면 오류 발생함</a:t>
            </a:r>
            <a:endParaRPr lang="en-US" altLang="ko-KR" dirty="0"/>
          </a:p>
          <a:p>
            <a:pPr marL="1085850" lvl="3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/>
              <a:t>토큰이 </a:t>
            </a:r>
            <a:r>
              <a:rPr lang="en-US" altLang="ko-KR" dirty="0"/>
              <a:t>0</a:t>
            </a:r>
            <a:r>
              <a:rPr lang="ko-KR" altLang="en-US" dirty="0"/>
              <a:t>개인 </a:t>
            </a:r>
            <a:r>
              <a:rPr lang="en-US" altLang="ko-KR" dirty="0"/>
              <a:t>replacement-list</a:t>
            </a:r>
            <a:r>
              <a:rPr lang="ko-KR" altLang="en-US" dirty="0"/>
              <a:t>는 허용됨</a:t>
            </a:r>
            <a:endParaRPr lang="en-US" altLang="ko-KR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6B7F0C0C-DB45-4B93-A4CE-237258DA1F4D}"/>
              </a:ext>
            </a:extLst>
          </p:cNvPr>
          <p:cNvGrpSpPr/>
          <p:nvPr/>
        </p:nvGrpSpPr>
        <p:grpSpPr>
          <a:xfrm>
            <a:off x="1082808" y="3422883"/>
            <a:ext cx="6869297" cy="2461792"/>
            <a:chOff x="1082808" y="2087859"/>
            <a:chExt cx="6869297" cy="2461792"/>
          </a:xfrm>
        </p:grpSpPr>
        <p:sp>
          <p:nvSpPr>
            <p:cNvPr id="5" name="Google Shape;102;p7"/>
            <p:cNvSpPr txBox="1"/>
            <p:nvPr/>
          </p:nvSpPr>
          <p:spPr>
            <a:xfrm>
              <a:off x="1082808" y="2087859"/>
              <a:ext cx="3346317" cy="3403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/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13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-16</a:t>
              </a:r>
              <a:r>
                <a:rPr 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] </a:t>
              </a:r>
              <a:r>
                <a:rPr lang="ko-KR" alt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매크로 전개 실패 </a:t>
              </a:r>
              <a:r>
                <a:rPr lang="en-US" altLang="ko-KR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</a:t>
              </a:r>
              <a:endParaRPr dirty="0"/>
            </a:p>
          </p:txBody>
        </p:sp>
        <p:graphicFrame>
          <p:nvGraphicFramePr>
            <p:cNvPr id="6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665252021"/>
                </p:ext>
              </p:extLst>
            </p:nvPr>
          </p:nvGraphicFramePr>
          <p:xfrm>
            <a:off x="1172844" y="2428233"/>
            <a:ext cx="6779261" cy="2121418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39491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384351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394956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08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s-E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&lt;stdio.h&gt;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s-E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#define</a:t>
                        </a:r>
                        <a:r>
                          <a:rPr lang="es-E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s-ES" altLang="ko-KR" b="1" baseline="0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MACRO_X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s-E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b="1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s-E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main( 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s-ES" altLang="ko-KR" b="1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s-E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a = </a:t>
                        </a:r>
                        <a:r>
                          <a:rPr lang="es-ES" altLang="ko-KR" b="1" baseline="0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MACRO_X</a:t>
                        </a:r>
                        <a:r>
                          <a:rPr lang="es-E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grpSp>
          <p:nvGrpSpPr>
            <p:cNvPr id="9" name="그룹 8"/>
            <p:cNvGrpSpPr/>
            <p:nvPr/>
          </p:nvGrpSpPr>
          <p:grpSpPr>
            <a:xfrm>
              <a:off x="3648075" y="4019550"/>
              <a:ext cx="1304925" cy="257175"/>
              <a:chOff x="3914775" y="4286250"/>
              <a:chExt cx="1304925" cy="257175"/>
            </a:xfrm>
          </p:grpSpPr>
          <p:cxnSp>
            <p:nvCxnSpPr>
              <p:cNvPr id="7" name="직선 화살표 연결선 6"/>
              <p:cNvCxnSpPr/>
              <p:nvPr/>
            </p:nvCxnSpPr>
            <p:spPr>
              <a:xfrm flipH="1">
                <a:off x="3914775" y="4410075"/>
                <a:ext cx="438150" cy="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직사각형 7"/>
              <p:cNvSpPr/>
              <p:nvPr/>
            </p:nvSpPr>
            <p:spPr>
              <a:xfrm>
                <a:off x="4352925" y="4286250"/>
                <a:ext cx="866775" cy="257175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rgbClr val="FF0000"/>
                    </a:solidFill>
                  </a:rPr>
                  <a:t>오류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6782489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전처리 </a:t>
            </a:r>
            <a:r>
              <a:rPr lang="ko-KR" altLang="en-US" dirty="0" err="1">
                <a:solidFill>
                  <a:schemeClr val="tx1"/>
                </a:solidFill>
              </a:rPr>
              <a:t>지시문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0027" y="1053876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 startAt="3"/>
            </a:pPr>
            <a:r>
              <a:rPr lang="en-US" altLang="ko-KR" sz="2400" dirty="0"/>
              <a:t>#define</a:t>
            </a:r>
            <a:endParaRPr lang="ko-KR" altLang="en-US"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매크로 함수의 사용법</a:t>
            </a:r>
            <a:endParaRPr lang="en-US" altLang="ko-KR" b="1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3594B1E-7726-4635-BFF0-D0D0759B9DF9}"/>
              </a:ext>
            </a:extLst>
          </p:cNvPr>
          <p:cNvGrpSpPr/>
          <p:nvPr/>
        </p:nvGrpSpPr>
        <p:grpSpPr>
          <a:xfrm>
            <a:off x="1082808" y="2151867"/>
            <a:ext cx="6973057" cy="3385886"/>
            <a:chOff x="1082808" y="2087859"/>
            <a:chExt cx="6973057" cy="3385886"/>
          </a:xfrm>
        </p:grpSpPr>
        <p:sp>
          <p:nvSpPr>
            <p:cNvPr id="5" name="Google Shape;102;p7"/>
            <p:cNvSpPr txBox="1"/>
            <p:nvPr/>
          </p:nvSpPr>
          <p:spPr>
            <a:xfrm>
              <a:off x="1082808" y="2087859"/>
              <a:ext cx="3346317" cy="3403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/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13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-17</a:t>
              </a:r>
              <a:r>
                <a:rPr 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] </a:t>
              </a:r>
              <a:r>
                <a:rPr lang="ko-KR" alt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매크로 함수 </a:t>
              </a:r>
              <a:r>
                <a:rPr lang="en-US" altLang="ko-KR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</a:t>
              </a:r>
              <a:endParaRPr dirty="0"/>
            </a:p>
          </p:txBody>
        </p:sp>
        <p:graphicFrame>
          <p:nvGraphicFramePr>
            <p:cNvPr id="6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3940081278"/>
                </p:ext>
              </p:extLst>
            </p:nvPr>
          </p:nvGraphicFramePr>
          <p:xfrm>
            <a:off x="1172844" y="2428233"/>
            <a:ext cx="6779261" cy="2451936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39491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384351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394956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10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s-ES" altLang="ko-KR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&lt;stdio.h&gt;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s-E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#define</a:t>
                        </a:r>
                        <a:r>
                          <a:rPr lang="es-E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s-ES" altLang="ko-KR" sz="1300" b="1" baseline="0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MULTIPLY</a:t>
                        </a:r>
                        <a:r>
                          <a:rPr lang="es-E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(x, y) x * y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s-E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sz="1300" b="1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s-E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main( 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s-ES" altLang="ko-KR" sz="1300" b="1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s-E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a = </a:t>
                        </a:r>
                        <a:r>
                          <a:rPr lang="es-ES" altLang="ko-KR" sz="1300" b="1" baseline="0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MULTIPLY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(2, 3);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s-ES" altLang="ko-KR" sz="1300" b="1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b = </a:t>
                        </a:r>
                        <a:r>
                          <a:rPr lang="es-ES" altLang="ko-KR" sz="1300" b="1" baseline="0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MULTIPLY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(2, 3) / </a:t>
                        </a:r>
                        <a:r>
                          <a:rPr lang="es-ES" altLang="ko-KR" sz="1300" b="1" baseline="0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MULTIPLY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(2, 3);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300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"a: %d, b: %d"</a:t>
                        </a: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a, b);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</a:t>
                        </a:r>
                        <a:endParaRPr lang="es-ES" altLang="ko-KR" sz="1300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pic>
          <p:nvPicPr>
            <p:cNvPr id="26626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2809" y="4937356"/>
              <a:ext cx="6973056" cy="5363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7711B87F-398F-4D7A-A707-AEFEC412285F}"/>
              </a:ext>
            </a:extLst>
          </p:cNvPr>
          <p:cNvGrpSpPr/>
          <p:nvPr/>
        </p:nvGrpSpPr>
        <p:grpSpPr>
          <a:xfrm>
            <a:off x="1627632" y="5065776"/>
            <a:ext cx="4622429" cy="338328"/>
            <a:chOff x="1627632" y="5065776"/>
            <a:chExt cx="4622429" cy="338328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846FBB03-101F-4C83-89E7-40C3CB708101}"/>
                </a:ext>
              </a:extLst>
            </p:cNvPr>
            <p:cNvSpPr/>
            <p:nvPr/>
          </p:nvSpPr>
          <p:spPr>
            <a:xfrm>
              <a:off x="1627632" y="5065776"/>
              <a:ext cx="466344" cy="33832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2811B54A-3E23-4CD9-BF9F-7F8381C02E4F}"/>
                </a:ext>
              </a:extLst>
            </p:cNvPr>
            <p:cNvCxnSpPr>
              <a:stCxn id="3" idx="3"/>
            </p:cNvCxnSpPr>
            <p:nvPr/>
          </p:nvCxnSpPr>
          <p:spPr>
            <a:xfrm>
              <a:off x="2093976" y="5234940"/>
              <a:ext cx="246888" cy="457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7F87946-D971-4709-9CFA-7367D4887EA4}"/>
                </a:ext>
              </a:extLst>
            </p:cNvPr>
            <p:cNvSpPr txBox="1"/>
            <p:nvPr/>
          </p:nvSpPr>
          <p:spPr>
            <a:xfrm>
              <a:off x="2317574" y="5096327"/>
              <a:ext cx="393248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rgbClr val="FF0000"/>
                  </a:solidFill>
                </a:rPr>
                <a:t>b</a:t>
              </a:r>
              <a:r>
                <a:rPr lang="ko-KR" altLang="en-US" dirty="0">
                  <a:solidFill>
                    <a:srgbClr val="FF0000"/>
                  </a:solidFill>
                </a:rPr>
                <a:t>가</a:t>
              </a:r>
              <a:r>
                <a:rPr lang="en-US" altLang="ko-KR" dirty="0">
                  <a:solidFill>
                    <a:srgbClr val="FF0000"/>
                  </a:solidFill>
                </a:rPr>
                <a:t> 1</a:t>
              </a:r>
              <a:r>
                <a:rPr lang="ko-KR" altLang="en-US" dirty="0">
                  <a:solidFill>
                    <a:srgbClr val="FF0000"/>
                  </a:solidFill>
                </a:rPr>
                <a:t>이 아닌 </a:t>
              </a:r>
              <a:r>
                <a:rPr lang="en-US" altLang="ko-KR" dirty="0">
                  <a:solidFill>
                    <a:srgbClr val="FF0000"/>
                  </a:solidFill>
                </a:rPr>
                <a:t>9</a:t>
              </a:r>
              <a:r>
                <a:rPr lang="ko-KR" altLang="en-US" dirty="0">
                  <a:solidFill>
                    <a:srgbClr val="FF0000"/>
                  </a:solidFill>
                </a:rPr>
                <a:t>로 출력되는 이유는 무엇일까요</a:t>
              </a:r>
              <a:r>
                <a:rPr lang="en-US" altLang="ko-KR" dirty="0">
                  <a:solidFill>
                    <a:srgbClr val="FF0000"/>
                  </a:solidFill>
                </a:rPr>
                <a:t>?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92912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전처리 </a:t>
            </a:r>
            <a:r>
              <a:rPr lang="ko-KR" altLang="en-US" dirty="0" err="1">
                <a:solidFill>
                  <a:schemeClr val="tx1"/>
                </a:solidFill>
              </a:rPr>
              <a:t>지시문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0027" y="1053876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 startAt="3"/>
            </a:pPr>
            <a:r>
              <a:rPr lang="en-US" altLang="ko-KR" sz="2400" dirty="0"/>
              <a:t>#define</a:t>
            </a:r>
            <a:endParaRPr lang="ko-KR" altLang="en-US"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매크로 함수의 사용법</a:t>
            </a:r>
            <a:endParaRPr lang="en-US" altLang="ko-KR" b="1" dirty="0"/>
          </a:p>
          <a:p>
            <a:pPr marL="1085850" lvl="3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dirty="0"/>
              <a:t>[</a:t>
            </a:r>
            <a:r>
              <a:rPr lang="ko-KR" altLang="en-US" dirty="0"/>
              <a:t>코드 </a:t>
            </a:r>
            <a:r>
              <a:rPr lang="en-US" altLang="ko-KR" dirty="0"/>
              <a:t>13-17]</a:t>
            </a:r>
            <a:r>
              <a:rPr lang="ko-KR" altLang="en-US" dirty="0"/>
              <a:t>의 매크로 전개</a:t>
            </a:r>
            <a:r>
              <a:rPr lang="en-US" altLang="ko-KR" dirty="0"/>
              <a:t>. </a:t>
            </a:r>
            <a:r>
              <a:rPr lang="ko-KR" altLang="en-US" dirty="0"/>
              <a:t>의도하지 않은 방향으로 전개됨</a:t>
            </a:r>
            <a:endParaRPr lang="en-US" altLang="ko-KR" dirty="0"/>
          </a:p>
          <a:p>
            <a:pPr marL="1085850" lvl="3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endParaRPr lang="en-US" altLang="ko-KR" dirty="0"/>
          </a:p>
          <a:p>
            <a:pPr marL="1085850" lvl="3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endParaRPr lang="en-US" altLang="ko-KR" sz="500" dirty="0"/>
          </a:p>
          <a:p>
            <a:pPr marL="1085850" lvl="3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dirty="0"/>
              <a:t>x *y</a:t>
            </a:r>
            <a:r>
              <a:rPr lang="ko-KR" altLang="en-US" dirty="0"/>
              <a:t>에 괄호를 씌워줘야 함</a:t>
            </a:r>
            <a:endParaRPr lang="en-US" altLang="ko-KR" dirty="0"/>
          </a:p>
          <a:p>
            <a:pPr marL="1085850" lvl="3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endParaRPr lang="en-US" altLang="ko-KR" dirty="0"/>
          </a:p>
          <a:p>
            <a:pPr marL="1085850" lvl="3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endParaRPr lang="en-US" altLang="ko-KR" sz="800" dirty="0"/>
          </a:p>
          <a:p>
            <a:pPr marL="1085850" lvl="3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/>
              <a:t>변경된 매크로의 전개</a:t>
            </a:r>
            <a:endParaRPr lang="en-US" altLang="ko-KR" dirty="0"/>
          </a:p>
          <a:p>
            <a:pPr marL="904875" lvl="3" indent="0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  <a:buNone/>
            </a:pPr>
            <a:endParaRPr lang="en-US" altLang="ko-KR" dirty="0"/>
          </a:p>
          <a:p>
            <a:pPr marL="1085850" lvl="3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endParaRPr lang="en-US" altLang="ko-KR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CF1E02C0-43FF-4B1F-9324-3DDF3C76A6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6427" y="2501583"/>
            <a:ext cx="6447803" cy="493783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FA2C6863-7377-47C2-A5AA-0DB4BB0C60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5693" y="3542303"/>
            <a:ext cx="6469271" cy="48662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D8090D40-AC3D-4112-9750-959C6A2571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6427" y="4610560"/>
            <a:ext cx="6476427" cy="50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95563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전처리 </a:t>
            </a:r>
            <a:r>
              <a:rPr lang="ko-KR" altLang="en-US" dirty="0" err="1">
                <a:solidFill>
                  <a:schemeClr val="tx1"/>
                </a:solidFill>
              </a:rPr>
              <a:t>지시문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0027" y="1053876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 startAt="3"/>
            </a:pPr>
            <a:r>
              <a:rPr lang="en-US" altLang="ko-KR" sz="2400" dirty="0"/>
              <a:t>#define</a:t>
            </a:r>
            <a:endParaRPr lang="ko-KR" altLang="en-US"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매크로 함수의 사용법</a:t>
            </a:r>
            <a:endParaRPr lang="en-US" altLang="ko-KR" b="1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F6ABE36C-E2F8-4EFA-8E66-B202674C21D5}"/>
              </a:ext>
            </a:extLst>
          </p:cNvPr>
          <p:cNvGrpSpPr/>
          <p:nvPr/>
        </p:nvGrpSpPr>
        <p:grpSpPr>
          <a:xfrm>
            <a:off x="1082808" y="2087859"/>
            <a:ext cx="7035996" cy="3303387"/>
            <a:chOff x="1082808" y="2087859"/>
            <a:chExt cx="7035996" cy="3303387"/>
          </a:xfrm>
        </p:grpSpPr>
        <p:sp>
          <p:nvSpPr>
            <p:cNvPr id="5" name="Google Shape;102;p7"/>
            <p:cNvSpPr txBox="1"/>
            <p:nvPr/>
          </p:nvSpPr>
          <p:spPr>
            <a:xfrm>
              <a:off x="1082808" y="2087859"/>
              <a:ext cx="3346317" cy="3403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/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13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-18</a:t>
              </a:r>
              <a:r>
                <a:rPr 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] </a:t>
              </a:r>
              <a:r>
                <a:rPr lang="ko-KR" alt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매크로 함수 </a:t>
              </a:r>
              <a:r>
                <a:rPr lang="en-US" altLang="ko-KR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</a:t>
              </a:r>
              <a:endParaRPr dirty="0"/>
            </a:p>
          </p:txBody>
        </p:sp>
        <p:graphicFrame>
          <p:nvGraphicFramePr>
            <p:cNvPr id="6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1831315445"/>
                </p:ext>
              </p:extLst>
            </p:nvPr>
          </p:nvGraphicFramePr>
          <p:xfrm>
            <a:off x="1172844" y="2428233"/>
            <a:ext cx="6779261" cy="2377450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39491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384351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394956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09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s-E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&lt;stdio.h&gt;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s-E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#define</a:t>
                        </a:r>
                        <a:r>
                          <a:rPr lang="es-E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s-ES" altLang="ko-KR" b="1" baseline="0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MULTIPLY</a:t>
                        </a:r>
                        <a:r>
                          <a:rPr lang="es-E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(x, y) (x * y)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s-E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b="1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s-E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main( 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int a = MULTIPLY(1 + 1, 1 + 1);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b="1" baseline="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("a: %d", a);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</a:t>
                        </a:r>
                        <a:endParaRPr lang="es-E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pic>
          <p:nvPicPr>
            <p:cNvPr id="27650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9958" y="4876704"/>
              <a:ext cx="6978846" cy="514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3AEBB5EA-46C5-4AE7-AE30-B83B16B3348D}"/>
              </a:ext>
            </a:extLst>
          </p:cNvPr>
          <p:cNvGrpSpPr/>
          <p:nvPr/>
        </p:nvGrpSpPr>
        <p:grpSpPr>
          <a:xfrm>
            <a:off x="1218564" y="4976893"/>
            <a:ext cx="4801965" cy="338328"/>
            <a:chOff x="1627632" y="5065776"/>
            <a:chExt cx="4801965" cy="338328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FC9AAA95-9F4C-4B12-B3D4-764A190220BD}"/>
                </a:ext>
              </a:extLst>
            </p:cNvPr>
            <p:cNvSpPr/>
            <p:nvPr/>
          </p:nvSpPr>
          <p:spPr>
            <a:xfrm>
              <a:off x="1627632" y="5065776"/>
              <a:ext cx="466344" cy="33832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EBFCA548-E486-4D48-A9DC-5AADDB782EEE}"/>
                </a:ext>
              </a:extLst>
            </p:cNvPr>
            <p:cNvCxnSpPr>
              <a:stCxn id="8" idx="3"/>
            </p:cNvCxnSpPr>
            <p:nvPr/>
          </p:nvCxnSpPr>
          <p:spPr>
            <a:xfrm>
              <a:off x="2093976" y="5234940"/>
              <a:ext cx="246888" cy="457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F0E4B6D-4487-4221-AF9F-7FB945CCFC73}"/>
                </a:ext>
              </a:extLst>
            </p:cNvPr>
            <p:cNvSpPr txBox="1"/>
            <p:nvPr/>
          </p:nvSpPr>
          <p:spPr>
            <a:xfrm>
              <a:off x="2317574" y="5096327"/>
              <a:ext cx="411202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rgbClr val="FF0000"/>
                  </a:solidFill>
                </a:rPr>
                <a:t>a</a:t>
              </a:r>
              <a:r>
                <a:rPr lang="ko-KR" altLang="en-US" dirty="0">
                  <a:solidFill>
                    <a:srgbClr val="FF0000"/>
                  </a:solidFill>
                </a:rPr>
                <a:t>가</a:t>
              </a:r>
              <a:r>
                <a:rPr lang="en-US" altLang="ko-KR" dirty="0">
                  <a:solidFill>
                    <a:srgbClr val="FF0000"/>
                  </a:solidFill>
                </a:rPr>
                <a:t> 4</a:t>
              </a:r>
              <a:r>
                <a:rPr lang="ko-KR" altLang="en-US" dirty="0">
                  <a:solidFill>
                    <a:srgbClr val="FF0000"/>
                  </a:solidFill>
                </a:rPr>
                <a:t>이 아닌 </a:t>
              </a:r>
              <a:r>
                <a:rPr lang="en-US" altLang="ko-KR" dirty="0">
                  <a:solidFill>
                    <a:srgbClr val="FF0000"/>
                  </a:solidFill>
                </a:rPr>
                <a:t>3</a:t>
              </a:r>
              <a:r>
                <a:rPr lang="ko-KR" altLang="en-US" dirty="0">
                  <a:solidFill>
                    <a:srgbClr val="FF0000"/>
                  </a:solidFill>
                </a:rPr>
                <a:t>으로 출력되는 이유는 무엇일까요</a:t>
              </a:r>
              <a:r>
                <a:rPr lang="en-US" altLang="ko-KR" dirty="0">
                  <a:solidFill>
                    <a:srgbClr val="FF0000"/>
                  </a:solidFill>
                </a:rPr>
                <a:t>?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0814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전처리 </a:t>
            </a:r>
            <a:r>
              <a:rPr lang="ko-KR" altLang="en-US" dirty="0" err="1">
                <a:solidFill>
                  <a:schemeClr val="tx1"/>
                </a:solidFill>
              </a:rPr>
              <a:t>지시문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0027" y="1053876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 startAt="3"/>
            </a:pPr>
            <a:r>
              <a:rPr lang="en-US" altLang="ko-KR" sz="2400" dirty="0"/>
              <a:t>#define</a:t>
            </a:r>
            <a:endParaRPr lang="ko-KR" altLang="en-US"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매크로 함수의 사용법</a:t>
            </a:r>
            <a:endParaRPr lang="en-US" altLang="ko-KR" b="1" dirty="0"/>
          </a:p>
          <a:p>
            <a:pPr marL="1085850" lvl="3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dirty="0"/>
              <a:t>[</a:t>
            </a:r>
            <a:r>
              <a:rPr lang="ko-KR" altLang="en-US" dirty="0"/>
              <a:t>코드 </a:t>
            </a:r>
            <a:r>
              <a:rPr lang="en-US" altLang="ko-KR" dirty="0"/>
              <a:t>13-18]</a:t>
            </a:r>
            <a:r>
              <a:rPr lang="ko-KR" altLang="en-US" dirty="0"/>
              <a:t>의 매크로 전개</a:t>
            </a:r>
            <a:r>
              <a:rPr lang="en-US" altLang="ko-KR" dirty="0"/>
              <a:t>. </a:t>
            </a:r>
            <a:r>
              <a:rPr lang="ko-KR" altLang="en-US" dirty="0"/>
              <a:t>의도하지 않은 방향으로 전개됨</a:t>
            </a:r>
            <a:endParaRPr lang="en-US" altLang="ko-KR" dirty="0"/>
          </a:p>
          <a:p>
            <a:pPr marL="1085850" lvl="3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endParaRPr lang="en-US" altLang="ko-KR" dirty="0"/>
          </a:p>
          <a:p>
            <a:pPr marL="1085850" lvl="3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endParaRPr lang="en-US" altLang="ko-KR" sz="400" dirty="0"/>
          </a:p>
          <a:p>
            <a:pPr marL="1085850" lvl="3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endParaRPr lang="en-US" altLang="ko-KR" sz="500" dirty="0"/>
          </a:p>
          <a:p>
            <a:pPr marL="1085850" lvl="3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/>
              <a:t>매크로 함수를 정의할 때는 매크로 함수 인자 각각에도 괄호 씌워야 함</a:t>
            </a:r>
            <a:endParaRPr lang="en-US" altLang="ko-KR" dirty="0"/>
          </a:p>
          <a:p>
            <a:pPr marL="1085850" lvl="3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endParaRPr lang="en-US" altLang="ko-KR" dirty="0"/>
          </a:p>
          <a:p>
            <a:pPr marL="904875" lvl="3" indent="0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  <a:buNone/>
            </a:pPr>
            <a:endParaRPr lang="en-US" altLang="ko-KR" dirty="0"/>
          </a:p>
          <a:p>
            <a:pPr marL="1085850" lvl="3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endParaRPr lang="en-US" altLang="ko-KR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2D25A66-46B5-496C-9523-8C2FB3358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9713" y="2542652"/>
            <a:ext cx="6545455" cy="51082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D5BC5C4-D1A4-47A0-A75F-0810DA01A7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7554" y="3811835"/>
            <a:ext cx="6537614" cy="109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67963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전처리 </a:t>
            </a:r>
            <a:r>
              <a:rPr lang="ko-KR" altLang="en-US" dirty="0" err="1">
                <a:solidFill>
                  <a:schemeClr val="tx1"/>
                </a:solidFill>
              </a:rPr>
              <a:t>지시문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0027" y="1053876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 startAt="3"/>
            </a:pPr>
            <a:r>
              <a:rPr lang="en-US" altLang="ko-KR" sz="2400" dirty="0"/>
              <a:t>#define</a:t>
            </a:r>
            <a:endParaRPr lang="ko-KR" altLang="en-US"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매크로 함수의 사용법</a:t>
            </a:r>
            <a:endParaRPr lang="en-US" altLang="ko-KR" b="1" dirty="0"/>
          </a:p>
          <a:p>
            <a:pPr marL="1085850" lvl="3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dirty="0"/>
              <a:t>if</a:t>
            </a:r>
            <a:r>
              <a:rPr lang="ko-KR" altLang="en-US" dirty="0"/>
              <a:t>문의 명령문으로 매크로를 사용할 경우 주의해야 함</a:t>
            </a:r>
            <a:endParaRPr lang="en-US" altLang="ko-KR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2CB79A0B-9104-429F-976C-7972A1AA9A70}"/>
              </a:ext>
            </a:extLst>
          </p:cNvPr>
          <p:cNvGrpSpPr/>
          <p:nvPr/>
        </p:nvGrpSpPr>
        <p:grpSpPr>
          <a:xfrm>
            <a:off x="1082808" y="2599923"/>
            <a:ext cx="7222993" cy="3383245"/>
            <a:chOff x="1082808" y="2087859"/>
            <a:chExt cx="7222993" cy="3383245"/>
          </a:xfrm>
        </p:grpSpPr>
        <p:sp>
          <p:nvSpPr>
            <p:cNvPr id="5" name="Google Shape;102;p7"/>
            <p:cNvSpPr txBox="1"/>
            <p:nvPr/>
          </p:nvSpPr>
          <p:spPr>
            <a:xfrm>
              <a:off x="1082808" y="2087859"/>
              <a:ext cx="3346317" cy="3403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/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13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-19</a:t>
              </a:r>
              <a:r>
                <a:rPr 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] if</a:t>
              </a:r>
              <a:r>
                <a:rPr lang="ko-KR" alt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와 매크로 함수</a:t>
              </a:r>
              <a:endParaRPr dirty="0"/>
            </a:p>
          </p:txBody>
        </p:sp>
        <p:graphicFrame>
          <p:nvGraphicFramePr>
            <p:cNvPr id="6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816638011"/>
                </p:ext>
              </p:extLst>
            </p:nvPr>
          </p:nvGraphicFramePr>
          <p:xfrm>
            <a:off x="1172844" y="2428233"/>
            <a:ext cx="7123431" cy="2377450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39491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728521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394956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09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s-E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&lt;stdio.h&gt;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s-E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#define </a:t>
                        </a:r>
                        <a:r>
                          <a:rPr lang="es-ES" altLang="ko-KR" b="1" baseline="0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LINE_PRINT</a:t>
                        </a:r>
                        <a:r>
                          <a:rPr lang="es-E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(x, y) printf(</a:t>
                        </a:r>
                        <a:r>
                          <a:rPr lang="es-ES" altLang="ko-KR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"%d\r\n"</a:t>
                        </a:r>
                        <a:r>
                          <a:rPr lang="es-E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(x)); printf(</a:t>
                        </a:r>
                        <a:r>
                          <a:rPr lang="es-ES" altLang="ko-KR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"%d"</a:t>
                        </a:r>
                        <a:r>
                          <a:rPr lang="es-E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(y));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s-E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b="1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s-E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main( 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s-ES" altLang="ko-KR" b="1" baseline="0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if</a:t>
                        </a:r>
                        <a:r>
                          <a:rPr lang="es-E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(0)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s-ES" altLang="ko-KR" b="1" baseline="0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LINE_PRINT</a:t>
                        </a:r>
                        <a:r>
                          <a:rPr lang="es-E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(1, 2);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pic>
          <p:nvPicPr>
            <p:cNvPr id="28674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2809" y="4892097"/>
              <a:ext cx="7222992" cy="5790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98734474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전처리 </a:t>
            </a:r>
            <a:r>
              <a:rPr lang="ko-KR" altLang="en-US" dirty="0" err="1">
                <a:solidFill>
                  <a:schemeClr val="tx1"/>
                </a:solidFill>
              </a:rPr>
              <a:t>지시문</a:t>
            </a:r>
            <a:endParaRPr lang="ko-KR" altLang="en-US" dirty="0"/>
          </a:p>
        </p:txBody>
      </p:sp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422" y="1913649"/>
            <a:ext cx="6435807" cy="1951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6362963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04. </a:t>
            </a:r>
            <a:r>
              <a:rPr lang="ko-KR" altLang="en-US" dirty="0">
                <a:solidFill>
                  <a:schemeClr val="tx1"/>
                </a:solidFill>
              </a:rPr>
              <a:t>전처리 </a:t>
            </a:r>
            <a:r>
              <a:rPr lang="ko-KR" altLang="en-US" dirty="0" err="1">
                <a:solidFill>
                  <a:schemeClr val="tx1"/>
                </a:solidFill>
              </a:rPr>
              <a:t>지시문</a:t>
            </a:r>
            <a:endParaRPr lang="ko-KR" altLang="en-US" dirty="0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7286" y="1504970"/>
            <a:ext cx="6413540" cy="4884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575739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4000"/>
            </a:pPr>
            <a:r>
              <a:rPr lang="ko-KR" altLang="en-US" sz="4000" dirty="0"/>
              <a:t>조건부 컴파일 </a:t>
            </a:r>
            <a:r>
              <a:rPr lang="ko-KR" altLang="en-US" sz="4000" dirty="0" err="1"/>
              <a:t>지시문</a:t>
            </a:r>
            <a:endParaRPr sz="4000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 dirty="0"/>
              <a:t>05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6755074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05. </a:t>
            </a:r>
            <a:r>
              <a:rPr lang="ko-KR" altLang="en-US" dirty="0">
                <a:solidFill>
                  <a:schemeClr val="tx1"/>
                </a:solidFill>
              </a:rPr>
              <a:t>조건부 컴파일 </a:t>
            </a:r>
            <a:r>
              <a:rPr lang="ko-KR" altLang="en-US" dirty="0" err="1">
                <a:solidFill>
                  <a:schemeClr val="tx1"/>
                </a:solidFill>
              </a:rPr>
              <a:t>지시문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/>
            </a:pPr>
            <a:r>
              <a:rPr lang="en-US" altLang="ko-KR" sz="2400" dirty="0"/>
              <a:t>#</a:t>
            </a:r>
            <a:r>
              <a:rPr lang="en-US" altLang="ko-KR" sz="2400" dirty="0" err="1"/>
              <a:t>ifdef</a:t>
            </a:r>
            <a:r>
              <a:rPr lang="en-US" altLang="ko-KR" sz="2400" dirty="0"/>
              <a:t>~#</a:t>
            </a:r>
            <a:r>
              <a:rPr lang="en-US" altLang="ko-KR" sz="2400" dirty="0" err="1"/>
              <a:t>endif</a:t>
            </a:r>
            <a:endParaRPr lang="ko-KR" altLang="en-US"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조건부 컴파일 지시문의 개념</a:t>
            </a:r>
            <a:endParaRPr lang="en-US" altLang="ko-KR" b="1" dirty="0"/>
          </a:p>
          <a:p>
            <a:pPr marL="1085850" lvl="3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dirty="0"/>
              <a:t>#defin</a:t>
            </a:r>
            <a:r>
              <a:rPr lang="ko-KR" altLang="en-US" dirty="0"/>
              <a:t>으로 정의된 매크로를 조건식으로 따져서 컴파일 여부를 결정함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/>
              <a:t>#ifdef~#endif</a:t>
            </a:r>
            <a:r>
              <a:rPr lang="ko-KR" altLang="en-US" b="1" dirty="0"/>
              <a:t> </a:t>
            </a:r>
            <a:endParaRPr lang="en-US" altLang="ko-KR" b="1" dirty="0"/>
          </a:p>
          <a:p>
            <a:pPr marL="1085850" lvl="3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/>
              <a:t>전처리기에서 사용되는 선택문으로 </a:t>
            </a:r>
            <a:r>
              <a:rPr lang="en-US" altLang="ko-KR" dirty="0"/>
              <a:t>if</a:t>
            </a:r>
            <a:r>
              <a:rPr lang="ko-KR" altLang="en-US" dirty="0"/>
              <a:t>문과 비슷함</a:t>
            </a:r>
            <a:endParaRPr lang="en-US" altLang="ko-KR" dirty="0"/>
          </a:p>
          <a:p>
            <a:pPr marL="1085850" lvl="3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endParaRPr lang="en-US" altLang="ko-KR" dirty="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6376" y="3429000"/>
            <a:ext cx="6371288" cy="1403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9635741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05. </a:t>
            </a:r>
            <a:r>
              <a:rPr lang="ko-KR" altLang="en-US" dirty="0">
                <a:solidFill>
                  <a:schemeClr val="tx1"/>
                </a:solidFill>
              </a:rPr>
              <a:t>조건부 컴파일 </a:t>
            </a:r>
            <a:r>
              <a:rPr lang="ko-KR" altLang="en-US" dirty="0" err="1">
                <a:solidFill>
                  <a:schemeClr val="tx1"/>
                </a:solidFill>
              </a:rPr>
              <a:t>지시문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/>
            </a:pPr>
            <a:r>
              <a:rPr lang="en-US" altLang="ko-KR" sz="2400" dirty="0"/>
              <a:t>#</a:t>
            </a:r>
            <a:r>
              <a:rPr lang="en-US" altLang="ko-KR" sz="2400" dirty="0" err="1"/>
              <a:t>ifdef</a:t>
            </a:r>
            <a:r>
              <a:rPr lang="en-US" altLang="ko-KR" sz="2400" dirty="0"/>
              <a:t>~#</a:t>
            </a:r>
            <a:r>
              <a:rPr lang="en-US" altLang="ko-KR" sz="2400" dirty="0" err="1"/>
              <a:t>endif</a:t>
            </a:r>
            <a:endParaRPr lang="ko-KR" altLang="en-US" sz="2400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663ED239-B100-482A-9083-CC2BF3026749}"/>
              </a:ext>
            </a:extLst>
          </p:cNvPr>
          <p:cNvGrpSpPr/>
          <p:nvPr/>
        </p:nvGrpSpPr>
        <p:grpSpPr>
          <a:xfrm>
            <a:off x="1035182" y="1691619"/>
            <a:ext cx="7213467" cy="3997984"/>
            <a:chOff x="1035182" y="1554459"/>
            <a:chExt cx="7213467" cy="3997984"/>
          </a:xfrm>
        </p:grpSpPr>
        <p:sp>
          <p:nvSpPr>
            <p:cNvPr id="5" name="Google Shape;102;p7"/>
            <p:cNvSpPr txBox="1"/>
            <p:nvPr/>
          </p:nvSpPr>
          <p:spPr>
            <a:xfrm>
              <a:off x="1035182" y="1554459"/>
              <a:ext cx="3346317" cy="3403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/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13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-20</a:t>
              </a:r>
              <a:r>
                <a:rPr 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] #</a:t>
              </a:r>
              <a:r>
                <a:rPr lang="en-US" sz="1600" b="1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ifdef</a:t>
              </a:r>
              <a:r>
                <a:rPr 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~#</a:t>
              </a:r>
              <a:r>
                <a:rPr lang="en-US" sz="1600" b="1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endif</a:t>
              </a:r>
              <a:endParaRPr dirty="0"/>
            </a:p>
          </p:txBody>
        </p:sp>
        <p:graphicFrame>
          <p:nvGraphicFramePr>
            <p:cNvPr id="6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1567249616"/>
                </p:ext>
              </p:extLst>
            </p:nvPr>
          </p:nvGraphicFramePr>
          <p:xfrm>
            <a:off x="1125218" y="1894833"/>
            <a:ext cx="7123431" cy="3657610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39491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728521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394956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4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14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s-ES" altLang="ko-KR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&lt;stdio.h&gt;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s-E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#define </a:t>
                        </a:r>
                        <a:r>
                          <a:rPr lang="es-ES" altLang="ko-KR" b="1" baseline="0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ONE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s-E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#ifdef </a:t>
                        </a:r>
                        <a:r>
                          <a:rPr lang="es-ES" altLang="ko-KR" b="1" baseline="0" dirty="0">
                            <a:solidFill>
                              <a:srgbClr val="7030A0"/>
                            </a:solidFill>
                            <a:latin typeface="Consolas" panose="020B0609020204030204" pitchFamily="49" charset="0"/>
                          </a:rPr>
                          <a:t>ONE</a:t>
                        </a:r>
                        <a:endParaRPr lang="es-E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s-ES" altLang="ko-KR" b="1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s-E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a = 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#else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s-ES" altLang="ko-KR" b="1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s-E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a = 2;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#endif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s-E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b="1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s-E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main( 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printf(</a:t>
                        </a:r>
                        <a:r>
                          <a:rPr lang="es-ES" altLang="ko-KR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"a: %d"</a:t>
                        </a:r>
                        <a:r>
                          <a:rPr lang="es-E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, a)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pic>
          <p:nvPicPr>
            <p:cNvPr id="2050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7252"/>
            <a:stretch/>
          </p:blipFill>
          <p:spPr bwMode="auto">
            <a:xfrm>
              <a:off x="6420999" y="2017890"/>
              <a:ext cx="1753738" cy="552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8269519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05. </a:t>
            </a:r>
            <a:r>
              <a:rPr lang="ko-KR" altLang="en-US" dirty="0">
                <a:solidFill>
                  <a:schemeClr val="tx1"/>
                </a:solidFill>
              </a:rPr>
              <a:t>조건부 컴파일 </a:t>
            </a:r>
            <a:r>
              <a:rPr lang="ko-KR" altLang="en-US" dirty="0" err="1">
                <a:solidFill>
                  <a:schemeClr val="tx1"/>
                </a:solidFill>
              </a:rPr>
              <a:t>지시문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 startAt="2"/>
            </a:pPr>
            <a:r>
              <a:rPr lang="en-US" altLang="ko-KR" sz="2400" dirty="0"/>
              <a:t>#if~#</a:t>
            </a:r>
            <a:r>
              <a:rPr lang="en-US" altLang="ko-KR" sz="2400" dirty="0" err="1"/>
              <a:t>elif</a:t>
            </a:r>
            <a:r>
              <a:rPr lang="en-US" altLang="ko-KR" sz="2400" dirty="0"/>
              <a:t>~#</a:t>
            </a:r>
            <a:r>
              <a:rPr lang="en-US" altLang="ko-KR" sz="2400" dirty="0" err="1"/>
              <a:t>endif</a:t>
            </a:r>
            <a:endParaRPr lang="en-US" altLang="ko-KR"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/>
              <a:t>매크로의 값을 직접 평가함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/>
              <a:t>조건식으로 사용되는 매크로는 대체 문자열이 있어야 함</a:t>
            </a:r>
            <a:endParaRPr lang="en-US" altLang="ko-KR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79BEEE9-2B9C-4964-80BC-73D5FD4649A0}"/>
              </a:ext>
            </a:extLst>
          </p:cNvPr>
          <p:cNvGrpSpPr/>
          <p:nvPr/>
        </p:nvGrpSpPr>
        <p:grpSpPr>
          <a:xfrm>
            <a:off x="1035182" y="2590779"/>
            <a:ext cx="7213467" cy="3743286"/>
            <a:chOff x="1035182" y="2590779"/>
            <a:chExt cx="7213467" cy="3743286"/>
          </a:xfrm>
        </p:grpSpPr>
        <p:sp>
          <p:nvSpPr>
            <p:cNvPr id="5" name="Google Shape;102;p7"/>
            <p:cNvSpPr txBox="1"/>
            <p:nvPr/>
          </p:nvSpPr>
          <p:spPr>
            <a:xfrm>
              <a:off x="1035182" y="2590779"/>
              <a:ext cx="3346317" cy="3403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/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13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-21</a:t>
              </a:r>
              <a:r>
                <a:rPr 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] #if~#</a:t>
              </a:r>
              <a:r>
                <a:rPr lang="en-US" sz="1600" b="1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elif</a:t>
              </a:r>
              <a:r>
                <a:rPr 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~#</a:t>
              </a:r>
              <a:r>
                <a:rPr lang="en-US" sz="1600" b="1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endif</a:t>
              </a:r>
              <a:endParaRPr dirty="0"/>
            </a:p>
          </p:txBody>
        </p:sp>
        <p:graphicFrame>
          <p:nvGraphicFramePr>
            <p:cNvPr id="6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3034037507"/>
                </p:ext>
              </p:extLst>
            </p:nvPr>
          </p:nvGraphicFramePr>
          <p:xfrm>
            <a:off x="1125218" y="2931153"/>
            <a:ext cx="7123431" cy="3402912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39491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728521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394956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14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s-ES" altLang="ko-KR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&lt;stdio.h&gt;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s-E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#define X 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s-ES" altLang="ko-KR" sz="13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sz="1300" b="1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s-E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main( 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#if (X == 1)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printf(</a:t>
                        </a:r>
                        <a:r>
                          <a:rPr lang="es-ES" altLang="ko-KR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"X is 1"</a:t>
                        </a:r>
                        <a:r>
                          <a:rPr lang="es-E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#elif (X == 2)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printf(</a:t>
                        </a:r>
                        <a:r>
                          <a:rPr lang="es-ES" altLang="ko-KR" sz="1300" b="1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"X is 2"</a:t>
                        </a:r>
                        <a:r>
                          <a:rPr lang="es-E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#else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printf(</a:t>
                        </a:r>
                        <a:r>
                          <a:rPr lang="es-ES" altLang="ko-KR" sz="1300" b="1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"X is nothing"</a:t>
                        </a:r>
                        <a:r>
                          <a:rPr lang="es-ES" altLang="ko-KR" sz="1300" b="1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#endif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altLang="ko-KR" sz="1300" b="1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 algn="ctr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48584" y="3007261"/>
              <a:ext cx="1574380" cy="5920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99861957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olidFill>
                  <a:srgbClr val="E36C09"/>
                </a:solidFill>
              </a:rPr>
              <a:t>05. </a:t>
            </a:r>
            <a:r>
              <a:rPr lang="ko-KR" altLang="en-US" dirty="0">
                <a:solidFill>
                  <a:schemeClr val="tx1"/>
                </a:solidFill>
              </a:rPr>
              <a:t>조건부 컴파일 </a:t>
            </a:r>
            <a:r>
              <a:rPr lang="ko-KR" altLang="en-US" dirty="0" err="1">
                <a:solidFill>
                  <a:schemeClr val="tx1"/>
                </a:solidFill>
              </a:rPr>
              <a:t>지시문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00625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40000"/>
              </a:lnSpc>
              <a:buSzPts val="2400"/>
              <a:buFont typeface="+mj-lt"/>
              <a:buAutoNum type="romanUcPeriod" startAt="3"/>
            </a:pPr>
            <a:r>
              <a:rPr lang="en-US" altLang="ko-KR" sz="2400" dirty="0"/>
              <a:t>#</a:t>
            </a:r>
            <a:r>
              <a:rPr lang="en-US" altLang="ko-KR" sz="2400" dirty="0" err="1"/>
              <a:t>ifndef</a:t>
            </a:r>
            <a:endParaRPr lang="ko-KR" altLang="en-US"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dirty="0"/>
              <a:t>MACRO</a:t>
            </a:r>
            <a:r>
              <a:rPr lang="ko-KR" altLang="en-US" dirty="0"/>
              <a:t>가 정의되지 않은 경우 참으로 평가되는 조건부 컴파일 </a:t>
            </a:r>
            <a:r>
              <a:rPr lang="ko-KR" altLang="en-US" dirty="0" err="1"/>
              <a:t>지시문</a:t>
            </a:r>
            <a:endParaRPr lang="en-US" altLang="ko-KR" dirty="0"/>
          </a:p>
          <a:p>
            <a:pPr marL="1085850" lvl="3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dirty="0"/>
              <a:t>매크로에서는 논리 부정 연산자를 사용할 수 없기 때문</a:t>
            </a:r>
            <a:endParaRPr lang="en-US" altLang="ko-KR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6118" y="2552248"/>
            <a:ext cx="6996588" cy="1508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9302402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05. </a:t>
            </a:r>
            <a:r>
              <a:rPr lang="ko-KR" altLang="en-US" dirty="0">
                <a:solidFill>
                  <a:schemeClr val="tx1"/>
                </a:solidFill>
              </a:rPr>
              <a:t>조건부 컴파일 </a:t>
            </a:r>
            <a:r>
              <a:rPr lang="ko-KR" altLang="en-US" dirty="0" err="1">
                <a:solidFill>
                  <a:schemeClr val="tx1"/>
                </a:solidFill>
              </a:rPr>
              <a:t>지시문</a:t>
            </a:r>
            <a:endParaRPr dirty="0">
              <a:solidFill>
                <a:schemeClr val="tx1"/>
              </a:solidFill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1363390" y="1407688"/>
            <a:ext cx="6401091" cy="4563133"/>
            <a:chOff x="1325290" y="1350538"/>
            <a:chExt cx="6401091" cy="4563133"/>
          </a:xfrm>
        </p:grpSpPr>
        <p:pic>
          <p:nvPicPr>
            <p:cNvPr id="5122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25290" y="1350538"/>
              <a:ext cx="6398170" cy="1661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123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0469" y="3150091"/>
              <a:ext cx="6365912" cy="2763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7510310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05. </a:t>
            </a:r>
            <a:r>
              <a:rPr lang="ko-KR" altLang="en-US" dirty="0">
                <a:solidFill>
                  <a:schemeClr val="tx1"/>
                </a:solidFill>
              </a:rPr>
              <a:t>조건부 컴파일 </a:t>
            </a:r>
            <a:r>
              <a:rPr lang="ko-KR" altLang="en-US" dirty="0" err="1">
                <a:solidFill>
                  <a:schemeClr val="tx1"/>
                </a:solidFill>
              </a:rPr>
              <a:t>지시문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619191" y="2143125"/>
            <a:ext cx="7924665" cy="2257425"/>
            <a:chOff x="615155" y="898523"/>
            <a:chExt cx="7924665" cy="2257425"/>
          </a:xfrm>
        </p:grpSpPr>
        <p:grpSp>
          <p:nvGrpSpPr>
            <p:cNvPr id="4" name="Google Shape;129;p9"/>
            <p:cNvGrpSpPr/>
            <p:nvPr/>
          </p:nvGrpSpPr>
          <p:grpSpPr>
            <a:xfrm>
              <a:off x="615155" y="898523"/>
              <a:ext cx="7924665" cy="2257425"/>
              <a:chOff x="683573" y="1646170"/>
              <a:chExt cx="7924665" cy="931523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5" name="Google Shape;130;p9"/>
              <p:cNvSpPr/>
              <p:nvPr/>
            </p:nvSpPr>
            <p:spPr>
              <a:xfrm>
                <a:off x="688238" y="1646170"/>
                <a:ext cx="7920000" cy="93152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rgbClr val="8AC9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" name="Google Shape;132;p9"/>
              <p:cNvSpPr/>
              <p:nvPr/>
            </p:nvSpPr>
            <p:spPr>
              <a:xfrm>
                <a:off x="683573" y="1647056"/>
                <a:ext cx="1511728" cy="152935"/>
              </a:xfrm>
              <a:prstGeom prst="rect">
                <a:avLst/>
              </a:prstGeom>
              <a:solidFill>
                <a:srgbClr val="8AC9DA"/>
              </a:solidFill>
              <a:ln>
                <a:solidFill>
                  <a:srgbClr val="8AC9DA"/>
                </a:solidFill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LAB 13-4</a:t>
                </a:r>
                <a:endParaRPr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2126883" y="916704"/>
              <a:ext cx="6366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+mj-ea"/>
                  <a:ea typeface="+mj-ea"/>
                </a:rPr>
                <a:t>한글</a:t>
              </a:r>
              <a:r>
                <a:rPr lang="en-US" altLang="ko-KR" sz="1600" b="1" dirty="0">
                  <a:latin typeface="+mj-ea"/>
                  <a:ea typeface="+mj-ea"/>
                </a:rPr>
                <a:t>/</a:t>
              </a:r>
              <a:r>
                <a:rPr lang="ko-KR" altLang="en-US" sz="1600" b="1" dirty="0">
                  <a:latin typeface="+mj-ea"/>
                  <a:ea typeface="+mj-ea"/>
                </a:rPr>
                <a:t>영어로 제목 출력하기</a:t>
              </a: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868460" y="1298067"/>
              <a:ext cx="7397419" cy="7025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매크로 </a:t>
              </a:r>
              <a:r>
                <a:rPr lang="en-US" altLang="ko-KR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ENG </a:t>
              </a:r>
              <a:r>
                <a:rPr lang="ko-KR" altLang="en-US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정의 여부에 따라서 우리말과 영어로 제목을 출력하는 프로그램을 작성해봅시다</a:t>
              </a:r>
              <a:r>
                <a:rPr lang="en-US" altLang="ko-KR" dirty="0">
                  <a:latin typeface="Consolas" panose="020B0609020204030204" pitchFamily="49" charset="0"/>
                  <a:ea typeface="맑은 고딕" panose="020B0503020000020004" pitchFamily="50" charset="-127"/>
                </a:rPr>
                <a:t>. </a:t>
              </a:r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145" y="3380624"/>
            <a:ext cx="6798459" cy="429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131" y="3947911"/>
            <a:ext cx="5179950" cy="229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928914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05. </a:t>
            </a:r>
            <a:r>
              <a:rPr lang="ko-KR" altLang="en-US" dirty="0">
                <a:solidFill>
                  <a:schemeClr val="tx1"/>
                </a:solidFill>
              </a:rPr>
              <a:t>조건부 컴파일 </a:t>
            </a:r>
            <a:r>
              <a:rPr lang="ko-KR" altLang="en-US" dirty="0" err="1">
                <a:solidFill>
                  <a:schemeClr val="tx1"/>
                </a:solidFill>
              </a:rPr>
              <a:t>지시문</a:t>
            </a:r>
            <a:endParaRPr lang="ko-KR" altLang="en-US" dirty="0"/>
          </a:p>
        </p:txBody>
      </p:sp>
      <p:grpSp>
        <p:nvGrpSpPr>
          <p:cNvPr id="4" name="Google Shape;129;p9"/>
          <p:cNvGrpSpPr/>
          <p:nvPr/>
        </p:nvGrpSpPr>
        <p:grpSpPr>
          <a:xfrm>
            <a:off x="624680" y="1610242"/>
            <a:ext cx="7924665" cy="3796775"/>
            <a:chOff x="683573" y="1844824"/>
            <a:chExt cx="7924665" cy="1120108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" name="Google Shape;130;p9"/>
            <p:cNvSpPr/>
            <p:nvPr/>
          </p:nvSpPr>
          <p:spPr>
            <a:xfrm>
              <a:off x="688238" y="1844824"/>
              <a:ext cx="7920000" cy="11201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rgbClr val="8AC9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" name="Google Shape;132;p9"/>
            <p:cNvSpPr/>
            <p:nvPr/>
          </p:nvSpPr>
          <p:spPr>
            <a:xfrm>
              <a:off x="683573" y="1844825"/>
              <a:ext cx="1511728" cy="104275"/>
            </a:xfrm>
            <a:prstGeom prst="rect">
              <a:avLst/>
            </a:prstGeom>
            <a:solidFill>
              <a:srgbClr val="8AC9DA"/>
            </a:solidFill>
            <a:ln>
              <a:solidFill>
                <a:srgbClr val="8AC9DA"/>
              </a:solidFill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 algn="ctr"/>
              <a:r>
                <a:rPr lang="en-US" altLang="ko-KR" sz="1600" b="1" dirty="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LAB 13-4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136408" y="1625144"/>
            <a:ext cx="37697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j-ea"/>
                <a:ea typeface="+mj-ea"/>
              </a:rPr>
              <a:t>정답</a:t>
            </a:r>
          </a:p>
        </p:txBody>
      </p:sp>
      <p:graphicFrame>
        <p:nvGraphicFramePr>
          <p:cNvPr id="13" name="Google Shape;104;p7"/>
          <p:cNvGraphicFramePr/>
          <p:nvPr>
            <p:extLst>
              <p:ext uri="{D42A27DB-BD31-4B8C-83A1-F6EECF244321}">
                <p14:modId xmlns:p14="http://schemas.microsoft.com/office/powerpoint/2010/main" val="4063217403"/>
              </p:ext>
            </p:extLst>
          </p:nvPr>
        </p:nvGraphicFramePr>
        <p:xfrm>
          <a:off x="880932" y="2077539"/>
          <a:ext cx="7416825" cy="3145546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942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01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02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03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04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05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06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</a:txBody>
                  <a:tcPr marL="91450" marR="91450"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b="1" baseline="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="1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="1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</a:t>
                      </a:r>
                      <a:r>
                        <a:rPr lang="en-US" altLang="ko-KR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ifdef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="1" baseline="0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ENG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const</a:t>
                      </a:r>
                      <a:r>
                        <a:rPr lang="en-US" altLang="ko-KR" b="1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char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 title = 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"C programming for the first time"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#else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const</a:t>
                      </a:r>
                      <a:r>
                        <a:rPr lang="en-US" altLang="ko-KR" b="1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char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* title = 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난생처음 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C </a:t>
                      </a:r>
                      <a:r>
                        <a:rPr lang="ko-KR" altLang="en-US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프로그래밍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</a:t>
                      </a:r>
                      <a:r>
                        <a:rPr lang="en-US" altLang="ko-KR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endif</a:t>
                      </a:r>
                      <a:endParaRPr lang="en-US" altLang="ko-KR" b="1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="1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"%s"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title);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192623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B4A4C8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모서리가 둥근 직사각형 3"/>
          <p:cNvSpPr/>
          <p:nvPr/>
        </p:nvSpPr>
        <p:spPr>
          <a:xfrm>
            <a:off x="328612" y="342900"/>
            <a:ext cx="8505825" cy="617377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 dirty="0">
                <a:solidFill>
                  <a:schemeClr val="accent4"/>
                </a:solidFill>
              </a:rPr>
              <a:t>[</a:t>
            </a:r>
            <a:r>
              <a:rPr lang="ko-KR" altLang="en-US" dirty="0">
                <a:solidFill>
                  <a:schemeClr val="accent4"/>
                </a:solidFill>
              </a:rPr>
              <a:t>실전예제</a:t>
            </a:r>
            <a:r>
              <a:rPr lang="en-US" altLang="ko-KR" dirty="0">
                <a:solidFill>
                  <a:schemeClr val="accent4"/>
                </a:solidFill>
              </a:rPr>
              <a:t>]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4000"/>
            </a:pPr>
            <a:r>
              <a:rPr lang="en-US" altLang="ko-KR" sz="4000" dirty="0">
                <a:solidFill>
                  <a:schemeClr val="accent4"/>
                </a:solidFill>
              </a:rPr>
              <a:t>C </a:t>
            </a:r>
            <a:r>
              <a:rPr lang="ko-KR" altLang="en-US" sz="4000" dirty="0">
                <a:solidFill>
                  <a:schemeClr val="accent4"/>
                </a:solidFill>
              </a:rPr>
              <a:t>드라이브의 파일을</a:t>
            </a:r>
            <a:endParaRPr lang="en-US" altLang="ko-KR" sz="4000" dirty="0">
              <a:solidFill>
                <a:schemeClr val="accent4"/>
              </a:solidFill>
            </a:endParaRPr>
          </a:p>
          <a:p>
            <a:pPr marL="0" lvl="0" indent="0">
              <a:spcBef>
                <a:spcPts val="0"/>
              </a:spcBef>
              <a:buSzPts val="4000"/>
            </a:pPr>
            <a:r>
              <a:rPr lang="en-US" altLang="ko-KR" sz="4000" dirty="0">
                <a:solidFill>
                  <a:schemeClr val="accent4"/>
                </a:solidFill>
              </a:rPr>
              <a:t>D </a:t>
            </a:r>
            <a:r>
              <a:rPr lang="ko-KR" altLang="en-US" sz="4000" dirty="0">
                <a:solidFill>
                  <a:schemeClr val="accent4"/>
                </a:solidFill>
              </a:rPr>
              <a:t>드라이브에 복사하기</a:t>
            </a:r>
            <a:endParaRPr sz="40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830127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>
            <a:spLocks noGrp="1"/>
          </p:cNvSpPr>
          <p:nvPr>
            <p:ph type="title"/>
          </p:nvPr>
        </p:nvSpPr>
        <p:spPr>
          <a:xfrm>
            <a:off x="539551" y="184745"/>
            <a:ext cx="8194873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sz="2400" dirty="0">
                <a:solidFill>
                  <a:schemeClr val="accent4"/>
                </a:solidFill>
              </a:rPr>
              <a:t>[</a:t>
            </a:r>
            <a:r>
              <a:rPr lang="ko-KR" altLang="en-US" sz="2400" dirty="0">
                <a:solidFill>
                  <a:schemeClr val="accent4"/>
                </a:solidFill>
              </a:rPr>
              <a:t>실전예제</a:t>
            </a:r>
            <a:r>
              <a:rPr lang="en-US" altLang="ko-KR" sz="2400" dirty="0">
                <a:solidFill>
                  <a:schemeClr val="accent4"/>
                </a:solidFill>
              </a:rPr>
              <a:t>]</a:t>
            </a:r>
            <a:r>
              <a:rPr lang="en-US" altLang="ko-KR" sz="2400" dirty="0">
                <a:solidFill>
                  <a:schemeClr val="tx1"/>
                </a:solidFill>
              </a:rPr>
              <a:t> C </a:t>
            </a:r>
            <a:r>
              <a:rPr lang="ko-KR" altLang="en-US" sz="2400" dirty="0">
                <a:solidFill>
                  <a:schemeClr val="tx1"/>
                </a:solidFill>
              </a:rPr>
              <a:t>드라이브의 파일을 </a:t>
            </a:r>
            <a:r>
              <a:rPr lang="en-US" altLang="ko-KR" sz="2400" dirty="0">
                <a:solidFill>
                  <a:schemeClr val="tx1"/>
                </a:solidFill>
              </a:rPr>
              <a:t>D </a:t>
            </a:r>
            <a:r>
              <a:rPr lang="ko-KR" altLang="en-US" sz="2400" dirty="0">
                <a:solidFill>
                  <a:schemeClr val="tx1"/>
                </a:solidFill>
              </a:rPr>
              <a:t>드라이브에 복사하기</a:t>
            </a:r>
            <a:endParaRPr sz="2400" dirty="0">
              <a:solidFill>
                <a:schemeClr val="tx1"/>
              </a:solidFill>
            </a:endParaRPr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323527" y="1557461"/>
            <a:ext cx="8639498" cy="1357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2613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indent="0" algn="just">
              <a:buFont typeface="Noto Sans Symbols"/>
              <a:buNone/>
            </a:pPr>
            <a:r>
              <a:rPr lang="en-US" altLang="ko-KR" sz="1600" dirty="0">
                <a:solidFill>
                  <a:srgbClr val="7030A0"/>
                </a:solidFill>
              </a:rPr>
              <a:t>[</a:t>
            </a:r>
            <a:r>
              <a:rPr lang="ko-KR" altLang="en-US" sz="1600" dirty="0">
                <a:solidFill>
                  <a:srgbClr val="7030A0"/>
                </a:solidFill>
              </a:rPr>
              <a:t>문제</a:t>
            </a:r>
            <a:r>
              <a:rPr lang="en-US" altLang="ko-KR" sz="1600" dirty="0">
                <a:solidFill>
                  <a:srgbClr val="7030A0"/>
                </a:solidFill>
              </a:rPr>
              <a:t>]</a:t>
            </a:r>
          </a:p>
          <a:p>
            <a:pPr marL="0" indent="0" algn="just">
              <a:buNone/>
            </a:pPr>
            <a:r>
              <a:rPr lang="ko-KR" altLang="en-US" sz="1600" dirty="0"/>
              <a:t>윈도우에 기본적으로 존재하는 </a:t>
            </a:r>
            <a:r>
              <a:rPr lang="en-US" altLang="ko-KR" sz="1600" dirty="0"/>
              <a:t>C:\Windows\win.ini </a:t>
            </a:r>
            <a:r>
              <a:rPr lang="ko-KR" altLang="en-US" sz="1600" dirty="0"/>
              <a:t>파일을 읽어서 </a:t>
            </a:r>
            <a:r>
              <a:rPr lang="en-US" altLang="ko-KR" sz="1600" dirty="0"/>
              <a:t>D:\win.ini </a:t>
            </a:r>
            <a:r>
              <a:rPr lang="ko-KR" altLang="en-US" sz="1600" dirty="0"/>
              <a:t>파일로 복사하는 프로그램을 작성해봅시다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146" y="3038745"/>
            <a:ext cx="4476120" cy="20759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>
            <a:spLocks noGrp="1"/>
          </p:cNvSpPr>
          <p:nvPr>
            <p:ph type="title"/>
          </p:nvPr>
        </p:nvSpPr>
        <p:spPr>
          <a:xfrm>
            <a:off x="539551" y="184745"/>
            <a:ext cx="8194873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sz="2400" dirty="0">
                <a:solidFill>
                  <a:schemeClr val="accent4"/>
                </a:solidFill>
              </a:rPr>
              <a:t>[</a:t>
            </a:r>
            <a:r>
              <a:rPr lang="ko-KR" altLang="en-US" sz="2400" dirty="0">
                <a:solidFill>
                  <a:schemeClr val="accent4"/>
                </a:solidFill>
              </a:rPr>
              <a:t>실전예제</a:t>
            </a:r>
            <a:r>
              <a:rPr lang="en-US" altLang="ko-KR" sz="2400" dirty="0">
                <a:solidFill>
                  <a:schemeClr val="accent4"/>
                </a:solidFill>
              </a:rPr>
              <a:t>]</a:t>
            </a:r>
            <a:r>
              <a:rPr lang="en-US" altLang="ko-KR" sz="2400" dirty="0">
                <a:solidFill>
                  <a:schemeClr val="tx1"/>
                </a:solidFill>
              </a:rPr>
              <a:t> C </a:t>
            </a:r>
            <a:r>
              <a:rPr lang="ko-KR" altLang="en-US" sz="2400" dirty="0">
                <a:solidFill>
                  <a:schemeClr val="tx1"/>
                </a:solidFill>
              </a:rPr>
              <a:t>드라이브의 파일을 </a:t>
            </a:r>
            <a:r>
              <a:rPr lang="en-US" altLang="ko-KR" sz="2400" dirty="0">
                <a:solidFill>
                  <a:schemeClr val="tx1"/>
                </a:solidFill>
              </a:rPr>
              <a:t>D </a:t>
            </a:r>
            <a:r>
              <a:rPr lang="ko-KR" altLang="en-US" sz="2400" dirty="0">
                <a:solidFill>
                  <a:schemeClr val="tx1"/>
                </a:solidFill>
              </a:rPr>
              <a:t>드라이브에 복사하기</a:t>
            </a:r>
            <a:endParaRPr sz="2400" dirty="0">
              <a:solidFill>
                <a:schemeClr val="tx1"/>
              </a:solidFill>
            </a:endParaRP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323528" y="1255225"/>
            <a:ext cx="8363272" cy="579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2613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indent="0">
              <a:buFont typeface="Noto Sans Symbols"/>
              <a:buNone/>
            </a:pPr>
            <a:r>
              <a:rPr lang="en-US" altLang="ko-KR" sz="1800" dirty="0">
                <a:solidFill>
                  <a:srgbClr val="7030A0"/>
                </a:solidFill>
              </a:rPr>
              <a:t>[</a:t>
            </a:r>
            <a:r>
              <a:rPr lang="ko-KR" altLang="en-US" sz="1800" dirty="0">
                <a:solidFill>
                  <a:srgbClr val="7030A0"/>
                </a:solidFill>
              </a:rPr>
              <a:t>해결</a:t>
            </a:r>
            <a:r>
              <a:rPr lang="en-US" altLang="ko-KR" sz="1800" dirty="0">
                <a:solidFill>
                  <a:srgbClr val="7030A0"/>
                </a:solidFill>
              </a:rPr>
              <a:t>]</a:t>
            </a:r>
            <a:endParaRPr lang="en-US" altLang="ko-KR" sz="1600" dirty="0">
              <a:solidFill>
                <a:srgbClr val="7030A0"/>
              </a:solidFill>
            </a:endParaRPr>
          </a:p>
          <a:p>
            <a:pPr marL="342900" indent="-342900" algn="just">
              <a:buClr>
                <a:srgbClr val="7030A0"/>
              </a:buClr>
              <a:buSzPct val="100000"/>
              <a:buAutoNum type="arabicPeriod"/>
            </a:pPr>
            <a:r>
              <a:rPr lang="ko-KR" altLang="en-US" sz="1800" dirty="0"/>
              <a:t>파일 모드 “</a:t>
            </a:r>
            <a:r>
              <a:rPr lang="en-US" altLang="ko-KR" sz="1800" dirty="0" err="1"/>
              <a:t>rb</a:t>
            </a:r>
            <a:r>
              <a:rPr lang="en-US" altLang="ko-KR" sz="1800" dirty="0"/>
              <a:t>”</a:t>
            </a:r>
            <a:r>
              <a:rPr lang="ko-KR" altLang="en-US" sz="1800" dirty="0"/>
              <a:t>로 파일을 연다</a:t>
            </a:r>
            <a:r>
              <a:rPr lang="en-US" altLang="ko-KR" sz="1800" dirty="0"/>
              <a:t>. </a:t>
            </a:r>
            <a:r>
              <a:rPr lang="ko-KR" altLang="en-US" sz="1800" dirty="0"/>
              <a:t>읽기 전용이기 때문에 관리자 권한이 없어도 윈도우에서 해당 파일을 읽을 수 있다</a:t>
            </a:r>
            <a:r>
              <a:rPr lang="en-US" altLang="ko-KR" sz="1800" dirty="0"/>
              <a:t>.</a:t>
            </a:r>
          </a:p>
          <a:p>
            <a:pPr marL="342900" indent="-342900" algn="just">
              <a:buClr>
                <a:srgbClr val="7030A0"/>
              </a:buClr>
              <a:buSzPct val="100000"/>
              <a:buAutoNum type="arabicPeriod"/>
            </a:pPr>
            <a:endParaRPr lang="en-US" altLang="ko-KR" sz="1600" dirty="0"/>
          </a:p>
          <a:p>
            <a:pPr marL="342900" indent="-342900" algn="just">
              <a:buClr>
                <a:srgbClr val="7030A0"/>
              </a:buClr>
              <a:buSzPct val="100000"/>
              <a:buAutoNum type="arabicPeriod"/>
            </a:pPr>
            <a:r>
              <a:rPr lang="ko-KR" altLang="en-US" sz="1800" dirty="0"/>
              <a:t>복사되어서 새로 생성되는 파일을 열기 위하여 파일 모드를 “</a:t>
            </a:r>
            <a:r>
              <a:rPr lang="en-US" altLang="ko-KR" sz="1800" dirty="0" err="1"/>
              <a:t>wb</a:t>
            </a:r>
            <a:r>
              <a:rPr lang="en-US" altLang="ko-KR" sz="1800" dirty="0"/>
              <a:t>”</a:t>
            </a:r>
            <a:r>
              <a:rPr lang="ko-KR" altLang="en-US" sz="1800" dirty="0"/>
              <a:t>로 지정한다</a:t>
            </a:r>
            <a:r>
              <a:rPr lang="en-US" altLang="ko-KR" sz="1800" dirty="0"/>
              <a:t>. </a:t>
            </a:r>
            <a:r>
              <a:rPr lang="ko-KR" altLang="en-US" sz="1800" dirty="0"/>
              <a:t>이렇게 할 경우 기존 파일이 남아 있어도 파일 내용을 깨끗이 지운다</a:t>
            </a:r>
            <a:r>
              <a:rPr lang="en-US" altLang="ko-KR" sz="1800" dirty="0"/>
              <a:t>.</a:t>
            </a:r>
          </a:p>
          <a:p>
            <a:pPr marL="342900" indent="-342900" algn="just">
              <a:buClr>
                <a:srgbClr val="7030A0"/>
              </a:buClr>
              <a:buSzPct val="100000"/>
              <a:buAutoNum type="arabicPeriod"/>
            </a:pPr>
            <a:endParaRPr lang="en-US" altLang="ko-KR" sz="1800" dirty="0"/>
          </a:p>
          <a:p>
            <a:pPr marL="342900" indent="-342900" algn="just">
              <a:buClr>
                <a:srgbClr val="7030A0"/>
              </a:buClr>
              <a:buSzPct val="100000"/>
              <a:buAutoNum type="arabicPeriod"/>
            </a:pPr>
            <a:r>
              <a:rPr lang="ko-KR" altLang="en-US" sz="1800" dirty="0"/>
              <a:t>파일 복사는 다음 과정을 따른다</a:t>
            </a:r>
            <a:r>
              <a:rPr lang="en-US" altLang="ko-KR" sz="1800" dirty="0"/>
              <a:t>. </a:t>
            </a:r>
            <a:r>
              <a:rPr lang="ko-KR" altLang="en-US" sz="1800" dirty="0"/>
              <a:t>원본 파일에서 특정 크기만큼 읽으면서 출력 파일에 쓰는 것을 반복한다</a:t>
            </a:r>
            <a:r>
              <a:rPr lang="en-US" altLang="ko-KR" sz="1800" dirty="0"/>
              <a:t>. </a:t>
            </a:r>
            <a:r>
              <a:rPr lang="ko-KR" altLang="en-US" sz="1800" dirty="0"/>
              <a:t>원본 파일을 읽기 위해 사용할 버퍼의 크기가 </a:t>
            </a:r>
            <a:r>
              <a:rPr lang="en-US" altLang="ko-KR" sz="1800" dirty="0"/>
              <a:t>32</a:t>
            </a:r>
            <a:r>
              <a:rPr lang="ko-KR" altLang="en-US" sz="1800" dirty="0"/>
              <a:t>이기 때문에 </a:t>
            </a:r>
            <a:r>
              <a:rPr lang="en-US" altLang="ko-KR" sz="1800" dirty="0" err="1"/>
              <a:t>fread</a:t>
            </a:r>
            <a:r>
              <a:rPr lang="ko-KR" altLang="en-US" sz="1800" dirty="0"/>
              <a:t>로 버퍼의 크기만큼 읽기를 요청한다</a:t>
            </a:r>
            <a:r>
              <a:rPr lang="en-US" altLang="ko-KR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2474313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>
            <a:spLocks noGrp="1"/>
          </p:cNvSpPr>
          <p:nvPr>
            <p:ph type="title"/>
          </p:nvPr>
        </p:nvSpPr>
        <p:spPr>
          <a:xfrm>
            <a:off x="539551" y="184745"/>
            <a:ext cx="8194873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sz="2400" dirty="0">
                <a:solidFill>
                  <a:schemeClr val="accent4"/>
                </a:solidFill>
              </a:rPr>
              <a:t>[</a:t>
            </a:r>
            <a:r>
              <a:rPr lang="ko-KR" altLang="en-US" sz="2400" dirty="0">
                <a:solidFill>
                  <a:schemeClr val="accent4"/>
                </a:solidFill>
              </a:rPr>
              <a:t>실전예제</a:t>
            </a:r>
            <a:r>
              <a:rPr lang="en-US" altLang="ko-KR" sz="2400" dirty="0">
                <a:solidFill>
                  <a:schemeClr val="accent4"/>
                </a:solidFill>
              </a:rPr>
              <a:t>]</a:t>
            </a:r>
            <a:r>
              <a:rPr lang="en-US" altLang="ko-KR" sz="2400" dirty="0">
                <a:solidFill>
                  <a:schemeClr val="tx1"/>
                </a:solidFill>
              </a:rPr>
              <a:t> C </a:t>
            </a:r>
            <a:r>
              <a:rPr lang="ko-KR" altLang="en-US" sz="2400" dirty="0">
                <a:solidFill>
                  <a:schemeClr val="tx1"/>
                </a:solidFill>
              </a:rPr>
              <a:t>드라이브의 파일을 </a:t>
            </a:r>
            <a:r>
              <a:rPr lang="en-US" altLang="ko-KR" sz="2400" dirty="0">
                <a:solidFill>
                  <a:schemeClr val="tx1"/>
                </a:solidFill>
              </a:rPr>
              <a:t>D </a:t>
            </a:r>
            <a:r>
              <a:rPr lang="ko-KR" altLang="en-US" sz="2400" dirty="0">
                <a:solidFill>
                  <a:schemeClr val="tx1"/>
                </a:solidFill>
              </a:rPr>
              <a:t>드라이브에 복사하기</a:t>
            </a:r>
            <a:endParaRPr sz="2400" dirty="0">
              <a:solidFill>
                <a:schemeClr val="tx1"/>
              </a:solidFill>
            </a:endParaRP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323528" y="1255225"/>
            <a:ext cx="8363272" cy="579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2613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indent="0">
              <a:buFont typeface="Noto Sans Symbols"/>
              <a:buNone/>
            </a:pPr>
            <a:r>
              <a:rPr lang="en-US" altLang="ko-KR" sz="1800" dirty="0">
                <a:solidFill>
                  <a:srgbClr val="7030A0"/>
                </a:solidFill>
              </a:rPr>
              <a:t>[</a:t>
            </a:r>
            <a:r>
              <a:rPr lang="ko-KR" altLang="en-US" sz="1800" dirty="0">
                <a:solidFill>
                  <a:srgbClr val="7030A0"/>
                </a:solidFill>
              </a:rPr>
              <a:t>해결</a:t>
            </a:r>
            <a:r>
              <a:rPr lang="en-US" altLang="ko-KR" sz="1800" dirty="0">
                <a:solidFill>
                  <a:srgbClr val="7030A0"/>
                </a:solidFill>
              </a:rPr>
              <a:t>]</a:t>
            </a:r>
          </a:p>
          <a:p>
            <a:pPr marL="342900" indent="-342900" algn="just">
              <a:buClr>
                <a:srgbClr val="7030A0"/>
              </a:buClr>
              <a:buSzPct val="100000"/>
              <a:buFont typeface="+mj-lt"/>
              <a:buAutoNum type="arabicPeriod" startAt="4"/>
            </a:pPr>
            <a:r>
              <a:rPr lang="en-US" altLang="ko-KR" sz="1800" dirty="0" err="1"/>
              <a:t>fread</a:t>
            </a:r>
            <a:r>
              <a:rPr lang="ko-KR" altLang="en-US" sz="1800" dirty="0"/>
              <a:t>의 반환 값 </a:t>
            </a:r>
            <a:r>
              <a:rPr lang="en-US" altLang="ko-KR" sz="1800" dirty="0"/>
              <a:t>r</a:t>
            </a:r>
            <a:r>
              <a:rPr lang="ko-KR" altLang="en-US" sz="1800" dirty="0"/>
              <a:t>은 보통 </a:t>
            </a:r>
            <a:r>
              <a:rPr lang="en-US" altLang="ko-KR" sz="1800" dirty="0"/>
              <a:t>32</a:t>
            </a:r>
            <a:r>
              <a:rPr lang="ko-KR" altLang="en-US" sz="1800" dirty="0"/>
              <a:t>가 되겠지만 파일의 끝 근처에서는 </a:t>
            </a:r>
            <a:r>
              <a:rPr lang="en-US" altLang="ko-KR" sz="1800" dirty="0"/>
              <a:t>32</a:t>
            </a:r>
            <a:r>
              <a:rPr lang="ko-KR" altLang="en-US" sz="1800" dirty="0"/>
              <a:t>보다 작은 값이 될 수 있으므로 </a:t>
            </a:r>
            <a:r>
              <a:rPr lang="en-US" altLang="ko-KR" sz="1800" dirty="0" err="1"/>
              <a:t>fwrite</a:t>
            </a:r>
            <a:r>
              <a:rPr lang="ko-KR" altLang="en-US" sz="1800" dirty="0"/>
              <a:t>를 호출할 때는 실제로 읽은 데이터의 크기 </a:t>
            </a:r>
            <a:r>
              <a:rPr lang="en-US" altLang="ko-KR" sz="1800" dirty="0"/>
              <a:t>r </a:t>
            </a:r>
            <a:r>
              <a:rPr lang="ko-KR" altLang="en-US" sz="1800" dirty="0"/>
              <a:t>바이트를 쓰기 위하여 매개변수 </a:t>
            </a:r>
            <a:r>
              <a:rPr lang="en-US" altLang="ko-KR" sz="1800" dirty="0"/>
              <a:t>size</a:t>
            </a:r>
            <a:r>
              <a:rPr lang="ko-KR" altLang="en-US" sz="1800" dirty="0"/>
              <a:t>와 </a:t>
            </a:r>
            <a:r>
              <a:rPr lang="en-US" altLang="ko-KR" sz="1800" dirty="0"/>
              <a:t>count</a:t>
            </a:r>
            <a:r>
              <a:rPr lang="ko-KR" altLang="en-US" sz="1800" dirty="0"/>
              <a:t>에 </a:t>
            </a:r>
            <a:r>
              <a:rPr lang="en-US" altLang="ko-KR" sz="1800" dirty="0"/>
              <a:t>1</a:t>
            </a:r>
            <a:r>
              <a:rPr lang="ko-KR" altLang="en-US" sz="1800" dirty="0"/>
              <a:t>과 </a:t>
            </a:r>
            <a:r>
              <a:rPr lang="en-US" altLang="ko-KR" sz="1800" dirty="0"/>
              <a:t>r</a:t>
            </a:r>
            <a:r>
              <a:rPr lang="ko-KR" altLang="en-US" sz="1800" dirty="0"/>
              <a:t>을 전달한다</a:t>
            </a:r>
            <a:r>
              <a:rPr lang="en-US" altLang="ko-KR" sz="1800" dirty="0"/>
              <a:t>.</a:t>
            </a:r>
          </a:p>
          <a:p>
            <a:pPr marL="342900" indent="-342900" algn="just">
              <a:buClr>
                <a:srgbClr val="7030A0"/>
              </a:buClr>
              <a:buSzPct val="100000"/>
              <a:buAutoNum type="arabicPeriod" startAt="4"/>
            </a:pPr>
            <a:endParaRPr lang="en-US" altLang="ko-KR" sz="1800" dirty="0"/>
          </a:p>
          <a:p>
            <a:pPr marL="342900" indent="-342900" algn="just">
              <a:buClr>
                <a:srgbClr val="7030A0"/>
              </a:buClr>
              <a:buSzPct val="100000"/>
              <a:buAutoNum type="arabicPeriod" startAt="4"/>
            </a:pPr>
            <a:r>
              <a:rPr lang="ko-KR" altLang="en-US" sz="1800" dirty="0"/>
              <a:t>원본 파일의 끝에 도달하여 더 이상 읽을 데이터가 없을 경우 </a:t>
            </a:r>
            <a:r>
              <a:rPr lang="en-US" altLang="ko-KR" sz="1800" dirty="0" err="1"/>
              <a:t>fread</a:t>
            </a:r>
            <a:r>
              <a:rPr lang="ko-KR" altLang="en-US" sz="1800" dirty="0"/>
              <a:t>는 </a:t>
            </a:r>
            <a:r>
              <a:rPr lang="en-US" altLang="ko-KR" sz="1800" dirty="0"/>
              <a:t>0</a:t>
            </a:r>
            <a:r>
              <a:rPr lang="ko-KR" altLang="en-US" sz="1800" dirty="0"/>
              <a:t>을 반환한다</a:t>
            </a:r>
            <a:r>
              <a:rPr lang="en-US" altLang="ko-KR" sz="1800" dirty="0"/>
              <a:t>. </a:t>
            </a:r>
            <a:r>
              <a:rPr lang="ko-KR" altLang="en-US" sz="1800" dirty="0"/>
              <a:t>이때 </a:t>
            </a:r>
            <a:r>
              <a:rPr lang="ko-KR" altLang="en-US" sz="1800" dirty="0" err="1"/>
              <a:t>반복문을</a:t>
            </a:r>
            <a:r>
              <a:rPr lang="ko-KR" altLang="en-US" sz="1800" dirty="0"/>
              <a:t> 탈출하여 차례대로 파일들을 닫고 프로그램을 종료한다</a:t>
            </a:r>
            <a:r>
              <a:rPr lang="en-US" altLang="ko-KR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7486791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>
            <a:spLocks noGrp="1"/>
          </p:cNvSpPr>
          <p:nvPr>
            <p:ph type="title"/>
          </p:nvPr>
        </p:nvSpPr>
        <p:spPr>
          <a:xfrm>
            <a:off x="539551" y="184745"/>
            <a:ext cx="8194873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sz="2400" dirty="0">
                <a:solidFill>
                  <a:schemeClr val="accent4"/>
                </a:solidFill>
              </a:rPr>
              <a:t>[</a:t>
            </a:r>
            <a:r>
              <a:rPr lang="ko-KR" altLang="en-US" sz="2400" dirty="0">
                <a:solidFill>
                  <a:schemeClr val="accent4"/>
                </a:solidFill>
              </a:rPr>
              <a:t>실전예제</a:t>
            </a:r>
            <a:r>
              <a:rPr lang="en-US" altLang="ko-KR" sz="2400" dirty="0">
                <a:solidFill>
                  <a:schemeClr val="accent4"/>
                </a:solidFill>
              </a:rPr>
              <a:t>]</a:t>
            </a:r>
            <a:r>
              <a:rPr lang="en-US" altLang="ko-KR" sz="2400" dirty="0">
                <a:solidFill>
                  <a:schemeClr val="tx1"/>
                </a:solidFill>
              </a:rPr>
              <a:t> C </a:t>
            </a:r>
            <a:r>
              <a:rPr lang="ko-KR" altLang="en-US" sz="2400" dirty="0">
                <a:solidFill>
                  <a:schemeClr val="tx1"/>
                </a:solidFill>
              </a:rPr>
              <a:t>드라이브의 파일을 </a:t>
            </a:r>
            <a:r>
              <a:rPr lang="en-US" altLang="ko-KR" sz="2400" dirty="0">
                <a:solidFill>
                  <a:schemeClr val="tx1"/>
                </a:solidFill>
              </a:rPr>
              <a:t>D </a:t>
            </a:r>
            <a:r>
              <a:rPr lang="ko-KR" altLang="en-US" sz="2400" dirty="0">
                <a:solidFill>
                  <a:schemeClr val="tx1"/>
                </a:solidFill>
              </a:rPr>
              <a:t>드라이브에 복사하기</a:t>
            </a:r>
            <a:endParaRPr sz="2400" dirty="0"/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333214" y="947861"/>
            <a:ext cx="8363272" cy="497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2613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indent="0">
              <a:buFont typeface="Noto Sans Symbols"/>
              <a:buNone/>
            </a:pPr>
            <a:r>
              <a:rPr lang="en-US" altLang="ko-KR" sz="1800" dirty="0">
                <a:solidFill>
                  <a:srgbClr val="7030A0"/>
                </a:solidFill>
              </a:rPr>
              <a:t>[</a:t>
            </a:r>
            <a:r>
              <a:rPr lang="ko-KR" altLang="en-US" sz="1800" dirty="0">
                <a:solidFill>
                  <a:srgbClr val="7030A0"/>
                </a:solidFill>
              </a:rPr>
              <a:t>해결</a:t>
            </a:r>
            <a:r>
              <a:rPr lang="en-US" altLang="ko-KR" sz="1800" dirty="0">
                <a:solidFill>
                  <a:srgbClr val="7030A0"/>
                </a:solidFill>
              </a:rPr>
              <a:t>]</a:t>
            </a:r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2646273763"/>
              </p:ext>
            </p:extLst>
          </p:nvPr>
        </p:nvGraphicFramePr>
        <p:xfrm>
          <a:off x="882798" y="1495425"/>
          <a:ext cx="7416825" cy="493777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01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02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03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04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05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06 </a:t>
                      </a:r>
                      <a:endParaRPr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16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17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18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19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#define </a:t>
                      </a:r>
                      <a:r>
                        <a:rPr lang="nn-NO" altLang="ko-KR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_CRT_SECURE_NO_WARNINGS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nn-NO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&lt;stdio.h&gt;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nn-NO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&lt;errno.h&gt;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nn-NO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&lt;string.h&gt;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nn-NO" altLang="ko-KR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altLang="ko-KR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nn-NO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FILE* fsrc = fopen(</a:t>
                      </a:r>
                      <a:r>
                        <a:rPr lang="nn-NO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"C:</a:t>
                      </a:r>
                      <a:r>
                        <a:rPr lang="nn-NO" altLang="ko-KR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\\</a:t>
                      </a:r>
                      <a:r>
                        <a:rPr lang="nn-NO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Windows</a:t>
                      </a:r>
                      <a:r>
                        <a:rPr lang="nn-NO" altLang="ko-KR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\\</a:t>
                      </a:r>
                      <a:r>
                        <a:rPr lang="nn-NO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win.ini"</a:t>
                      </a:r>
                      <a:r>
                        <a:rPr lang="nn-NO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nn-NO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"rb"</a:t>
                      </a:r>
                      <a:r>
                        <a:rPr lang="nn-NO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nn-NO" altLang="ko-KR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if(fsrc)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nn-NO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nn-NO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FILE* fdest = fopen(</a:t>
                      </a:r>
                      <a:r>
                        <a:rPr lang="nn-NO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"D:</a:t>
                      </a:r>
                      <a:r>
                        <a:rPr lang="nn-NO" altLang="ko-KR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\\</a:t>
                      </a:r>
                      <a:r>
                        <a:rPr lang="nn-NO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win.ini"</a:t>
                      </a:r>
                      <a:r>
                        <a:rPr lang="nn-NO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nn-NO" altLang="ko-KR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"wb"</a:t>
                      </a:r>
                      <a:r>
                        <a:rPr lang="nn-NO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nn-NO" altLang="ko-KR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b="1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fdest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   </a:t>
                      </a:r>
                      <a:r>
                        <a:rPr lang="en-US" altLang="ko-KR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char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buf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[32];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   while(1)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      </a:t>
                      </a:r>
                      <a:r>
                        <a:rPr lang="en-US" altLang="ko-KR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r = </a:t>
                      </a:r>
                      <a:r>
                        <a:rPr lang="en-US" altLang="ko-KR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fread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buf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1, </a:t>
                      </a:r>
                      <a:r>
                        <a:rPr lang="en-US" altLang="ko-KR" b="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sizeof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buf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), </a:t>
                      </a:r>
                      <a:r>
                        <a:rPr lang="en-US" altLang="ko-KR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fsrc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  <a:endParaRPr lang="nn-NO" altLang="ko-KR" b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844884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>
            <a:spLocks noGrp="1"/>
          </p:cNvSpPr>
          <p:nvPr>
            <p:ph type="title"/>
          </p:nvPr>
        </p:nvSpPr>
        <p:spPr>
          <a:xfrm>
            <a:off x="539551" y="184745"/>
            <a:ext cx="8194873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sz="2400" dirty="0">
                <a:solidFill>
                  <a:schemeClr val="accent4"/>
                </a:solidFill>
              </a:rPr>
              <a:t>[</a:t>
            </a:r>
            <a:r>
              <a:rPr lang="ko-KR" altLang="en-US" sz="2400" dirty="0">
                <a:solidFill>
                  <a:schemeClr val="accent4"/>
                </a:solidFill>
              </a:rPr>
              <a:t>실전예제</a:t>
            </a:r>
            <a:r>
              <a:rPr lang="en-US" altLang="ko-KR" sz="2400" dirty="0">
                <a:solidFill>
                  <a:schemeClr val="accent4"/>
                </a:solidFill>
              </a:rPr>
              <a:t>]</a:t>
            </a:r>
            <a:r>
              <a:rPr lang="en-US" altLang="ko-KR" sz="2400" dirty="0">
                <a:solidFill>
                  <a:schemeClr val="tx1"/>
                </a:solidFill>
              </a:rPr>
              <a:t> C </a:t>
            </a:r>
            <a:r>
              <a:rPr lang="ko-KR" altLang="en-US" sz="2400" dirty="0">
                <a:solidFill>
                  <a:schemeClr val="tx1"/>
                </a:solidFill>
              </a:rPr>
              <a:t>드라이브의 파일을 </a:t>
            </a:r>
            <a:r>
              <a:rPr lang="en-US" altLang="ko-KR" sz="2400" dirty="0">
                <a:solidFill>
                  <a:schemeClr val="tx1"/>
                </a:solidFill>
              </a:rPr>
              <a:t>D </a:t>
            </a:r>
            <a:r>
              <a:rPr lang="ko-KR" altLang="en-US" sz="2400" dirty="0">
                <a:solidFill>
                  <a:schemeClr val="tx1"/>
                </a:solidFill>
              </a:rPr>
              <a:t>드라이브에 복사하기</a:t>
            </a:r>
            <a:endParaRPr sz="2400" dirty="0"/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333214" y="947861"/>
            <a:ext cx="8363272" cy="497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2613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indent="0">
              <a:buFont typeface="Noto Sans Symbols"/>
              <a:buNone/>
            </a:pPr>
            <a:r>
              <a:rPr lang="en-US" altLang="ko-KR" sz="1800" dirty="0">
                <a:solidFill>
                  <a:srgbClr val="7030A0"/>
                </a:solidFill>
              </a:rPr>
              <a:t>[</a:t>
            </a:r>
            <a:r>
              <a:rPr lang="ko-KR" altLang="en-US" sz="1800" dirty="0">
                <a:solidFill>
                  <a:srgbClr val="7030A0"/>
                </a:solidFill>
              </a:rPr>
              <a:t>해결</a:t>
            </a:r>
            <a:r>
              <a:rPr lang="en-US" altLang="ko-KR" sz="1800" dirty="0">
                <a:solidFill>
                  <a:srgbClr val="7030A0"/>
                </a:solidFill>
              </a:rPr>
              <a:t>]</a:t>
            </a:r>
          </a:p>
        </p:txBody>
      </p:sp>
      <p:graphicFrame>
        <p:nvGraphicFramePr>
          <p:cNvPr id="5" name="Google Shape;104;p7"/>
          <p:cNvGraphicFramePr/>
          <p:nvPr>
            <p:extLst>
              <p:ext uri="{D42A27DB-BD31-4B8C-83A1-F6EECF244321}">
                <p14:modId xmlns:p14="http://schemas.microsoft.com/office/powerpoint/2010/main" val="3781393702"/>
              </p:ext>
            </p:extLst>
          </p:nvPr>
        </p:nvGraphicFramePr>
        <p:xfrm>
          <a:off x="882798" y="1495425"/>
          <a:ext cx="7416825" cy="493777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43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20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21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22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23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24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25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26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27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28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29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30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31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32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33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34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35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36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37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sym typeface="Consolas"/>
                        </a:rPr>
                        <a:t>38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      </a:t>
                      </a:r>
                      <a:r>
                        <a:rPr lang="en-US" altLang="ko-KR" b="1" baseline="0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(r)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   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         </a:t>
                      </a:r>
                      <a:r>
                        <a:rPr lang="en-US" altLang="ko-KR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fwrite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buf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1, r, </a:t>
                      </a:r>
                      <a:r>
                        <a:rPr lang="en-US" altLang="ko-KR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fdest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   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      </a:t>
                      </a:r>
                      <a:r>
                        <a:rPr lang="en-US" altLang="ko-KR" b="1" baseline="0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else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   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      </a:t>
                      </a:r>
                      <a:r>
                        <a:rPr lang="en-US" altLang="ko-KR" b="1" baseline="0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break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   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   </a:t>
                      </a:r>
                      <a:r>
                        <a:rPr lang="en-US" altLang="ko-KR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fclose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fdest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b="1" baseline="0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else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   </a:t>
                      </a:r>
                      <a:r>
                        <a:rPr lang="en-US" altLang="ko-KR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"Write Error: %d, %s"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errno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strerror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errno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="1" baseline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fclose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fsrc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="1" baseline="0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else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="1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"Read Error: %d, %s"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errno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strerror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="1" baseline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errno</a:t>
                      </a: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="1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242846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4420</TotalTime>
  <Words>4301</Words>
  <Application>Microsoft Office PowerPoint</Application>
  <PresentationFormat>화면 슬라이드 쇼(4:3)</PresentationFormat>
  <Paragraphs>1174</Paragraphs>
  <Slides>73</Slides>
  <Notes>59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73</vt:i4>
      </vt:variant>
    </vt:vector>
  </HeadingPairs>
  <TitlesOfParts>
    <vt:vector size="80" baseType="lpstr">
      <vt:lpstr>Noto Sans Symbols</vt:lpstr>
      <vt:lpstr>Malgun Gothic</vt:lpstr>
      <vt:lpstr>Malgun Gothic</vt:lpstr>
      <vt:lpstr>Arial</vt:lpstr>
      <vt:lpstr>Consolas</vt:lpstr>
      <vt:lpstr>Verdana</vt:lpstr>
      <vt:lpstr>Office 테마</vt:lpstr>
      <vt:lpstr>Chapter 13. 파일 처리와 전처리기</vt:lpstr>
      <vt:lpstr>PowerPoint 프레젠테이션</vt:lpstr>
      <vt:lpstr>PowerPoint 프레젠테이션</vt:lpstr>
      <vt:lpstr>PowerPoint 프레젠테이션</vt:lpstr>
      <vt:lpstr>01. 파일과 파일 시스템</vt:lpstr>
      <vt:lpstr>01. 파일과 파일 시스템</vt:lpstr>
      <vt:lpstr>01. 파일과 파일 시스템</vt:lpstr>
      <vt:lpstr>01. 파일과 파일 시스템</vt:lpstr>
      <vt:lpstr>01. 파일과 파일 시스템</vt:lpstr>
      <vt:lpstr>PowerPoint 프레젠테이션</vt:lpstr>
      <vt:lpstr>02. 기본 파일 처리</vt:lpstr>
      <vt:lpstr>02. 기본 파일 처리</vt:lpstr>
      <vt:lpstr>02. 기본 파일 처리</vt:lpstr>
      <vt:lpstr>02. 기본 파일 처리</vt:lpstr>
      <vt:lpstr>02. 기본 파일 처리</vt:lpstr>
      <vt:lpstr>02. 기본 파일 처리</vt:lpstr>
      <vt:lpstr>02. 기본 파일 처리</vt:lpstr>
      <vt:lpstr>02. 기본 파일 처리</vt:lpstr>
      <vt:lpstr>02. 기본 파일 처리</vt:lpstr>
      <vt:lpstr>02. 기본 파일 처리</vt:lpstr>
      <vt:lpstr>02. 기본 파일 처리</vt:lpstr>
      <vt:lpstr>02. 기본 파일 처리</vt:lpstr>
      <vt:lpstr>PowerPoint 프레젠테이션</vt:lpstr>
      <vt:lpstr>03. 파일 입출력</vt:lpstr>
      <vt:lpstr>03. 파일 입출력</vt:lpstr>
      <vt:lpstr>03. 파일 입출력</vt:lpstr>
      <vt:lpstr>03. 파일 입출력</vt:lpstr>
      <vt:lpstr>03. 파일 입출력</vt:lpstr>
      <vt:lpstr>03. 파일 입출력</vt:lpstr>
      <vt:lpstr>03. 파일 입출력</vt:lpstr>
      <vt:lpstr>03. 파일 입출력</vt:lpstr>
      <vt:lpstr>03. 파일 입출력</vt:lpstr>
      <vt:lpstr>03. 파일 입출력</vt:lpstr>
      <vt:lpstr>03. 파일 입출력</vt:lpstr>
      <vt:lpstr>03. 파일 입출력</vt:lpstr>
      <vt:lpstr>03. 파일 입출력</vt:lpstr>
      <vt:lpstr>03. 파일 입출력</vt:lpstr>
      <vt:lpstr>03. 파일 입출력</vt:lpstr>
      <vt:lpstr>03. 파일 입출력</vt:lpstr>
      <vt:lpstr>03. 파일 입출력</vt:lpstr>
      <vt:lpstr>03. 파일 입출력</vt:lpstr>
      <vt:lpstr>03. 파일 입출력</vt:lpstr>
      <vt:lpstr>PowerPoint 프레젠테이션</vt:lpstr>
      <vt:lpstr>04. 전처리 지시문</vt:lpstr>
      <vt:lpstr>04. 전처리 지시문</vt:lpstr>
      <vt:lpstr>04. 전처리 지시문</vt:lpstr>
      <vt:lpstr>04. 전처리 지시문</vt:lpstr>
      <vt:lpstr>04. 전처리 지시문</vt:lpstr>
      <vt:lpstr>04. 전처리 지시문</vt:lpstr>
      <vt:lpstr>04. 전처리 지시문</vt:lpstr>
      <vt:lpstr>04. 전처리 지시문</vt:lpstr>
      <vt:lpstr>04. 전처리 지시문</vt:lpstr>
      <vt:lpstr>04. 전처리 지시문</vt:lpstr>
      <vt:lpstr>04. 전처리 지시문</vt:lpstr>
      <vt:lpstr>04. 전처리 지시문</vt:lpstr>
      <vt:lpstr>04. 전처리 지시문</vt:lpstr>
      <vt:lpstr>04. 전처리 지시문</vt:lpstr>
      <vt:lpstr>04. 전처리 지시문</vt:lpstr>
      <vt:lpstr>PowerPoint 프레젠테이션</vt:lpstr>
      <vt:lpstr>05. 조건부 컴파일 지시문</vt:lpstr>
      <vt:lpstr>05. 조건부 컴파일 지시문</vt:lpstr>
      <vt:lpstr>05. 조건부 컴파일 지시문</vt:lpstr>
      <vt:lpstr>05. 조건부 컴파일 지시문</vt:lpstr>
      <vt:lpstr>05. 조건부 컴파일 지시문</vt:lpstr>
      <vt:lpstr>05. 조건부 컴파일 지시문</vt:lpstr>
      <vt:lpstr>05. 조건부 컴파일 지시문</vt:lpstr>
      <vt:lpstr>PowerPoint 프레젠테이션</vt:lpstr>
      <vt:lpstr>[실전예제] C 드라이브의 파일을 D 드라이브에 복사하기</vt:lpstr>
      <vt:lpstr>[실전예제] C 드라이브의 파일을 D 드라이브에 복사하기</vt:lpstr>
      <vt:lpstr>[실전예제] C 드라이브의 파일을 D 드라이브에 복사하기</vt:lpstr>
      <vt:lpstr>[실전예제] C 드라이브의 파일을 D 드라이브에 복사하기</vt:lpstr>
      <vt:lpstr>[실전예제] C 드라이브의 파일을 D 드라이브에 복사하기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01. 프로그래밍과 C 언어</dc:title>
  <dc:creator>서지영</dc:creator>
  <cp:lastModifiedBy>마케팅팀</cp:lastModifiedBy>
  <cp:revision>351</cp:revision>
  <dcterms:created xsi:type="dcterms:W3CDTF">2012-07-11T10:23:22Z</dcterms:created>
  <dcterms:modified xsi:type="dcterms:W3CDTF">2022-02-22T08:28:26Z</dcterms:modified>
</cp:coreProperties>
</file>