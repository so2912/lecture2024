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7" r:id="rId3"/>
    <p:sldId id="258" r:id="rId4"/>
    <p:sldId id="259" r:id="rId5"/>
    <p:sldId id="260" r:id="rId6"/>
    <p:sldId id="458" r:id="rId7"/>
    <p:sldId id="459" r:id="rId8"/>
    <p:sldId id="460" r:id="rId9"/>
    <p:sldId id="461" r:id="rId10"/>
    <p:sldId id="462" r:id="rId11"/>
    <p:sldId id="463" r:id="rId12"/>
    <p:sldId id="464" r:id="rId13"/>
    <p:sldId id="467" r:id="rId14"/>
    <p:sldId id="468" r:id="rId15"/>
    <p:sldId id="469" r:id="rId16"/>
    <p:sldId id="261" r:id="rId17"/>
    <p:sldId id="273" r:id="rId18"/>
    <p:sldId id="470" r:id="rId19"/>
    <p:sldId id="471" r:id="rId20"/>
    <p:sldId id="472" r:id="rId21"/>
    <p:sldId id="426" r:id="rId22"/>
    <p:sldId id="473" r:id="rId23"/>
    <p:sldId id="474" r:id="rId24"/>
    <p:sldId id="475" r:id="rId25"/>
    <p:sldId id="476" r:id="rId26"/>
    <p:sldId id="433" r:id="rId27"/>
    <p:sldId id="434" r:id="rId28"/>
    <p:sldId id="477" r:id="rId29"/>
    <p:sldId id="287" r:id="rId30"/>
    <p:sldId id="288" r:id="rId31"/>
    <p:sldId id="478" r:id="rId32"/>
    <p:sldId id="479" r:id="rId33"/>
    <p:sldId id="395" r:id="rId34"/>
    <p:sldId id="480" r:id="rId35"/>
    <p:sldId id="438" r:id="rId36"/>
    <p:sldId id="439" r:id="rId37"/>
    <p:sldId id="440" r:id="rId38"/>
    <p:sldId id="301" r:id="rId39"/>
    <p:sldId id="302" r:id="rId40"/>
    <p:sldId id="481" r:id="rId41"/>
    <p:sldId id="408" r:id="rId42"/>
    <p:sldId id="482" r:id="rId43"/>
    <p:sldId id="415" r:id="rId44"/>
    <p:sldId id="483" r:id="rId45"/>
    <p:sldId id="484" r:id="rId46"/>
    <p:sldId id="485" r:id="rId47"/>
    <p:sldId id="486" r:id="rId48"/>
    <p:sldId id="487" r:id="rId49"/>
    <p:sldId id="442" r:id="rId50"/>
    <p:sldId id="443" r:id="rId51"/>
    <p:sldId id="316" r:id="rId52"/>
    <p:sldId id="264" r:id="rId53"/>
    <p:sldId id="317" r:id="rId54"/>
    <p:sldId id="318" r:id="rId55"/>
    <p:sldId id="488" r:id="rId56"/>
    <p:sldId id="267" r:id="rId5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2CB"/>
    <a:srgbClr val="F7F47C"/>
    <a:srgbClr val="FBFBD1"/>
    <a:srgbClr val="9D87B7"/>
    <a:srgbClr val="B4A4C8"/>
    <a:srgbClr val="8AC9DA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1980" y="114"/>
      </p:cViewPr>
      <p:guideLst>
        <p:guide orient="horz" pos="2160"/>
        <p:guide pos="2880"/>
        <p:guide orient="horz" pos="219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56</a:t>
            </a:r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07. </a:t>
            </a:r>
            <a:r>
              <a:rPr lang="ko-KR" altLang="en-US" sz="3600" b="1" dirty="0">
                <a:solidFill>
                  <a:schemeClr val="lt1"/>
                </a:solidFill>
              </a:rPr>
              <a:t>배열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02. 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162972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배열이란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배열의 초기화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다차원 배열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배열의 크기와 길이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문자 배열 합치기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배열의 개념과 인덱스의 개념을 배우고 적용할 수 있다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배열을 초기화하는 형식을 배우고 문자열도 초기화할 수 있다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다차원 배열의 개념을 이해하고 </a:t>
            </a:r>
            <a:r>
              <a:rPr lang="en-US" altLang="ko-KR" dirty="0"/>
              <a:t>2</a:t>
            </a:r>
            <a:r>
              <a:rPr lang="ko-KR" altLang="en-US" dirty="0"/>
              <a:t>차원 배열을 정의해본다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배열의 크기와 길이의 용어를 정리하고 배열의 길이를 구할 수 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01477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배열의 개념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배열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sz="5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dirty="0"/>
              <a:t>‘</a:t>
            </a:r>
            <a:r>
              <a:rPr lang="ko-KR" altLang="en-US" dirty="0"/>
              <a:t>일렬로 연속되게</a:t>
            </a:r>
            <a:r>
              <a:rPr lang="en-US" altLang="ko-KR" dirty="0"/>
              <a:t>’</a:t>
            </a:r>
            <a:r>
              <a:rPr lang="ko-KR" altLang="en-US" dirty="0"/>
              <a:t>란 메모리 영역 관점에서 나온 개념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변수들이 각각 순서를 가지고 있으며</a:t>
            </a:r>
            <a:r>
              <a:rPr lang="en-US" altLang="ko-KR" dirty="0"/>
              <a:t>, </a:t>
            </a:r>
            <a:r>
              <a:rPr lang="ko-KR" altLang="en-US" dirty="0"/>
              <a:t>각 변수가 차지한 메모리 영역이</a:t>
            </a:r>
            <a:br>
              <a:rPr lang="en-US" altLang="ko-KR" dirty="0"/>
            </a:br>
            <a:r>
              <a:rPr lang="ko-KR" altLang="en-US" dirty="0"/>
              <a:t>빈틈없이 이어져 있음을 의미함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8" y="2034597"/>
            <a:ext cx="7696248" cy="57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00000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배열의 개념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배열에 관한 용어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요소 </a:t>
            </a:r>
            <a:r>
              <a:rPr lang="en-US" altLang="ko-KR" dirty="0"/>
              <a:t>: </a:t>
            </a:r>
            <a:r>
              <a:rPr lang="ko-KR" altLang="en-US" dirty="0"/>
              <a:t>배열을 구성하는 낱개의 객체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  <a:r>
              <a:rPr lang="ko-KR" altLang="en-US" dirty="0"/>
              <a:t>를 의미함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요소의 개수</a:t>
            </a:r>
            <a:r>
              <a:rPr lang="en-US" altLang="ko-KR" dirty="0"/>
              <a:t>(</a:t>
            </a:r>
            <a:r>
              <a:rPr lang="ko-KR" altLang="en-US" dirty="0"/>
              <a:t>배열의 길이</a:t>
            </a:r>
            <a:r>
              <a:rPr lang="en-US" altLang="ko-KR" dirty="0"/>
              <a:t>) : </a:t>
            </a:r>
            <a:r>
              <a:rPr lang="ko-KR" altLang="en-US" dirty="0"/>
              <a:t>배열이 몇 개의 요소로 구성되는지를 나타냄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요소의 타입 </a:t>
            </a:r>
            <a:r>
              <a:rPr lang="en-US" altLang="ko-KR" dirty="0"/>
              <a:t>: </a:t>
            </a:r>
            <a:r>
              <a:rPr lang="ko-KR" altLang="en-US" dirty="0"/>
              <a:t>각 요소의 타입을 의미함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요소의 순서 </a:t>
            </a:r>
            <a:r>
              <a:rPr lang="en-US" altLang="ko-KR" dirty="0"/>
              <a:t>: </a:t>
            </a:r>
            <a:r>
              <a:rPr lang="ko-KR" altLang="en-US" dirty="0"/>
              <a:t>각 요소가 배열에서 몇 번째 요소인지를 나타냄</a:t>
            </a:r>
            <a:endParaRPr lang="en-US" altLang="ko-KR" dirty="0"/>
          </a:p>
        </p:txBody>
      </p:sp>
      <p:pic>
        <p:nvPicPr>
          <p:cNvPr id="2050" name="Picture 2" descr="C:\Users\변소현\Desktop\난생처음 C 언어 프로그래밍\그림\Ch7\그림 7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514" y="3834641"/>
            <a:ext cx="4996021" cy="242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60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00000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배열의 타입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배열</a:t>
            </a:r>
            <a:endParaRPr lang="en-US" sz="5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배열은 자신의 종류를 나타내는 배열 타입이 있음</a:t>
            </a:r>
            <a:endParaRPr lang="en-US" altLang="ko-KR" dirty="0"/>
          </a:p>
          <a:p>
            <a:pPr marL="1266825" lvl="4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이는 집합 타입 중의 하나로 다루어짐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 타입은 요소의 개수와 요소의 타입으로 결정됨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82401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00000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배열의 정의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/>
              <a:t>'</a:t>
            </a:r>
            <a:r>
              <a:rPr lang="ko-KR" altLang="en-US" b="1" dirty="0"/>
              <a:t>배열의 정의</a:t>
            </a:r>
            <a:r>
              <a:rPr lang="en-US" altLang="ko-KR" b="1" dirty="0"/>
              <a:t>’</a:t>
            </a:r>
            <a:r>
              <a:rPr lang="ko-KR" altLang="en-US" b="1" dirty="0"/>
              <a:t>의 개념</a:t>
            </a:r>
            <a:endParaRPr lang="en-US" sz="5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배열을 메모리 영역에 마련하고 이름을 붙이는 것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배열을 정의하는 방법</a:t>
            </a:r>
            <a:endParaRPr lang="en-US" altLang="ko-KR" sz="5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145" y="2885230"/>
            <a:ext cx="6984759" cy="1011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Google Shape;102;p7"/>
          <p:cNvSpPr txBox="1"/>
          <p:nvPr/>
        </p:nvSpPr>
        <p:spPr>
          <a:xfrm>
            <a:off x="1101858" y="4074972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배열의 정의</a:t>
            </a:r>
            <a:endParaRPr dirty="0"/>
          </a:p>
        </p:txBody>
      </p:sp>
      <p:graphicFrame>
        <p:nvGraphicFramePr>
          <p:cNvPr id="10" name="Google Shape;104;p7"/>
          <p:cNvGraphicFramePr/>
          <p:nvPr>
            <p:extLst>
              <p:ext uri="{D42A27DB-BD31-4B8C-83A1-F6EECF244321}">
                <p14:modId xmlns:p14="http://schemas.microsoft.com/office/powerpoint/2010/main" val="3887474480"/>
              </p:ext>
            </p:extLst>
          </p:nvPr>
        </p:nvGraphicFramePr>
        <p:xfrm>
          <a:off x="1191894" y="4438325"/>
          <a:ext cx="6779261" cy="118002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[4];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567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00000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/>
              <a:t>인덱스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인덱스의 개념</a:t>
            </a:r>
            <a:endParaRPr lang="en-US" sz="5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요소의 순번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 요소가 </a:t>
            </a:r>
            <a:r>
              <a:rPr lang="en-US" altLang="ko-KR" dirty="0"/>
              <a:t>N</a:t>
            </a:r>
            <a:r>
              <a:rPr lang="ko-KR" altLang="en-US" dirty="0"/>
              <a:t>개일 때 마지막 요소의 인덱스는 </a:t>
            </a:r>
            <a:r>
              <a:rPr lang="en-US" altLang="ko-KR" dirty="0"/>
              <a:t>N-1</a:t>
            </a:r>
            <a:r>
              <a:rPr lang="ko-KR" altLang="en-US" dirty="0"/>
              <a:t>이 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 요소는 각각 하나의 변수와 같음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 이름</a:t>
            </a:r>
            <a:r>
              <a:rPr lang="en-US" altLang="ko-KR" dirty="0"/>
              <a:t>, </a:t>
            </a:r>
            <a:r>
              <a:rPr lang="ko-KR" altLang="en-US" dirty="0"/>
              <a:t>첨자</a:t>
            </a:r>
            <a:r>
              <a:rPr lang="en-US" altLang="ko-KR" dirty="0"/>
              <a:t>([ ]) </a:t>
            </a:r>
            <a:r>
              <a:rPr lang="ko-KR" altLang="en-US" dirty="0"/>
              <a:t>연산자</a:t>
            </a:r>
            <a:r>
              <a:rPr lang="en-US" altLang="ko-KR" dirty="0"/>
              <a:t>, </a:t>
            </a:r>
            <a:r>
              <a:rPr lang="ko-KR" altLang="en-US" dirty="0"/>
              <a:t>인덱스를 결합하여 각각의 개별 요소에</a:t>
            </a:r>
            <a:br>
              <a:rPr lang="en-US" altLang="ko-KR" dirty="0"/>
            </a:br>
            <a:r>
              <a:rPr lang="ko-KR" altLang="en-US" dirty="0"/>
              <a:t>접근할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4985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00000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인덱스</a:t>
            </a:r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인덱스의 개념</a:t>
            </a:r>
            <a:endParaRPr lang="en-US" sz="5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2066206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인덱스를 통한 요소의 접근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093814471"/>
              </p:ext>
            </p:extLst>
          </p:nvPr>
        </p:nvGraphicFramePr>
        <p:xfrm>
          <a:off x="1068069" y="2429559"/>
          <a:ext cx="6779261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[2];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[0]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[1]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[1]: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[1]);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70" y="5442938"/>
            <a:ext cx="6972931" cy="51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147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00000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5"/>
            </a:pPr>
            <a:r>
              <a:rPr lang="ko-KR" altLang="en-US" sz="2400" dirty="0"/>
              <a:t>배열의 복사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배열은 대입 연산자를 사용하기 어려움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ABF3740-9140-44B8-8539-1FEBF6260DB3}"/>
              </a:ext>
            </a:extLst>
          </p:cNvPr>
          <p:cNvGrpSpPr/>
          <p:nvPr/>
        </p:nvGrpSpPr>
        <p:grpSpPr>
          <a:xfrm>
            <a:off x="978033" y="1984248"/>
            <a:ext cx="6869297" cy="4671521"/>
            <a:chOff x="978033" y="1984248"/>
            <a:chExt cx="6869297" cy="4671521"/>
          </a:xfrm>
        </p:grpSpPr>
        <p:sp>
          <p:nvSpPr>
            <p:cNvPr id="4" name="Google Shape;102;p7"/>
            <p:cNvSpPr txBox="1"/>
            <p:nvPr/>
          </p:nvSpPr>
          <p:spPr>
            <a:xfrm>
              <a:off x="978033" y="1984248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-3]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배열 사이의 복사</a:t>
              </a:r>
              <a:endParaRPr dirty="0"/>
            </a:p>
          </p:txBody>
        </p:sp>
        <p:graphicFrame>
          <p:nvGraphicFramePr>
            <p:cNvPr id="5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866607295"/>
                </p:ext>
              </p:extLst>
            </p:nvPr>
          </p:nvGraphicFramePr>
          <p:xfrm>
            <a:off x="1068069" y="2301881"/>
            <a:ext cx="6779261" cy="435388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a1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a2 = 2;       </a:t>
                        </a:r>
                        <a:r>
                          <a:rPr lang="en-US" altLang="ko-KR" sz="1300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문제 없음</a:t>
                        </a:r>
                        <a:endPara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a3;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a3 = a1;          </a:t>
                        </a:r>
                        <a:r>
                          <a:rPr lang="en-US" altLang="ko-KR" sz="1300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문제 없음</a:t>
                        </a:r>
                        <a:endPara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arr1[2];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arr1[0]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arr1[1]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arr2[2] = arr1;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arr3[2];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arr3 = arr1;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7" name="그룹 6"/>
            <p:cNvGrpSpPr/>
            <p:nvPr/>
          </p:nvGrpSpPr>
          <p:grpSpPr>
            <a:xfrm>
              <a:off x="3924300" y="5412486"/>
              <a:ext cx="1895475" cy="323850"/>
              <a:chOff x="3857625" y="3752850"/>
              <a:chExt cx="1895475" cy="323850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4762500" y="3752850"/>
                <a:ext cx="990600" cy="3238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오류 발생</a:t>
                </a:r>
              </a:p>
            </p:txBody>
          </p:sp>
          <p:cxnSp>
            <p:nvCxnSpPr>
              <p:cNvPr id="9" name="직선 화살표 연결선 8"/>
              <p:cNvCxnSpPr/>
              <p:nvPr/>
            </p:nvCxnSpPr>
            <p:spPr>
              <a:xfrm flipH="1">
                <a:off x="3857625" y="3914775"/>
                <a:ext cx="904875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EE827FE-1176-46AB-BDDC-1699EEBB2F55}"/>
                </a:ext>
              </a:extLst>
            </p:cNvPr>
            <p:cNvGrpSpPr/>
            <p:nvPr/>
          </p:nvGrpSpPr>
          <p:grpSpPr>
            <a:xfrm>
              <a:off x="3226308" y="6131814"/>
              <a:ext cx="1895475" cy="323850"/>
              <a:chOff x="3857625" y="3752850"/>
              <a:chExt cx="1895475" cy="323850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69B936F-4E55-4327-8D46-75B1F306E7C1}"/>
                  </a:ext>
                </a:extLst>
              </p:cNvPr>
              <p:cNvSpPr/>
              <p:nvPr/>
            </p:nvSpPr>
            <p:spPr>
              <a:xfrm>
                <a:off x="4762500" y="3752850"/>
                <a:ext cx="990600" cy="3238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오류 발생</a:t>
                </a:r>
              </a:p>
            </p:txBody>
          </p: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82589EF7-53F5-4C55-87B6-C35030218E0B}"/>
                  </a:ext>
                </a:extLst>
              </p:cNvPr>
              <p:cNvCxnSpPr/>
              <p:nvPr/>
            </p:nvCxnSpPr>
            <p:spPr>
              <a:xfrm flipH="1">
                <a:off x="3857625" y="3914775"/>
                <a:ext cx="904875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5316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00000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5"/>
            </a:pPr>
            <a:r>
              <a:rPr lang="ko-KR" altLang="en-US" sz="2400" dirty="0"/>
              <a:t>배열의 복사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일일이 개별 요소에 대해서 복사를 수행할 수 있음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198424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-4]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배열의 복사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4057160494"/>
              </p:ext>
            </p:extLst>
          </p:nvPr>
        </p:nvGraphicFramePr>
        <p:xfrm>
          <a:off x="1068069" y="2347601"/>
          <a:ext cx="6779261" cy="387840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arr1[2];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arr1[0]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arr1[1]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arr2[2];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i = 0; i &lt; 2; i++)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arr2[i] = arr1[i];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"arr2[0]: %d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arr2[0]);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"arr2[1]: %d"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arr2[1]);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66"/>
          <a:stretch/>
        </p:blipFill>
        <p:spPr bwMode="auto">
          <a:xfrm>
            <a:off x="5079721" y="2384177"/>
            <a:ext cx="2731033" cy="774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9440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942096" y="1205208"/>
            <a:ext cx="5278857" cy="5163270"/>
            <a:chOff x="1942096" y="1252833"/>
            <a:chExt cx="5278857" cy="5163270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2096" y="1252833"/>
              <a:ext cx="5278857" cy="3590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4789" y="4918648"/>
              <a:ext cx="5234423" cy="1497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63132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2403277"/>
            <a:ext cx="7940903" cy="1934765"/>
            <a:chOff x="615155" y="1379935"/>
            <a:chExt cx="7940903" cy="1934765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5"/>
              <a:ext cx="7924665" cy="1934765"/>
              <a:chOff x="683573" y="1844824"/>
              <a:chExt cx="7924665" cy="798378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7983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7-1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알파벳 배열에 </a:t>
              </a:r>
              <a:r>
                <a:rPr lang="en-US" altLang="ko-KR" sz="1600" b="1" dirty="0">
                  <a:latin typeface="+mj-ea"/>
                  <a:ea typeface="+mj-ea"/>
                </a:rPr>
                <a:t>A-Z </a:t>
              </a:r>
              <a:r>
                <a:rPr lang="ko-KR" altLang="en-US" sz="1600" b="1" dirty="0">
                  <a:latin typeface="+mj-ea"/>
                  <a:ea typeface="+mj-ea"/>
                </a:rPr>
                <a:t>채우기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775031" y="1767809"/>
              <a:ext cx="7781027" cy="789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요소의 타입이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char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이고 요소의 개수가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26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개인 배열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alphabets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를 정의하고 각각의 요소를 ‘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A’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부터 ‘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Z’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까지 채우는 코드를 작성해봅시다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961" y="3813216"/>
            <a:ext cx="4766078" cy="2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843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배열이란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2078298"/>
            <a:ext cx="7924665" cy="2796654"/>
            <a:chOff x="683573" y="1844824"/>
            <a:chExt cx="7924665" cy="82505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8250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7-1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2093203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950179904"/>
              </p:ext>
            </p:extLst>
          </p:nvPr>
        </p:nvGraphicFramePr>
        <p:xfrm>
          <a:off x="871407" y="2545599"/>
          <a:ext cx="7416825" cy="218149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14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alphabets[26];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&lt; 26;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alphabets[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] =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'A'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+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481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배열의 초기화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dirty="0"/>
              <a:t> </a:t>
            </a:r>
            <a:r>
              <a:rPr lang="ko-KR" altLang="en-US" dirty="0"/>
              <a:t>초기화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초기화 형식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배열의 초기화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배열을 정의할 때 각 요소들을 초기화하는 것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2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배열의 초기화 형식 </a:t>
            </a:r>
            <a:r>
              <a:rPr lang="en-US" altLang="ko-KR" b="1" dirty="0"/>
              <a:t>1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sz="8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배열의 초기화 형식 </a:t>
            </a:r>
            <a:r>
              <a:rPr lang="en-US" altLang="ko-KR" b="1" dirty="0"/>
              <a:t>2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88" y="3419475"/>
            <a:ext cx="6990674" cy="90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74" y="5031001"/>
            <a:ext cx="6996588" cy="91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dirty="0"/>
              <a:t> </a:t>
            </a:r>
            <a:r>
              <a:rPr lang="ko-KR" altLang="en-US" dirty="0"/>
              <a:t>초기화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초기화 형식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1861826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-5]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 초기화 형식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499114981"/>
              </p:ext>
            </p:extLst>
          </p:nvPr>
        </p:nvGraphicFramePr>
        <p:xfrm>
          <a:off x="1068069" y="2225179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arr1[3] = { 0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arr2[3] = { 0,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arr3[3] = { 1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arr4[3] = { 1,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arr5[3] = { 1, 2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arr6[3] = { 1, 2,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arr7[3] = { 1, 2, 3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arr8[3] = { 1, 2, 3,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arr9[3];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124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dirty="0"/>
              <a:t> </a:t>
            </a:r>
            <a:r>
              <a:rPr lang="ko-KR" altLang="en-US" dirty="0"/>
              <a:t>초기화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초기화 형식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299976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 초기화 형식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899535331"/>
              </p:ext>
            </p:extLst>
          </p:nvPr>
        </p:nvGraphicFramePr>
        <p:xfrm>
          <a:off x="1068069" y="2663329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arr1[] = {1};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arr2[] = {1,};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arr3[] = {1, 2};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arr4[] = {1, 2,};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arr5[];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328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dirty="0"/>
              <a:t> </a:t>
            </a:r>
            <a:r>
              <a:rPr lang="ko-KR" altLang="en-US" dirty="0"/>
              <a:t>초기화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초기화 형식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436611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-7]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중괄호 초기값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823683480"/>
              </p:ext>
            </p:extLst>
          </p:nvPr>
        </p:nvGraphicFramePr>
        <p:xfrm>
          <a:off x="1068069" y="2799964"/>
          <a:ext cx="6779261" cy="135332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{ 1, 2, 3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3747470" y="3584685"/>
            <a:ext cx="1839559" cy="323850"/>
            <a:chOff x="3913541" y="3752850"/>
            <a:chExt cx="1839559" cy="323850"/>
          </a:xfrm>
        </p:grpSpPr>
        <p:sp>
          <p:nvSpPr>
            <p:cNvPr id="8" name="직사각형 7"/>
            <p:cNvSpPr/>
            <p:nvPr/>
          </p:nvSpPr>
          <p:spPr>
            <a:xfrm>
              <a:off x="4762500" y="3752850"/>
              <a:ext cx="990600" cy="3238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 발생</a:t>
              </a: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 flipH="1">
              <a:off x="3913541" y="3914775"/>
              <a:ext cx="848961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0737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문자열</a:t>
            </a:r>
            <a:r>
              <a:rPr lang="en-US" altLang="ko-KR" sz="2400" dirty="0"/>
              <a:t> </a:t>
            </a:r>
            <a:r>
              <a:rPr lang="ko-KR" altLang="en-US" sz="2400" dirty="0"/>
              <a:t>초기화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각각의 문자열은 문자 타입 요소로 구성된 배열로 취급함</a:t>
            </a:r>
          </a:p>
        </p:txBody>
      </p:sp>
      <p:sp>
        <p:nvSpPr>
          <p:cNvPr id="8" name="Google Shape;102;p7"/>
          <p:cNvSpPr txBox="1"/>
          <p:nvPr/>
        </p:nvSpPr>
        <p:spPr>
          <a:xfrm>
            <a:off x="978033" y="2347601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-8]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아스키코드 문자 배열 초기화</a:t>
            </a:r>
            <a:endParaRPr dirty="0"/>
          </a:p>
        </p:txBody>
      </p:sp>
      <p:graphicFrame>
        <p:nvGraphicFramePr>
          <p:cNvPr id="9" name="Google Shape;104;p7"/>
          <p:cNvGraphicFramePr/>
          <p:nvPr>
            <p:extLst>
              <p:ext uri="{D42A27DB-BD31-4B8C-83A1-F6EECF244321}">
                <p14:modId xmlns:p14="http://schemas.microsoft.com/office/powerpoint/2010/main" val="2233702249"/>
              </p:ext>
            </p:extLst>
          </p:nvPr>
        </p:nvGraphicFramePr>
        <p:xfrm>
          <a:off x="1068069" y="2710954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studio.h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s1[ ] = {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'K'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'o'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'r'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'e'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'a'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'\0'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s2[ ] = {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"Korea"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s3[ ] =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"Korea"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 %s %s"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s1, s2, s3);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33" y="5438680"/>
            <a:ext cx="7002503" cy="514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154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문자열</a:t>
            </a:r>
            <a:r>
              <a:rPr lang="en-US" altLang="ko-KR" sz="2400" dirty="0"/>
              <a:t> </a:t>
            </a:r>
            <a:r>
              <a:rPr lang="ko-KR" altLang="en-US" sz="2400" dirty="0"/>
              <a:t>초기화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NULL </a:t>
            </a:r>
            <a:r>
              <a:rPr lang="ko-KR" altLang="en-US" dirty="0"/>
              <a:t>종료 문자열로 인해 컴퓨터가 문자열의 끝을 인지하고 출력함</a:t>
            </a:r>
          </a:p>
        </p:txBody>
      </p:sp>
      <p:sp>
        <p:nvSpPr>
          <p:cNvPr id="8" name="Google Shape;102;p7"/>
          <p:cNvSpPr txBox="1"/>
          <p:nvPr/>
        </p:nvSpPr>
        <p:spPr>
          <a:xfrm>
            <a:off x="978033" y="2347601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-9]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NULL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 문자열</a:t>
            </a:r>
            <a:endParaRPr dirty="0"/>
          </a:p>
        </p:txBody>
      </p:sp>
      <p:graphicFrame>
        <p:nvGraphicFramePr>
          <p:cNvPr id="9" name="Google Shape;104;p7"/>
          <p:cNvGraphicFramePr/>
          <p:nvPr>
            <p:extLst>
              <p:ext uri="{D42A27DB-BD31-4B8C-83A1-F6EECF244321}">
                <p14:modId xmlns:p14="http://schemas.microsoft.com/office/powerpoint/2010/main" val="3888125961"/>
              </p:ext>
            </p:extLst>
          </p:nvPr>
        </p:nvGraphicFramePr>
        <p:xfrm>
          <a:off x="1068069" y="2710954"/>
          <a:ext cx="6779261" cy="237745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studio.h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s1[ ] = {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'K'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'o'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'r'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'e'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'a'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s2[ ] = {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'K'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'o'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'r'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'e'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'a'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'\0'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</a:t>
                      </a:r>
                      <a:r>
                        <a:rPr lang="en-US" altLang="ko-KR" baseline="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%s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s1, s2);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58" y="5173931"/>
            <a:ext cx="6955187" cy="73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8890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</a:p>
        </p:txBody>
      </p:sp>
      <p:grpSp>
        <p:nvGrpSpPr>
          <p:cNvPr id="4" name="Google Shape;118;p8"/>
          <p:cNvGrpSpPr>
            <a:grpSpLocks noChangeAspect="1"/>
          </p:cNvGrpSpPr>
          <p:nvPr/>
        </p:nvGrpSpPr>
        <p:grpSpPr>
          <a:xfrm>
            <a:off x="606876" y="2143494"/>
            <a:ext cx="7958668" cy="2666261"/>
            <a:chOff x="683573" y="1844823"/>
            <a:chExt cx="7924665" cy="3425256"/>
          </a:xfrm>
        </p:grpSpPr>
        <p:sp>
          <p:nvSpPr>
            <p:cNvPr id="5" name="Google Shape;119;p8"/>
            <p:cNvSpPr/>
            <p:nvPr/>
          </p:nvSpPr>
          <p:spPr>
            <a:xfrm>
              <a:off x="688238" y="1844823"/>
              <a:ext cx="7920000" cy="3425256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" name="Google Shape;120;p8"/>
            <p:cNvSpPr txBox="1"/>
            <p:nvPr/>
          </p:nvSpPr>
          <p:spPr>
            <a:xfrm>
              <a:off x="762141" y="2322932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MBCS(</a:t>
              </a:r>
              <a:r>
                <a:rPr lang="en-US" altLang="ko-KR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MultiByteCharacter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Set)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은 유니코드가 나오기 전부터 한글을 비롯한 전 세계의 다양한 문자들을 표시하기 위한 방식임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바이트가 아닌 여러 바이트를 이용하여 글자 하나를 나타냄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char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타입을 그대로 이용할 수 있어 호환성이 뛰어나지만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각 언어의 문자 간에 코드가 중복될 수도 있다는 단점이 있음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8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한글이나 한자 문자열을 사용하는 방법</a:t>
              </a:r>
              <a:endParaRPr sz="1600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64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</a:p>
        </p:txBody>
      </p:sp>
      <p:grpSp>
        <p:nvGrpSpPr>
          <p:cNvPr id="4" name="Google Shape;118;p8"/>
          <p:cNvGrpSpPr>
            <a:grpSpLocks noChangeAspect="1"/>
          </p:cNvGrpSpPr>
          <p:nvPr/>
        </p:nvGrpSpPr>
        <p:grpSpPr>
          <a:xfrm>
            <a:off x="611561" y="1432280"/>
            <a:ext cx="7958668" cy="4452753"/>
            <a:chOff x="683573" y="1844823"/>
            <a:chExt cx="7924665" cy="5720302"/>
          </a:xfrm>
        </p:grpSpPr>
        <p:sp>
          <p:nvSpPr>
            <p:cNvPr id="5" name="Google Shape;119;p8"/>
            <p:cNvSpPr/>
            <p:nvPr/>
          </p:nvSpPr>
          <p:spPr>
            <a:xfrm>
              <a:off x="688238" y="1844823"/>
              <a:ext cx="7920000" cy="5720302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8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한글이나 한자 문자열을 사용하는 방법</a:t>
              </a:r>
              <a:endParaRPr sz="1600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Google Shape;102;p7"/>
          <p:cNvSpPr txBox="1"/>
          <p:nvPr/>
        </p:nvSpPr>
        <p:spPr>
          <a:xfrm>
            <a:off x="978033" y="2010354"/>
            <a:ext cx="46607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-10]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char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배열로 한글 문자열 초기화</a:t>
            </a:r>
            <a:endParaRPr dirty="0"/>
          </a:p>
        </p:txBody>
      </p:sp>
      <p:graphicFrame>
        <p:nvGraphicFramePr>
          <p:cNvPr id="10" name="Google Shape;104;p7"/>
          <p:cNvGraphicFramePr/>
          <p:nvPr>
            <p:extLst>
              <p:ext uri="{D42A27DB-BD31-4B8C-83A1-F6EECF244321}">
                <p14:modId xmlns:p14="http://schemas.microsoft.com/office/powerpoint/2010/main" val="784578138"/>
              </p:ext>
            </p:extLst>
          </p:nvPr>
        </p:nvGraphicFramePr>
        <p:xfrm>
          <a:off x="1068069" y="2373707"/>
          <a:ext cx="6779261" cy="212141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studio.h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s[ ] = 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";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모서리가 둥근 직사각형 2"/>
          <p:cNvSpPr/>
          <p:nvPr/>
        </p:nvSpPr>
        <p:spPr>
          <a:xfrm>
            <a:off x="1033938" y="4586172"/>
            <a:ext cx="6911582" cy="421043"/>
          </a:xfrm>
          <a:prstGeom prst="roundRect">
            <a:avLst/>
          </a:prstGeom>
          <a:solidFill>
            <a:srgbClr val="FDE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FF7F2"/>
              </a:clrFrom>
              <a:clrTo>
                <a:srgbClr val="EFF7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33" y="4586173"/>
            <a:ext cx="6911582" cy="421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5807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60" y="2158164"/>
            <a:ext cx="7002928" cy="25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863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2343" y="1379936"/>
            <a:ext cx="7924665" cy="4639865"/>
            <a:chOff x="615155" y="1379936"/>
            <a:chExt cx="7924665" cy="4639865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6"/>
              <a:ext cx="7924665" cy="4639865"/>
              <a:chOff x="683573" y="1844824"/>
              <a:chExt cx="7924665" cy="19146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91463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7-2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소수 여부 확인하기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6842" y="1815434"/>
              <a:ext cx="7485956" cy="10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20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이하의 정수를 </a:t>
              </a:r>
              <a:r>
                <a:rPr lang="ko-KR" altLang="en-US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입력받아서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소수인지 여부를 확인하는 프로그램을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20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이하의 소수로 초기화된 배열을 이용하여 소수 판단의 근거로 활용합니다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375" y="3096660"/>
            <a:ext cx="6828300" cy="987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485" y="4245113"/>
            <a:ext cx="6535030" cy="1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183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5155" y="1566831"/>
            <a:ext cx="7924665" cy="4454003"/>
            <a:chOff x="615155" y="1213372"/>
            <a:chExt cx="7924665" cy="445400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2"/>
              <a:ext cx="7924665" cy="4454003"/>
              <a:chOff x="683573" y="1844824"/>
              <a:chExt cx="7924665" cy="131400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3140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7-2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2282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259594861"/>
                </p:ext>
              </p:extLst>
            </p:nvPr>
          </p:nvGraphicFramePr>
          <p:xfrm>
            <a:off x="871407" y="1680671"/>
            <a:ext cx="7416825" cy="391364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studio.h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prime[ ] = { 2, 3, 5, 7, 11, 13, 17, 19 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n;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do</a:t>
                        </a: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"20 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이하 정수를 입력하세요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.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&amp;n);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(n &gt; 20);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3098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5155" y="1566832"/>
            <a:ext cx="7924665" cy="3481418"/>
            <a:chOff x="615155" y="1213373"/>
            <a:chExt cx="7924665" cy="3481418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3"/>
              <a:ext cx="7924665" cy="3481418"/>
              <a:chOff x="683573" y="1844824"/>
              <a:chExt cx="7924665" cy="102707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0270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7-2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2282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405141989"/>
                </p:ext>
              </p:extLst>
            </p:nvPr>
          </p:nvGraphicFramePr>
          <p:xfrm>
            <a:off x="871407" y="1680672"/>
            <a:ext cx="7416825" cy="2918870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1887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(int i = 0; i &lt; 8; i++)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nn-NO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(n == prime[i])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      printf(</a:t>
                        </a:r>
                        <a:r>
                          <a:rPr lang="nn-NO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소수입니다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."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소수가 아닙니다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."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);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9867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다차원 배열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다차원 배열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2</a:t>
            </a:r>
            <a:r>
              <a:rPr lang="ko-KR" altLang="en-US" sz="2400" dirty="0"/>
              <a:t>차원 배열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2</a:t>
            </a:r>
            <a:r>
              <a:rPr lang="ko-KR" altLang="en-US" b="1" dirty="0"/>
              <a:t>차원 배열의 개념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배열이 요소인 배열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7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2</a:t>
            </a:r>
            <a:r>
              <a:rPr lang="ko-KR" altLang="en-US" b="1" dirty="0"/>
              <a:t>차원 배열의 형식</a:t>
            </a:r>
            <a:endParaRPr lang="en-US" altLang="ko-KR" b="1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33" y="3434329"/>
            <a:ext cx="6984759" cy="520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다차원 배열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2</a:t>
            </a:r>
            <a:r>
              <a:rPr lang="ko-KR" altLang="en-US" sz="2400" dirty="0"/>
              <a:t>차원 배열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2</a:t>
            </a:r>
            <a:r>
              <a:rPr lang="ko-KR" altLang="en-US" b="1" dirty="0"/>
              <a:t>차원 배열의 예시</a:t>
            </a: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sz="3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Ramen</a:t>
            </a:r>
            <a:r>
              <a:rPr lang="en-US" altLang="ko-KR" dirty="0"/>
              <a:t> : </a:t>
            </a:r>
            <a:r>
              <a:rPr lang="ko-KR" altLang="en-US" dirty="0"/>
              <a:t>배열</a:t>
            </a:r>
            <a:r>
              <a:rPr lang="en-US" altLang="ko-KR" dirty="0"/>
              <a:t>(</a:t>
            </a:r>
            <a:r>
              <a:rPr lang="ko-KR" altLang="en-US" dirty="0"/>
              <a:t>박스</a:t>
            </a:r>
            <a:r>
              <a:rPr lang="en-US" altLang="ko-KR" dirty="0"/>
              <a:t>)</a:t>
            </a:r>
            <a:r>
              <a:rPr lang="ko-KR" altLang="en-US" dirty="0"/>
              <a:t>의 요소</a:t>
            </a:r>
            <a:r>
              <a:rPr lang="en-US" altLang="ko-KR" dirty="0"/>
              <a:t>(</a:t>
            </a:r>
            <a:r>
              <a:rPr lang="ko-KR" altLang="en-US" dirty="0" err="1"/>
              <a:t>멀티팩</a:t>
            </a:r>
            <a:r>
              <a:rPr lang="en-US" altLang="ko-KR" dirty="0"/>
              <a:t>) </a:t>
            </a:r>
            <a:r>
              <a:rPr lang="ko-KR" altLang="en-US" dirty="0"/>
              <a:t>속 요소</a:t>
            </a:r>
            <a:r>
              <a:rPr lang="en-US" altLang="ko-KR" dirty="0"/>
              <a:t>(</a:t>
            </a:r>
            <a:r>
              <a:rPr lang="ko-KR" altLang="en-US" dirty="0"/>
              <a:t>라면</a:t>
            </a:r>
            <a:r>
              <a:rPr lang="en-US" altLang="ko-KR" dirty="0"/>
              <a:t>)</a:t>
            </a:r>
            <a:r>
              <a:rPr lang="ko-KR" altLang="en-US" dirty="0"/>
              <a:t>의 타입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Box</a:t>
            </a:r>
            <a:r>
              <a:rPr lang="en-US" altLang="ko-KR" dirty="0"/>
              <a:t> : </a:t>
            </a:r>
            <a:r>
              <a:rPr lang="ko-KR" altLang="en-US" dirty="0"/>
              <a:t>배열의 이름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8</a:t>
            </a:r>
            <a:r>
              <a:rPr lang="en-US" altLang="ko-KR" dirty="0"/>
              <a:t> : </a:t>
            </a:r>
            <a:r>
              <a:rPr lang="ko-KR" altLang="en-US" dirty="0"/>
              <a:t>요소</a:t>
            </a:r>
            <a:r>
              <a:rPr lang="en-US" altLang="ko-KR" dirty="0"/>
              <a:t>(</a:t>
            </a:r>
            <a:r>
              <a:rPr lang="ko-KR" altLang="en-US" dirty="0" err="1"/>
              <a:t>멀티팩</a:t>
            </a:r>
            <a:r>
              <a:rPr lang="en-US" altLang="ko-KR" dirty="0"/>
              <a:t>)</a:t>
            </a:r>
            <a:r>
              <a:rPr lang="ko-KR" altLang="en-US" dirty="0"/>
              <a:t>의 개수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5</a:t>
            </a:r>
            <a:r>
              <a:rPr lang="en-US" altLang="ko-KR" dirty="0"/>
              <a:t> : </a:t>
            </a:r>
            <a:r>
              <a:rPr lang="ko-KR" altLang="en-US" dirty="0"/>
              <a:t>요소</a:t>
            </a:r>
            <a:r>
              <a:rPr lang="en-US" altLang="ko-KR" dirty="0"/>
              <a:t>(</a:t>
            </a:r>
            <a:r>
              <a:rPr lang="ko-KR" altLang="en-US" dirty="0" err="1"/>
              <a:t>멀티팩</a:t>
            </a:r>
            <a:r>
              <a:rPr lang="en-US" altLang="ko-KR" dirty="0"/>
              <a:t>) </a:t>
            </a:r>
            <a:r>
              <a:rPr lang="ko-KR" altLang="en-US" dirty="0"/>
              <a:t>속 요소</a:t>
            </a:r>
            <a:r>
              <a:rPr lang="en-US" altLang="ko-KR" dirty="0"/>
              <a:t>(</a:t>
            </a:r>
            <a:r>
              <a:rPr lang="ko-KR" altLang="en-US" dirty="0"/>
              <a:t>라면</a:t>
            </a:r>
            <a:r>
              <a:rPr lang="en-US" altLang="ko-KR" dirty="0"/>
              <a:t>)</a:t>
            </a:r>
            <a:r>
              <a:rPr lang="ko-KR" altLang="en-US" dirty="0"/>
              <a:t>의 개수</a:t>
            </a:r>
            <a:endParaRPr lang="en-US" altLang="ko-KR" dirty="0"/>
          </a:p>
        </p:txBody>
      </p:sp>
      <p:pic>
        <p:nvPicPr>
          <p:cNvPr id="14339" name="Picture 3" descr="C:\Users\변소현\Desktop\난생처음 C 언어 프로그래밍\그림\Ch7\그림 7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728" y="4040909"/>
            <a:ext cx="3332306" cy="227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88" y="2317436"/>
            <a:ext cx="6990674" cy="5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513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다차원 배열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2</a:t>
            </a:r>
            <a:r>
              <a:rPr lang="ko-KR" altLang="en-US" sz="2400" dirty="0"/>
              <a:t>차원 배열</a:t>
            </a:r>
            <a:endParaRPr lang="en-US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1765102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-8]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아스키코드 문자 배열 초기화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342403615"/>
              </p:ext>
            </p:extLst>
          </p:nvPr>
        </p:nvGraphicFramePr>
        <p:xfrm>
          <a:off x="1068069" y="2128455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studio.h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[2][3] = { { 11, 12, 13 }, { 21, 22, 23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i = 0; i &lt; 2; i++)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nn-NO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j = 0; j &lt; 3; j++)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printf(</a:t>
                      </a:r>
                      <a:r>
                        <a:rPr lang="nn-NO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"</a:t>
                      </a: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arr[i][j]);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printf(</a:t>
                      </a:r>
                      <a:r>
                        <a:rPr lang="nn-NO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nn-NO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nn-NO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97" y="5639938"/>
            <a:ext cx="6795133" cy="73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6417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다차원 배열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2</a:t>
            </a:r>
            <a:r>
              <a:rPr lang="ko-KR" altLang="en-US" sz="2400" dirty="0"/>
              <a:t>차원 배열의 구조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2</a:t>
            </a:r>
            <a:r>
              <a:rPr lang="ko-KR" altLang="en-US" dirty="0"/>
              <a:t>차원 배열은 행렬과 비슷하긴 하나</a:t>
            </a:r>
            <a:r>
              <a:rPr lang="en-US" altLang="ko-KR" dirty="0"/>
              <a:t>, </a:t>
            </a:r>
            <a:r>
              <a:rPr lang="ko-KR" altLang="en-US" dirty="0"/>
              <a:t>실제 메모리 구조가 격자 모양인 것은 아님</a:t>
            </a:r>
            <a:endParaRPr lang="en-US" altLang="ko-KR" dirty="0"/>
          </a:p>
        </p:txBody>
      </p:sp>
      <p:pic>
        <p:nvPicPr>
          <p:cNvPr id="17410" name="Picture 2" descr="C:\Users\변소현\Desktop\난생처음 C 언어 프로그래밍\그림\Ch7\그림 7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888" y="3271838"/>
            <a:ext cx="4594225" cy="187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674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다차원 배열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2</a:t>
            </a:r>
            <a:r>
              <a:rPr lang="ko-KR" altLang="en-US" sz="2400" dirty="0"/>
              <a:t>차원 배열의 구조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메모리는 논리적인 선형 구조를 지님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모든 바이트마다 주소가 부여되어 있음</a:t>
            </a:r>
            <a:endParaRPr lang="en-US" altLang="ko-KR" dirty="0"/>
          </a:p>
        </p:txBody>
      </p:sp>
      <p:pic>
        <p:nvPicPr>
          <p:cNvPr id="18434" name="Picture 2" descr="C:\Users\변소현\Desktop\난생처음 C 언어 프로그래밍\그림\Ch7\그림 7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693" y="3048216"/>
            <a:ext cx="3616614" cy="317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057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다차원 배열</a:t>
            </a:r>
            <a:endParaRPr lang="ko-KR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554" y="1915256"/>
            <a:ext cx="7008417" cy="31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9536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다차원 배열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612343" y="1691088"/>
            <a:ext cx="7924665" cy="3911659"/>
            <a:chOff x="612343" y="1879542"/>
            <a:chExt cx="7924665" cy="3911659"/>
          </a:xfrm>
        </p:grpSpPr>
        <p:grpSp>
          <p:nvGrpSpPr>
            <p:cNvPr id="3" name="그룹 2"/>
            <p:cNvGrpSpPr/>
            <p:nvPr/>
          </p:nvGrpSpPr>
          <p:grpSpPr>
            <a:xfrm>
              <a:off x="612343" y="1879542"/>
              <a:ext cx="7924665" cy="3911659"/>
              <a:chOff x="615155" y="1379936"/>
              <a:chExt cx="7924665" cy="3911659"/>
            </a:xfrm>
          </p:grpSpPr>
          <p:grpSp>
            <p:nvGrpSpPr>
              <p:cNvPr id="4" name="Google Shape;129;p9"/>
              <p:cNvGrpSpPr/>
              <p:nvPr/>
            </p:nvGrpSpPr>
            <p:grpSpPr>
              <a:xfrm>
                <a:off x="615155" y="1379936"/>
                <a:ext cx="7924665" cy="3911659"/>
                <a:chOff x="683573" y="1844824"/>
                <a:chExt cx="7924665" cy="1614140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5" name="Google Shape;130;p9"/>
                <p:cNvSpPr/>
                <p:nvPr/>
              </p:nvSpPr>
              <p:spPr>
                <a:xfrm>
                  <a:off x="688238" y="1844824"/>
                  <a:ext cx="7920000" cy="161414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rgbClr val="8AC9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" name="Google Shape;132;p9"/>
                <p:cNvSpPr/>
                <p:nvPr/>
              </p:nvSpPr>
              <p:spPr>
                <a:xfrm>
                  <a:off x="683573" y="1844825"/>
                  <a:ext cx="1511728" cy="152935"/>
                </a:xfrm>
                <a:prstGeom prst="rect">
                  <a:avLst/>
                </a:prstGeom>
                <a:solidFill>
                  <a:srgbClr val="8AC9DA"/>
                </a:solidFill>
                <a:ln>
                  <a:solidFill>
                    <a:srgbClr val="8AC9DA"/>
                  </a:solidFill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LAB 7-3</a:t>
                  </a:r>
                  <a:endParaRPr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2126883" y="1395971"/>
                <a:ext cx="63664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+mj-ea"/>
                    <a:ea typeface="+mj-ea"/>
                  </a:rPr>
                  <a:t>구구단 게임</a:t>
                </a: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885627" y="1767809"/>
                <a:ext cx="739741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구구단 게임 프로그램을 작성해봅시다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 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구구단 게임은 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차원 배열 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table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에</a:t>
                </a:r>
                <a:endPara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미리 구구단의 결과를 저장하고 입력된 단과 항을 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table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에서 조회하여</a:t>
                </a:r>
                <a:endPara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출력하는 방식을 사용하여 </a:t>
                </a:r>
                <a:r>
                  <a:rPr lang="ko-KR" altLang="en-US" sz="1600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입력받은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 구구단의 결과를 출력합니다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</a:t>
                </a:r>
                <a:endPara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2048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6531" y="3627868"/>
              <a:ext cx="6209988" cy="91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8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401" y="4735043"/>
              <a:ext cx="6538232" cy="702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0196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다차원 배열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489598"/>
            <a:ext cx="7924665" cy="4730230"/>
            <a:chOff x="615155" y="1556273"/>
            <a:chExt cx="7924665" cy="473023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3"/>
              <a:ext cx="7924665" cy="4730230"/>
              <a:chOff x="683573" y="1844824"/>
              <a:chExt cx="7924665" cy="1395492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3954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7-3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547267524"/>
                </p:ext>
              </p:extLst>
            </p:nvPr>
          </p:nvGraphicFramePr>
          <p:xfrm>
            <a:off x="871407" y="2023571"/>
            <a:ext cx="7416825" cy="4169674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studio.h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r, c;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구구단의 단과 항을 공백으로 구분하여 입력하세요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.</a:t>
                        </a:r>
                        <a:r>
                          <a:rPr lang="pt-BR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   scanf(</a:t>
                        </a:r>
                        <a:r>
                          <a:rPr lang="pt-BR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"%d%d"</a:t>
                        </a: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, &amp;r, &amp;c);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pt-BR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 table[8][9] = { { 0 } 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i = 2; i &lt; 10; i++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nn-NO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j = 1; j &lt; 10; j++)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      table[i-2][j-1] = i * j;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nn-NO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pt-BR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("%d * %d = %d"</a:t>
                        </a: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, r, c, table[r-2][c-1]);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2217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배열의 크기와 길이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262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배열의 크기와 길이의 관계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배열의 크기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배열이 차지하는 메모리 영역의 크기</a:t>
            </a:r>
            <a:r>
              <a:rPr lang="en-US" altLang="ko-KR" dirty="0"/>
              <a:t>(</a:t>
            </a:r>
            <a:r>
              <a:rPr lang="ko-KR" altLang="en-US" dirty="0"/>
              <a:t>바이트 단위</a:t>
            </a:r>
            <a:r>
              <a:rPr lang="en-US" altLang="ko-KR" dirty="0"/>
              <a:t>)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5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배열의 길이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요소의 개수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1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배열의 크기와 길이 구하기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C8D9EB3-FB5D-4F5C-BFF2-0C10B071A8CF}"/>
              </a:ext>
            </a:extLst>
          </p:cNvPr>
          <p:cNvGrpSpPr/>
          <p:nvPr/>
        </p:nvGrpSpPr>
        <p:grpSpPr>
          <a:xfrm>
            <a:off x="1011544" y="4433280"/>
            <a:ext cx="7503806" cy="1775688"/>
            <a:chOff x="1011544" y="4469856"/>
            <a:chExt cx="7503806" cy="1775688"/>
          </a:xfrm>
        </p:grpSpPr>
        <p:pic>
          <p:nvPicPr>
            <p:cNvPr id="2150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544" y="4469856"/>
              <a:ext cx="7503806" cy="826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아래쪽 화살표 1"/>
            <p:cNvSpPr/>
            <p:nvPr/>
          </p:nvSpPr>
          <p:spPr>
            <a:xfrm>
              <a:off x="4449995" y="5376578"/>
              <a:ext cx="263061" cy="230657"/>
            </a:xfrm>
            <a:prstGeom prst="down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50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544" y="5679549"/>
              <a:ext cx="7503806" cy="565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70013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배열의 크기와 길이의 관계</a:t>
            </a:r>
            <a:endParaRPr sz="2400" dirty="0"/>
          </a:p>
        </p:txBody>
      </p:sp>
      <p:sp>
        <p:nvSpPr>
          <p:cNvPr id="7" name="Google Shape;102;p7"/>
          <p:cNvSpPr txBox="1"/>
          <p:nvPr/>
        </p:nvSpPr>
        <p:spPr>
          <a:xfrm>
            <a:off x="978033" y="1977956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-12]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배열의 길이 구하기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2358932943"/>
              </p:ext>
            </p:extLst>
          </p:nvPr>
        </p:nvGraphicFramePr>
        <p:xfrm>
          <a:off x="1068069" y="2341309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studio.h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[8]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size =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length = size /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배열의 크기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배열의 길이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size, length);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082" y="5096359"/>
            <a:ext cx="6998486" cy="755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9022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배열의 크기와 길이의 관계</a:t>
            </a:r>
          </a:p>
        </p:txBody>
      </p:sp>
      <p:sp>
        <p:nvSpPr>
          <p:cNvPr id="7" name="Google Shape;102;p7"/>
          <p:cNvSpPr txBox="1"/>
          <p:nvPr/>
        </p:nvSpPr>
        <p:spPr>
          <a:xfrm>
            <a:off x="978033" y="183511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-13]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배열의 길이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문자열의 길이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691807460"/>
              </p:ext>
            </p:extLst>
          </p:nvPr>
        </p:nvGraphicFramePr>
        <p:xfrm>
          <a:off x="1068069" y="2198463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studio.h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[] = { 1, 1, 1, 1, 1, 1, 1, 1, 1, 1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alen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/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char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 ] =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 Programming for the 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fisrt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time"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slen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/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[0]) - 1;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alen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</a:t>
                      </a:r>
                      <a:r>
                        <a:rPr lang="en-US" altLang="ko-KR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slen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alen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slen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13" y="5466837"/>
            <a:ext cx="6989598" cy="74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3368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배열의 크기와 길이의 관계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문자열의 길이 구하기</a:t>
            </a:r>
            <a:endParaRPr lang="ko-KR" altLang="en-US" dirty="0"/>
          </a:p>
        </p:txBody>
      </p:sp>
      <p:sp>
        <p:nvSpPr>
          <p:cNvPr id="7" name="Google Shape;102;p7"/>
          <p:cNvSpPr txBox="1"/>
          <p:nvPr/>
        </p:nvSpPr>
        <p:spPr>
          <a:xfrm>
            <a:off x="978033" y="2277569"/>
            <a:ext cx="46798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-14]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strlen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함수로 문자열의 길이 구하기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2365730374"/>
              </p:ext>
            </p:extLst>
          </p:nvPr>
        </p:nvGraphicFramePr>
        <p:xfrm>
          <a:off x="1068069" y="2640922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studio.h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[] =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"0123456789"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10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자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slen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strlen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“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slen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slen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33" y="5346386"/>
            <a:ext cx="6972931" cy="5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3062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lang="ko-KR" altLang="en-US" dirty="0"/>
          </a:p>
        </p:txBody>
      </p:sp>
      <p:grpSp>
        <p:nvGrpSpPr>
          <p:cNvPr id="9" name="Google Shape;118;p8"/>
          <p:cNvGrpSpPr>
            <a:grpSpLocks noChangeAspect="1"/>
          </p:cNvGrpSpPr>
          <p:nvPr/>
        </p:nvGrpSpPr>
        <p:grpSpPr>
          <a:xfrm>
            <a:off x="611561" y="1281297"/>
            <a:ext cx="7958668" cy="4757553"/>
            <a:chOff x="683573" y="1844823"/>
            <a:chExt cx="7924665" cy="6111868"/>
          </a:xfrm>
        </p:grpSpPr>
        <p:sp>
          <p:nvSpPr>
            <p:cNvPr id="10" name="Google Shape;119;p8"/>
            <p:cNvSpPr/>
            <p:nvPr/>
          </p:nvSpPr>
          <p:spPr>
            <a:xfrm>
              <a:off x="688238" y="1844823"/>
              <a:ext cx="7920000" cy="6111868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12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MBCS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에는 적용할 수 없는 </a:t>
              </a:r>
              <a:r>
                <a:rPr lang="en-US" altLang="ko-KR" sz="1600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strlen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함수</a:t>
              </a:r>
              <a:endParaRPr sz="1600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139958" y="1764466"/>
            <a:ext cx="6869297" cy="3252867"/>
            <a:chOff x="978033" y="2010354"/>
            <a:chExt cx="6869297" cy="3252867"/>
          </a:xfrm>
        </p:grpSpPr>
        <p:sp>
          <p:nvSpPr>
            <p:cNvPr id="13" name="Google Shape;102;p7"/>
            <p:cNvSpPr txBox="1"/>
            <p:nvPr/>
          </p:nvSpPr>
          <p:spPr>
            <a:xfrm>
              <a:off x="978033" y="2010354"/>
              <a:ext cx="466076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-15]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MBCS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문자열의 길이</a:t>
              </a:r>
              <a:endParaRPr dirty="0"/>
            </a:p>
          </p:txBody>
        </p:sp>
        <p:graphicFrame>
          <p:nvGraphicFramePr>
            <p:cNvPr id="14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737305103"/>
                </p:ext>
              </p:extLst>
            </p:nvPr>
          </p:nvGraphicFramePr>
          <p:xfrm>
            <a:off x="1068069" y="2373707"/>
            <a:ext cx="6779261" cy="288951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studio.h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defTabSz="914400" rtl="0" eaLnBrk="1" fontAlgn="auto" latinLnBrk="0" hangingPunct="1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Tx/>
                          <a:buFont typeface="Arial"/>
                          <a:buNone/>
                          <a:tabLst/>
                          <a:defRPr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string.h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{</a:t>
                        </a: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 ] = "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난생처음 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C 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프로그래밍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";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slen1 =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 /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[0]) - 1;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slen2 =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strlen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"slen1: %d</a:t>
                        </a:r>
                        <a:r>
                          <a:rPr lang="en-US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</a:t>
                        </a:r>
                        <a:r>
                          <a:rPr lang="en-US" altLang="ko-KR" baseline="0" dirty="0" err="1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n</a:t>
                        </a:r>
                        <a:r>
                          <a:rPr lang="en-US" altLang="ko-KR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strlen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%d"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slen1, slen2);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sp>
        <p:nvSpPr>
          <p:cNvPr id="18" name="모서리가 둥근 직사각형 17"/>
          <p:cNvSpPr/>
          <p:nvPr/>
        </p:nvSpPr>
        <p:spPr>
          <a:xfrm>
            <a:off x="1218268" y="5168350"/>
            <a:ext cx="6754157" cy="643833"/>
          </a:xfrm>
          <a:prstGeom prst="roundRect">
            <a:avLst/>
          </a:prstGeom>
          <a:solidFill>
            <a:srgbClr val="FDE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FF7F2"/>
              </a:clrFrom>
              <a:clrTo>
                <a:srgbClr val="EFF7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334" y="5236310"/>
            <a:ext cx="1105969" cy="52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4900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lang="ko-KR" altLang="en-US" dirty="0"/>
          </a:p>
        </p:txBody>
      </p:sp>
      <p:grpSp>
        <p:nvGrpSpPr>
          <p:cNvPr id="4" name="Google Shape;118;p8"/>
          <p:cNvGrpSpPr>
            <a:grpSpLocks noChangeAspect="1"/>
          </p:cNvGrpSpPr>
          <p:nvPr/>
        </p:nvGrpSpPr>
        <p:grpSpPr>
          <a:xfrm>
            <a:off x="606876" y="2610034"/>
            <a:ext cx="7958668" cy="1733182"/>
            <a:chOff x="683573" y="1844824"/>
            <a:chExt cx="7924665" cy="2226561"/>
          </a:xfrm>
        </p:grpSpPr>
        <p:sp>
          <p:nvSpPr>
            <p:cNvPr id="5" name="Google Shape;119;p8"/>
            <p:cNvSpPr/>
            <p:nvPr/>
          </p:nvSpPr>
          <p:spPr>
            <a:xfrm>
              <a:off x="688238" y="1844824"/>
              <a:ext cx="7920000" cy="2226561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" name="Google Shape;120;p8"/>
            <p:cNvSpPr txBox="1"/>
            <p:nvPr/>
          </p:nvSpPr>
          <p:spPr>
            <a:xfrm>
              <a:off x="762141" y="2322932"/>
              <a:ext cx="7772192" cy="17484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MBCS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문자열의 길이를 구하는 방법</a:t>
              </a:r>
              <a:b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(1)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문자 배열을 순회하면서 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MBCS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문자임을 확인하면서 일일이 셈</a:t>
              </a:r>
              <a:b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(2) 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유니코드로 변환하여 계산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8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MBCS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에는 적용할 수 없는 </a:t>
              </a:r>
              <a:r>
                <a:rPr lang="en-US" altLang="ko-KR" sz="1600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strlen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함수</a:t>
              </a:r>
              <a:endPara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20822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가변 길이 배열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가변 길이 배열의 개념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배열의 길이로 변수를 사용할 수 있는 것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C99 </a:t>
            </a:r>
            <a:r>
              <a:rPr lang="ko-KR" altLang="en-US" dirty="0"/>
              <a:t>이전에는 컴파일 타임에 배열의 길이가 결정되어야 해서</a:t>
            </a:r>
            <a:r>
              <a:rPr lang="en-US" altLang="ko-KR" dirty="0"/>
              <a:t> </a:t>
            </a:r>
            <a:r>
              <a:rPr lang="ko-KR" altLang="en-US" dirty="0"/>
              <a:t>숫자 </a:t>
            </a:r>
            <a:r>
              <a:rPr lang="ko-KR" altLang="en-US" dirty="0" err="1"/>
              <a:t>리터럴이</a:t>
            </a:r>
            <a:r>
              <a:rPr lang="ko-KR" altLang="en-US" dirty="0"/>
              <a:t> 사용되었음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500" dirty="0"/>
          </a:p>
        </p:txBody>
      </p:sp>
      <p:sp>
        <p:nvSpPr>
          <p:cNvPr id="7" name="Google Shape;102;p7"/>
          <p:cNvSpPr txBox="1"/>
          <p:nvPr/>
        </p:nvSpPr>
        <p:spPr>
          <a:xfrm>
            <a:off x="978033" y="366429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-12]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배열의 길이 구하기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4204091614"/>
              </p:ext>
            </p:extLst>
          </p:nvPr>
        </p:nvGraphicFramePr>
        <p:xfrm>
          <a:off x="1068069" y="4027643"/>
          <a:ext cx="6779261" cy="186538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arr1[3];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문제없음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 = 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arr2[N];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3144484" y="5327760"/>
            <a:ext cx="1839559" cy="323850"/>
            <a:chOff x="3913541" y="3752850"/>
            <a:chExt cx="1839559" cy="323850"/>
          </a:xfrm>
        </p:grpSpPr>
        <p:sp>
          <p:nvSpPr>
            <p:cNvPr id="10" name="직사각형 9"/>
            <p:cNvSpPr/>
            <p:nvPr/>
          </p:nvSpPr>
          <p:spPr>
            <a:xfrm>
              <a:off x="4762500" y="3752850"/>
              <a:ext cx="990600" cy="3238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 발생</a:t>
              </a:r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H="1">
              <a:off x="3913541" y="3914775"/>
              <a:ext cx="848961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0878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lang="ko-KR" altLang="en-US" dirty="0"/>
          </a:p>
        </p:txBody>
      </p:sp>
      <p:grpSp>
        <p:nvGrpSpPr>
          <p:cNvPr id="4" name="Google Shape;118;p8"/>
          <p:cNvGrpSpPr>
            <a:grpSpLocks noChangeAspect="1"/>
          </p:cNvGrpSpPr>
          <p:nvPr/>
        </p:nvGrpSpPr>
        <p:grpSpPr>
          <a:xfrm>
            <a:off x="606876" y="2610033"/>
            <a:ext cx="7958668" cy="2104841"/>
            <a:chOff x="683573" y="1844823"/>
            <a:chExt cx="7924665" cy="2704019"/>
          </a:xfrm>
        </p:grpSpPr>
        <p:sp>
          <p:nvSpPr>
            <p:cNvPr id="5" name="Google Shape;119;p8"/>
            <p:cNvSpPr/>
            <p:nvPr/>
          </p:nvSpPr>
          <p:spPr>
            <a:xfrm>
              <a:off x="688238" y="1844823"/>
              <a:ext cx="7920000" cy="2704019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" name="Google Shape;120;p8"/>
            <p:cNvSpPr txBox="1"/>
            <p:nvPr/>
          </p:nvSpPr>
          <p:spPr>
            <a:xfrm>
              <a:off x="762141" y="2286223"/>
              <a:ext cx="7772192" cy="17484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가변 길이 배열은 프로그램 실행 중 오류를 일으킬 수 있어 </a:t>
              </a:r>
              <a:r>
                <a:rPr lang="ko-KR" altLang="en-US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비주얼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스튜디오에서 의도적으로 지원하지 않음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 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7-16]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은 다른 온라인 컴파일러</a:t>
              </a:r>
              <a: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(Online Compiler)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사용하여 </a:t>
              </a:r>
              <a:br>
                <a: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altLang="en-US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컴파일되는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것을 확인할 수 있음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8" name="Google Shape;122;p8"/>
            <p:cNvSpPr txBox="1"/>
            <p:nvPr/>
          </p:nvSpPr>
          <p:spPr>
            <a:xfrm>
              <a:off x="2256715" y="1862054"/>
              <a:ext cx="55048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비주얼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스튜디오에서는 지원하지 않는 가변 길이 배열</a:t>
              </a:r>
              <a:endPara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27008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가변 길이 배열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가변 길이 배열의 개념</a:t>
            </a:r>
            <a:endParaRPr dirty="0"/>
          </a:p>
        </p:txBody>
      </p:sp>
      <p:sp>
        <p:nvSpPr>
          <p:cNvPr id="7" name="Google Shape;102;p7"/>
          <p:cNvSpPr txBox="1"/>
          <p:nvPr/>
        </p:nvSpPr>
        <p:spPr>
          <a:xfrm>
            <a:off x="978033" y="276894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-17]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 크기의 한계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565494480"/>
              </p:ext>
            </p:extLst>
          </p:nvPr>
        </p:nvGraphicFramePr>
        <p:xfrm>
          <a:off x="1068069" y="3132293"/>
          <a:ext cx="6779261" cy="186538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[1024 * 1024 * 4] = { 0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4100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lang="ko-KR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949" y="1563681"/>
            <a:ext cx="6447152" cy="437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55128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1879543"/>
            <a:ext cx="7924665" cy="3835459"/>
            <a:chOff x="615155" y="1379937"/>
            <a:chExt cx="7924665" cy="3835459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7"/>
              <a:ext cx="7924665" cy="3835459"/>
              <a:chOff x="683573" y="1844824"/>
              <a:chExt cx="7924665" cy="158269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5826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7-4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문자열의 길이 구하기 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789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다음과 같이 </a:t>
              </a:r>
              <a:r>
                <a:rPr lang="en-US" altLang="ko-KR" sz="16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str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배열에 들어간 문자열의 길이를 구하는 코드를 작성해봅시다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en-US" altLang="ko-KR" sz="16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strlen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을 사용하지 말고 </a:t>
              </a:r>
              <a:r>
                <a:rPr lang="en-US" altLang="ko-KR" sz="16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strlen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구현 방식을 이용해야 합니다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22"/>
          <a:stretch/>
        </p:blipFill>
        <p:spPr bwMode="auto">
          <a:xfrm>
            <a:off x="2183340" y="3224071"/>
            <a:ext cx="4796370" cy="409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850" y="3829344"/>
            <a:ext cx="6828301" cy="444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292" y="4558884"/>
            <a:ext cx="7215416" cy="521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1330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배열의 크기와 길이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553651"/>
            <a:ext cx="7924665" cy="4492103"/>
            <a:chOff x="615155" y="1327673"/>
            <a:chExt cx="7924665" cy="449210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27673"/>
              <a:ext cx="7924665" cy="4492103"/>
              <a:chOff x="683573" y="1844824"/>
              <a:chExt cx="7924665" cy="119893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1989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94336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7-4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425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4218455313"/>
                </p:ext>
              </p:extLst>
            </p:nvPr>
          </p:nvGraphicFramePr>
          <p:xfrm>
            <a:off x="871407" y="1794971"/>
            <a:ext cx="7416825" cy="391364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studio.h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[] = 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"abcdefghijklmnopqrstuvwxyz0123456789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";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i = 0; i &lt; 128; i++)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nn-NO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(str[i] == '\0')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문자열의 길이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%d"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break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392121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>
                <a:solidFill>
                  <a:schemeClr val="accent4"/>
                </a:solidFill>
              </a:rPr>
              <a:t>문자</a:t>
            </a:r>
            <a:r>
              <a:rPr lang="en-US" altLang="ko-KR" sz="4000" dirty="0">
                <a:solidFill>
                  <a:schemeClr val="accent4"/>
                </a:solidFill>
              </a:rPr>
              <a:t> </a:t>
            </a:r>
            <a:r>
              <a:rPr lang="ko-KR" altLang="en-US" sz="4000" dirty="0">
                <a:solidFill>
                  <a:schemeClr val="accent4"/>
                </a:solidFill>
              </a:rPr>
              <a:t>배열 합치기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문자 배열 합치기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7" y="1605086"/>
            <a:ext cx="8639498" cy="135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None/>
            </a:pPr>
            <a:r>
              <a:rPr lang="ko-KR" altLang="en-US" sz="1800" dirty="0"/>
              <a:t>다음의 문자 배열 </a:t>
            </a:r>
            <a:r>
              <a:rPr lang="en-US" altLang="ko-KR" sz="1800" dirty="0"/>
              <a:t>2</a:t>
            </a:r>
            <a:r>
              <a:rPr lang="ko-KR" altLang="en-US" sz="1800" dirty="0"/>
              <a:t>개를 합쳐서 “난생처음 </a:t>
            </a:r>
            <a:r>
              <a:rPr lang="en-US" altLang="ko-KR" sz="1800" dirty="0"/>
              <a:t>C </a:t>
            </a:r>
            <a:r>
              <a:rPr lang="ko-KR" altLang="en-US" sz="1800" dirty="0"/>
              <a:t>프로그래밍”을 저장하는 배열 </a:t>
            </a:r>
            <a:r>
              <a:rPr lang="en-US" altLang="ko-KR" sz="1800" dirty="0" err="1"/>
              <a:t>str</a:t>
            </a:r>
            <a:r>
              <a:rPr lang="ko-KR" altLang="en-US" sz="1800" dirty="0"/>
              <a:t>을 만들고 출력해봅시다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7" y="3148303"/>
            <a:ext cx="7598661" cy="904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88" y="4333591"/>
            <a:ext cx="7670225" cy="819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문자 배열 합치기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228970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Font typeface="Noto Sans Symbols"/>
              <a:buNone/>
            </a:pPr>
            <a:r>
              <a:rPr lang="en-US" altLang="ko-KR" sz="800" dirty="0">
                <a:solidFill>
                  <a:srgbClr val="7030A0"/>
                </a:solidFill>
              </a:rPr>
              <a:t> </a:t>
            </a:r>
            <a:endParaRPr lang="en-US" altLang="ko-KR" sz="1600" dirty="0">
              <a:solidFill>
                <a:srgbClr val="7030A0"/>
              </a:solidFill>
            </a:endParaRPr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1.</a:t>
            </a:r>
            <a:r>
              <a:rPr lang="en-US" altLang="ko-KR" sz="1800" dirty="0"/>
              <a:t> </a:t>
            </a:r>
            <a:r>
              <a:rPr lang="ko-KR" altLang="en-US" sz="1800" dirty="0"/>
              <a:t>목표 문자 배열 </a:t>
            </a:r>
            <a:r>
              <a:rPr lang="en-US" altLang="ko-KR" sz="1800" dirty="0" err="1"/>
              <a:t>str</a:t>
            </a:r>
            <a:r>
              <a:rPr lang="ko-KR" altLang="en-US" sz="1800" dirty="0"/>
              <a:t>의 인덱스로 </a:t>
            </a:r>
            <a:r>
              <a:rPr lang="en-US" altLang="ko-KR" sz="1800" dirty="0" err="1"/>
              <a:t>si</a:t>
            </a:r>
            <a:r>
              <a:rPr lang="ko-KR" altLang="en-US" sz="1800" dirty="0"/>
              <a:t>를 이용하여</a:t>
            </a:r>
            <a:r>
              <a:rPr lang="en-US" altLang="ko-KR" sz="1800" dirty="0"/>
              <a:t>,</a:t>
            </a:r>
          </a:p>
          <a:p>
            <a:pPr marL="0" indent="0" algn="just">
              <a:buNone/>
            </a:pPr>
            <a:r>
              <a:rPr lang="en-US" altLang="ko-KR" sz="1800" dirty="0"/>
              <a:t>         </a:t>
            </a:r>
            <a:r>
              <a:rPr lang="ko-KR" altLang="en-US" sz="1800" dirty="0"/>
              <a:t>복사할 문자 배열 </a:t>
            </a:r>
            <a:r>
              <a:rPr lang="en-US" altLang="ko-KR" sz="1800" dirty="0"/>
              <a:t>str1, str2</a:t>
            </a:r>
            <a:r>
              <a:rPr lang="ko-KR" altLang="en-US" sz="1800" dirty="0"/>
              <a:t>의 인덱스로 </a:t>
            </a:r>
            <a:r>
              <a:rPr lang="en-US" altLang="ko-KR" sz="1800" dirty="0" err="1"/>
              <a:t>i</a:t>
            </a:r>
            <a:r>
              <a:rPr lang="ko-KR" altLang="en-US" sz="1800" dirty="0"/>
              <a:t>를 사용한다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800" dirty="0"/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2.</a:t>
            </a:r>
            <a:r>
              <a:rPr lang="en-US" altLang="ko-KR" sz="1800" dirty="0"/>
              <a:t> </a:t>
            </a:r>
            <a:r>
              <a:rPr lang="ko-KR" altLang="en-US" sz="1800" dirty="0" err="1"/>
              <a:t>반복문을</a:t>
            </a:r>
            <a:r>
              <a:rPr lang="ko-KR" altLang="en-US" sz="1800" dirty="0"/>
              <a:t> 통해서 </a:t>
            </a:r>
            <a:r>
              <a:rPr lang="en-US" altLang="ko-KR" sz="1800" dirty="0"/>
              <a:t>str1</a:t>
            </a:r>
            <a:r>
              <a:rPr lang="ko-KR" altLang="en-US" sz="1800" dirty="0"/>
              <a:t>의 요소를 순회하면서 </a:t>
            </a:r>
            <a:r>
              <a:rPr lang="en-US" altLang="ko-KR" sz="1800" dirty="0"/>
              <a:t>NULL</a:t>
            </a:r>
            <a:r>
              <a:rPr lang="ko-KR" altLang="en-US" sz="1800" dirty="0"/>
              <a:t>이 아닌 경우</a:t>
            </a:r>
            <a:endParaRPr lang="en-US" altLang="ko-KR" sz="1800" dirty="0"/>
          </a:p>
          <a:p>
            <a:pPr marL="0" indent="0" algn="just">
              <a:buNone/>
            </a:pPr>
            <a:r>
              <a:rPr lang="en-US" altLang="ko-KR" sz="1800" dirty="0"/>
              <a:t>         </a:t>
            </a:r>
            <a:r>
              <a:rPr lang="en-US" altLang="ko-KR" sz="1800" dirty="0" err="1"/>
              <a:t>str</a:t>
            </a:r>
            <a:r>
              <a:rPr lang="en-US" altLang="ko-KR" sz="1800" dirty="0"/>
              <a:t> </a:t>
            </a:r>
            <a:r>
              <a:rPr lang="ko-KR" altLang="en-US" sz="1800" dirty="0"/>
              <a:t>요소에 복사하고</a:t>
            </a:r>
            <a:r>
              <a:rPr lang="en-US" altLang="ko-KR" sz="1800" dirty="0"/>
              <a:t>, NULL</a:t>
            </a:r>
            <a:r>
              <a:rPr lang="ko-KR" altLang="en-US" sz="1800" dirty="0"/>
              <a:t>을 만날 때는 </a:t>
            </a:r>
            <a:r>
              <a:rPr lang="ko-KR" altLang="en-US" sz="1800" dirty="0" err="1"/>
              <a:t>반복문을</a:t>
            </a:r>
            <a:r>
              <a:rPr lang="ko-KR" altLang="en-US" sz="1800" dirty="0"/>
              <a:t> 탈출한다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r>
              <a:rPr lang="en-US" altLang="ko-KR" sz="1800" dirty="0"/>
              <a:t>         </a:t>
            </a:r>
            <a:r>
              <a:rPr lang="ko-KR" altLang="en-US" sz="1800" dirty="0"/>
              <a:t>그 이후 띄어쓰기를 위하여 </a:t>
            </a:r>
            <a:r>
              <a:rPr lang="en-US" altLang="ko-KR" sz="1800" dirty="0" err="1"/>
              <a:t>str</a:t>
            </a:r>
            <a:r>
              <a:rPr lang="en-US" altLang="ko-KR" sz="1800" dirty="0"/>
              <a:t> </a:t>
            </a:r>
            <a:r>
              <a:rPr lang="ko-KR" altLang="en-US" sz="1800" dirty="0"/>
              <a:t>요소에 공백</a:t>
            </a:r>
            <a:r>
              <a:rPr lang="en-US" altLang="ko-KR" sz="1800" dirty="0"/>
              <a:t>(‘ ’)</a:t>
            </a:r>
            <a:r>
              <a:rPr lang="ko-KR" altLang="en-US" sz="1800" dirty="0"/>
              <a:t>을 넣고 인덱스 </a:t>
            </a:r>
            <a:r>
              <a:rPr lang="en-US" altLang="ko-KR" sz="1800" dirty="0" err="1"/>
              <a:t>si</a:t>
            </a:r>
            <a:r>
              <a:rPr lang="ko-KR" altLang="en-US" sz="1800" dirty="0"/>
              <a:t>는</a:t>
            </a:r>
            <a:endParaRPr lang="en-US" altLang="ko-KR" sz="1800" dirty="0"/>
          </a:p>
          <a:p>
            <a:pPr marL="0" indent="0" algn="just">
              <a:buNone/>
            </a:pPr>
            <a:r>
              <a:rPr lang="en-US" altLang="ko-KR" sz="1800" dirty="0"/>
              <a:t>         1 </a:t>
            </a:r>
            <a:r>
              <a:rPr lang="ko-KR" altLang="en-US" sz="1800" dirty="0"/>
              <a:t>증가시킨 후 다시 </a:t>
            </a:r>
            <a:r>
              <a:rPr lang="ko-KR" altLang="en-US" sz="1800" dirty="0" err="1"/>
              <a:t>반복문을</a:t>
            </a:r>
            <a:r>
              <a:rPr lang="ko-KR" altLang="en-US" sz="1800" dirty="0"/>
              <a:t> 통해서 </a:t>
            </a:r>
            <a:r>
              <a:rPr lang="en-US" altLang="ko-KR" sz="1800" dirty="0"/>
              <a:t>str2</a:t>
            </a:r>
            <a:r>
              <a:rPr lang="ko-KR" altLang="en-US" sz="1800" dirty="0"/>
              <a:t>를 </a:t>
            </a:r>
            <a:r>
              <a:rPr lang="en-US" altLang="ko-KR" sz="1800" dirty="0" err="1"/>
              <a:t>str</a:t>
            </a:r>
            <a:r>
              <a:rPr lang="ko-KR" altLang="en-US" sz="1800" dirty="0"/>
              <a:t>에 복사한다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800" dirty="0"/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3.</a:t>
            </a:r>
            <a:r>
              <a:rPr lang="en-US" altLang="ko-KR" sz="1800" dirty="0"/>
              <a:t> </a:t>
            </a:r>
            <a:r>
              <a:rPr lang="en-US" altLang="ko-KR" sz="1800" dirty="0" err="1">
                <a:latin typeface="Consolas" panose="020B0609020204030204" pitchFamily="49" charset="0"/>
              </a:rPr>
              <a:t>str</a:t>
            </a:r>
            <a:r>
              <a:rPr lang="ko-KR" altLang="en-US" sz="1800" dirty="0">
                <a:latin typeface="Consolas" panose="020B0609020204030204" pitchFamily="49" charset="0"/>
              </a:rPr>
              <a:t>이 이미 중괄호 초기값으로 모든 요소가 </a:t>
            </a:r>
            <a:r>
              <a:rPr lang="en-US" altLang="ko-KR" sz="1800" dirty="0">
                <a:latin typeface="Consolas" panose="020B0609020204030204" pitchFamily="49" charset="0"/>
              </a:rPr>
              <a:t>0</a:t>
            </a:r>
            <a:r>
              <a:rPr lang="ko-KR" altLang="en-US" sz="1800" dirty="0">
                <a:latin typeface="Consolas" panose="020B0609020204030204" pitchFamily="49" charset="0"/>
              </a:rPr>
              <a:t>으로 초기화</a:t>
            </a:r>
            <a:endParaRPr lang="en-US" altLang="ko-KR" sz="1800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altLang="ko-KR" sz="1800" dirty="0">
                <a:latin typeface="Consolas" panose="020B0609020204030204" pitchFamily="49" charset="0"/>
              </a:rPr>
              <a:t>      </a:t>
            </a:r>
            <a:r>
              <a:rPr lang="ko-KR" altLang="en-US" sz="1800" dirty="0">
                <a:latin typeface="Consolas" panose="020B0609020204030204" pitchFamily="49" charset="0"/>
              </a:rPr>
              <a:t>되었으므로</a:t>
            </a:r>
            <a:r>
              <a:rPr lang="en-US" altLang="ko-KR" sz="1800" dirty="0">
                <a:latin typeface="Consolas" panose="020B0609020204030204" pitchFamily="49" charset="0"/>
              </a:rPr>
              <a:t> NULL(0)</a:t>
            </a:r>
            <a:r>
              <a:rPr lang="ko-KR" altLang="en-US" sz="1800" dirty="0">
                <a:latin typeface="Consolas" panose="020B0609020204030204" pitchFamily="49" charset="0"/>
              </a:rPr>
              <a:t>으로 차 있는 상태이다</a:t>
            </a:r>
            <a:r>
              <a:rPr lang="en-US" altLang="ko-KR" sz="1800" dirty="0">
                <a:latin typeface="Consolas" panose="020B0609020204030204" pitchFamily="49" charset="0"/>
              </a:rPr>
              <a:t>. </a:t>
            </a:r>
            <a:r>
              <a:rPr lang="ko-KR" altLang="en-US" sz="1800" dirty="0">
                <a:latin typeface="Consolas" panose="020B0609020204030204" pitchFamily="49" charset="0"/>
              </a:rPr>
              <a:t>따라서 기본적으로</a:t>
            </a:r>
            <a:endParaRPr lang="en-US" altLang="ko-KR" sz="1800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altLang="ko-KR" sz="1800" dirty="0">
                <a:latin typeface="Consolas" panose="020B0609020204030204" pitchFamily="49" charset="0"/>
              </a:rPr>
              <a:t>      NULL </a:t>
            </a:r>
            <a:r>
              <a:rPr lang="ko-KR" altLang="en-US" sz="1800" dirty="0">
                <a:latin typeface="Consolas" panose="020B0609020204030204" pitchFamily="49" charset="0"/>
              </a:rPr>
              <a:t>종료 문자열이 된다</a:t>
            </a:r>
            <a:r>
              <a:rPr lang="en-US" altLang="ko-KR" sz="1800" dirty="0">
                <a:latin typeface="Consolas" panose="020B0609020204030204" pitchFamily="49" charset="0"/>
              </a:rPr>
              <a:t>.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7420690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>
                <a:solidFill>
                  <a:schemeClr val="tx1"/>
                </a:solidFill>
              </a:rPr>
              <a:t>100 </a:t>
            </a:r>
            <a:r>
              <a:rPr lang="ko-KR" altLang="en-US" dirty="0">
                <a:solidFill>
                  <a:schemeClr val="tx1"/>
                </a:solidFill>
              </a:rPr>
              <a:t>이하의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소수 출력하기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995486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802021039"/>
              </p:ext>
            </p:extLst>
          </p:nvPr>
        </p:nvGraphicFramePr>
        <p:xfrm>
          <a:off x="873112" y="1543050"/>
          <a:ext cx="7416825" cy="49377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studio.h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[64] = {0};</a:t>
                      </a:r>
                      <a:endParaRPr lang="nn-NO" altLang="ko-KR" baseline="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nn-NO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str1[ ] = </a:t>
                      </a:r>
                      <a:r>
                        <a:rPr lang="nn-NO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str2[ ] =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0,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(str1);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(str1[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 !=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\0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 = str1[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else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>
                <a:solidFill>
                  <a:schemeClr val="tx1"/>
                </a:solidFill>
              </a:rPr>
              <a:t>100 </a:t>
            </a:r>
            <a:r>
              <a:rPr lang="ko-KR" altLang="en-US" dirty="0">
                <a:solidFill>
                  <a:schemeClr val="tx1"/>
                </a:solidFill>
              </a:rPr>
              <a:t>이하의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소수 출력하기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992006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723255906"/>
              </p:ext>
            </p:extLst>
          </p:nvPr>
        </p:nvGraphicFramePr>
        <p:xfrm>
          <a:off x="873112" y="1539570"/>
          <a:ext cx="7416825" cy="49377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break;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] =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 '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(str2);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(str2[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] !=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\0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] = str2[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0898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3023</Words>
  <Application>Microsoft Office PowerPoint</Application>
  <PresentationFormat>화면 슬라이드 쇼(4:3)</PresentationFormat>
  <Paragraphs>796</Paragraphs>
  <Slides>56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3" baseType="lpstr">
      <vt:lpstr>Noto Sans Symbols</vt:lpstr>
      <vt:lpstr>Malgun Gothic</vt:lpstr>
      <vt:lpstr>Malgun Gothic</vt:lpstr>
      <vt:lpstr>Arial</vt:lpstr>
      <vt:lpstr>Consolas</vt:lpstr>
      <vt:lpstr>Verdana</vt:lpstr>
      <vt:lpstr>Office 테마</vt:lpstr>
      <vt:lpstr>Chapter 07. 배열</vt:lpstr>
      <vt:lpstr>PowerPoint 프레젠테이션</vt:lpstr>
      <vt:lpstr>PowerPoint 프레젠테이션</vt:lpstr>
      <vt:lpstr>PowerPoint 프레젠테이션</vt:lpstr>
      <vt:lpstr>01. 배열이란?</vt:lpstr>
      <vt:lpstr>01. 배열이란?</vt:lpstr>
      <vt:lpstr>01. 배열이란?</vt:lpstr>
      <vt:lpstr>01. 배열이란?</vt:lpstr>
      <vt:lpstr>01. 배열이란?</vt:lpstr>
      <vt:lpstr>01. 배열이란?</vt:lpstr>
      <vt:lpstr>01. 배열이란?</vt:lpstr>
      <vt:lpstr>01. 배열이란?</vt:lpstr>
      <vt:lpstr>01. 배열이란?</vt:lpstr>
      <vt:lpstr>01. 배열이란?</vt:lpstr>
      <vt:lpstr>01. 배열이란?</vt:lpstr>
      <vt:lpstr>PowerPoint 프레젠테이션</vt:lpstr>
      <vt:lpstr>02. 배열의 초기화</vt:lpstr>
      <vt:lpstr>02. 배열의 초기화</vt:lpstr>
      <vt:lpstr>02. 배열의 초기화</vt:lpstr>
      <vt:lpstr>02. 배열의 초기화</vt:lpstr>
      <vt:lpstr>02. 배열의 초기화</vt:lpstr>
      <vt:lpstr>02. 배열의 초기화</vt:lpstr>
      <vt:lpstr>02. 배열의 초기화</vt:lpstr>
      <vt:lpstr>02. 배열의 초기화</vt:lpstr>
      <vt:lpstr>02. 배열의 초기화</vt:lpstr>
      <vt:lpstr>02. 배열의 초기화</vt:lpstr>
      <vt:lpstr>02. 배열의 초기화</vt:lpstr>
      <vt:lpstr>02. 배열의 초기화</vt:lpstr>
      <vt:lpstr>PowerPoint 프레젠테이션</vt:lpstr>
      <vt:lpstr>03. 다차원 배열</vt:lpstr>
      <vt:lpstr>03. 다차원 배열</vt:lpstr>
      <vt:lpstr>03. 다차원 배열</vt:lpstr>
      <vt:lpstr>03. 다차원 배열</vt:lpstr>
      <vt:lpstr>03. 다차원 배열</vt:lpstr>
      <vt:lpstr>03. 다차원 배열</vt:lpstr>
      <vt:lpstr>03. 다차원 배열</vt:lpstr>
      <vt:lpstr>03. 다차원 배열</vt:lpstr>
      <vt:lpstr>PowerPoint 프레젠테이션</vt:lpstr>
      <vt:lpstr>04. 배열의 크기와 길이</vt:lpstr>
      <vt:lpstr>04. 배열의 크기와 길이</vt:lpstr>
      <vt:lpstr>04. 배열의 크기와 길이</vt:lpstr>
      <vt:lpstr>04. 배열의 크기와 길이</vt:lpstr>
      <vt:lpstr>04. 배열의 크기와 길이</vt:lpstr>
      <vt:lpstr>04. 배열의 크기와 길이</vt:lpstr>
      <vt:lpstr>04. 배열의 크기와 길이</vt:lpstr>
      <vt:lpstr>04. 배열의 크기와 길이</vt:lpstr>
      <vt:lpstr>04. 배열의 크기와 길이</vt:lpstr>
      <vt:lpstr>04. 배열의 크기와 길이</vt:lpstr>
      <vt:lpstr>04. 배열의 크기와 길이</vt:lpstr>
      <vt:lpstr>04. 배열의 크기와 길이</vt:lpstr>
      <vt:lpstr>PowerPoint 프레젠테이션</vt:lpstr>
      <vt:lpstr>[실전예제] 문자 배열 합치기</vt:lpstr>
      <vt:lpstr>[실전예제] 문자 배열 합치기</vt:lpstr>
      <vt:lpstr>[실전예제] 100 이하의 소수 출력하기</vt:lpstr>
      <vt:lpstr>[실전예제] 100 이하의 소수 출력하기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169</cp:revision>
  <dcterms:created xsi:type="dcterms:W3CDTF">2012-07-11T10:23:22Z</dcterms:created>
  <dcterms:modified xsi:type="dcterms:W3CDTF">2022-02-22T09:24:59Z</dcterms:modified>
</cp:coreProperties>
</file>