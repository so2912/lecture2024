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64" r:id="rId3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jheeFHPpR1FU35VcNLwCaXgkZx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13402396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1">
  <p:cSld name="1_제목 슬라이드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/>
          <p:nvPr/>
        </p:nvSpPr>
        <p:spPr>
          <a:xfrm>
            <a:off x="0" y="5373216"/>
            <a:ext cx="9144000" cy="1484784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" name="Google Shape;17;p11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81257" y="320688"/>
            <a:ext cx="1800000" cy="3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2894" y="329071"/>
            <a:ext cx="3978211" cy="4684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/>
          <p:nvPr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body" idx="1"/>
          </p:nvPr>
        </p:nvSpPr>
        <p:spPr>
          <a:xfrm>
            <a:off x="755576" y="1851323"/>
            <a:ext cx="7615014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  <a:defRPr sz="20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학습목표">
  <p:cSld name="학습목표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학습목표</a:t>
            </a:r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body" idx="1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/>
          <p:nvPr/>
        </p:nvSpPr>
        <p:spPr>
          <a:xfrm>
            <a:off x="323057" y="404813"/>
            <a:ext cx="8497887" cy="6048375"/>
          </a:xfrm>
          <a:prstGeom prst="roundRect">
            <a:avLst>
              <a:gd name="adj" fmla="val 5013"/>
            </a:avLst>
          </a:prstGeom>
          <a:solidFill>
            <a:srgbClr val="F29B8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999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" name="Google Shape;29;p14"/>
          <p:cNvSpPr/>
          <p:nvPr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14"/>
          <p:cNvSpPr/>
          <p:nvPr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algun Gothic"/>
              <a:buNone/>
              <a:defRPr sz="48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body" idx="2"/>
          </p:nvPr>
        </p:nvSpPr>
        <p:spPr>
          <a:xfrm>
            <a:off x="719572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algun Gothic"/>
              <a:buNone/>
              <a:defRPr sz="54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섹션 목차">
  <p:cSld name="섹션 목차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5" name="Google Shape;35;p15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36;p15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5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5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208912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/>
            </a:lvl3pPr>
            <a:lvl4pPr marL="1828800" lvl="3" indent="-326136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/>
          <p:nvPr/>
        </p:nvSpPr>
        <p:spPr>
          <a:xfrm>
            <a:off x="855369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0" i="0" u="none" strike="noStrike" cap="none" dirty="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/ </a:t>
            </a:r>
            <a:r>
              <a:rPr lang="en-US" altLang="ko-KR" sz="1400" b="0" i="0" u="none" strike="noStrike" cap="none" dirty="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31</a:t>
            </a:r>
            <a:endParaRPr sz="1600" b="0" i="0" u="none" strike="noStrike" cap="none" dirty="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5"/>
          <p:cNvSpPr txBox="1"/>
          <p:nvPr/>
        </p:nvSpPr>
        <p:spPr>
          <a:xfrm>
            <a:off x="824440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4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600" b="0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끝">
  <p:cSld name="1_끝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6"/>
          <p:cNvSpPr/>
          <p:nvPr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44;p16"/>
          <p:cNvSpPr/>
          <p:nvPr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5" name="Google Shape;45;p16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20272" y="5631234"/>
            <a:ext cx="1905001" cy="31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6"/>
          <p:cNvSpPr txBox="1"/>
          <p:nvPr/>
        </p:nvSpPr>
        <p:spPr>
          <a:xfrm>
            <a:off x="3084944" y="6309320"/>
            <a:ext cx="283282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</a:t>
            </a:r>
            <a:r>
              <a:rPr lang="ko-KR" sz="1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-US" altLang="ko-KR" sz="1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ko-KR" sz="1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Hanbit</a:t>
            </a:r>
            <a:r>
              <a:rPr lang="ko-KR" sz="1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Academy</a:t>
            </a:r>
            <a:r>
              <a:rPr lang="ko-KR" sz="1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Inc.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</a:t>
            </a:r>
            <a:r>
              <a:rPr lang="ko-KR" sz="11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rights</a:t>
            </a:r>
            <a:r>
              <a:rPr lang="ko-KR" sz="1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reserved</a:t>
            </a:r>
            <a:r>
              <a:rPr lang="ko-KR" sz="11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6"/>
          <p:cNvSpPr txBox="1"/>
          <p:nvPr/>
        </p:nvSpPr>
        <p:spPr>
          <a:xfrm>
            <a:off x="2933818" y="2492896"/>
            <a:ext cx="327636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 b="1" i="0" u="none" strike="noStrike" cap="none">
                <a:solidFill>
                  <a:srgbClr val="E5242C"/>
                </a:solidFill>
                <a:latin typeface="Verdana"/>
                <a:ea typeface="Verdana"/>
                <a:cs typeface="Verdana"/>
                <a:sym typeface="Verdana"/>
              </a:rPr>
              <a:t>Thank you!</a:t>
            </a:r>
            <a:endParaRPr sz="4000" b="1">
              <a:solidFill>
                <a:srgbClr val="E5242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저작권">
  <p:cSld name="1_저작권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7"/>
          <p:cNvSpPr txBox="1"/>
          <p:nvPr/>
        </p:nvSpPr>
        <p:spPr>
          <a:xfrm>
            <a:off x="612452" y="981075"/>
            <a:ext cx="79914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난생처음 C 언어 프로그래밍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7"/>
          <p:cNvSpPr txBox="1"/>
          <p:nvPr/>
        </p:nvSpPr>
        <p:spPr>
          <a:xfrm>
            <a:off x="612453" y="1700213"/>
            <a:ext cx="7991475" cy="1446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[강의교안 이용 안내]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ko-KR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강의교안의 저작권은 한빛아카데미㈜에 있습니다.</a:t>
            </a:r>
            <a:r>
              <a:rPr lang="ko-KR"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100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Char char="•"/>
            </a:pPr>
            <a:r>
              <a:rPr lang="ko-KR" sz="1100" u="sng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자료를 무단으로 전제하거나 배포할 경우 저작권법 136조에 의거하여 최고 5년 이하의 징역 또는 5천만원 이하의 벌금에 처할 수 있고 이를 병과(倂科)할 수도 있습니다.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" name="Google Shape;51;p17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본문2">
  <p:cSld name="본문2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body" idx="2"/>
          </p:nvPr>
        </p:nvSpPr>
        <p:spPr>
          <a:xfrm>
            <a:off x="4644008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6" name="Google Shape;56;p18" descr="쿡북로고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68344" y="485909"/>
            <a:ext cx="1216025" cy="322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18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" name="Google Shape;58;p18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" name="Google Shape;59;p18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" name="Google Shape;60;p18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251520" y="274638"/>
            <a:ext cx="871296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251520" y="1600200"/>
            <a:ext cx="8712968" cy="4853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>
            <a:spLocks noGrp="1"/>
          </p:cNvSpPr>
          <p:nvPr>
            <p:ph type="title" idx="4294967295"/>
          </p:nvPr>
        </p:nvSpPr>
        <p:spPr>
          <a:xfrm>
            <a:off x="395536" y="6173660"/>
            <a:ext cx="8306320" cy="32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 dirty="0">
                <a:solidFill>
                  <a:schemeClr val="lt1"/>
                </a:solidFill>
              </a:rPr>
              <a:t>Chapter 0</a:t>
            </a:r>
            <a:r>
              <a:rPr lang="en-US" altLang="ko-KR" sz="3600" b="1" dirty="0">
                <a:solidFill>
                  <a:schemeClr val="lt1"/>
                </a:solidFill>
              </a:rPr>
              <a:t>1</a:t>
            </a:r>
            <a:r>
              <a:rPr lang="ko-KR" sz="3600" b="1" dirty="0">
                <a:solidFill>
                  <a:schemeClr val="lt1"/>
                </a:solidFill>
              </a:rPr>
              <a:t>. </a:t>
            </a:r>
            <a:r>
              <a:rPr lang="ko-KR" altLang="en-US" sz="3600" b="1" dirty="0">
                <a:solidFill>
                  <a:schemeClr val="lt1"/>
                </a:solidFill>
              </a:rPr>
              <a:t>프로그래밍과 </a:t>
            </a:r>
            <a:r>
              <a:rPr lang="en-US" altLang="ko-KR" sz="3600" b="1" dirty="0">
                <a:solidFill>
                  <a:schemeClr val="lt1"/>
                </a:solidFill>
              </a:rPr>
              <a:t>C </a:t>
            </a:r>
            <a:r>
              <a:rPr lang="ko-KR" altLang="en-US" sz="3600" b="1" dirty="0">
                <a:solidFill>
                  <a:schemeClr val="lt1"/>
                </a:solidFill>
              </a:rPr>
              <a:t>언어</a:t>
            </a:r>
            <a:endParaRPr dirty="0"/>
          </a:p>
        </p:txBody>
      </p:sp>
      <p:sp>
        <p:nvSpPr>
          <p:cNvPr id="66" name="Google Shape;66;p1"/>
          <p:cNvSpPr txBox="1"/>
          <p:nvPr/>
        </p:nvSpPr>
        <p:spPr>
          <a:xfrm>
            <a:off x="418840" y="5517232"/>
            <a:ext cx="8306320" cy="62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none" strike="noStrike" cap="none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01. C 언어 준비 학습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/>
        </p:nvSpPr>
        <p:spPr>
          <a:xfrm>
            <a:off x="785292" y="908720"/>
            <a:ext cx="6162972" cy="504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30200">
              <a:lnSpc>
                <a:spcPct val="150000"/>
              </a:lnSpc>
              <a:buClr>
                <a:schemeClr val="dk1"/>
              </a:buClr>
              <a:buSzPts val="2000"/>
            </a:pPr>
            <a:endParaRPr lang="ko-KR" altLang="en-US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30200">
              <a:lnSpc>
                <a:spcPct val="150000"/>
              </a:lnSpc>
              <a:buClr>
                <a:schemeClr val="dk1"/>
              </a:buClr>
              <a:buSzPts val="2000"/>
            </a:pPr>
            <a:endParaRPr lang="ko-KR" altLang="en-US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30200">
              <a:lnSpc>
                <a:spcPct val="150000"/>
              </a:lnSpc>
              <a:buClr>
                <a:schemeClr val="dk1"/>
              </a:buClr>
              <a:buSzPts val="2000"/>
            </a:pPr>
            <a:endParaRPr lang="ko-KR" altLang="en-US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30200">
              <a:lnSpc>
                <a:spcPct val="150000"/>
              </a:lnSpc>
              <a:buClr>
                <a:schemeClr val="dk1"/>
              </a:buClr>
              <a:buSzPts val="2000"/>
            </a:pPr>
            <a:endParaRPr lang="ko-KR" altLang="en-US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30200">
              <a:lnSpc>
                <a:spcPct val="150000"/>
              </a:lnSpc>
              <a:buClr>
                <a:schemeClr val="dk1"/>
              </a:buClr>
              <a:buSzPts val="2000"/>
            </a:pPr>
            <a:endParaRPr lang="ko-KR" altLang="en-US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프로그래밍이란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  <a:endParaRPr lang="ko-KR" altLang="en-US" sz="2000" dirty="0"/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프로그래밍 언어란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  <a:endParaRPr lang="ko-KR" altLang="en-US" sz="2000" dirty="0"/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 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언어란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  <a:endParaRPr lang="ko-KR" altLang="en-US" sz="2000" dirty="0"/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비주얼</a:t>
            </a:r>
            <a:r>
              <a:rPr lang="ko-KR" altLang="en-US" sz="20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스튜디오 설치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>
            <a:spLocks noGrp="1"/>
          </p:cNvSpPr>
          <p:nvPr>
            <p:ph type="body" idx="1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/>
              <a:t>프로그래밍과 프로그래밍 언어의 개념을 이해한다.</a:t>
            </a:r>
            <a:endParaRPr/>
          </a:p>
          <a:p>
            <a:pPr marL="457200" lvl="0" indent="-4572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/>
              <a:t>C 언어란 무엇인지 배우고 역사와 특징을 살펴본다.</a:t>
            </a:r>
            <a:endParaRPr/>
          </a:p>
          <a:p>
            <a:pPr marL="457200" lvl="0" indent="-4572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/>
              <a:t>프로그래밍을 위한 도구인 통합 개발 환경의 특징을 살펴본다.</a:t>
            </a:r>
            <a:endParaRPr/>
          </a:p>
          <a:p>
            <a:pPr marL="457200" lvl="0" indent="-45720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/>
              <a:t>C 언어 프로그래밍을 위한 비주얼 스튜디오를 설치한다.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sz="4000"/>
              <a:t>프로그래밍이란?</a:t>
            </a:r>
            <a:endParaRPr sz="4000"/>
          </a:p>
        </p:txBody>
      </p:sp>
      <p:sp>
        <p:nvSpPr>
          <p:cNvPr id="82" name="Google Shape;82;p4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ko-KR"/>
              <a:t>01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E36C09"/>
                </a:solidFill>
              </a:rPr>
              <a:t>01. </a:t>
            </a:r>
            <a:r>
              <a:rPr lang="ko-KR"/>
              <a:t>프로그래밍이란?</a:t>
            </a:r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sz="2400"/>
              <a:t>컴퓨터의 개념</a:t>
            </a:r>
            <a:endParaRPr sz="240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b="1"/>
              <a:t>컴퓨터</a:t>
            </a:r>
            <a:endParaRPr b="1"/>
          </a:p>
          <a:p>
            <a:pPr marL="809625" lvl="3" indent="-180975" algn="l" rtl="0">
              <a:lnSpc>
                <a:spcPct val="150000"/>
              </a:lnSpc>
              <a:spcBef>
                <a:spcPts val="620"/>
              </a:spcBef>
              <a:spcAft>
                <a:spcPts val="0"/>
              </a:spcAft>
              <a:buClr>
                <a:srgbClr val="3C479D"/>
              </a:buClr>
              <a:buSzPts val="1536"/>
              <a:buChar char="–"/>
            </a:pPr>
            <a:r>
              <a:rPr lang="ko-KR"/>
              <a:t>다양한 입력에 반응하는 전자식 장치</a:t>
            </a:r>
            <a:endParaRPr/>
          </a:p>
          <a:p>
            <a:pPr marL="809625" lvl="3" indent="-180975" algn="l" rtl="0">
              <a:lnSpc>
                <a:spcPct val="150000"/>
              </a:lnSpc>
              <a:spcBef>
                <a:spcPts val="620"/>
              </a:spcBef>
              <a:spcAft>
                <a:spcPts val="0"/>
              </a:spcAft>
              <a:buClr>
                <a:srgbClr val="3C479D"/>
              </a:buClr>
              <a:buSzPts val="1536"/>
              <a:buChar char="–"/>
            </a:pPr>
            <a:r>
              <a:rPr lang="ko-KR"/>
              <a:t>데스크톱, 노트북, 스마트폰, 현금입출금기, 키오스크 등</a:t>
            </a:r>
            <a:endParaRPr/>
          </a:p>
        </p:txBody>
      </p:sp>
      <p:pic>
        <p:nvPicPr>
          <p:cNvPr id="89" name="Google Shape;89;p5" descr="텍스트, 클립아트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90205" y="3573016"/>
            <a:ext cx="4963591" cy="2352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E36C09"/>
                </a:solidFill>
              </a:rPr>
              <a:t>01. </a:t>
            </a:r>
            <a:r>
              <a:rPr lang="ko-KR"/>
              <a:t>프로그래밍이란?</a:t>
            </a:r>
            <a:endParaRPr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06489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 startAt="2"/>
            </a:pPr>
            <a:r>
              <a:rPr lang="ko-KR" sz="2400"/>
              <a:t>프로그램, 프로그래밍, 프로그래머</a:t>
            </a:r>
            <a:endParaRPr sz="240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b="1"/>
              <a:t>프로그램</a:t>
            </a:r>
            <a:endParaRPr b="1"/>
          </a:p>
          <a:p>
            <a:pPr marL="809625" lvl="3" indent="-180975" algn="l" rtl="0">
              <a:lnSpc>
                <a:spcPct val="150000"/>
              </a:lnSpc>
              <a:spcBef>
                <a:spcPts val="620"/>
              </a:spcBef>
              <a:spcAft>
                <a:spcPts val="0"/>
              </a:spcAft>
              <a:buClr>
                <a:srgbClr val="3C479D"/>
              </a:buClr>
              <a:buSzPts val="1536"/>
              <a:buChar char="–"/>
            </a:pPr>
            <a:r>
              <a:rPr lang="ko-KR"/>
              <a:t>컴퓨터에 의해 실행되어 서비스되는 앱, 소프트웨어</a:t>
            </a:r>
            <a:endParaRPr/>
          </a:p>
          <a:p>
            <a:pPr marL="809625" lvl="3" indent="-180975" algn="l" rtl="0">
              <a:lnSpc>
                <a:spcPct val="150000"/>
              </a:lnSpc>
              <a:spcBef>
                <a:spcPts val="620"/>
              </a:spcBef>
              <a:spcAft>
                <a:spcPts val="0"/>
              </a:spcAft>
              <a:buClr>
                <a:srgbClr val="3C479D"/>
              </a:buClr>
              <a:buSzPts val="1536"/>
              <a:buChar char="–"/>
            </a:pPr>
            <a:r>
              <a:rPr lang="ko-KR"/>
              <a:t>크롬(Chrome), 엑셀(Excel), 워드(Words)를 비롯한 스마트폰의 게임 등</a:t>
            </a:r>
            <a:endParaRPr/>
          </a:p>
          <a:p>
            <a:pPr marL="628650" lvl="2" indent="-180975" algn="l" rtl="0">
              <a:lnSpc>
                <a:spcPct val="150000"/>
              </a:lnSpc>
              <a:spcBef>
                <a:spcPts val="6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b="1"/>
              <a:t>프로그래밍</a:t>
            </a:r>
            <a:endParaRPr b="1"/>
          </a:p>
          <a:p>
            <a:pPr marL="809625" lvl="3" indent="-180975" algn="l" rtl="0">
              <a:lnSpc>
                <a:spcPct val="150000"/>
              </a:lnSpc>
              <a:spcBef>
                <a:spcPts val="620"/>
              </a:spcBef>
              <a:spcAft>
                <a:spcPts val="0"/>
              </a:spcAft>
              <a:buClr>
                <a:srgbClr val="3C479D"/>
              </a:buClr>
              <a:buSzPts val="1536"/>
              <a:buChar char="–"/>
            </a:pPr>
            <a:r>
              <a:rPr lang="ko-KR"/>
              <a:t>프로그램을 만드는 작업</a:t>
            </a:r>
            <a:endParaRPr/>
          </a:p>
          <a:p>
            <a:pPr marL="628650" lvl="2" indent="-180975" algn="l" rtl="0">
              <a:lnSpc>
                <a:spcPct val="150000"/>
              </a:lnSpc>
              <a:spcBef>
                <a:spcPts val="6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b="1"/>
              <a:t>프로그래머</a:t>
            </a:r>
            <a:endParaRPr b="1"/>
          </a:p>
          <a:p>
            <a:pPr marL="809625" lvl="3" indent="-180975" algn="l" rtl="0">
              <a:lnSpc>
                <a:spcPct val="150000"/>
              </a:lnSpc>
              <a:spcBef>
                <a:spcPts val="620"/>
              </a:spcBef>
              <a:spcAft>
                <a:spcPts val="0"/>
              </a:spcAft>
              <a:buClr>
                <a:srgbClr val="3C479D"/>
              </a:buClr>
              <a:buSzPts val="1536"/>
              <a:buChar char="–"/>
            </a:pPr>
            <a:r>
              <a:rPr lang="ko-KR"/>
              <a:t>프로그래밍을 하는 사람</a:t>
            </a:r>
            <a:endParaRPr/>
          </a:p>
          <a:p>
            <a:pPr marL="809625" lvl="3" indent="-83439" algn="l" rtl="0">
              <a:lnSpc>
                <a:spcPct val="150000"/>
              </a:lnSpc>
              <a:spcBef>
                <a:spcPts val="620"/>
              </a:spcBef>
              <a:spcAft>
                <a:spcPts val="0"/>
              </a:spcAft>
              <a:buClr>
                <a:srgbClr val="3C479D"/>
              </a:buClr>
              <a:buSzPts val="1536"/>
              <a:buNone/>
            </a:pPr>
            <a:endParaRPr/>
          </a:p>
          <a:p>
            <a:pPr marL="628650" lvl="2" indent="-66675" algn="l" rtl="0">
              <a:lnSpc>
                <a:spcPct val="150000"/>
              </a:lnSpc>
              <a:spcBef>
                <a:spcPts val="660"/>
              </a:spcBef>
              <a:spcAft>
                <a:spcPts val="0"/>
              </a:spcAft>
              <a:buClr>
                <a:srgbClr val="3C479D"/>
              </a:buClr>
              <a:buSzPts val="1800"/>
              <a:buNone/>
            </a:pPr>
            <a:endParaRPr/>
          </a:p>
          <a:p>
            <a:pPr marL="809625" lvl="3" indent="-83439" algn="l" rtl="0">
              <a:lnSpc>
                <a:spcPct val="150000"/>
              </a:lnSpc>
              <a:spcBef>
                <a:spcPts val="620"/>
              </a:spcBef>
              <a:spcAft>
                <a:spcPts val="0"/>
              </a:spcAft>
              <a:buClr>
                <a:srgbClr val="3C479D"/>
              </a:buClr>
              <a:buSzPts val="1536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E36C09"/>
                </a:solidFill>
              </a:rPr>
              <a:t>01. </a:t>
            </a:r>
            <a:r>
              <a:rPr lang="ko-KR"/>
              <a:t>프로그래밍이란?</a:t>
            </a:r>
            <a:endParaRPr/>
          </a:p>
        </p:txBody>
      </p:sp>
      <p:grpSp>
        <p:nvGrpSpPr>
          <p:cNvPr id="2" name="그룹 1"/>
          <p:cNvGrpSpPr/>
          <p:nvPr/>
        </p:nvGrpSpPr>
        <p:grpSpPr>
          <a:xfrm>
            <a:off x="1227107" y="1009291"/>
            <a:ext cx="6689785" cy="5519399"/>
            <a:chOff x="1837135" y="1343437"/>
            <a:chExt cx="5469440" cy="4573697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37135" y="3815481"/>
              <a:ext cx="5469440" cy="21016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15059" y="1343437"/>
              <a:ext cx="5306054" cy="2472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sz="4000"/>
              <a:t>프로그래밍 언어란?</a:t>
            </a:r>
            <a:endParaRPr sz="4000"/>
          </a:p>
        </p:txBody>
      </p:sp>
      <p:sp>
        <p:nvSpPr>
          <p:cNvPr id="112" name="Google Shape;112;p8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ko-KR"/>
              <a:t>02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rgbClr val="E36C09"/>
                </a:solidFill>
              </a:rPr>
              <a:t>0</a:t>
            </a:r>
            <a:r>
              <a:rPr lang="en-US" altLang="ko-KR" dirty="0">
                <a:solidFill>
                  <a:srgbClr val="E36C09"/>
                </a:solidFill>
              </a:rPr>
              <a:t>2</a:t>
            </a:r>
            <a:r>
              <a:rPr lang="ko-KR" dirty="0">
                <a:solidFill>
                  <a:srgbClr val="E36C09"/>
                </a:solidFill>
              </a:rPr>
              <a:t>. </a:t>
            </a:r>
            <a:r>
              <a:rPr lang="ko-KR" dirty="0"/>
              <a:t>프로그래밍</a:t>
            </a:r>
            <a:r>
              <a:rPr lang="en-US" altLang="ko-KR" dirty="0"/>
              <a:t> </a:t>
            </a:r>
            <a:r>
              <a:rPr lang="ko-KR" altLang="en-US" dirty="0"/>
              <a:t>언어</a:t>
            </a:r>
            <a:r>
              <a:rPr lang="ko-KR" dirty="0"/>
              <a:t>란?</a:t>
            </a:r>
            <a:endParaRPr dirty="0"/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프로그램</a:t>
            </a:r>
            <a:r>
              <a:rPr lang="ko-KR" sz="2400" dirty="0"/>
              <a:t>의 개념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프로그램</a:t>
            </a:r>
            <a:endParaRPr b="1" dirty="0"/>
          </a:p>
          <a:p>
            <a:pPr marL="809625" lvl="3" indent="-180975" algn="l" rtl="0">
              <a:lnSpc>
                <a:spcPct val="150000"/>
              </a:lnSpc>
              <a:spcBef>
                <a:spcPts val="620"/>
              </a:spcBef>
              <a:spcAft>
                <a:spcPts val="0"/>
              </a:spcAft>
              <a:buClr>
                <a:srgbClr val="3C479D"/>
              </a:buClr>
              <a:buSzPts val="1536"/>
              <a:buChar char="–"/>
            </a:pPr>
            <a:r>
              <a:rPr lang="ko-KR" altLang="en-US" dirty="0"/>
              <a:t>컴퓨터가 수행해야 할 일종의 작업 명령서</a:t>
            </a:r>
            <a:endParaRPr lang="en-US" altLang="ko-KR" dirty="0"/>
          </a:p>
          <a:p>
            <a:pPr marL="809625" lvl="3" indent="-180975" algn="l" rtl="0">
              <a:lnSpc>
                <a:spcPct val="150000"/>
              </a:lnSpc>
              <a:spcBef>
                <a:spcPts val="620"/>
              </a:spcBef>
              <a:spcAft>
                <a:spcPts val="0"/>
              </a:spcAft>
              <a:buClr>
                <a:srgbClr val="3C479D"/>
              </a:buClr>
              <a:buSzPts val="1536"/>
              <a:buChar char="–"/>
            </a:pPr>
            <a:r>
              <a:rPr lang="ko-KR" altLang="en-US" dirty="0"/>
              <a:t>컴퓨터가 이해할 수 있는 기계어로 작성되어야 함</a:t>
            </a:r>
            <a:endParaRPr dirty="0"/>
          </a:p>
        </p:txBody>
      </p:sp>
      <p:pic>
        <p:nvPicPr>
          <p:cNvPr id="2050" name="Picture 2" descr="C:\Users\변소현\Desktop\난생처음 C 언어 프로그래밍\그림\Ch1\그림 1-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147" y="3429000"/>
            <a:ext cx="2017959" cy="2765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변소현\Desktop\난생처음 C 언어 프로그래밍\그림\Ch1\그림 1-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059" y="4225023"/>
            <a:ext cx="4393749" cy="1969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6862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rgbClr val="E36C09"/>
                </a:solidFill>
              </a:rPr>
              <a:t>0</a:t>
            </a:r>
            <a:r>
              <a:rPr lang="en-US" altLang="ko-KR" dirty="0">
                <a:solidFill>
                  <a:srgbClr val="E36C09"/>
                </a:solidFill>
              </a:rPr>
              <a:t>2</a:t>
            </a:r>
            <a:r>
              <a:rPr lang="ko-KR" dirty="0">
                <a:solidFill>
                  <a:srgbClr val="E36C09"/>
                </a:solidFill>
              </a:rPr>
              <a:t>. </a:t>
            </a:r>
            <a:r>
              <a:rPr lang="ko-KR" dirty="0"/>
              <a:t>프로그래밍</a:t>
            </a:r>
            <a:r>
              <a:rPr lang="en-US" altLang="ko-KR" dirty="0"/>
              <a:t> </a:t>
            </a:r>
            <a:r>
              <a:rPr lang="ko-KR" altLang="en-US" dirty="0"/>
              <a:t>언어</a:t>
            </a:r>
            <a:r>
              <a:rPr lang="ko-KR" dirty="0"/>
              <a:t>란?</a:t>
            </a:r>
            <a:endParaRPr dirty="0"/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/>
              <a:t>기계어</a:t>
            </a:r>
            <a:r>
              <a:rPr lang="ko-KR" sz="2400" dirty="0"/>
              <a:t>의 개념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기계어</a:t>
            </a:r>
            <a:endParaRPr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비트</a:t>
            </a:r>
            <a:r>
              <a:rPr lang="en-US" altLang="ko-KR" dirty="0"/>
              <a:t>(Bit, Binary Digit)</a:t>
            </a:r>
            <a:r>
              <a:rPr lang="ko-KR" altLang="en-US" dirty="0"/>
              <a:t>를 사용함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기호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 </a:t>
            </a:r>
            <a:r>
              <a:rPr lang="ko-KR" altLang="en-US" dirty="0"/>
              <a:t>단 두 개로 구성됨</a:t>
            </a:r>
            <a:endParaRPr dirty="0"/>
          </a:p>
        </p:txBody>
      </p:sp>
      <p:pic>
        <p:nvPicPr>
          <p:cNvPr id="3074" name="Picture 2" descr="C:\Users\변소현\Desktop\난생처음 C 언어 프로그래밍\그림\Ch1\그림 1-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25" y="3643882"/>
            <a:ext cx="3078163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610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rgbClr val="E36C09"/>
                </a:solidFill>
              </a:rPr>
              <a:t>0</a:t>
            </a:r>
            <a:r>
              <a:rPr lang="en-US" altLang="ko-KR" dirty="0">
                <a:solidFill>
                  <a:srgbClr val="E36C09"/>
                </a:solidFill>
              </a:rPr>
              <a:t>2</a:t>
            </a:r>
            <a:r>
              <a:rPr lang="ko-KR" dirty="0">
                <a:solidFill>
                  <a:srgbClr val="E36C09"/>
                </a:solidFill>
              </a:rPr>
              <a:t>. </a:t>
            </a:r>
            <a:r>
              <a:rPr lang="ko-KR" dirty="0"/>
              <a:t>프로그래밍</a:t>
            </a:r>
            <a:r>
              <a:rPr lang="en-US" altLang="ko-KR" dirty="0"/>
              <a:t> </a:t>
            </a:r>
            <a:r>
              <a:rPr lang="ko-KR" altLang="en-US" dirty="0"/>
              <a:t>언어</a:t>
            </a:r>
            <a:r>
              <a:rPr lang="ko-KR" dirty="0"/>
              <a:t>란?</a:t>
            </a:r>
            <a:endParaRPr dirty="0"/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3"/>
            </a:pPr>
            <a:r>
              <a:rPr lang="ko-KR" altLang="en-US" sz="2400" dirty="0"/>
              <a:t>프로그래밍 언어와 번역기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컴파일러</a:t>
            </a:r>
            <a:r>
              <a:rPr lang="en-US" altLang="ko-KR" b="1" dirty="0"/>
              <a:t>, </a:t>
            </a:r>
            <a:r>
              <a:rPr lang="ko-KR" altLang="en-US" b="1" dirty="0"/>
              <a:t>인터프리터</a:t>
            </a:r>
            <a:endParaRPr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프로그래밍 언어를 기계어로 바꿔주는 번역기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프로그래밍 언어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C++, C#, </a:t>
            </a:r>
            <a:r>
              <a:rPr lang="ko-KR" altLang="en-US" dirty="0"/>
              <a:t>자바</a:t>
            </a:r>
            <a:r>
              <a:rPr lang="en-US" altLang="ko-KR" dirty="0"/>
              <a:t>(Java), </a:t>
            </a:r>
            <a:r>
              <a:rPr lang="ko-KR" altLang="en-US" dirty="0" err="1"/>
              <a:t>파이썬</a:t>
            </a:r>
            <a:r>
              <a:rPr lang="en-US" altLang="ko-KR" dirty="0"/>
              <a:t>(Python) </a:t>
            </a:r>
            <a:r>
              <a:rPr lang="ko-KR" altLang="en-US" dirty="0"/>
              <a:t>등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</p:txBody>
      </p:sp>
      <p:pic>
        <p:nvPicPr>
          <p:cNvPr id="4098" name="Picture 2" descr="C:\Users\변소현\Desktop\난생처음 C 언어 프로그래밍\그림\Ch1\그림 1-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288" y="3923221"/>
            <a:ext cx="5051425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352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rgbClr val="E36C09"/>
                </a:solidFill>
              </a:rPr>
              <a:t>0</a:t>
            </a:r>
            <a:r>
              <a:rPr lang="en-US" altLang="ko-KR" dirty="0">
                <a:solidFill>
                  <a:srgbClr val="E36C09"/>
                </a:solidFill>
              </a:rPr>
              <a:t>2</a:t>
            </a:r>
            <a:r>
              <a:rPr lang="ko-KR" dirty="0">
                <a:solidFill>
                  <a:srgbClr val="E36C09"/>
                </a:solidFill>
              </a:rPr>
              <a:t>. </a:t>
            </a:r>
            <a:r>
              <a:rPr lang="ko-KR" dirty="0"/>
              <a:t>프로그래밍</a:t>
            </a:r>
            <a:r>
              <a:rPr lang="en-US" altLang="ko-KR" dirty="0"/>
              <a:t> </a:t>
            </a:r>
            <a:r>
              <a:rPr lang="ko-KR" altLang="en-US" dirty="0"/>
              <a:t>언어</a:t>
            </a:r>
            <a:r>
              <a:rPr lang="ko-KR" dirty="0"/>
              <a:t>란?</a:t>
            </a:r>
            <a:endParaRPr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77" y="1965408"/>
            <a:ext cx="7452446" cy="3047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995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en-US" altLang="ko-KR" sz="4000" dirty="0"/>
              <a:t>C</a:t>
            </a:r>
            <a:r>
              <a:rPr lang="ko-KR" sz="4000" dirty="0"/>
              <a:t> 언어란?</a:t>
            </a:r>
            <a:endParaRPr sz="4000" dirty="0"/>
          </a:p>
        </p:txBody>
      </p:sp>
      <p:sp>
        <p:nvSpPr>
          <p:cNvPr id="112" name="Google Shape;112;p8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ko-KR" dirty="0"/>
              <a:t>0</a:t>
            </a:r>
            <a:r>
              <a:rPr lang="en-US" altLang="ko-KR" dirty="0"/>
              <a:t>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3668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rgbClr val="E36C09"/>
                </a:solidFill>
              </a:rPr>
              <a:t>0</a:t>
            </a:r>
            <a:r>
              <a:rPr lang="en-US" altLang="ko-KR" dirty="0">
                <a:solidFill>
                  <a:srgbClr val="E36C09"/>
                </a:solidFill>
              </a:rPr>
              <a:t>3</a:t>
            </a:r>
            <a:r>
              <a:rPr lang="ko-KR" dirty="0">
                <a:solidFill>
                  <a:srgbClr val="E36C09"/>
                </a:solidFill>
              </a:rPr>
              <a:t>. </a:t>
            </a:r>
            <a:r>
              <a:rPr lang="en-US" altLang="ko-KR" dirty="0"/>
              <a:t>C </a:t>
            </a:r>
            <a:r>
              <a:rPr lang="ko-KR" altLang="en-US" dirty="0"/>
              <a:t>언어</a:t>
            </a:r>
            <a:r>
              <a:rPr lang="ko-KR" dirty="0"/>
              <a:t>란?</a:t>
            </a:r>
            <a:endParaRPr dirty="0"/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en-US" altLang="ko-KR" sz="2400" dirty="0"/>
              <a:t>C</a:t>
            </a:r>
            <a:r>
              <a:rPr lang="ko-KR" altLang="en-US" sz="2400" dirty="0"/>
              <a:t> 언어를 배우는 이유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dirty="0"/>
              <a:t>프로그래밍 언어의 기초이자 근본</a:t>
            </a:r>
            <a:endParaRPr lang="en-US" altLang="ko-KR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endParaRPr lang="en-US" altLang="ko-KR" b="1" dirty="0"/>
          </a:p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en-US" altLang="ko-KR" sz="2400" dirty="0"/>
              <a:t>C </a:t>
            </a:r>
            <a:r>
              <a:rPr lang="ko-KR" altLang="en-US" sz="2400" dirty="0"/>
              <a:t>언어의 역사</a:t>
            </a:r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dirty="0" err="1"/>
              <a:t>데니스</a:t>
            </a:r>
            <a:r>
              <a:rPr lang="ko-KR" altLang="en-US" dirty="0"/>
              <a:t> </a:t>
            </a:r>
            <a:r>
              <a:rPr lang="ko-KR" altLang="en-US" dirty="0" err="1"/>
              <a:t>리치</a:t>
            </a:r>
            <a:r>
              <a:rPr lang="en-US" altLang="ko-KR" dirty="0"/>
              <a:t>(Dennis Ritchie)</a:t>
            </a:r>
            <a:r>
              <a:rPr lang="ko-KR" altLang="en-US" dirty="0"/>
              <a:t>가 유닉스 운영 체제에서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사용하기 위해 개발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당시에는 어셈블리어를 주로 사용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현대적인 </a:t>
            </a:r>
            <a:r>
              <a:rPr lang="en-US" altLang="ko-KR" dirty="0"/>
              <a:t>C </a:t>
            </a:r>
            <a:r>
              <a:rPr lang="ko-KR" altLang="en-US" dirty="0"/>
              <a:t>언어의 기틀은 </a:t>
            </a:r>
            <a:r>
              <a:rPr lang="en-US" altLang="ko-KR" dirty="0"/>
              <a:t>ISO</a:t>
            </a:r>
            <a:r>
              <a:rPr lang="ko-KR" altLang="en-US" dirty="0"/>
              <a:t>에서 마련한 </a:t>
            </a:r>
            <a:r>
              <a:rPr lang="en-US" altLang="ko-KR" dirty="0"/>
              <a:t>C99</a:t>
            </a:r>
          </a:p>
        </p:txBody>
      </p:sp>
    </p:spTree>
    <p:extLst>
      <p:ext uri="{BB962C8B-B14F-4D97-AF65-F5344CB8AC3E}">
        <p14:creationId xmlns:p14="http://schemas.microsoft.com/office/powerpoint/2010/main" val="883881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rgbClr val="E36C09"/>
                </a:solidFill>
              </a:rPr>
              <a:t>0</a:t>
            </a:r>
            <a:r>
              <a:rPr lang="en-US" altLang="ko-KR" dirty="0">
                <a:solidFill>
                  <a:srgbClr val="E36C09"/>
                </a:solidFill>
              </a:rPr>
              <a:t>3</a:t>
            </a:r>
            <a:r>
              <a:rPr lang="ko-KR" dirty="0">
                <a:solidFill>
                  <a:srgbClr val="E36C09"/>
                </a:solidFill>
              </a:rPr>
              <a:t>. </a:t>
            </a:r>
            <a:r>
              <a:rPr lang="en-US" altLang="ko-KR" dirty="0"/>
              <a:t>C </a:t>
            </a:r>
            <a:r>
              <a:rPr lang="ko-KR" altLang="en-US" dirty="0"/>
              <a:t>언어</a:t>
            </a:r>
            <a:r>
              <a:rPr lang="ko-KR" dirty="0"/>
              <a:t>란?</a:t>
            </a:r>
            <a:endParaRPr dirty="0"/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en-US" altLang="ko-KR" sz="2400" dirty="0"/>
              <a:t>C </a:t>
            </a:r>
            <a:r>
              <a:rPr lang="ko-KR" altLang="en-US" sz="2400" dirty="0"/>
              <a:t>언어의 특징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장점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C </a:t>
            </a:r>
            <a:r>
              <a:rPr lang="ko-KR" altLang="en-US" dirty="0"/>
              <a:t>언어로 만든 프로그램은 크기가 작고 실행 속도가 빠름</a:t>
            </a: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단점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배우기 어려움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C </a:t>
            </a:r>
            <a:r>
              <a:rPr lang="ko-KR" altLang="en-US" b="1" dirty="0"/>
              <a:t>언어 프로그래머는 많은 지식과 경험이 필요함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842717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rgbClr val="E36C09"/>
                </a:solidFill>
              </a:rPr>
              <a:t>0</a:t>
            </a:r>
            <a:r>
              <a:rPr lang="en-US" altLang="ko-KR" dirty="0">
                <a:solidFill>
                  <a:srgbClr val="E36C09"/>
                </a:solidFill>
              </a:rPr>
              <a:t>3</a:t>
            </a:r>
            <a:r>
              <a:rPr lang="ko-KR" dirty="0">
                <a:solidFill>
                  <a:srgbClr val="E36C09"/>
                </a:solidFill>
              </a:rPr>
              <a:t>. </a:t>
            </a:r>
            <a:r>
              <a:rPr lang="en-US" altLang="ko-KR" dirty="0"/>
              <a:t>C </a:t>
            </a:r>
            <a:r>
              <a:rPr lang="ko-KR" altLang="en-US" dirty="0"/>
              <a:t>언어</a:t>
            </a:r>
            <a:r>
              <a:rPr lang="ko-KR" dirty="0"/>
              <a:t>란?</a:t>
            </a:r>
            <a:endParaRPr dirty="0"/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4"/>
            </a:pPr>
            <a:r>
              <a:rPr lang="en-US" altLang="ko-KR" sz="2400" dirty="0"/>
              <a:t>C </a:t>
            </a:r>
            <a:r>
              <a:rPr lang="ko-KR" altLang="en-US" sz="2400" dirty="0"/>
              <a:t>프로그래밍을 위한 도구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코드 편집기</a:t>
            </a:r>
            <a:r>
              <a:rPr lang="en-US" altLang="ko-KR" b="1" dirty="0"/>
              <a:t>(Code Editor)</a:t>
            </a:r>
            <a:endParaRPr lang="ko-KR" altLang="en-US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프로그래밍 코드를 작성하고 </a:t>
            </a:r>
            <a:r>
              <a:rPr lang="ko-KR" altLang="en-US" dirty="0" err="1"/>
              <a:t>편집할수</a:t>
            </a:r>
            <a:r>
              <a:rPr lang="ko-KR" altLang="en-US" dirty="0"/>
              <a:t> 있는 프로그램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 err="1"/>
              <a:t>비주얼</a:t>
            </a:r>
            <a:r>
              <a:rPr lang="ko-KR" altLang="en-US" dirty="0"/>
              <a:t> 스튜디오 코드</a:t>
            </a:r>
            <a:r>
              <a:rPr lang="en-US" altLang="ko-KR" dirty="0"/>
              <a:t>(Visual Studio Code),</a:t>
            </a:r>
            <a:br>
              <a:rPr lang="en-US" altLang="ko-KR" dirty="0"/>
            </a:br>
            <a:r>
              <a:rPr lang="ko-KR" altLang="en-US" dirty="0"/>
              <a:t>서브라임텍스트</a:t>
            </a:r>
            <a:r>
              <a:rPr lang="en-US" altLang="ko-KR" dirty="0"/>
              <a:t>(Sublime Text) </a:t>
            </a:r>
            <a:r>
              <a:rPr lang="ko-KR" altLang="en-US" dirty="0"/>
              <a:t>등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컴파일러</a:t>
            </a:r>
            <a:r>
              <a:rPr lang="en-US" altLang="ko-KR" b="1" dirty="0"/>
              <a:t>(Compiler)</a:t>
            </a:r>
            <a:endParaRPr lang="ko-KR" altLang="en-US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기계어로 변환시키는 번역기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CPU</a:t>
            </a:r>
            <a:r>
              <a:rPr lang="ko-KR" altLang="en-US" dirty="0"/>
              <a:t>에 종속적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</p:txBody>
      </p:sp>
      <p:grpSp>
        <p:nvGrpSpPr>
          <p:cNvPr id="4" name="Google Shape;118;p8"/>
          <p:cNvGrpSpPr>
            <a:grpSpLocks noChangeAspect="1"/>
          </p:cNvGrpSpPr>
          <p:nvPr/>
        </p:nvGrpSpPr>
        <p:grpSpPr>
          <a:xfrm>
            <a:off x="1292819" y="5132321"/>
            <a:ext cx="6577412" cy="1265782"/>
            <a:chOff x="683573" y="1844824"/>
            <a:chExt cx="7924665" cy="1967590"/>
          </a:xfrm>
        </p:grpSpPr>
        <p:sp>
          <p:nvSpPr>
            <p:cNvPr id="5" name="Google Shape;119;p8"/>
            <p:cNvSpPr/>
            <p:nvPr/>
          </p:nvSpPr>
          <p:spPr>
            <a:xfrm>
              <a:off x="688238" y="1844824"/>
              <a:ext cx="7920000" cy="1886937"/>
            </a:xfrm>
            <a:prstGeom prst="rect">
              <a:avLst/>
            </a:prstGeom>
            <a:solidFill>
              <a:srgbClr val="EAF1DD"/>
            </a:solidFill>
            <a:ln w="127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" name="Google Shape;120;p8"/>
            <p:cNvSpPr txBox="1"/>
            <p:nvPr/>
          </p:nvSpPr>
          <p:spPr>
            <a:xfrm>
              <a:off x="762141" y="2322932"/>
              <a:ext cx="7772192" cy="1489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47675" marR="0" lvl="1" indent="-180975" algn="l" rtl="0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링커</a:t>
              </a:r>
              <a:r>
                <a: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(Linker) :</a:t>
              </a:r>
              <a:br>
                <a: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altLang="en-US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컴파일된</a:t>
              </a:r>
              <a:r>
                <a:rPr lang="ko-KR" alt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번역물을 하나로 묶어 실제 프로그램으로 만들어줌</a:t>
              </a:r>
              <a:endPara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21;p8"/>
            <p:cNvSpPr/>
            <p:nvPr/>
          </p:nvSpPr>
          <p:spPr>
            <a:xfrm>
              <a:off x="683573" y="1844824"/>
              <a:ext cx="1511728" cy="432050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하나</a:t>
              </a:r>
              <a:r>
                <a:rPr lang="en-US" sz="12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더 </a:t>
              </a:r>
              <a:r>
                <a:rPr lang="en-US" sz="1200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알기</a:t>
              </a:r>
              <a:endParaRPr sz="1100" dirty="0"/>
            </a:p>
          </p:txBody>
        </p:sp>
        <p:sp>
          <p:nvSpPr>
            <p:cNvPr id="8" name="Google Shape;122;p8"/>
            <p:cNvSpPr txBox="1"/>
            <p:nvPr/>
          </p:nvSpPr>
          <p:spPr>
            <a:xfrm>
              <a:off x="2256715" y="1911000"/>
              <a:ext cx="4699962" cy="3534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C479D"/>
                </a:buClr>
                <a:buSzPts val="1800"/>
                <a:buFont typeface="Noto Sans Symbols"/>
                <a:buNone/>
              </a:pPr>
              <a:r>
                <a:rPr lang="en-US" altLang="ko-KR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 </a:t>
              </a:r>
              <a:r>
                <a:rPr lang="ko-KR" altLang="en-US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프로그래밍을 위한 몇 가지 도구</a:t>
              </a:r>
              <a:endParaRPr b="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8127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rgbClr val="E36C09"/>
                </a:solidFill>
              </a:rPr>
              <a:t>0</a:t>
            </a:r>
            <a:r>
              <a:rPr lang="en-US" altLang="ko-KR" dirty="0">
                <a:solidFill>
                  <a:srgbClr val="E36C09"/>
                </a:solidFill>
              </a:rPr>
              <a:t>3</a:t>
            </a:r>
            <a:r>
              <a:rPr lang="ko-KR" dirty="0">
                <a:solidFill>
                  <a:srgbClr val="E36C09"/>
                </a:solidFill>
              </a:rPr>
              <a:t>. </a:t>
            </a:r>
            <a:r>
              <a:rPr lang="en-US" altLang="ko-KR" dirty="0"/>
              <a:t>C </a:t>
            </a:r>
            <a:r>
              <a:rPr lang="ko-KR" altLang="en-US" dirty="0"/>
              <a:t>언어</a:t>
            </a:r>
            <a:r>
              <a:rPr lang="ko-KR" dirty="0"/>
              <a:t>란?</a:t>
            </a:r>
            <a:endParaRPr dirty="0"/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5"/>
            </a:pPr>
            <a:r>
              <a:rPr lang="ko-KR" altLang="en-US" sz="2400" dirty="0"/>
              <a:t>통합 개발 환경의 개념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통합 개발 환경</a:t>
            </a:r>
            <a:r>
              <a:rPr lang="en-US" altLang="ko-KR" b="1" dirty="0"/>
              <a:t>(IDE, Integrated Development Environment)</a:t>
            </a:r>
            <a:endParaRPr lang="ko-KR" altLang="en-US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프로그래밍을 하는 데 있어서 필요한 모든 도구들을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모아 놓은 패키지 형식의 프로그램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코드 편집</a:t>
            </a:r>
            <a:r>
              <a:rPr lang="en-US" altLang="ko-KR" dirty="0"/>
              <a:t>, </a:t>
            </a:r>
            <a:r>
              <a:rPr lang="ko-KR" altLang="en-US" dirty="0"/>
              <a:t>컴파일</a:t>
            </a:r>
            <a:r>
              <a:rPr lang="en-US" altLang="ko-KR" dirty="0"/>
              <a:t>, </a:t>
            </a:r>
            <a:r>
              <a:rPr lang="ko-KR" altLang="en-US" dirty="0"/>
              <a:t>링크까지 쉽게 가능</a:t>
            </a:r>
            <a:endParaRPr lang="en-US" altLang="ko-KR" dirty="0"/>
          </a:p>
        </p:txBody>
      </p:sp>
      <p:grpSp>
        <p:nvGrpSpPr>
          <p:cNvPr id="4" name="Google Shape;118;p8"/>
          <p:cNvGrpSpPr>
            <a:grpSpLocks noChangeAspect="1"/>
          </p:cNvGrpSpPr>
          <p:nvPr/>
        </p:nvGrpSpPr>
        <p:grpSpPr>
          <a:xfrm>
            <a:off x="1292819" y="3767175"/>
            <a:ext cx="6577412" cy="1265782"/>
            <a:chOff x="683573" y="1844824"/>
            <a:chExt cx="7924665" cy="1967590"/>
          </a:xfrm>
        </p:grpSpPr>
        <p:sp>
          <p:nvSpPr>
            <p:cNvPr id="5" name="Google Shape;119;p8"/>
            <p:cNvSpPr/>
            <p:nvPr/>
          </p:nvSpPr>
          <p:spPr>
            <a:xfrm>
              <a:off x="688238" y="1844824"/>
              <a:ext cx="7920000" cy="1886938"/>
            </a:xfrm>
            <a:prstGeom prst="rect">
              <a:avLst/>
            </a:prstGeom>
            <a:solidFill>
              <a:srgbClr val="EAF1DD"/>
            </a:solidFill>
            <a:ln w="127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" name="Google Shape;120;p8"/>
            <p:cNvSpPr txBox="1"/>
            <p:nvPr/>
          </p:nvSpPr>
          <p:spPr>
            <a:xfrm>
              <a:off x="762141" y="2322932"/>
              <a:ext cx="7772192" cy="1489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47675" marR="0" lvl="1" indent="-180975" algn="l" rtl="0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마이크로소프트 </a:t>
              </a:r>
              <a:r>
                <a: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(Microsoft)</a:t>
              </a:r>
              <a:r>
                <a:rPr lang="ko-KR" alt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의</a:t>
              </a:r>
              <a:r>
                <a: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altLang="en-US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비주얼</a:t>
              </a:r>
              <a:r>
                <a:rPr lang="ko-KR" alt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스튜디오</a:t>
              </a:r>
              <a:r>
                <a: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(Visual Studio)</a:t>
              </a:r>
            </a:p>
            <a:p>
              <a:pPr marL="447675" marR="0" lvl="1" indent="-180975" algn="l" rtl="0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젯브레인스</a:t>
              </a:r>
              <a:r>
                <a: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</a:t>
              </a:r>
              <a:r>
                <a:rPr lang="en-US" altLang="ko-KR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JetBrains</a:t>
              </a:r>
              <a:r>
                <a: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)</a:t>
              </a:r>
              <a:r>
                <a:rPr lang="ko-KR" alt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의 </a:t>
              </a:r>
              <a:r>
                <a:rPr lang="en-US" altLang="ko-KR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CLion</a:t>
              </a:r>
              <a:endPara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21;p8"/>
            <p:cNvSpPr/>
            <p:nvPr/>
          </p:nvSpPr>
          <p:spPr>
            <a:xfrm>
              <a:off x="683573" y="1844824"/>
              <a:ext cx="1511728" cy="432050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하나</a:t>
              </a:r>
              <a:r>
                <a:rPr lang="en-US" sz="12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더 </a:t>
              </a:r>
              <a:r>
                <a:rPr lang="en-US" sz="1200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알기</a:t>
              </a:r>
              <a:endParaRPr sz="1100" dirty="0"/>
            </a:p>
          </p:txBody>
        </p:sp>
        <p:sp>
          <p:nvSpPr>
            <p:cNvPr id="8" name="Google Shape;122;p8"/>
            <p:cNvSpPr txBox="1"/>
            <p:nvPr/>
          </p:nvSpPr>
          <p:spPr>
            <a:xfrm>
              <a:off x="2256715" y="1911000"/>
              <a:ext cx="4699962" cy="353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C479D"/>
                </a:buClr>
                <a:buSzPts val="1800"/>
                <a:buFont typeface="Noto Sans Symbols"/>
                <a:buNone/>
              </a:pPr>
              <a:r>
                <a:rPr lang="en-US" altLang="ko-KR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 </a:t>
              </a:r>
              <a:r>
                <a:rPr lang="ko-KR" altLang="en-US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언어 통합 개발 환경의 여러 종류</a:t>
              </a:r>
              <a:endParaRPr b="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5413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>
                <a:solidFill>
                  <a:srgbClr val="E36C09"/>
                </a:solidFill>
              </a:rPr>
              <a:t>0</a:t>
            </a:r>
            <a:r>
              <a:rPr lang="en-US" altLang="ko-KR" dirty="0">
                <a:solidFill>
                  <a:srgbClr val="E36C09"/>
                </a:solidFill>
              </a:rPr>
              <a:t>3</a:t>
            </a:r>
            <a:r>
              <a:rPr lang="ko-KR" altLang="ko-KR" dirty="0">
                <a:solidFill>
                  <a:srgbClr val="E36C09"/>
                </a:solidFill>
              </a:rPr>
              <a:t>. </a:t>
            </a:r>
            <a:r>
              <a:rPr lang="en-US" altLang="ko-KR" dirty="0"/>
              <a:t>C </a:t>
            </a:r>
            <a:r>
              <a:rPr lang="ko-KR" altLang="en-US" dirty="0"/>
              <a:t>언어</a:t>
            </a:r>
            <a:r>
              <a:rPr lang="ko-KR" altLang="ko-KR" dirty="0"/>
              <a:t>란?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194" y="1559566"/>
            <a:ext cx="7155612" cy="4239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13057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altLang="en-US" sz="4000" dirty="0" err="1"/>
              <a:t>비주얼</a:t>
            </a:r>
            <a:r>
              <a:rPr lang="ko-KR" altLang="en-US" sz="4000" dirty="0"/>
              <a:t> 스튜디오 설치</a:t>
            </a:r>
            <a:endParaRPr sz="4000" dirty="0"/>
          </a:p>
        </p:txBody>
      </p:sp>
      <p:sp>
        <p:nvSpPr>
          <p:cNvPr id="112" name="Google Shape;112;p8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ko-KR" dirty="0"/>
              <a:t>0</a:t>
            </a:r>
            <a:r>
              <a:rPr lang="en-US" altLang="ko-KR" dirty="0"/>
              <a:t>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0267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rgbClr val="E36C09"/>
                </a:solidFill>
              </a:rPr>
              <a:t>0</a:t>
            </a:r>
            <a:r>
              <a:rPr lang="en-US" altLang="ko-KR" dirty="0">
                <a:solidFill>
                  <a:srgbClr val="E36C09"/>
                </a:solidFill>
              </a:rPr>
              <a:t>4</a:t>
            </a:r>
            <a:r>
              <a:rPr lang="ko-KR" dirty="0">
                <a:solidFill>
                  <a:srgbClr val="E36C09"/>
                </a:solidFill>
              </a:rPr>
              <a:t>. </a:t>
            </a:r>
            <a:r>
              <a:rPr lang="ko-KR" altLang="en-US" dirty="0" err="1"/>
              <a:t>비주얼</a:t>
            </a:r>
            <a:r>
              <a:rPr lang="ko-KR" altLang="en-US" dirty="0"/>
              <a:t> 스튜디오 설치</a:t>
            </a:r>
            <a:endParaRPr dirty="0"/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 err="1"/>
              <a:t>비주얼</a:t>
            </a:r>
            <a:r>
              <a:rPr lang="ko-KR" altLang="en-US" sz="2400" dirty="0"/>
              <a:t> 스튜디오의 버전</a:t>
            </a:r>
            <a:endParaRPr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최신 버전은 </a:t>
            </a:r>
            <a:r>
              <a:rPr lang="ko-KR" altLang="en-US" dirty="0" err="1"/>
              <a:t>비주얼</a:t>
            </a:r>
            <a:r>
              <a:rPr lang="ko-KR" altLang="en-US" dirty="0"/>
              <a:t> 스튜디오 </a:t>
            </a:r>
            <a:r>
              <a:rPr lang="en-US" altLang="ko-KR" dirty="0"/>
              <a:t>2022(</a:t>
            </a:r>
            <a:r>
              <a:rPr lang="ko-KR" altLang="en-US" dirty="0"/>
              <a:t>이하 </a:t>
            </a:r>
            <a:r>
              <a:rPr lang="en-US" altLang="ko-KR" dirty="0"/>
              <a:t>VS2022)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b="1" dirty="0"/>
          </a:p>
          <a:p>
            <a:pPr marL="514350" lvl="0" indent="-514350">
              <a:buSzPts val="2400"/>
              <a:buFont typeface="Malgun Gothic"/>
              <a:buAutoNum type="romanUcPeriod"/>
            </a:pPr>
            <a:r>
              <a:rPr lang="ko-KR" altLang="en-US" sz="2400" dirty="0" err="1"/>
              <a:t>비주얼</a:t>
            </a:r>
            <a:r>
              <a:rPr lang="ko-KR" altLang="en-US" sz="2400" dirty="0"/>
              <a:t> 스튜디오 설치하기</a:t>
            </a:r>
          </a:p>
          <a:p>
            <a:pPr marL="790575" lvl="2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Font typeface="+mj-lt"/>
              <a:buAutoNum type="arabicPeriod"/>
            </a:pPr>
            <a:r>
              <a:rPr lang="ko-KR" altLang="en-US" dirty="0" err="1"/>
              <a:t>비주얼</a:t>
            </a:r>
            <a:r>
              <a:rPr lang="ko-KR" altLang="en-US" dirty="0"/>
              <a:t> 스튜디오 웹사이트</a:t>
            </a:r>
            <a:r>
              <a:rPr lang="en-US" altLang="ko-KR" dirty="0"/>
              <a:t>(https://visualstudio.microsoft.com/ko/)</a:t>
            </a:r>
            <a:br>
              <a:rPr lang="en-US" altLang="ko-KR" dirty="0"/>
            </a:br>
            <a:r>
              <a:rPr lang="ko-KR" altLang="en-US" dirty="0"/>
              <a:t>접속하여 </a:t>
            </a:r>
            <a:r>
              <a:rPr lang="en-US" altLang="ko-KR" dirty="0"/>
              <a:t>[</a:t>
            </a:r>
            <a:r>
              <a:rPr lang="en-US" altLang="ko-KR" dirty="0" err="1"/>
              <a:t>Commynity</a:t>
            </a:r>
            <a:r>
              <a:rPr lang="en-US" altLang="ko-KR" dirty="0"/>
              <a:t> 2022] </a:t>
            </a:r>
            <a:r>
              <a:rPr lang="ko-KR" altLang="en-US" dirty="0"/>
              <a:t>설치 파일 </a:t>
            </a:r>
            <a:r>
              <a:rPr lang="ko-KR" altLang="en-US" dirty="0" err="1"/>
              <a:t>내려받기</a:t>
            </a:r>
            <a:endParaRPr lang="en-US" altLang="ko-KR" dirty="0"/>
          </a:p>
        </p:txBody>
      </p:sp>
      <p:pic>
        <p:nvPicPr>
          <p:cNvPr id="7170" name="Picture 2" descr="C:\Users\변소현\Desktop\난생처음 C 언어 프로그래밍\그림\Ch1\p33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668" y="4262502"/>
            <a:ext cx="5756664" cy="2324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3871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rgbClr val="E36C09"/>
                </a:solidFill>
              </a:rPr>
              <a:t>0</a:t>
            </a:r>
            <a:r>
              <a:rPr lang="en-US" altLang="ko-KR" dirty="0">
                <a:solidFill>
                  <a:srgbClr val="E36C09"/>
                </a:solidFill>
              </a:rPr>
              <a:t>4</a:t>
            </a:r>
            <a:r>
              <a:rPr lang="ko-KR" dirty="0">
                <a:solidFill>
                  <a:srgbClr val="E36C09"/>
                </a:solidFill>
              </a:rPr>
              <a:t>. </a:t>
            </a:r>
            <a:r>
              <a:rPr lang="ko-KR" altLang="en-US" dirty="0" err="1"/>
              <a:t>비주얼</a:t>
            </a:r>
            <a:r>
              <a:rPr lang="ko-KR" altLang="en-US" dirty="0"/>
              <a:t> 스튜디오 설치</a:t>
            </a:r>
            <a:endParaRPr dirty="0"/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 err="1"/>
              <a:t>비주얼</a:t>
            </a:r>
            <a:r>
              <a:rPr lang="ko-KR" altLang="en-US" sz="2400" dirty="0"/>
              <a:t> 스튜디오 설치하기</a:t>
            </a:r>
          </a:p>
          <a:p>
            <a:pPr marL="790575" lvl="2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Font typeface="+mj-lt"/>
              <a:buAutoNum type="arabicPeriod" startAt="2"/>
            </a:pPr>
            <a:r>
              <a:rPr lang="en-US" altLang="ko-KR" dirty="0"/>
              <a:t>[C++</a:t>
            </a:r>
            <a:r>
              <a:rPr lang="ko-KR" altLang="en-US" dirty="0"/>
              <a:t>를 사용 한 데스크톱 개발</a:t>
            </a:r>
            <a:r>
              <a:rPr lang="en-US" altLang="ko-KR" dirty="0"/>
              <a:t>]</a:t>
            </a:r>
            <a:r>
              <a:rPr lang="ko-KR" altLang="en-US" dirty="0"/>
              <a:t>을 체크한 후 </a:t>
            </a:r>
            <a:r>
              <a:rPr lang="en-US" altLang="ko-KR" dirty="0"/>
              <a:t>&lt;</a:t>
            </a:r>
            <a:r>
              <a:rPr lang="ko-KR" altLang="en-US" dirty="0"/>
              <a:t>설치</a:t>
            </a:r>
            <a:r>
              <a:rPr lang="en-US" altLang="ko-KR" dirty="0"/>
              <a:t>&gt; </a:t>
            </a:r>
            <a:r>
              <a:rPr lang="ko-KR" altLang="en-US" dirty="0"/>
              <a:t>버튼 클릭</a:t>
            </a:r>
            <a:endParaRPr lang="en-US" altLang="ko-KR" dirty="0"/>
          </a:p>
        </p:txBody>
      </p:sp>
      <p:pic>
        <p:nvPicPr>
          <p:cNvPr id="8194" name="Picture 2" descr="C:\Users\변소현\Desktop\난생처음 C 언어 프로그래밍\그림\Ch1\p34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598" y="2511768"/>
            <a:ext cx="5858803" cy="3289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73769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rgbClr val="E36C09"/>
                </a:solidFill>
              </a:rPr>
              <a:t>0</a:t>
            </a:r>
            <a:r>
              <a:rPr lang="en-US" altLang="ko-KR" dirty="0">
                <a:solidFill>
                  <a:srgbClr val="E36C09"/>
                </a:solidFill>
              </a:rPr>
              <a:t>4</a:t>
            </a:r>
            <a:r>
              <a:rPr lang="ko-KR" dirty="0">
                <a:solidFill>
                  <a:srgbClr val="E36C09"/>
                </a:solidFill>
              </a:rPr>
              <a:t>. </a:t>
            </a:r>
            <a:r>
              <a:rPr lang="ko-KR" altLang="en-US" dirty="0" err="1"/>
              <a:t>비주얼</a:t>
            </a:r>
            <a:r>
              <a:rPr lang="ko-KR" altLang="en-US" dirty="0"/>
              <a:t> 스튜디오 설치</a:t>
            </a:r>
            <a:endParaRPr dirty="0"/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 err="1"/>
              <a:t>비주얼</a:t>
            </a:r>
            <a:r>
              <a:rPr lang="ko-KR" altLang="en-US" sz="2400" dirty="0"/>
              <a:t> 스튜디오 설치하기</a:t>
            </a:r>
          </a:p>
          <a:p>
            <a:pPr marL="790575" lvl="2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Font typeface="+mj-lt"/>
              <a:buAutoNum type="arabicPeriod" startAt="3"/>
            </a:pPr>
            <a:r>
              <a:rPr lang="ko-KR" altLang="en-US" dirty="0"/>
              <a:t>윈도우 시작 버튼 옆의 검색 아이콘을 클릭한 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‘</a:t>
            </a:r>
            <a:r>
              <a:rPr lang="en-US" altLang="ko-KR" dirty="0"/>
              <a:t>Visual Studio 2022’</a:t>
            </a:r>
            <a:r>
              <a:rPr lang="ko-KR" altLang="en-US" dirty="0"/>
              <a:t>를 입력하고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비주얼</a:t>
            </a:r>
            <a:r>
              <a:rPr lang="ko-KR" altLang="en-US" dirty="0"/>
              <a:t> 스튜디오 </a:t>
            </a:r>
            <a:r>
              <a:rPr lang="en-US" altLang="ko-KR" dirty="0"/>
              <a:t>2022</a:t>
            </a:r>
            <a:r>
              <a:rPr lang="ko-KR" altLang="en-US" dirty="0"/>
              <a:t>를 선택하여 실행</a:t>
            </a:r>
            <a:endParaRPr lang="en-US" altLang="ko-KR" dirty="0"/>
          </a:p>
        </p:txBody>
      </p:sp>
      <p:pic>
        <p:nvPicPr>
          <p:cNvPr id="9218" name="Picture 2" descr="C:\Users\변소현\Desktop\난생처음 C 언어 프로그래밍\그림\Ch1\p34-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838" y="3229798"/>
            <a:ext cx="4632325" cy="3055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9478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rgbClr val="E36C09"/>
                </a:solidFill>
              </a:rPr>
              <a:t>0</a:t>
            </a:r>
            <a:r>
              <a:rPr lang="en-US" altLang="ko-KR" dirty="0">
                <a:solidFill>
                  <a:srgbClr val="E36C09"/>
                </a:solidFill>
              </a:rPr>
              <a:t>4</a:t>
            </a:r>
            <a:r>
              <a:rPr lang="ko-KR" dirty="0">
                <a:solidFill>
                  <a:srgbClr val="E36C09"/>
                </a:solidFill>
              </a:rPr>
              <a:t>. </a:t>
            </a:r>
            <a:r>
              <a:rPr lang="ko-KR" altLang="en-US" dirty="0" err="1"/>
              <a:t>비주얼</a:t>
            </a:r>
            <a:r>
              <a:rPr lang="ko-KR" altLang="en-US" dirty="0"/>
              <a:t> 스튜디오 설치</a:t>
            </a:r>
            <a:endParaRPr dirty="0"/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 err="1"/>
              <a:t>비주얼</a:t>
            </a:r>
            <a:r>
              <a:rPr lang="ko-KR" altLang="en-US" sz="2400" dirty="0"/>
              <a:t> 스튜디오 설치하기</a:t>
            </a:r>
          </a:p>
          <a:p>
            <a:pPr marL="790575" lvl="2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Font typeface="+mj-lt"/>
              <a:buAutoNum type="arabicPeriod" startAt="4"/>
            </a:pPr>
            <a:r>
              <a:rPr lang="ko-KR" altLang="en-US" dirty="0"/>
              <a:t>마이크로소프트 계정이 없다면 계정을 만든 후 로그인</a:t>
            </a:r>
            <a:endParaRPr lang="en-US" altLang="ko-KR" dirty="0"/>
          </a:p>
        </p:txBody>
      </p:sp>
      <p:pic>
        <p:nvPicPr>
          <p:cNvPr id="10242" name="Picture 2" descr="C:\Users\변소현\Desktop\난생처음 C 언어 프로그래밍\그림\Ch1\p35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416" y="2353087"/>
            <a:ext cx="3604090" cy="2618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oogle Shape;118;p8"/>
          <p:cNvGrpSpPr>
            <a:grpSpLocks noChangeAspect="1"/>
          </p:cNvGrpSpPr>
          <p:nvPr/>
        </p:nvGrpSpPr>
        <p:grpSpPr>
          <a:xfrm>
            <a:off x="1292819" y="5132321"/>
            <a:ext cx="6577412" cy="1248530"/>
            <a:chOff x="683573" y="1844824"/>
            <a:chExt cx="7924665" cy="1940773"/>
          </a:xfrm>
        </p:grpSpPr>
        <p:sp>
          <p:nvSpPr>
            <p:cNvPr id="7" name="Google Shape;119;p8"/>
            <p:cNvSpPr/>
            <p:nvPr/>
          </p:nvSpPr>
          <p:spPr>
            <a:xfrm>
              <a:off x="688238" y="1844824"/>
              <a:ext cx="7920000" cy="1886937"/>
            </a:xfrm>
            <a:prstGeom prst="rect">
              <a:avLst/>
            </a:prstGeom>
            <a:solidFill>
              <a:srgbClr val="EAF1DD"/>
            </a:solidFill>
            <a:ln w="127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" name="Google Shape;120;p8"/>
            <p:cNvSpPr txBox="1"/>
            <p:nvPr/>
          </p:nvSpPr>
          <p:spPr>
            <a:xfrm>
              <a:off x="741355" y="2296114"/>
              <a:ext cx="7772193" cy="1489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en-US" altLang="ko-KR" sz="12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C:\Program Files\Microsoft Visual Studio\2022\Community\Common7\IDE \devenv.exe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경로에서 실행파일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(devenv.exe)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을 바탕화면에 </a:t>
              </a:r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바로가기로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만들어도 됨</a:t>
              </a:r>
              <a:endParaRPr lang="en-US" altLang="ko-KR" sz="12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  <a:sym typeface="Malgun Gothic"/>
              </a:endParaRPr>
            </a:p>
          </p:txBody>
        </p:sp>
        <p:sp>
          <p:nvSpPr>
            <p:cNvPr id="9" name="Google Shape;121;p8"/>
            <p:cNvSpPr/>
            <p:nvPr/>
          </p:nvSpPr>
          <p:spPr>
            <a:xfrm>
              <a:off x="683573" y="1844824"/>
              <a:ext cx="1511728" cy="432050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하나</a:t>
              </a:r>
              <a:r>
                <a:rPr lang="en-US" sz="12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더 </a:t>
              </a:r>
              <a:r>
                <a:rPr lang="en-US" sz="1200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알기</a:t>
              </a:r>
              <a:endParaRPr sz="1100" dirty="0"/>
            </a:p>
          </p:txBody>
        </p:sp>
        <p:sp>
          <p:nvSpPr>
            <p:cNvPr id="10" name="Google Shape;122;p8"/>
            <p:cNvSpPr txBox="1"/>
            <p:nvPr/>
          </p:nvSpPr>
          <p:spPr>
            <a:xfrm>
              <a:off x="2256715" y="1911000"/>
              <a:ext cx="4699962" cy="3534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C479D"/>
                </a:buClr>
                <a:buSzPts val="1800"/>
                <a:buFont typeface="Noto Sans Symbols"/>
                <a:buNone/>
              </a:pPr>
              <a:r>
                <a:rPr lang="ko-KR" altLang="en-US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바탕화면에 </a:t>
              </a:r>
              <a:r>
                <a:rPr lang="ko-KR" altLang="en-US" b="1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바로가기</a:t>
              </a:r>
              <a:r>
                <a:rPr lang="ko-KR" altLang="en-US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생성하기</a:t>
              </a:r>
              <a:endParaRPr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4779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rgbClr val="E36C09"/>
                </a:solidFill>
              </a:rPr>
              <a:t>0</a:t>
            </a:r>
            <a:r>
              <a:rPr lang="en-US" altLang="ko-KR" dirty="0">
                <a:solidFill>
                  <a:srgbClr val="E36C09"/>
                </a:solidFill>
              </a:rPr>
              <a:t>4</a:t>
            </a:r>
            <a:r>
              <a:rPr lang="ko-KR" dirty="0">
                <a:solidFill>
                  <a:srgbClr val="E36C09"/>
                </a:solidFill>
              </a:rPr>
              <a:t>. </a:t>
            </a:r>
            <a:r>
              <a:rPr lang="ko-KR" altLang="en-US" dirty="0" err="1"/>
              <a:t>비주얼</a:t>
            </a:r>
            <a:r>
              <a:rPr lang="ko-KR" altLang="en-US" dirty="0"/>
              <a:t> 스튜디오 설치</a:t>
            </a:r>
            <a:endParaRPr dirty="0"/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프로젝트와 솔루션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프로젝트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프로그램을 만들기 위한 모든 것이 갖춰진 개발 환경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솔루션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하나 이상의 프로젝트들을 모아서 관리하는 역할</a:t>
            </a:r>
            <a:endParaRPr lang="en-US" altLang="ko-KR" dirty="0"/>
          </a:p>
        </p:txBody>
      </p:sp>
      <p:pic>
        <p:nvPicPr>
          <p:cNvPr id="11266" name="Picture 2" descr="C:\Users\변소현\Desktop\난생처음 C 언어 프로그래밍\그림\Ch1\그림 1-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27" y="3784105"/>
            <a:ext cx="5882946" cy="2622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5746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rgbClr val="E36C09"/>
                </a:solidFill>
              </a:rPr>
              <a:t>0</a:t>
            </a:r>
            <a:r>
              <a:rPr lang="en-US" altLang="ko-KR" dirty="0">
                <a:solidFill>
                  <a:srgbClr val="E36C09"/>
                </a:solidFill>
              </a:rPr>
              <a:t>4</a:t>
            </a:r>
            <a:r>
              <a:rPr lang="ko-KR" dirty="0">
                <a:solidFill>
                  <a:srgbClr val="E36C09"/>
                </a:solidFill>
              </a:rPr>
              <a:t>. </a:t>
            </a:r>
            <a:r>
              <a:rPr lang="ko-KR" altLang="en-US" dirty="0" err="1"/>
              <a:t>비주얼</a:t>
            </a:r>
            <a:r>
              <a:rPr lang="ko-KR" altLang="en-US" dirty="0"/>
              <a:t> 스튜디오 설치</a:t>
            </a:r>
            <a:endParaRPr dirty="0"/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프로젝트와 솔루션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프로젝트와 솔루션 생성</a:t>
            </a:r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eriod"/>
            </a:pPr>
            <a:r>
              <a:rPr lang="en-US" altLang="ko-KR" dirty="0"/>
              <a:t>VS2022 </a:t>
            </a:r>
            <a:r>
              <a:rPr lang="ko-KR" altLang="en-US" dirty="0"/>
              <a:t>실행 후 </a:t>
            </a:r>
            <a:r>
              <a:rPr lang="en-US" altLang="ko-KR" dirty="0"/>
              <a:t>[</a:t>
            </a:r>
            <a:r>
              <a:rPr lang="ko-KR" altLang="en-US" dirty="0"/>
              <a:t>새 프로젝트 만들기</a:t>
            </a:r>
            <a:r>
              <a:rPr lang="en-US" altLang="ko-KR" dirty="0"/>
              <a:t>] </a:t>
            </a:r>
            <a:r>
              <a:rPr lang="ko-KR" altLang="en-US" dirty="0"/>
              <a:t>선택</a:t>
            </a:r>
            <a:endParaRPr lang="en-US" altLang="ko-KR" dirty="0"/>
          </a:p>
        </p:txBody>
      </p:sp>
      <p:pic>
        <p:nvPicPr>
          <p:cNvPr id="12290" name="Picture 2" descr="C:\Users\변소현\Desktop\난생처음 C 언어 프로그래밍\그림\Ch1\p36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2920370"/>
            <a:ext cx="5867400" cy="294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5372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rgbClr val="E36C09"/>
                </a:solidFill>
              </a:rPr>
              <a:t>0</a:t>
            </a:r>
            <a:r>
              <a:rPr lang="en-US" altLang="ko-KR" dirty="0">
                <a:solidFill>
                  <a:srgbClr val="E36C09"/>
                </a:solidFill>
              </a:rPr>
              <a:t>4</a:t>
            </a:r>
            <a:r>
              <a:rPr lang="ko-KR" dirty="0">
                <a:solidFill>
                  <a:srgbClr val="E36C09"/>
                </a:solidFill>
              </a:rPr>
              <a:t>. </a:t>
            </a:r>
            <a:r>
              <a:rPr lang="ko-KR" altLang="en-US" dirty="0" err="1"/>
              <a:t>비주얼</a:t>
            </a:r>
            <a:r>
              <a:rPr lang="ko-KR" altLang="en-US" dirty="0"/>
              <a:t> 스튜디오 설치</a:t>
            </a:r>
            <a:endParaRPr dirty="0"/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프로젝트와 솔루션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프로젝트와 솔루션 생성</a:t>
            </a:r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eriod" startAt="2"/>
            </a:pPr>
            <a:r>
              <a:rPr lang="en-US" altLang="ko-KR" dirty="0"/>
              <a:t>[</a:t>
            </a:r>
            <a:r>
              <a:rPr lang="ko-KR" altLang="en-US" dirty="0"/>
              <a:t>빈 프로젝트</a:t>
            </a:r>
            <a:r>
              <a:rPr lang="en-US" altLang="ko-KR" dirty="0"/>
              <a:t>]</a:t>
            </a:r>
            <a:r>
              <a:rPr lang="ko-KR" altLang="en-US" dirty="0"/>
              <a:t>를 선택하고 버튼을 클릭</a:t>
            </a:r>
            <a:endParaRPr lang="en-US" altLang="ko-KR" dirty="0"/>
          </a:p>
        </p:txBody>
      </p:sp>
      <p:pic>
        <p:nvPicPr>
          <p:cNvPr id="13314" name="Picture 2" descr="C:\Users\변소현\Desktop\난생처음 C 언어 프로그래밍\그림\Ch1\p37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162" y="2888172"/>
            <a:ext cx="5825675" cy="360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04645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rgbClr val="E36C09"/>
                </a:solidFill>
              </a:rPr>
              <a:t>0</a:t>
            </a:r>
            <a:r>
              <a:rPr lang="en-US" altLang="ko-KR" dirty="0">
                <a:solidFill>
                  <a:srgbClr val="E36C09"/>
                </a:solidFill>
              </a:rPr>
              <a:t>4</a:t>
            </a:r>
            <a:r>
              <a:rPr lang="ko-KR" dirty="0">
                <a:solidFill>
                  <a:srgbClr val="E36C09"/>
                </a:solidFill>
              </a:rPr>
              <a:t>. </a:t>
            </a:r>
            <a:r>
              <a:rPr lang="ko-KR" altLang="en-US" dirty="0" err="1"/>
              <a:t>비주얼</a:t>
            </a:r>
            <a:r>
              <a:rPr lang="ko-KR" altLang="en-US" dirty="0"/>
              <a:t> 스튜디오 설치</a:t>
            </a:r>
            <a:endParaRPr dirty="0"/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프로젝트와 솔루션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프로젝트와 솔루션 생성</a:t>
            </a:r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eriod" startAt="3"/>
            </a:pPr>
            <a:r>
              <a:rPr lang="en-US" altLang="ko-KR" dirty="0"/>
              <a:t>[</a:t>
            </a:r>
            <a:r>
              <a:rPr lang="ko-KR" altLang="en-US" dirty="0"/>
              <a:t>새 프로젝트 구성</a:t>
            </a:r>
            <a:r>
              <a:rPr lang="en-US" altLang="ko-KR" dirty="0"/>
              <a:t>] </a:t>
            </a:r>
            <a:r>
              <a:rPr lang="ko-KR" altLang="en-US" dirty="0"/>
              <a:t>창에서 아래와 같이 입력 후 </a:t>
            </a:r>
            <a:r>
              <a:rPr lang="en-US" altLang="ko-KR" dirty="0"/>
              <a:t>&lt;</a:t>
            </a:r>
            <a:r>
              <a:rPr lang="ko-KR" altLang="en-US" dirty="0"/>
              <a:t>만들기</a:t>
            </a:r>
            <a:r>
              <a:rPr lang="en-US" altLang="ko-KR" dirty="0"/>
              <a:t>&gt;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628650" lvl="3" indent="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None/>
            </a:pPr>
            <a:r>
              <a:rPr lang="en-US" altLang="ko-KR" dirty="0"/>
              <a:t>- </a:t>
            </a:r>
            <a:r>
              <a:rPr lang="ko-KR" altLang="en-US" dirty="0"/>
              <a:t>프로젝트 이름 </a:t>
            </a:r>
            <a:r>
              <a:rPr lang="en-US" altLang="ko-KR" dirty="0"/>
              <a:t>: </a:t>
            </a:r>
            <a:r>
              <a:rPr lang="en-US" altLang="ko-KR" dirty="0" err="1"/>
              <a:t>CProject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솔루션 이름 </a:t>
            </a:r>
            <a:r>
              <a:rPr lang="en-US" altLang="ko-KR" dirty="0"/>
              <a:t>: </a:t>
            </a:r>
            <a:r>
              <a:rPr lang="en-US" altLang="ko-KR" dirty="0" err="1"/>
              <a:t>CSolution</a:t>
            </a:r>
            <a:endParaRPr lang="en-US" altLang="ko-KR" dirty="0"/>
          </a:p>
        </p:txBody>
      </p:sp>
      <p:pic>
        <p:nvPicPr>
          <p:cNvPr id="14338" name="Picture 2" descr="C:\Users\변소현\Desktop\난생처음 C 언어 프로그래밍\그림\Ch1\p37-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076" y="3616719"/>
            <a:ext cx="4693848" cy="292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8952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rgbClr val="E36C09"/>
                </a:solidFill>
              </a:rPr>
              <a:t>0</a:t>
            </a:r>
            <a:r>
              <a:rPr lang="en-US" altLang="ko-KR" dirty="0">
                <a:solidFill>
                  <a:srgbClr val="E36C09"/>
                </a:solidFill>
              </a:rPr>
              <a:t>4</a:t>
            </a:r>
            <a:r>
              <a:rPr lang="ko-KR" dirty="0">
                <a:solidFill>
                  <a:srgbClr val="E36C09"/>
                </a:solidFill>
              </a:rPr>
              <a:t>. </a:t>
            </a:r>
            <a:r>
              <a:rPr lang="ko-KR" altLang="en-US" dirty="0" err="1"/>
              <a:t>비주얼</a:t>
            </a:r>
            <a:r>
              <a:rPr lang="ko-KR" altLang="en-US" dirty="0"/>
              <a:t> 스튜디오 설치</a:t>
            </a:r>
            <a:endParaRPr dirty="0"/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프로젝트와 솔루션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프로젝트와 솔루션 생성</a:t>
            </a:r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eriod" startAt="4"/>
            </a:pPr>
            <a:r>
              <a:rPr lang="ko-KR" altLang="en-US" dirty="0"/>
              <a:t>프로젝트 생성이 완료된 초기화면은 다음과 같음</a:t>
            </a:r>
            <a:endParaRPr lang="en-US" altLang="ko-KR" dirty="0"/>
          </a:p>
        </p:txBody>
      </p:sp>
      <p:pic>
        <p:nvPicPr>
          <p:cNvPr id="15362" name="Picture 2" descr="C:\Users\변소현\Desktop\난생처음 C 언어 프로그래밍\그림\Ch1\p38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901" y="2870584"/>
            <a:ext cx="5882197" cy="3288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79357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rgbClr val="E36C09"/>
                </a:solidFill>
              </a:rPr>
              <a:t>0</a:t>
            </a:r>
            <a:r>
              <a:rPr lang="en-US" altLang="ko-KR" dirty="0">
                <a:solidFill>
                  <a:srgbClr val="E36C09"/>
                </a:solidFill>
              </a:rPr>
              <a:t>4</a:t>
            </a:r>
            <a:r>
              <a:rPr lang="ko-KR" dirty="0">
                <a:solidFill>
                  <a:srgbClr val="E36C09"/>
                </a:solidFill>
              </a:rPr>
              <a:t>. </a:t>
            </a:r>
            <a:r>
              <a:rPr lang="ko-KR" altLang="en-US" dirty="0" err="1"/>
              <a:t>비주얼</a:t>
            </a:r>
            <a:r>
              <a:rPr lang="ko-KR" altLang="en-US" dirty="0"/>
              <a:t> 스튜디오 설치</a:t>
            </a:r>
            <a:endParaRPr dirty="0"/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967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프로젝트와 솔루션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프로젝트와 솔루션 생성</a:t>
            </a:r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eriod" startAt="5"/>
            </a:pPr>
            <a:r>
              <a:rPr lang="en-US" altLang="ko-KR" dirty="0"/>
              <a:t>VS2022</a:t>
            </a:r>
            <a:r>
              <a:rPr lang="ko-KR" altLang="en-US" dirty="0"/>
              <a:t>를 다시 실행하면 다음과 같은 창이 나옴</a:t>
            </a:r>
            <a:endParaRPr lang="en-US" altLang="ko-KR" dirty="0"/>
          </a:p>
        </p:txBody>
      </p:sp>
      <p:pic>
        <p:nvPicPr>
          <p:cNvPr id="16386" name="Picture 2" descr="C:\Users\변소현\Desktop\난생처음 C 언어 프로그래밍\그림\Ch1\그림 1-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188" y="2885088"/>
            <a:ext cx="5127625" cy="3208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16430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>
                <a:solidFill>
                  <a:srgbClr val="E36C09"/>
                </a:solidFill>
              </a:rPr>
              <a:t>0</a:t>
            </a:r>
            <a:r>
              <a:rPr lang="en-US" altLang="ko-KR" dirty="0">
                <a:solidFill>
                  <a:srgbClr val="E36C09"/>
                </a:solidFill>
              </a:rPr>
              <a:t>4</a:t>
            </a:r>
            <a:r>
              <a:rPr lang="ko-KR" altLang="ko-KR" dirty="0">
                <a:solidFill>
                  <a:srgbClr val="E36C09"/>
                </a:solidFill>
              </a:rPr>
              <a:t>. </a:t>
            </a:r>
            <a:r>
              <a:rPr lang="ko-KR" altLang="en-US" dirty="0" err="1"/>
              <a:t>비주얼</a:t>
            </a:r>
            <a:r>
              <a:rPr lang="ko-KR" altLang="en-US" dirty="0"/>
              <a:t> 스튜디오 설치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96" y="1673524"/>
            <a:ext cx="7214606" cy="4087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63748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634</Words>
  <Application>Microsoft Office PowerPoint</Application>
  <PresentationFormat>화면 슬라이드 쇼(4:3)</PresentationFormat>
  <Paragraphs>139</Paragraphs>
  <Slides>31</Slides>
  <Notes>29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2" baseType="lpstr">
      <vt:lpstr>Office 테마</vt:lpstr>
      <vt:lpstr>Chapter 01. 프로그래밍과 C 언어</vt:lpstr>
      <vt:lpstr>PowerPoint 프레젠테이션</vt:lpstr>
      <vt:lpstr>PowerPoint 프레젠테이션</vt:lpstr>
      <vt:lpstr>PowerPoint 프레젠테이션</vt:lpstr>
      <vt:lpstr>01. 프로그래밍이란?</vt:lpstr>
      <vt:lpstr>01. 프로그래밍이란?</vt:lpstr>
      <vt:lpstr>01. 프로그래밍이란?</vt:lpstr>
      <vt:lpstr>PowerPoint 프레젠테이션</vt:lpstr>
      <vt:lpstr>02. 프로그래밍 언어란?</vt:lpstr>
      <vt:lpstr>02. 프로그래밍 언어란?</vt:lpstr>
      <vt:lpstr>02. 프로그래밍 언어란?</vt:lpstr>
      <vt:lpstr>02. 프로그래밍 언어란?</vt:lpstr>
      <vt:lpstr>PowerPoint 프레젠테이션</vt:lpstr>
      <vt:lpstr>03. C 언어란?</vt:lpstr>
      <vt:lpstr>03. C 언어란?</vt:lpstr>
      <vt:lpstr>03. C 언어란?</vt:lpstr>
      <vt:lpstr>03. C 언어란?</vt:lpstr>
      <vt:lpstr>03. C 언어란?</vt:lpstr>
      <vt:lpstr>PowerPoint 프레젠테이션</vt:lpstr>
      <vt:lpstr>04. 비주얼 스튜디오 설치</vt:lpstr>
      <vt:lpstr>04. 비주얼 스튜디오 설치</vt:lpstr>
      <vt:lpstr>04. 비주얼 스튜디오 설치</vt:lpstr>
      <vt:lpstr>04. 비주얼 스튜디오 설치</vt:lpstr>
      <vt:lpstr>04. 비주얼 스튜디오 설치</vt:lpstr>
      <vt:lpstr>04. 비주얼 스튜디오 설치</vt:lpstr>
      <vt:lpstr>04. 비주얼 스튜디오 설치</vt:lpstr>
      <vt:lpstr>04. 비주얼 스튜디오 설치</vt:lpstr>
      <vt:lpstr>04. 비주얼 스튜디오 설치</vt:lpstr>
      <vt:lpstr>04. 비주얼 스튜디오 설치</vt:lpstr>
      <vt:lpstr>04. 비주얼 스튜디오 설치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01. 프로그래밍과 C 언어</dc:title>
  <dc:creator>서지영</dc:creator>
  <cp:lastModifiedBy>이해원</cp:lastModifiedBy>
  <cp:revision>13</cp:revision>
  <dcterms:created xsi:type="dcterms:W3CDTF">2012-07-11T10:23:22Z</dcterms:created>
  <dcterms:modified xsi:type="dcterms:W3CDTF">2022-01-26T01:50:02Z</dcterms:modified>
</cp:coreProperties>
</file>