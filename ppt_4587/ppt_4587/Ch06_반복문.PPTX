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58" r:id="rId4"/>
    <p:sldId id="259" r:id="rId5"/>
    <p:sldId id="260" r:id="rId6"/>
    <p:sldId id="417" r:id="rId7"/>
    <p:sldId id="418" r:id="rId8"/>
    <p:sldId id="419" r:id="rId9"/>
    <p:sldId id="420" r:id="rId10"/>
    <p:sldId id="261" r:id="rId11"/>
    <p:sldId id="273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2" r:id="rId22"/>
    <p:sldId id="433" r:id="rId23"/>
    <p:sldId id="434" r:id="rId24"/>
    <p:sldId id="287" r:id="rId25"/>
    <p:sldId id="288" r:id="rId26"/>
    <p:sldId id="394" r:id="rId27"/>
    <p:sldId id="395" r:id="rId28"/>
    <p:sldId id="436" r:id="rId29"/>
    <p:sldId id="438" r:id="rId30"/>
    <p:sldId id="439" r:id="rId31"/>
    <p:sldId id="440" r:id="rId32"/>
    <p:sldId id="301" r:id="rId33"/>
    <p:sldId id="302" r:id="rId34"/>
    <p:sldId id="341" r:id="rId35"/>
    <p:sldId id="408" r:id="rId36"/>
    <p:sldId id="409" r:id="rId37"/>
    <p:sldId id="415" r:id="rId38"/>
    <p:sldId id="442" r:id="rId39"/>
    <p:sldId id="443" r:id="rId40"/>
    <p:sldId id="444" r:id="rId41"/>
    <p:sldId id="445" r:id="rId42"/>
    <p:sldId id="448" r:id="rId43"/>
    <p:sldId id="450" r:id="rId44"/>
    <p:sldId id="451" r:id="rId45"/>
    <p:sldId id="453" r:id="rId46"/>
    <p:sldId id="454" r:id="rId47"/>
    <p:sldId id="455" r:id="rId48"/>
    <p:sldId id="456" r:id="rId49"/>
    <p:sldId id="457" r:id="rId50"/>
    <p:sldId id="316" r:id="rId51"/>
    <p:sldId id="264" r:id="rId52"/>
    <p:sldId id="317" r:id="rId53"/>
    <p:sldId id="318" r:id="rId54"/>
    <p:sldId id="267" r:id="rId5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7C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  <p:guide orient="horz" pos="219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54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06. </a:t>
            </a:r>
            <a:r>
              <a:rPr lang="ko-KR" altLang="en-US" sz="3600" b="1" dirty="0" err="1">
                <a:solidFill>
                  <a:schemeClr val="lt1"/>
                </a:solidFill>
              </a:rPr>
              <a:t>반복문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02.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반복문이란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while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do~while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반복문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고급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100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이하의 소수 출력하기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반복문의 특징을 이해하고 종류를 알아본다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for</a:t>
            </a:r>
            <a:r>
              <a:rPr lang="ko-KR" altLang="en-US" dirty="0"/>
              <a:t>문의 개념과 실행 흐름을 이해한다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while</a:t>
            </a:r>
            <a:r>
              <a:rPr lang="ko-KR" altLang="en-US" dirty="0"/>
              <a:t>문을 비교하여 적용할 수 있다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while</a:t>
            </a:r>
            <a:r>
              <a:rPr lang="ko-KR" altLang="en-US" dirty="0"/>
              <a:t>문과 </a:t>
            </a:r>
            <a:r>
              <a:rPr lang="en-US" altLang="ko-KR" dirty="0" err="1"/>
              <a:t>do~while</a:t>
            </a:r>
            <a:r>
              <a:rPr lang="ko-KR" altLang="en-US" dirty="0"/>
              <a:t>문의 차이점을 이해한다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다중 </a:t>
            </a:r>
            <a:r>
              <a:rPr lang="ko-KR" altLang="en-US" dirty="0" err="1"/>
              <a:t>반복문을</a:t>
            </a:r>
            <a:r>
              <a:rPr lang="ko-KR" altLang="en-US" dirty="0"/>
              <a:t> 이해하고 </a:t>
            </a:r>
            <a:r>
              <a:rPr lang="en-US" altLang="ko-KR" dirty="0"/>
              <a:t>break</a:t>
            </a:r>
            <a:r>
              <a:rPr lang="ko-KR" altLang="en-US" dirty="0"/>
              <a:t>와 </a:t>
            </a:r>
            <a:r>
              <a:rPr lang="en-US" altLang="ko-KR" dirty="0"/>
              <a:t>continue</a:t>
            </a:r>
            <a:r>
              <a:rPr lang="ko-KR" altLang="en-US" dirty="0"/>
              <a:t>의 쓰임새를 알아본다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 err="1"/>
              <a:t>반복문이란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반복문이란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반복문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반복문의 개념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제어문의 일종으로 특정한 코드를 반복적으로 실행시키는 명령문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반복문의 특징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0</a:t>
            </a:r>
            <a:r>
              <a:rPr lang="ko-KR" altLang="en-US" dirty="0"/>
              <a:t>회 이상 반복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반복하는 횟수를 설정하는 기능은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특정 횟수만큼 반복 실행되도록 할 수 있음</a:t>
            </a:r>
            <a:endParaRPr lang="en-US" altLang="ko-K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반복문이란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반복문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반복문의 종류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altLang="ko-KR" dirty="0">
                <a:latin typeface="Consolas" panose="020B0609020204030204" pitchFamily="49" charset="0"/>
              </a:rPr>
              <a:t>for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ko-KR" altLang="en-US" dirty="0"/>
              <a:t>제어 변수를 </a:t>
            </a:r>
            <a:r>
              <a:rPr lang="ko-KR" altLang="en-US" dirty="0" err="1"/>
              <a:t>조건식에</a:t>
            </a:r>
            <a:r>
              <a:rPr lang="ko-KR" altLang="en-US" dirty="0"/>
              <a:t> 사용하여 특정 횟수만큼 반복 실행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altLang="ko-KR" dirty="0">
                <a:latin typeface="Consolas" panose="020B0609020204030204" pitchFamily="49" charset="0"/>
              </a:rPr>
              <a:t>while</a:t>
            </a:r>
            <a:r>
              <a:rPr lang="ko-KR" altLang="en-US" dirty="0"/>
              <a:t>문</a:t>
            </a:r>
            <a:r>
              <a:rPr lang="en-US" altLang="ko-KR" dirty="0"/>
              <a:t>, </a:t>
            </a:r>
            <a:r>
              <a:rPr lang="en-US" altLang="ko-KR" dirty="0" err="1">
                <a:latin typeface="Consolas" panose="020B0609020204030204" pitchFamily="49" charset="0"/>
              </a:rPr>
              <a:t>do~while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ko-KR" altLang="en-US" dirty="0"/>
              <a:t>특정 조건이 만족할 때까지 반복 실행</a:t>
            </a:r>
            <a:endParaRPr lang="en-US" altLang="ko-KR" dirty="0"/>
          </a:p>
        </p:txBody>
      </p:sp>
      <p:pic>
        <p:nvPicPr>
          <p:cNvPr id="4" name="Picture 2" descr="C:\Users\변소현\Desktop\난생처음 C 언어 프로그래밍\그림\Ch6\그림 6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70" y="3961874"/>
            <a:ext cx="6659909" cy="186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09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반복문이란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59" y="2872763"/>
            <a:ext cx="7676730" cy="11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335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반복문이란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379936"/>
            <a:ext cx="7924665" cy="4516040"/>
            <a:chOff x="615155" y="1379936"/>
            <a:chExt cx="7924665" cy="451604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4516040"/>
              <a:chOff x="683573" y="1844824"/>
              <a:chExt cx="7924665" cy="186353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863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6-1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입력한 횟수만큼 반복하기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 자신을 호출하는 함수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void Print(</a:t>
              </a:r>
              <a:r>
                <a:rPr lang="en-US" altLang="ko-KR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count)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이용하여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입력받은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반복 횟수만큼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“난생처음”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출력하는 프로그램을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이때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count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보다 클 경우 출력한 뒤에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count–1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인자로 자기 자신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Print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다시 호출하는 방법을 사용합니다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30" y="3476625"/>
            <a:ext cx="6261740" cy="92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383" y="4765964"/>
            <a:ext cx="6069235" cy="259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10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 err="1">
                <a:solidFill>
                  <a:schemeClr val="tx1"/>
                </a:solidFill>
              </a:rPr>
              <a:t>반복문이란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036541"/>
            <a:ext cx="7924665" cy="5364259"/>
            <a:chOff x="683573" y="1844824"/>
            <a:chExt cx="7924665" cy="166965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669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051447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717218174"/>
              </p:ext>
            </p:extLst>
          </p:nvPr>
        </p:nvGraphicFramePr>
        <p:xfrm>
          <a:off x="871407" y="1465742"/>
          <a:ext cx="7416825" cy="482937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Print(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count)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(count &gt;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Print(count –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반복 횟수를 입력하세요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Print(n);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pt-BR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31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/>
              <a:t>for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for</a:t>
            </a:r>
            <a:r>
              <a:rPr lang="ko-KR" altLang="en-US" sz="2400" dirty="0"/>
              <a:t>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특정 횟수만큼 반복 실행하기 위하여 사용되는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문의 형식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초기화절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초기화를 위한 변수 선언이나 초기화식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조건식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조건식의</a:t>
            </a:r>
            <a:r>
              <a:rPr lang="ko-KR" altLang="en-US" dirty="0"/>
              <a:t> 계산 값이 </a:t>
            </a:r>
            <a:r>
              <a:rPr lang="en-US" altLang="ko-KR" dirty="0"/>
              <a:t>0</a:t>
            </a:r>
            <a:r>
              <a:rPr lang="ko-KR" altLang="en-US" dirty="0"/>
              <a:t>이 아니면</a:t>
            </a:r>
            <a:r>
              <a:rPr lang="en-US" altLang="ko-KR" dirty="0"/>
              <a:t>(</a:t>
            </a:r>
            <a:r>
              <a:rPr lang="ko-KR" altLang="en-US" dirty="0"/>
              <a:t>참</a:t>
            </a:r>
            <a:r>
              <a:rPr lang="en-US" altLang="ko-KR" dirty="0"/>
              <a:t>) </a:t>
            </a:r>
            <a:r>
              <a:rPr lang="ko-KR" altLang="en-US" dirty="0"/>
              <a:t>명령문을 실행하고</a:t>
            </a:r>
            <a:r>
              <a:rPr lang="en-US" altLang="ko-KR" dirty="0"/>
              <a:t>, 0</a:t>
            </a:r>
            <a:r>
              <a:rPr lang="ko-KR" altLang="en-US" dirty="0"/>
              <a:t>이면</a:t>
            </a:r>
            <a:r>
              <a:rPr lang="en-US" altLang="ko-KR" dirty="0"/>
              <a:t>(</a:t>
            </a:r>
            <a:r>
              <a:rPr lang="ko-KR" altLang="en-US" dirty="0"/>
              <a:t>거짓</a:t>
            </a:r>
            <a:r>
              <a:rPr lang="en-US" altLang="ko-KR" dirty="0"/>
              <a:t>) for</a:t>
            </a:r>
            <a:r>
              <a:rPr lang="ko-KR" altLang="en-US" dirty="0"/>
              <a:t>문을 </a:t>
            </a:r>
            <a:r>
              <a:rPr lang="ko-KR" altLang="en-US" dirty="0" err="1"/>
              <a:t>빠져나옴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반복식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명령문이 실행된 이후에 계산되는 식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329" y="3206354"/>
            <a:ext cx="7091867" cy="135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for</a:t>
            </a:r>
            <a:r>
              <a:rPr lang="ko-KR" altLang="en-US" sz="2400" dirty="0"/>
              <a:t>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문의 실행 흐름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 err="1"/>
              <a:t>초기화절을</a:t>
            </a:r>
            <a:r>
              <a:rPr lang="ko-KR" altLang="en-US" dirty="0"/>
              <a:t> 실행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 err="1"/>
              <a:t>조건식</a:t>
            </a:r>
            <a:r>
              <a:rPr lang="ko-KR" altLang="en-US" dirty="0"/>
              <a:t> 평가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참일 경우 </a:t>
            </a:r>
            <a:r>
              <a:rPr lang="en-US" altLang="ko-KR" dirty="0"/>
              <a:t>: </a:t>
            </a:r>
            <a:r>
              <a:rPr lang="ko-KR" altLang="en-US" dirty="0"/>
              <a:t>명령문을 실행한 후 다시 </a:t>
            </a:r>
            <a:r>
              <a:rPr lang="en-US" altLang="ko-KR" dirty="0"/>
              <a:t>for</a:t>
            </a:r>
            <a:r>
              <a:rPr lang="ko-KR" altLang="en-US" dirty="0"/>
              <a:t>문의 </a:t>
            </a:r>
            <a:r>
              <a:rPr lang="ko-KR" altLang="en-US" dirty="0" err="1"/>
              <a:t>반복식</a:t>
            </a:r>
            <a:r>
              <a:rPr lang="en-US" altLang="ko-KR" dirty="0"/>
              <a:t>-</a:t>
            </a:r>
            <a:r>
              <a:rPr lang="ko-KR" altLang="en-US" dirty="0" err="1"/>
              <a:t>조건식으로</a:t>
            </a:r>
            <a:r>
              <a:rPr lang="ko-KR" altLang="en-US" dirty="0"/>
              <a:t> 돌아옴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거짓일 경우 </a:t>
            </a:r>
            <a:r>
              <a:rPr lang="en-US" altLang="ko-KR" dirty="0"/>
              <a:t>: </a:t>
            </a:r>
            <a:r>
              <a:rPr lang="ko-KR" altLang="en-US" dirty="0"/>
              <a:t>즉시 </a:t>
            </a:r>
            <a:r>
              <a:rPr lang="en-US" altLang="ko-KR" dirty="0"/>
              <a:t>for</a:t>
            </a:r>
            <a:r>
              <a:rPr lang="ko-KR" altLang="en-US" dirty="0"/>
              <a:t>문을 </a:t>
            </a:r>
            <a:r>
              <a:rPr lang="ko-KR" altLang="en-US" dirty="0" err="1"/>
              <a:t>빠져나옴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436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for</a:t>
            </a:r>
            <a:r>
              <a:rPr lang="ko-KR" altLang="en-US" sz="2400" dirty="0"/>
              <a:t>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문의 실행 흐름</a:t>
            </a:r>
            <a:endParaRPr lang="ko-KR" altLang="en-US"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826903" y="231425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980589690"/>
              </p:ext>
            </p:extLst>
          </p:nvPr>
        </p:nvGraphicFramePr>
        <p:xfrm>
          <a:off x="916939" y="2677603"/>
          <a:ext cx="7416825" cy="213970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n-NO" altLang="ko-KR" baseline="0" dirty="0">
                          <a:latin typeface="Consolas" panose="020B0609020204030204" pitchFamily="49" charset="0"/>
                        </a:rPr>
                        <a:t>i = 0; i &lt; 2; i = i + 1)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print(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47" y="4940518"/>
            <a:ext cx="7521053" cy="8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971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867151" y="3895725"/>
            <a:ext cx="342900" cy="209550"/>
          </a:xfrm>
          <a:prstGeom prst="rect">
            <a:avLst/>
          </a:prstGeom>
          <a:solidFill>
            <a:srgbClr val="F7F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2124074" y="3905250"/>
            <a:ext cx="971551" cy="209550"/>
          </a:xfrm>
          <a:prstGeom prst="rect">
            <a:avLst/>
          </a:prstGeom>
          <a:solidFill>
            <a:srgbClr val="F7F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for</a:t>
            </a:r>
            <a:r>
              <a:rPr lang="ko-KR" altLang="en-US" sz="2400" dirty="0"/>
              <a:t>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문의 실행 흐름</a:t>
            </a:r>
            <a:endParaRPr lang="ko-KR" altLang="en-US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242855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초기화절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변수 선언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4066258726"/>
              </p:ext>
            </p:extLst>
          </p:nvPr>
        </p:nvGraphicFramePr>
        <p:xfrm>
          <a:off x="916939" y="2791903"/>
          <a:ext cx="7416825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 = 0; i &lt; 2; i++)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print(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619375" y="4330008"/>
            <a:ext cx="2555204" cy="356292"/>
            <a:chOff x="1781261" y="4657724"/>
            <a:chExt cx="2555204" cy="356292"/>
          </a:xfrm>
        </p:grpSpPr>
        <p:sp>
          <p:nvSpPr>
            <p:cNvPr id="8" name="직사각형 7"/>
            <p:cNvSpPr/>
            <p:nvPr/>
          </p:nvSpPr>
          <p:spPr>
            <a:xfrm>
              <a:off x="3290931" y="4657724"/>
              <a:ext cx="1045534" cy="3562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  <a:r>
                <a:rPr lang="en-US" altLang="ko-KR" dirty="0">
                  <a:solidFill>
                    <a:srgbClr val="FF0000"/>
                  </a:solidFill>
                </a:rPr>
                <a:t> </a:t>
              </a:r>
              <a:r>
                <a:rPr lang="ko-KR" altLang="en-US" dirty="0">
                  <a:solidFill>
                    <a:srgbClr val="FF0000"/>
                  </a:solidFill>
                </a:rPr>
                <a:t>발생</a:t>
              </a:r>
            </a:p>
          </p:txBody>
        </p:sp>
        <p:cxnSp>
          <p:nvCxnSpPr>
            <p:cNvPr id="9" name="직선 화살표 연결선 8"/>
            <p:cNvCxnSpPr>
              <a:stCxn id="8" idx="1"/>
            </p:cNvCxnSpPr>
            <p:nvPr/>
          </p:nvCxnSpPr>
          <p:spPr>
            <a:xfrm flipH="1">
              <a:off x="1781261" y="4835870"/>
              <a:ext cx="150967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047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for</a:t>
            </a:r>
            <a:r>
              <a:rPr lang="ko-KR" altLang="en-US" sz="2400" dirty="0"/>
              <a:t>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for</a:t>
            </a:r>
            <a:r>
              <a:rPr lang="ko-KR" altLang="en-US" b="1" dirty="0"/>
              <a:t>문에서 기억해야 할 점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for</a:t>
            </a:r>
            <a:r>
              <a:rPr lang="ko-KR" altLang="en-US" dirty="0"/>
              <a:t>문의 진입이 최초인가 아닌가 여부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최초 진입 시 </a:t>
            </a:r>
            <a:r>
              <a:rPr lang="en-US" altLang="ko-KR" dirty="0"/>
              <a:t>: </a:t>
            </a:r>
            <a:r>
              <a:rPr lang="ko-KR" altLang="en-US" dirty="0" err="1"/>
              <a:t>초기화절</a:t>
            </a:r>
            <a:r>
              <a:rPr lang="en-US" altLang="ko-KR" dirty="0"/>
              <a:t>, </a:t>
            </a:r>
            <a:r>
              <a:rPr lang="ko-KR" altLang="en-US" dirty="0" err="1"/>
              <a:t>조건식만</a:t>
            </a:r>
            <a:r>
              <a:rPr lang="ko-KR" altLang="en-US" dirty="0"/>
              <a:t> 순서대로 실행 및 평가됨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두 번째 진입 이후 </a:t>
            </a:r>
            <a:r>
              <a:rPr lang="en-US" altLang="ko-KR" dirty="0"/>
              <a:t>: </a:t>
            </a:r>
            <a:r>
              <a:rPr lang="ko-KR" altLang="en-US" dirty="0" err="1"/>
              <a:t>반복식</a:t>
            </a:r>
            <a:r>
              <a:rPr lang="en-US" altLang="ko-KR" dirty="0"/>
              <a:t>, </a:t>
            </a:r>
            <a:r>
              <a:rPr lang="ko-KR" altLang="en-US" dirty="0" err="1"/>
              <a:t>조건식만</a:t>
            </a:r>
            <a:r>
              <a:rPr lang="ko-KR" altLang="en-US" dirty="0"/>
              <a:t> 순서대로 평가됨</a:t>
            </a:r>
            <a:endParaRPr lang="en-US" altLang="ko-KR" dirty="0"/>
          </a:p>
        </p:txBody>
      </p:sp>
      <p:pic>
        <p:nvPicPr>
          <p:cNvPr id="7170" name="Picture 2" descr="C:\Users\변소현\Desktop\난생처음 C 언어 프로그래밍\그림\Ch6\그림 6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3875088"/>
            <a:ext cx="5432425" cy="22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48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for</a:t>
            </a:r>
            <a:r>
              <a:rPr lang="ko-KR" altLang="en-US" sz="2400" dirty="0"/>
              <a:t>문의 활용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특정 횟수만큼 반복하는 프로그램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355217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문을 이용한 합계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964482761"/>
              </p:ext>
            </p:extLst>
          </p:nvPr>
        </p:nvGraphicFramePr>
        <p:xfrm>
          <a:off x="916939" y="2718570"/>
          <a:ext cx="7416825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 = 0; i &lt; 100; i++)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Sum = Sum + 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총합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4" y="5445343"/>
            <a:ext cx="7564622" cy="56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154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for</a:t>
            </a:r>
            <a:r>
              <a:rPr lang="ko-KR" altLang="en-US" sz="2400" dirty="0"/>
              <a:t>문의 활용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특정 조건을 만족할 때까지 반복하는 프로그램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45393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문을 이용한 찾기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618079926"/>
              </p:ext>
            </p:extLst>
          </p:nvPr>
        </p:nvGraphicFramePr>
        <p:xfrm>
          <a:off x="916939" y="2817286"/>
          <a:ext cx="7416825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(i = 0; Sum &lt; 3000; i++)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Sum = Sum + 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 +...+ %d &gt;=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757"/>
          <a:stretch/>
        </p:blipFill>
        <p:spPr bwMode="auto">
          <a:xfrm>
            <a:off x="6107986" y="2935014"/>
            <a:ext cx="2119075" cy="56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7858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sp>
        <p:nvSpPr>
          <p:cNvPr id="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for</a:t>
            </a:r>
            <a:r>
              <a:rPr lang="ko-KR" altLang="en-US" sz="2400" dirty="0"/>
              <a:t>문의 활용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특정 조건을 만족할 때까지 반복하는 프로그램</a:t>
            </a:r>
            <a:endParaRPr lang="ko-KR" altLang="en-US" dirty="0"/>
          </a:p>
        </p:txBody>
      </p:sp>
      <p:pic>
        <p:nvPicPr>
          <p:cNvPr id="10242" name="Picture 2" descr="C:\Users\변소현\Desktop\난생처음 C 언어 프로그래밍\그림\Ch6\그림 6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487" y="2832287"/>
            <a:ext cx="5186363" cy="213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739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for</a:t>
            </a:r>
            <a:r>
              <a:rPr lang="ko-KR" altLang="en-US" sz="2400" dirty="0"/>
              <a:t>문의 변형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초기화절과</a:t>
            </a:r>
            <a:r>
              <a:rPr lang="ko-KR" altLang="en-US" b="1" dirty="0"/>
              <a:t> </a:t>
            </a:r>
            <a:r>
              <a:rPr lang="ko-KR" altLang="en-US" b="1" dirty="0" err="1"/>
              <a:t>반복식을</a:t>
            </a:r>
            <a:r>
              <a:rPr lang="ko-KR" altLang="en-US" b="1" dirty="0"/>
              <a:t> 생략한 경우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355217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초기화절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반복식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생략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744259253"/>
              </p:ext>
            </p:extLst>
          </p:nvPr>
        </p:nvGraphicFramePr>
        <p:xfrm>
          <a:off x="916939" y="2718570"/>
          <a:ext cx="7416825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      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초기화절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Sum = 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; i &lt; 100; )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Sum = Sum + 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        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반복식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총합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040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for</a:t>
            </a:r>
            <a:r>
              <a:rPr lang="ko-KR" altLang="en-US" sz="2400" dirty="0"/>
              <a:t>문의 변형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조건식을</a:t>
            </a:r>
            <a:r>
              <a:rPr lang="ko-KR" altLang="en-US" b="1" dirty="0"/>
              <a:t> 생략한 경우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285712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 무한반복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615774580"/>
              </p:ext>
            </p:extLst>
          </p:nvPr>
        </p:nvGraphicFramePr>
        <p:xfrm>
          <a:off x="916939" y="2649065"/>
          <a:ext cx="7416825" cy="38065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2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= 0;                </a:t>
                      </a:r>
                      <a:r>
                        <a:rPr lang="en-US" altLang="ko-KR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200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초기화절</a:t>
                      </a:r>
                      <a:endParaRPr lang="en-US" altLang="ko-KR" sz="12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Sum = 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(;;)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Sum = Sum + (i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i++;                   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200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반복식</a:t>
                      </a:r>
                      <a:endParaRPr lang="nn-NO" altLang="ko-KR" sz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sz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nn-NO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(i &gt; 99)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nn-NO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for</a:t>
                      </a:r>
                      <a:r>
                        <a:rPr lang="ko-KR" altLang="en-US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 탈출</a:t>
                      </a:r>
                      <a:endParaRPr lang="nn-NO" altLang="ko-KR" sz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총합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sz="1200" baseline="0" dirty="0">
                          <a:latin typeface="Consolas" panose="020B0609020204030204" pitchFamily="49" charset="0"/>
                        </a:rPr>
                        <a:t>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nn-NO" altLang="ko-KR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341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956" y="1603576"/>
            <a:ext cx="6321135" cy="436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923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2343" y="1379936"/>
            <a:ext cx="7924665" cy="4516040"/>
            <a:chOff x="615155" y="1379936"/>
            <a:chExt cx="7924665" cy="451604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4516040"/>
              <a:chOff x="683573" y="1844824"/>
              <a:chExt cx="7924665" cy="186353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8635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6-2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+mj-ea"/>
                  <a:ea typeface="+mj-ea"/>
                </a:rPr>
                <a:t>팩토리얼</a:t>
              </a:r>
              <a:r>
                <a:rPr lang="ko-KR" altLang="en-US" sz="1600" b="1" dirty="0">
                  <a:latin typeface="+mj-ea"/>
                  <a:ea typeface="+mj-ea"/>
                </a:rPr>
                <a:t> 계산하기 </a:t>
              </a:r>
              <a:r>
                <a:rPr lang="en-US" altLang="ko-KR" sz="1600" b="1" dirty="0">
                  <a:latin typeface="+mj-ea"/>
                  <a:ea typeface="+mj-ea"/>
                </a:rPr>
                <a:t>1</a:t>
              </a:r>
              <a:endParaRPr lang="ko-KR" altLang="en-US" sz="1600" b="1" dirty="0"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n!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계산 값이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1,000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넘지 않는 최대의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그때의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n!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구하고 출력하는 프로그램을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for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문으로 작성해봅시다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2862263"/>
            <a:ext cx="46958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287" y="3661175"/>
            <a:ext cx="6247426" cy="42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034" y="4363030"/>
            <a:ext cx="6173932" cy="54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213372"/>
            <a:ext cx="7924665" cy="5297582"/>
            <a:chOff x="683573" y="1844824"/>
            <a:chExt cx="7924665" cy="156287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562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2282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030465081"/>
              </p:ext>
            </p:extLst>
          </p:nvPr>
        </p:nvGraphicFramePr>
        <p:xfrm>
          <a:off x="871407" y="1680671"/>
          <a:ext cx="7416825" cy="468173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factorial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= 1; ;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next = factorial *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(next &gt;= 1000)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factorial = next;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"%d!: %d"</a:t>
                      </a:r>
                      <a:r>
                        <a:rPr lang="pt-BR" altLang="ko-KR" b="1" baseline="0" dirty="0">
                          <a:latin typeface="Consolas" panose="020B0609020204030204" pitchFamily="49" charset="0"/>
                        </a:rPr>
                        <a:t>, i - 1, factorial);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="1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/>
              <a:t>while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while</a:t>
            </a:r>
            <a:r>
              <a:rPr lang="ko-KR" altLang="en-US" sz="2400" dirty="0"/>
              <a:t>문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while</a:t>
            </a:r>
            <a:r>
              <a:rPr lang="ko-KR" altLang="en-US" b="1" dirty="0"/>
              <a:t>문의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반복문의 일종으로 오직 </a:t>
            </a:r>
            <a:r>
              <a:rPr lang="ko-KR" altLang="en-US" dirty="0" err="1"/>
              <a:t>조건식만</a:t>
            </a:r>
            <a:r>
              <a:rPr lang="ko-KR" altLang="en-US" dirty="0"/>
              <a:t> 가짐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if</a:t>
            </a:r>
            <a:r>
              <a:rPr lang="ko-KR" altLang="en-US" dirty="0"/>
              <a:t>문과 달리 조건식이 생략될 수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for</a:t>
            </a:r>
            <a:r>
              <a:rPr lang="ko-KR" altLang="en-US" dirty="0"/>
              <a:t>문과 마찬가지로 반복되는 명령문은 단 하나만 올 수 있음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while</a:t>
            </a:r>
            <a:r>
              <a:rPr lang="ko-KR" altLang="en-US" b="1" dirty="0"/>
              <a:t>문의 형식</a:t>
            </a:r>
            <a:endParaRPr lang="en-US" altLang="ko-KR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163" y="4068912"/>
            <a:ext cx="6990674" cy="125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en-US" altLang="ko-KR" sz="2400" dirty="0"/>
              <a:t>while</a:t>
            </a:r>
            <a:r>
              <a:rPr lang="ko-KR" altLang="en-US" sz="2400" dirty="0"/>
              <a:t>문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972186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while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495055956"/>
              </p:ext>
            </p:extLst>
          </p:nvPr>
        </p:nvGraphicFramePr>
        <p:xfrm>
          <a:off x="916939" y="2335539"/>
          <a:ext cx="7416825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초기화절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&lt; 100)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Sum = Sum + 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                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반복식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("</a:t>
                      </a:r>
                      <a:r>
                        <a:rPr lang="ko-KR" altLang="en-US" baseline="0" dirty="0">
                          <a:latin typeface="Consolas" panose="020B0609020204030204" pitchFamily="49" charset="0"/>
                        </a:rPr>
                        <a:t>총합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: %d",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82"/>
          <a:stretch/>
        </p:blipFill>
        <p:spPr bwMode="auto">
          <a:xfrm>
            <a:off x="5950467" y="2475146"/>
            <a:ext cx="2365009" cy="57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843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while</a:t>
            </a:r>
            <a:r>
              <a:rPr lang="ko-KR" altLang="en-US" sz="2400" dirty="0"/>
              <a:t>문과 </a:t>
            </a:r>
            <a:r>
              <a:rPr lang="en-US" altLang="ko-KR" sz="2400" dirty="0"/>
              <a:t>for</a:t>
            </a:r>
            <a:r>
              <a:rPr lang="ko-KR" altLang="en-US" sz="2400" dirty="0"/>
              <a:t>문의 비교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while</a:t>
            </a:r>
            <a:r>
              <a:rPr lang="ko-KR" altLang="en-US" dirty="0"/>
              <a:t>문은 </a:t>
            </a:r>
            <a:r>
              <a:rPr lang="en-US" altLang="ko-KR" dirty="0"/>
              <a:t>for</a:t>
            </a:r>
            <a:r>
              <a:rPr lang="ko-KR" altLang="en-US" dirty="0"/>
              <a:t>문으로 완전히 대체 가능</a:t>
            </a:r>
            <a:endParaRPr lang="en-US" altLang="ko-KR" dirty="0"/>
          </a:p>
        </p:txBody>
      </p:sp>
      <p:pic>
        <p:nvPicPr>
          <p:cNvPr id="15362" name="Picture 2" descr="C:\Users\변소현\Desktop\난생처음 C 언어 프로그래밍\그림\Ch6\그림 6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936875"/>
            <a:ext cx="3886200" cy="216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67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while</a:t>
            </a:r>
            <a:r>
              <a:rPr lang="ko-KR" altLang="en-US" sz="2400" dirty="0"/>
              <a:t>문과 </a:t>
            </a:r>
            <a:r>
              <a:rPr lang="en-US" altLang="ko-KR" sz="2400" dirty="0"/>
              <a:t>for</a:t>
            </a:r>
            <a:r>
              <a:rPr lang="ko-KR" altLang="en-US" sz="2400" dirty="0"/>
              <a:t>문의 비교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734061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while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 무한 반복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4266985641"/>
              </p:ext>
            </p:extLst>
          </p:nvPr>
        </p:nvGraphicFramePr>
        <p:xfrm>
          <a:off x="916939" y="2097414"/>
          <a:ext cx="7416825" cy="435388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Sum = Sum (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++;           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반복식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&gt; 99)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break;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     </a:t>
                      </a:r>
                      <a:r>
                        <a:rPr lang="en-US" altLang="ko-KR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while</a:t>
                      </a:r>
                      <a:r>
                        <a:rPr lang="ko-KR" altLang="en-US" sz="13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 탈출</a:t>
                      </a:r>
                      <a:endParaRPr lang="en-US" altLang="ko-KR" sz="1300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총합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Sum);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59"/>
          <a:stretch/>
        </p:blipFill>
        <p:spPr bwMode="auto">
          <a:xfrm>
            <a:off x="6056279" y="2209419"/>
            <a:ext cx="2259197" cy="56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4194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30" y="1935646"/>
            <a:ext cx="6996588" cy="2986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536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879542"/>
            <a:ext cx="7924665" cy="3458765"/>
            <a:chOff x="615155" y="1379936"/>
            <a:chExt cx="7924665" cy="345876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6"/>
              <a:ext cx="7924665" cy="3458765"/>
              <a:chOff x="683573" y="1844824"/>
              <a:chExt cx="7924665" cy="142725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272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6-3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+mj-ea"/>
                  <a:ea typeface="+mj-ea"/>
                </a:rPr>
                <a:t>팩토리얼</a:t>
              </a:r>
              <a:r>
                <a:rPr lang="ko-KR" altLang="en-US" sz="1600" b="1" dirty="0">
                  <a:latin typeface="+mj-ea"/>
                  <a:ea typeface="+mj-ea"/>
                </a:rPr>
                <a:t> 계산하기 </a:t>
              </a:r>
              <a:r>
                <a:rPr lang="en-US" altLang="ko-KR" sz="1600" b="1" dirty="0">
                  <a:latin typeface="+mj-ea"/>
                  <a:ea typeface="+mj-ea"/>
                </a:rPr>
                <a:t>2</a:t>
              </a:r>
              <a:endParaRPr lang="ko-KR" altLang="en-US" sz="1600" b="1" dirty="0"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89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n!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의 계산 값이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1,000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넘는 최소의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과 그때의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n!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구하고 출력하는 프로그램을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while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문으로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95" y="3483739"/>
            <a:ext cx="6798459" cy="43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895" y="4286318"/>
            <a:ext cx="6512210" cy="44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556272"/>
            <a:ext cx="7924665" cy="4520678"/>
            <a:chOff x="683573" y="1844824"/>
            <a:chExt cx="7924665" cy="133367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336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6-3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5711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051609791"/>
              </p:ext>
            </p:extLst>
          </p:nvPr>
        </p:nvGraphicFramePr>
        <p:xfrm>
          <a:off x="871407" y="2023571"/>
          <a:ext cx="7416825" cy="391364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factorial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(factorial &lt; 1000)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factorial *=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"%d!: %d"</a:t>
                      </a:r>
                      <a:r>
                        <a:rPr lang="pt-BR" altLang="ko-KR" b="1" baseline="0" dirty="0">
                          <a:latin typeface="Consolas" panose="020B0609020204030204" pitchFamily="49" charset="0"/>
                        </a:rPr>
                        <a:t>, i, factorial);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="1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 err="1"/>
              <a:t>do~while</a:t>
            </a:r>
            <a:r>
              <a:rPr lang="ko-KR" altLang="en-US" sz="4000" dirty="0"/>
              <a:t>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 err="1"/>
              <a:t>do~while</a:t>
            </a:r>
            <a:r>
              <a:rPr lang="ko-KR" altLang="en-US" sz="2400" dirty="0"/>
              <a:t>문의 형식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 err="1"/>
              <a:t>do~while</a:t>
            </a:r>
            <a:r>
              <a:rPr lang="ko-KR" altLang="en-US" b="1" dirty="0"/>
              <a:t>문의 개념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while</a:t>
            </a:r>
            <a:r>
              <a:rPr lang="ko-KR" altLang="en-US" dirty="0"/>
              <a:t>문의 변형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최소한 한 번은 명령문이 실행됨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do~while</a:t>
            </a:r>
            <a:r>
              <a:rPr lang="ko-KR" altLang="en-US" b="1" dirty="0"/>
              <a:t>문의 사용 형식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49" y="3377477"/>
            <a:ext cx="7002503" cy="1531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sz="2400" dirty="0" err="1"/>
              <a:t>do~while</a:t>
            </a:r>
            <a:r>
              <a:rPr lang="ko-KR" altLang="en-US" sz="2400" dirty="0"/>
              <a:t>문의 활용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do~while</a:t>
            </a:r>
            <a:r>
              <a:rPr lang="ko-KR" altLang="en-US" b="1" dirty="0"/>
              <a:t>문이 활용되는 경우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무조건 한 번은 사용자에게 입력을 받아야 함</a:t>
            </a:r>
          </a:p>
        </p:txBody>
      </p:sp>
      <p:pic>
        <p:nvPicPr>
          <p:cNvPr id="2050" name="Picture 2" descr="C:\Users\변소현\Desktop\난생처음 C 언어 프로그래밍\그림\Ch6\그림 6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397" y="2954587"/>
            <a:ext cx="5825206" cy="266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426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do~while</a:t>
            </a:r>
            <a:r>
              <a:rPr lang="ko-KR" altLang="en-US" sz="2400" dirty="0"/>
              <a:t>문의 활용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1501417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6-9]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while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이용한 입력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590686950"/>
              </p:ext>
            </p:extLst>
          </p:nvPr>
        </p:nvGraphicFramePr>
        <p:xfrm>
          <a:off x="916939" y="1864770"/>
          <a:ext cx="7416825" cy="435388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Number;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번부터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번까지 원하는 번호를 입력하세요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(Number &gt; 4)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번부터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번까지 원하는 번호를 입력하세요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 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&amp;Number);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선택한 번호는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46"/>
          <a:stretch/>
        </p:blipFill>
        <p:spPr bwMode="auto">
          <a:xfrm>
            <a:off x="5467135" y="1937922"/>
            <a:ext cx="3322652" cy="908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368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 err="1"/>
              <a:t>do~while</a:t>
            </a:r>
            <a:r>
              <a:rPr lang="ko-KR" altLang="en-US" sz="2400" dirty="0"/>
              <a:t>문의 활용</a:t>
            </a:r>
          </a:p>
        </p:txBody>
      </p:sp>
      <p:sp>
        <p:nvSpPr>
          <p:cNvPr id="9" name="Google Shape;102;p7"/>
          <p:cNvSpPr txBox="1"/>
          <p:nvPr/>
        </p:nvSpPr>
        <p:spPr>
          <a:xfrm>
            <a:off x="826903" y="1611634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6-10]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do~while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이용한 입력</a:t>
            </a:r>
            <a:endParaRPr dirty="0"/>
          </a:p>
        </p:txBody>
      </p:sp>
      <p:graphicFrame>
        <p:nvGraphicFramePr>
          <p:cNvPr id="10" name="Google Shape;104;p7"/>
          <p:cNvGraphicFramePr/>
          <p:nvPr>
            <p:extLst>
              <p:ext uri="{D42A27DB-BD31-4B8C-83A1-F6EECF244321}">
                <p14:modId xmlns:p14="http://schemas.microsoft.com/office/powerpoint/2010/main" val="1421750099"/>
              </p:ext>
            </p:extLst>
          </p:nvPr>
        </p:nvGraphicFramePr>
        <p:xfrm>
          <a:off x="916939" y="1974987"/>
          <a:ext cx="7416825" cy="387840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Number;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do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번부터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번까지 원하는 번호를 입력하세요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(Number &gt; 4);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선택한 번호는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449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17" y="2173524"/>
            <a:ext cx="7049815" cy="2549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4900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879543"/>
            <a:ext cx="7924665" cy="3835459"/>
            <a:chOff x="615155" y="1379937"/>
            <a:chExt cx="7924665" cy="3835459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3835459"/>
              <a:chOff x="683573" y="1844824"/>
              <a:chExt cx="7924665" cy="158269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826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6-4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입력한 수를 모두 합하는 프로그램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897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입력한 수를 모두 합한 결과를 보여주는 프로그램을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0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 입력되면 결과를 보여줍니다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677" y="3225369"/>
            <a:ext cx="6198659" cy="1399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590" y="4831040"/>
            <a:ext cx="5186820" cy="567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330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en-US" altLang="ko-KR" dirty="0" err="1">
                <a:solidFill>
                  <a:schemeClr val="tx1"/>
                </a:solidFill>
              </a:rPr>
              <a:t>do~while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27672"/>
            <a:ext cx="7924665" cy="4890247"/>
            <a:chOff x="683573" y="1844824"/>
            <a:chExt cx="7924665" cy="130519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05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9433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6-4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425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046535743"/>
              </p:ext>
            </p:extLst>
          </p:nvPr>
        </p:nvGraphicFramePr>
        <p:xfrm>
          <a:off x="871407" y="1794971"/>
          <a:ext cx="7416825" cy="411614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n, 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do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더하고 싶은 수를 입력하세요 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   sum +=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}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(n != 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총합은 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ko-KR" altLang="en-US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sz="1300" b="1" baseline="0" dirty="0">
                          <a:latin typeface="Consolas" panose="020B0609020204030204" pitchFamily="49" charset="0"/>
                        </a:rPr>
                        <a:t>, sum);</a:t>
                      </a:r>
                      <a:endParaRPr lang="pt-BR" altLang="ko-KR" sz="1300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1300" b="1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="1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2121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 err="1"/>
              <a:t>반복문</a:t>
            </a:r>
            <a:r>
              <a:rPr lang="ko-KR" altLang="en-US" sz="4000" dirty="0"/>
              <a:t> 고급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80175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다중 반복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다중 반복의 개념</a:t>
            </a:r>
            <a:endParaRPr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반복문</a:t>
            </a:r>
            <a:r>
              <a:rPr lang="ko-KR" altLang="en-US" dirty="0"/>
              <a:t> 안에서 또 다른 </a:t>
            </a:r>
            <a:r>
              <a:rPr lang="ko-KR" altLang="en-US" dirty="0" err="1"/>
              <a:t>반복문이</a:t>
            </a:r>
            <a:r>
              <a:rPr lang="ko-KR" altLang="en-US" dirty="0"/>
              <a:t> 사용되는 것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532692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6-11]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반복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539047391"/>
              </p:ext>
            </p:extLst>
          </p:nvPr>
        </p:nvGraphicFramePr>
        <p:xfrm>
          <a:off x="916939" y="2896045"/>
          <a:ext cx="7416825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2;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10;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2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단부터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단까지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j = 1; j &lt; 10;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j++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* %d = %d</a:t>
                      </a:r>
                      <a:r>
                        <a:rPr lang="pt-BR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i, j, i * j);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단마다 줄 바꿈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96"/>
          <a:stretch/>
        </p:blipFill>
        <p:spPr bwMode="auto">
          <a:xfrm>
            <a:off x="6835679" y="3850920"/>
            <a:ext cx="2128810" cy="248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621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552" y="911002"/>
            <a:ext cx="8208912" cy="5400600"/>
          </a:xfrm>
        </p:spPr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break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다중 </a:t>
            </a:r>
            <a:r>
              <a:rPr lang="ko-KR" altLang="en-US" b="1" dirty="0" err="1"/>
              <a:t>반복문에서</a:t>
            </a:r>
            <a:r>
              <a:rPr lang="ko-KR" altLang="en-US" b="1" dirty="0"/>
              <a:t> </a:t>
            </a:r>
            <a:r>
              <a:rPr lang="en-US" altLang="ko-KR" b="1" dirty="0"/>
              <a:t>break </a:t>
            </a:r>
            <a:r>
              <a:rPr lang="ko-KR" altLang="en-US" b="1" dirty="0"/>
              <a:t>사용 시 주의점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break</a:t>
            </a:r>
            <a:r>
              <a:rPr lang="ko-KR" altLang="en-US" dirty="0"/>
              <a:t>는 오직 자신을 포함한 가장 가까운 </a:t>
            </a:r>
            <a:r>
              <a:rPr lang="ko-KR" altLang="en-US" dirty="0" err="1"/>
              <a:t>반복문만</a:t>
            </a:r>
            <a:r>
              <a:rPr lang="ko-KR" altLang="en-US" dirty="0"/>
              <a:t> 탈출함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5C24178-6CB2-45E2-8F84-B4D6FCC09739}"/>
              </a:ext>
            </a:extLst>
          </p:cNvPr>
          <p:cNvGrpSpPr/>
          <p:nvPr/>
        </p:nvGrpSpPr>
        <p:grpSpPr>
          <a:xfrm>
            <a:off x="909199" y="2424718"/>
            <a:ext cx="7515746" cy="4169871"/>
            <a:chOff x="826903" y="3256079"/>
            <a:chExt cx="6840692" cy="4169871"/>
          </a:xfrm>
        </p:grpSpPr>
        <p:sp>
          <p:nvSpPr>
            <p:cNvPr id="7" name="Google Shape;102;p7">
              <a:extLst>
                <a:ext uri="{FF2B5EF4-FFF2-40B4-BE49-F238E27FC236}">
                  <a16:creationId xmlns:a16="http://schemas.microsoft.com/office/drawing/2014/main" id="{2A24A7D6-AEF2-4DEC-B993-6C25BB7861F6}"/>
                </a:ext>
              </a:extLst>
            </p:cNvPr>
            <p:cNvSpPr txBox="1"/>
            <p:nvPr/>
          </p:nvSpPr>
          <p:spPr>
            <a:xfrm>
              <a:off x="826903" y="3256079"/>
              <a:ext cx="4459472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6-12]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다중 반복과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break</a:t>
              </a:r>
              <a:endParaRPr dirty="0"/>
            </a:p>
          </p:txBody>
        </p:sp>
        <p:graphicFrame>
          <p:nvGraphicFramePr>
            <p:cNvPr id="10" name="Google Shape;104;p7">
              <a:extLst>
                <a:ext uri="{FF2B5EF4-FFF2-40B4-BE49-F238E27FC236}">
                  <a16:creationId xmlns:a16="http://schemas.microsoft.com/office/drawing/2014/main" id="{5EC09CAD-3922-4E7A-81A5-2957DF89C9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7919017"/>
                </p:ext>
              </p:extLst>
            </p:nvPr>
          </p:nvGraphicFramePr>
          <p:xfrm>
            <a:off x="916939" y="3619432"/>
            <a:ext cx="6750656" cy="38065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6785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2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{</a:t>
                        </a:r>
                        <a:endParaRPr lang="en-US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2; </a:t>
                        </a:r>
                        <a:r>
                          <a:rPr lang="en-US" altLang="ko-KR" sz="1200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&lt; 10; </a:t>
                        </a:r>
                        <a:r>
                          <a:rPr lang="en-US" altLang="ko-KR" sz="1200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  <a:endParaRPr lang="en-US" altLang="ko-KR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j = 1;  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printf(</a:t>
                        </a:r>
                        <a:r>
                          <a:rPr lang="pt-BR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 * %d = %d</a:t>
                        </a:r>
                        <a:r>
                          <a:rPr lang="pt-BR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i, j, i * j);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j++;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pt-BR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(j &gt; 9)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pt-BR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                 </a:t>
                        </a:r>
                        <a:r>
                          <a:rPr lang="pt-BR" altLang="ko-KR" sz="12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//while</a:t>
                        </a:r>
                        <a:r>
                          <a:rPr lang="ko-KR" altLang="en-US" sz="1200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문만 탈출함</a:t>
                        </a:r>
                        <a:endParaRPr lang="pt-BR" altLang="ko-KR" sz="1200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printf(</a:t>
                        </a:r>
                        <a:r>
                          <a:rPr lang="pt-BR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61952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552" y="930052"/>
            <a:ext cx="8208912" cy="5400600"/>
          </a:xfrm>
        </p:spPr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continue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continue</a:t>
            </a:r>
            <a:r>
              <a:rPr lang="ko-KR" altLang="en-US" b="1" dirty="0"/>
              <a:t>의 개념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실행 흐름을 변경시킬 때 사용되는 명령어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break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en-US" altLang="ko-KR" dirty="0" err="1"/>
              <a:t>swithc</a:t>
            </a:r>
            <a:r>
              <a:rPr lang="ko-KR" altLang="en-US" dirty="0"/>
              <a:t>문과 </a:t>
            </a:r>
            <a:r>
              <a:rPr lang="ko-KR" altLang="en-US" dirty="0" err="1"/>
              <a:t>반복문에</a:t>
            </a:r>
            <a:r>
              <a:rPr lang="ko-KR" altLang="en-US" dirty="0"/>
              <a:t> 사용됨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continue</a:t>
            </a:r>
            <a:r>
              <a:rPr lang="ko-KR" altLang="en-US" dirty="0"/>
              <a:t>문 </a:t>
            </a:r>
            <a:r>
              <a:rPr lang="en-US" altLang="ko-KR" dirty="0"/>
              <a:t>: </a:t>
            </a:r>
            <a:r>
              <a:rPr lang="ko-KR" altLang="en-US" dirty="0" err="1"/>
              <a:t>반복문에서만</a:t>
            </a:r>
            <a:r>
              <a:rPr lang="ko-KR" altLang="en-US" dirty="0"/>
              <a:t> 사용됨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continue</a:t>
            </a:r>
            <a:r>
              <a:rPr lang="ko-KR" altLang="en-US" b="1" dirty="0"/>
              <a:t>의 실행 흐름</a:t>
            </a:r>
            <a:endParaRPr lang="en-US" altLang="ko-KR" dirty="0"/>
          </a:p>
        </p:txBody>
      </p:sp>
      <p:pic>
        <p:nvPicPr>
          <p:cNvPr id="1026" name="Picture 2" descr="C:\Users\변소현\Desktop\난생처음 C 언어 프로그래밍\그림\Ch6\그림 6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263" y="3912748"/>
            <a:ext cx="6095475" cy="202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33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552" y="911002"/>
            <a:ext cx="8208912" cy="5400600"/>
          </a:xfrm>
        </p:spPr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continue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26903" y="1591987"/>
            <a:ext cx="445947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6-13]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continue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496688588"/>
              </p:ext>
            </p:extLst>
          </p:nvPr>
        </p:nvGraphicFramePr>
        <p:xfrm>
          <a:off x="916939" y="1955340"/>
          <a:ext cx="7416825" cy="44648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2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{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Number;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</a:t>
                      </a:r>
                      <a:r>
                        <a:rPr lang="ko-KR" altLang="en-US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번부터 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번까지 원하는 번호를 입력하세요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! "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&amp;Number);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aseline="0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(Number &gt; 4)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continue</a:t>
                      </a: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aseline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선택한 번호는 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ko-KR" altLang="en-US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sz="12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."</a:t>
                      </a: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, Number);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87AE8B52-F443-4AF6-92E9-3B4D314603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97"/>
          <a:stretch/>
        </p:blipFill>
        <p:spPr bwMode="auto">
          <a:xfrm>
            <a:off x="5188712" y="2001060"/>
            <a:ext cx="3522439" cy="102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6975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677" y="1192046"/>
            <a:ext cx="6440646" cy="5054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594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346143"/>
            <a:ext cx="7924665" cy="5054657"/>
            <a:chOff x="615155" y="1379937"/>
            <a:chExt cx="7924665" cy="5054657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5054657"/>
              <a:chOff x="683573" y="1844824"/>
              <a:chExt cx="7924665" cy="208579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20857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6-5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생년월일 </a:t>
              </a:r>
              <a:r>
                <a:rPr lang="ko-KR" altLang="en-US" sz="1600" b="1" dirty="0" err="1">
                  <a:latin typeface="+mj-ea"/>
                  <a:ea typeface="+mj-ea"/>
                </a:rPr>
                <a:t>입력받기</a:t>
              </a:r>
              <a:r>
                <a:rPr lang="ko-KR" altLang="en-US" sz="1600" b="1" dirty="0">
                  <a:latin typeface="+mj-ea"/>
                  <a:ea typeface="+mj-ea"/>
                </a:rPr>
                <a:t>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46366" y="1767809"/>
              <a:ext cx="7578069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생년월일을 차례대로 </a:t>
              </a:r>
              <a:r>
                <a:rPr lang="ko-KR" altLang="en-US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입력받아서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보여주는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이때 제대로 된 숫자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연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2021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월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12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일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31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)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가 입력되지 않을 경우 반복해서 입력을 요구하며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 하나라도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이하 수가 입력되면 프로그램을 바로 종료합니다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481" y="3020477"/>
            <a:ext cx="6818525" cy="154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929" y="4688857"/>
            <a:ext cx="6530142" cy="1212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98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27672"/>
            <a:ext cx="7924665" cy="4996928"/>
            <a:chOff x="683573" y="1844824"/>
            <a:chExt cx="7924665" cy="133367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336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9433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6-5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425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4117459357"/>
              </p:ext>
            </p:extLst>
          </p:nvPr>
        </p:nvGraphicFramePr>
        <p:xfrm>
          <a:off x="871407" y="1794971"/>
          <a:ext cx="7416825" cy="442570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year, month, day;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   while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태어난 연도를 입력하세요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);</a:t>
                      </a:r>
                      <a:endParaRPr lang="pt-BR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, &amp;year);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(year &gt; 2021)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continue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(year &lt;=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0;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4972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27672"/>
            <a:ext cx="7924665" cy="4473054"/>
            <a:chOff x="683573" y="1844824"/>
            <a:chExt cx="7924665" cy="11938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193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9433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6-5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425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406476803"/>
              </p:ext>
            </p:extLst>
          </p:nvPr>
        </p:nvGraphicFramePr>
        <p:xfrm>
          <a:off x="871407" y="1794971"/>
          <a:ext cx="7416825" cy="391364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  <a:endParaRPr lang="en-US" sz="1400" u="none" strike="noStrike" cap="none" dirty="0">
                        <a:latin typeface="Consolas" panose="020B0609020204030204" pitchFamily="49" charset="0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         while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태어난 월을 입력하세요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, &amp;month);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(month &gt; 12)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continue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(month &lt;=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태어난 일을 입력하세요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, &amp;day);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054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반복문</a:t>
            </a:r>
            <a:r>
              <a:rPr lang="ko-KR" altLang="en-US" dirty="0">
                <a:solidFill>
                  <a:schemeClr val="tx1"/>
                </a:solidFill>
              </a:rPr>
              <a:t> 고급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27672"/>
            <a:ext cx="7924665" cy="3558653"/>
            <a:chOff x="683573" y="1844824"/>
            <a:chExt cx="7924665" cy="94979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9497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9433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6-5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4257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012294153"/>
              </p:ext>
            </p:extLst>
          </p:nvPr>
        </p:nvGraphicFramePr>
        <p:xfrm>
          <a:off x="871407" y="1794972"/>
          <a:ext cx="7416825" cy="293895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89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43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baseline="0" dirty="0">
                          <a:latin typeface="Consolas" panose="020B0609020204030204" pitchFamily="49" charset="0"/>
                        </a:rPr>
                        <a:t>(day &gt; 31)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                  continue;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               else if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(day &lt;=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"Birthday: %d-%d-%d"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year, month, day);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705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en-US" altLang="ko-KR" sz="4000" dirty="0">
                <a:solidFill>
                  <a:schemeClr val="accent4"/>
                </a:solidFill>
              </a:rPr>
              <a:t>100 </a:t>
            </a:r>
            <a:r>
              <a:rPr lang="ko-KR" altLang="en-US" sz="4000" dirty="0">
                <a:solidFill>
                  <a:schemeClr val="accent4"/>
                </a:solidFill>
              </a:rPr>
              <a:t>이하의 소수 출력하기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100 </a:t>
            </a:r>
            <a:r>
              <a:rPr lang="ko-KR" altLang="en-US" dirty="0">
                <a:solidFill>
                  <a:schemeClr val="tx1"/>
                </a:solidFill>
              </a:rPr>
              <a:t>이하의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소수 출력하기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605086"/>
            <a:ext cx="4877122" cy="213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1800" dirty="0"/>
              <a:t>100 </a:t>
            </a:r>
            <a:r>
              <a:rPr lang="ko-KR" altLang="en-US" sz="1800" dirty="0"/>
              <a:t>이하의 소수를 모두 출력하는 프로그램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을 작성해봅시다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762" y="1675339"/>
            <a:ext cx="3514392" cy="1997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72" y="4130997"/>
            <a:ext cx="7650706" cy="1034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100 </a:t>
            </a:r>
            <a:r>
              <a:rPr lang="ko-KR" altLang="en-US" dirty="0">
                <a:solidFill>
                  <a:schemeClr val="tx1"/>
                </a:solidFill>
              </a:rPr>
              <a:t>이하의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소수 출력하기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228970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r>
              <a:rPr lang="en-US" altLang="ko-KR" sz="800" dirty="0">
                <a:solidFill>
                  <a:srgbClr val="7030A0"/>
                </a:solidFill>
              </a:rPr>
              <a:t> 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1.</a:t>
            </a:r>
            <a:r>
              <a:rPr lang="en-US" altLang="ko-KR" sz="1800" dirty="0"/>
              <a:t> </a:t>
            </a:r>
            <a:r>
              <a:rPr lang="ko-KR" altLang="en-US" sz="1800" dirty="0"/>
              <a:t>소수는 </a:t>
            </a:r>
            <a:r>
              <a:rPr lang="en-US" altLang="ko-KR" sz="1800" dirty="0"/>
              <a:t>1</a:t>
            </a:r>
            <a:r>
              <a:rPr lang="ko-KR" altLang="en-US" sz="1800" dirty="0"/>
              <a:t>과 자기 자신으로만 나누어지는 수이다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ko-KR" altLang="en-US" sz="1800" dirty="0"/>
              <a:t>따라서 가장 작은 소수는 </a:t>
            </a:r>
            <a:r>
              <a:rPr lang="en-US" altLang="ko-KR" sz="1800" dirty="0"/>
              <a:t>2</a:t>
            </a:r>
            <a:r>
              <a:rPr lang="ko-KR" altLang="en-US" sz="1800" dirty="0"/>
              <a:t>이다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2.</a:t>
            </a:r>
            <a:r>
              <a:rPr lang="en-US" altLang="ko-KR" sz="1800" dirty="0"/>
              <a:t> 2</a:t>
            </a:r>
            <a:r>
              <a:rPr lang="ko-KR" altLang="en-US" sz="1800" dirty="0"/>
              <a:t>를 제외한 짝수는 모두 </a:t>
            </a:r>
            <a:r>
              <a:rPr lang="en-US" altLang="ko-KR" sz="1800" dirty="0"/>
              <a:t>2</a:t>
            </a:r>
            <a:r>
              <a:rPr lang="ko-KR" altLang="en-US" sz="1800" dirty="0"/>
              <a:t>로 나누어지므로 소수가 아니다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ko-KR" altLang="en-US" sz="1800" dirty="0"/>
              <a:t>따라서 </a:t>
            </a:r>
            <a:r>
              <a:rPr lang="en-US" altLang="ko-KR" sz="1800" dirty="0"/>
              <a:t>3 </a:t>
            </a:r>
            <a:r>
              <a:rPr lang="ko-KR" altLang="en-US" sz="1800" dirty="0"/>
              <a:t>이상 </a:t>
            </a:r>
            <a:r>
              <a:rPr lang="en-US" altLang="ko-KR" sz="1800" dirty="0"/>
              <a:t>100 </a:t>
            </a:r>
            <a:r>
              <a:rPr lang="ko-KR" altLang="en-US" sz="1800" dirty="0"/>
              <a:t>이하의 홀수를 후보로 </a:t>
            </a:r>
            <a:r>
              <a:rPr lang="en-US" altLang="ko-KR" sz="1800" dirty="0"/>
              <a:t>3</a:t>
            </a:r>
            <a:r>
              <a:rPr lang="ko-KR" altLang="en-US" sz="1800" dirty="0"/>
              <a:t>부터 후보보다 작은</a:t>
            </a:r>
            <a:endParaRPr lang="en-US" altLang="ko-KR" sz="1800" dirty="0"/>
          </a:p>
          <a:p>
            <a:pPr marL="0" indent="0" algn="just">
              <a:buNone/>
            </a:pPr>
            <a:r>
              <a:rPr lang="en-US" altLang="ko-KR" sz="1800" dirty="0"/>
              <a:t>         </a:t>
            </a:r>
            <a:r>
              <a:rPr lang="ko-KR" altLang="en-US" sz="1800" dirty="0"/>
              <a:t>수까지 순서대로 나누어 떨어지는지 검사하여 소수 여부를 확인한다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3.</a:t>
            </a:r>
            <a:r>
              <a:rPr lang="en-US" altLang="ko-KR" sz="1800" dirty="0"/>
              <a:t> </a:t>
            </a:r>
            <a:r>
              <a:rPr lang="ko-KR" altLang="en-US" sz="1800" dirty="0">
                <a:latin typeface="Consolas" panose="020B0609020204030204" pitchFamily="49" charset="0"/>
              </a:rPr>
              <a:t>만일 나누어 떨어진다면 소수가 아니므로 </a:t>
            </a:r>
            <a:r>
              <a:rPr lang="en-US" altLang="ko-KR" sz="1800" dirty="0">
                <a:latin typeface="Consolas" panose="020B0609020204030204" pitchFamily="49" charset="0"/>
              </a:rPr>
              <a:t>break</a:t>
            </a:r>
            <a:r>
              <a:rPr lang="ko-KR" altLang="en-US" sz="1800" dirty="0">
                <a:latin typeface="Consolas" panose="020B0609020204030204" pitchFamily="49" charset="0"/>
              </a:rPr>
              <a:t>를 통해서</a:t>
            </a:r>
            <a:endParaRPr lang="en-US" altLang="ko-KR" sz="18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altLang="ko-KR" sz="1800" dirty="0">
                <a:latin typeface="Consolas" panose="020B0609020204030204" pitchFamily="49" charset="0"/>
              </a:rPr>
              <a:t>      </a:t>
            </a:r>
            <a:r>
              <a:rPr lang="ko-KR" altLang="en-US" sz="1800" dirty="0">
                <a:latin typeface="Consolas" panose="020B0609020204030204" pitchFamily="49" charset="0"/>
              </a:rPr>
              <a:t>안쪽 </a:t>
            </a:r>
            <a:r>
              <a:rPr lang="en-US" altLang="ko-KR" sz="1800" dirty="0">
                <a:latin typeface="Consolas" panose="020B0609020204030204" pitchFamily="49" charset="0"/>
              </a:rPr>
              <a:t>for</a:t>
            </a:r>
            <a:r>
              <a:rPr lang="ko-KR" altLang="en-US" sz="1800" dirty="0">
                <a:latin typeface="Consolas" panose="020B0609020204030204" pitchFamily="49" charset="0"/>
              </a:rPr>
              <a:t>문을 탈출한 후 후보를 </a:t>
            </a:r>
            <a:r>
              <a:rPr lang="en-US" altLang="ko-KR" sz="1800" dirty="0">
                <a:latin typeface="Consolas" panose="020B0609020204030204" pitchFamily="49" charset="0"/>
              </a:rPr>
              <a:t>2 </a:t>
            </a:r>
            <a:r>
              <a:rPr lang="ko-KR" altLang="en-US" sz="1800" dirty="0">
                <a:latin typeface="Consolas" panose="020B0609020204030204" pitchFamily="49" charset="0"/>
              </a:rPr>
              <a:t>증가시킨다</a:t>
            </a:r>
            <a:r>
              <a:rPr lang="en-US" altLang="ko-KR" sz="1800" dirty="0">
                <a:latin typeface="Consolas" panose="020B0609020204030204" pitchFamily="49" charset="0"/>
              </a:rPr>
              <a:t>.</a:t>
            </a:r>
          </a:p>
          <a:p>
            <a:pPr marL="0" indent="0" algn="just">
              <a:buNone/>
            </a:pPr>
            <a:endParaRPr lang="en-US" altLang="ko-KR" sz="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4.</a:t>
            </a:r>
            <a:r>
              <a:rPr lang="en-US" altLang="ko-KR" sz="1800" dirty="0"/>
              <a:t> </a:t>
            </a:r>
            <a:r>
              <a:rPr lang="en-US" altLang="ko-KR" sz="1800" dirty="0">
                <a:latin typeface="Consolas" panose="020B0609020204030204" pitchFamily="49" charset="0"/>
              </a:rPr>
              <a:t>3</a:t>
            </a:r>
            <a:r>
              <a:rPr lang="ko-KR" altLang="en-US" sz="1800" dirty="0">
                <a:latin typeface="Consolas" panose="020B0609020204030204" pitchFamily="49" charset="0"/>
              </a:rPr>
              <a:t>부터 후보보다 작은 수까지 순서대로 나누어 떨어진 적이 없다면</a:t>
            </a:r>
            <a:endParaRPr lang="en-US" altLang="ko-KR" sz="18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altLang="ko-KR" sz="1800" dirty="0">
                <a:latin typeface="Consolas" panose="020B0609020204030204" pitchFamily="49" charset="0"/>
              </a:rPr>
              <a:t>      </a:t>
            </a:r>
            <a:r>
              <a:rPr lang="ko-KR" altLang="en-US" sz="1800" dirty="0">
                <a:latin typeface="Consolas" panose="020B0609020204030204" pitchFamily="49" charset="0"/>
              </a:rPr>
              <a:t>자연스럽게 안쪽 </a:t>
            </a:r>
            <a:r>
              <a:rPr lang="en-US" altLang="ko-KR" sz="1800" dirty="0">
                <a:latin typeface="Consolas" panose="020B0609020204030204" pitchFamily="49" charset="0"/>
              </a:rPr>
              <a:t>for</a:t>
            </a:r>
            <a:r>
              <a:rPr lang="ko-KR" altLang="en-US" sz="1800" dirty="0">
                <a:latin typeface="Consolas" panose="020B0609020204030204" pitchFamily="49" charset="0"/>
              </a:rPr>
              <a:t>문을 </a:t>
            </a:r>
            <a:r>
              <a:rPr lang="ko-KR" altLang="en-US" sz="1800" dirty="0" err="1">
                <a:latin typeface="Consolas" panose="020B0609020204030204" pitchFamily="49" charset="0"/>
              </a:rPr>
              <a:t>빠져나왔으므로</a:t>
            </a:r>
            <a:r>
              <a:rPr lang="ko-KR" altLang="en-US" sz="1800" dirty="0">
                <a:latin typeface="Consolas" panose="020B0609020204030204" pitchFamily="49" charset="0"/>
              </a:rPr>
              <a:t> 소수이다</a:t>
            </a:r>
            <a:r>
              <a:rPr lang="en-US" altLang="ko-KR" sz="1800" dirty="0">
                <a:latin typeface="Consolas" panose="020B0609020204030204" pitchFamily="49" charset="0"/>
              </a:rPr>
              <a:t>.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>
                <a:solidFill>
                  <a:schemeClr val="tx1"/>
                </a:solidFill>
              </a:rPr>
              <a:t>100 </a:t>
            </a:r>
            <a:r>
              <a:rPr lang="ko-KR" altLang="en-US" dirty="0">
                <a:solidFill>
                  <a:schemeClr val="tx1"/>
                </a:solidFill>
              </a:rPr>
              <a:t>이하의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소수 출력하기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04311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162891625"/>
              </p:ext>
            </p:extLst>
          </p:nvPr>
        </p:nvGraphicFramePr>
        <p:xfrm>
          <a:off x="1233399" y="1232450"/>
          <a:ext cx="7416825" cy="530486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"100 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이하의 소수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2, 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aseline="0" dirty="0">
                          <a:latin typeface="Consolas" panose="020B0609020204030204" pitchFamily="49" charset="0"/>
                        </a:rPr>
                        <a:t> i = 3; i &lt;= 100; i += 2)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flag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sz="13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pl-PL" altLang="ko-KR" sz="1300" dirty="0">
                          <a:latin typeface="Consolas" panose="020B0609020204030204" pitchFamily="49" charset="0"/>
                        </a:rPr>
                        <a:t> j = 3; j &lt; i; j += 2)</a:t>
                      </a:r>
                      <a:endParaRPr lang="en-US" altLang="ko-KR"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% j ==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   flag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(flag)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2873</Words>
  <Application>Microsoft Office PowerPoint</Application>
  <PresentationFormat>화면 슬라이드 쇼(4:3)</PresentationFormat>
  <Paragraphs>848</Paragraphs>
  <Slides>54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06. 반복문</vt:lpstr>
      <vt:lpstr>PowerPoint 프레젠테이션</vt:lpstr>
      <vt:lpstr>PowerPoint 프레젠테이션</vt:lpstr>
      <vt:lpstr>PowerPoint 프레젠테이션</vt:lpstr>
      <vt:lpstr>01. 반복문이란?</vt:lpstr>
      <vt:lpstr>01. 반복문이란?</vt:lpstr>
      <vt:lpstr>01. 반복문이란?</vt:lpstr>
      <vt:lpstr>01. 반복문이란?</vt:lpstr>
      <vt:lpstr>01. 반복문이란?</vt:lpstr>
      <vt:lpstr>PowerPoint 프레젠테이션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02. for문</vt:lpstr>
      <vt:lpstr>PowerPoint 프레젠테이션</vt:lpstr>
      <vt:lpstr>03. while문</vt:lpstr>
      <vt:lpstr>03. while문</vt:lpstr>
      <vt:lpstr>03. while문</vt:lpstr>
      <vt:lpstr>03. while문</vt:lpstr>
      <vt:lpstr>03. while문</vt:lpstr>
      <vt:lpstr>03. while문</vt:lpstr>
      <vt:lpstr>03. while문</vt:lpstr>
      <vt:lpstr>PowerPoint 프레젠테이션</vt:lpstr>
      <vt:lpstr>04. do~while문</vt:lpstr>
      <vt:lpstr>04. do~while문</vt:lpstr>
      <vt:lpstr>04. do~while문</vt:lpstr>
      <vt:lpstr>04. do~while문</vt:lpstr>
      <vt:lpstr>04. do~while문</vt:lpstr>
      <vt:lpstr>04. do~while문</vt:lpstr>
      <vt:lpstr>04. do~while문</vt:lpstr>
      <vt:lpstr>PowerPoint 프레젠테이션</vt:lpstr>
      <vt:lpstr>05. 반복문 고급</vt:lpstr>
      <vt:lpstr>05. 반복문 고급</vt:lpstr>
      <vt:lpstr>05. 반복문 고급</vt:lpstr>
      <vt:lpstr>05. 반복문 고급</vt:lpstr>
      <vt:lpstr>05. 반복문 고급</vt:lpstr>
      <vt:lpstr>05. 반복문 고급</vt:lpstr>
      <vt:lpstr>05. 반복문 고급</vt:lpstr>
      <vt:lpstr>05. 반복문 고급</vt:lpstr>
      <vt:lpstr>05. 반복문 고급</vt:lpstr>
      <vt:lpstr>PowerPoint 프레젠테이션</vt:lpstr>
      <vt:lpstr>[실전예제] 100 이하의 소수 출력하기</vt:lpstr>
      <vt:lpstr>[실전예제] 100 이하의 소수 출력하기</vt:lpstr>
      <vt:lpstr>[실전예제] 100 이하의 소수 출력하기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134</cp:revision>
  <dcterms:created xsi:type="dcterms:W3CDTF">2012-07-11T10:23:22Z</dcterms:created>
  <dcterms:modified xsi:type="dcterms:W3CDTF">2022-02-22T09:34:57Z</dcterms:modified>
</cp:coreProperties>
</file>