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58" r:id="rId4"/>
    <p:sldId id="259" r:id="rId5"/>
    <p:sldId id="260" r:id="rId6"/>
    <p:sldId id="269" r:id="rId7"/>
    <p:sldId id="417" r:id="rId8"/>
    <p:sldId id="261" r:id="rId9"/>
    <p:sldId id="273" r:id="rId10"/>
    <p:sldId id="262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287" r:id="rId20"/>
    <p:sldId id="288" r:id="rId21"/>
    <p:sldId id="394" r:id="rId22"/>
    <p:sldId id="395" r:id="rId23"/>
    <p:sldId id="396" r:id="rId24"/>
    <p:sldId id="398" r:id="rId25"/>
    <p:sldId id="399" r:id="rId26"/>
    <p:sldId id="400" r:id="rId27"/>
    <p:sldId id="401" r:id="rId28"/>
    <p:sldId id="402" r:id="rId29"/>
    <p:sldId id="301" r:id="rId30"/>
    <p:sldId id="302" r:id="rId31"/>
    <p:sldId id="403" r:id="rId32"/>
    <p:sldId id="405" r:id="rId33"/>
    <p:sldId id="407" r:id="rId34"/>
    <p:sldId id="341" r:id="rId35"/>
    <p:sldId id="408" r:id="rId36"/>
    <p:sldId id="409" r:id="rId37"/>
    <p:sldId id="410" r:id="rId38"/>
    <p:sldId id="411" r:id="rId39"/>
    <p:sldId id="412" r:id="rId40"/>
    <p:sldId id="414" r:id="rId41"/>
    <p:sldId id="415" r:id="rId42"/>
    <p:sldId id="316" r:id="rId43"/>
    <p:sldId id="264" r:id="rId44"/>
    <p:sldId id="317" r:id="rId45"/>
    <p:sldId id="318" r:id="rId46"/>
    <p:sldId id="267" r:id="rId4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87B7"/>
    <a:srgbClr val="B4A4C8"/>
    <a:srgbClr val="8AC9DA"/>
    <a:srgbClr val="FBFBD1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  <p:guide orient="horz" pos="219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46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2022 </a:t>
            </a:r>
            <a:r>
              <a:rPr lang="en-US" sz="11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Hanbit</a:t>
            </a: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Academy, Inc.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05. </a:t>
            </a:r>
            <a:r>
              <a:rPr lang="ko-KR" altLang="en-US" sz="3600" b="1" dirty="0" err="1">
                <a:solidFill>
                  <a:schemeClr val="lt1"/>
                </a:solidFill>
              </a:rPr>
              <a:t>선택문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02.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제어문이란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if~else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swith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8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의 배수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? 4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의 배수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? 2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의 배수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선택문의 </a:t>
            </a:r>
            <a:r>
              <a:rPr lang="en-US" altLang="ko-KR" dirty="0"/>
              <a:t>if</a:t>
            </a:r>
            <a:r>
              <a:rPr lang="ko-KR" altLang="en-US" dirty="0"/>
              <a:t>문과 </a:t>
            </a:r>
            <a:r>
              <a:rPr lang="en-US" altLang="ko-KR" dirty="0"/>
              <a:t>switch</a:t>
            </a:r>
            <a:r>
              <a:rPr lang="ko-KR" altLang="en-US" dirty="0"/>
              <a:t>문을 이해한다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 err="1"/>
              <a:t>if~else</a:t>
            </a:r>
            <a:r>
              <a:rPr lang="ko-KR" altLang="en-US" dirty="0"/>
              <a:t>문과 </a:t>
            </a:r>
            <a:r>
              <a:rPr lang="en-US" altLang="ko-KR" dirty="0" err="1"/>
              <a:t>if~else</a:t>
            </a:r>
            <a:r>
              <a:rPr lang="en-US" altLang="ko-KR" dirty="0"/>
              <a:t> if</a:t>
            </a:r>
            <a:r>
              <a:rPr lang="ko-KR" altLang="en-US" dirty="0"/>
              <a:t>문의 필요성과 사용법을 이해한다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/>
              <a:t>break</a:t>
            </a:r>
            <a:r>
              <a:rPr lang="ko-KR" altLang="en-US" dirty="0"/>
              <a:t>를 이해하고 </a:t>
            </a:r>
            <a:r>
              <a:rPr lang="en-US" altLang="ko-KR" dirty="0"/>
              <a:t>switch</a:t>
            </a:r>
            <a:r>
              <a:rPr lang="ko-KR" altLang="en-US" dirty="0"/>
              <a:t>문과 함께 사용해본다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dirty="0" err="1"/>
              <a:t>제어문이란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제어문이란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197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실행 흐름의 분류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프로그램의 실행 흐름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코드의 실행이 순차적으로 진행되면서 이전 코드가 반복되기도 함</a:t>
            </a: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조건에 따라서 실행되는 코드가 분기될 수도 있음</a:t>
            </a: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어떤 사건을 기다리면서 멈출 수도 있음</a:t>
            </a:r>
            <a:endParaRPr lang="en-US" altLang="ko-KR" dirty="0"/>
          </a:p>
        </p:txBody>
      </p:sp>
      <p:pic>
        <p:nvPicPr>
          <p:cNvPr id="2" name="Picture 2" descr="C:\Users\변소현\Desktop\난생처음 C 언어 프로그래밍\그림\Ch5\그림 5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3790950"/>
            <a:ext cx="4686300" cy="256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제어문이란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선택문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선택문의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실행 흐름이 </a:t>
            </a:r>
            <a:r>
              <a:rPr lang="ko-KR" altLang="en-US" dirty="0" err="1"/>
              <a:t>조건식의</a:t>
            </a:r>
            <a:r>
              <a:rPr lang="ko-KR" altLang="en-US" dirty="0"/>
              <a:t> 값에 따라서 갈라지는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if</a:t>
            </a:r>
            <a:r>
              <a:rPr lang="ko-KR" altLang="en-US" dirty="0"/>
              <a:t>문 </a:t>
            </a:r>
            <a:r>
              <a:rPr lang="en-US" altLang="ko-KR" dirty="0"/>
              <a:t>: </a:t>
            </a:r>
            <a:r>
              <a:rPr lang="ko-KR" altLang="en-US" dirty="0" err="1"/>
              <a:t>조건식의</a:t>
            </a:r>
            <a:r>
              <a:rPr lang="ko-KR" altLang="en-US" dirty="0"/>
              <a:t> 값을 평가하여 참</a:t>
            </a:r>
            <a:r>
              <a:rPr lang="en-US" altLang="ko-KR" dirty="0"/>
              <a:t>, </a:t>
            </a:r>
            <a:r>
              <a:rPr lang="ko-KR" altLang="en-US" dirty="0"/>
              <a:t>거짓으로 나눈 후 양 갈래로 분기함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switch</a:t>
            </a:r>
            <a:r>
              <a:rPr lang="ko-KR" altLang="en-US" dirty="0"/>
              <a:t>문 </a:t>
            </a:r>
            <a:r>
              <a:rPr lang="en-US" altLang="ko-KR" dirty="0"/>
              <a:t>: </a:t>
            </a:r>
            <a:r>
              <a:rPr lang="ko-KR" altLang="en-US" dirty="0" err="1"/>
              <a:t>조건식의</a:t>
            </a:r>
            <a:r>
              <a:rPr lang="ko-KR" altLang="en-US" dirty="0"/>
              <a:t> 값에 따라 여러 갈래의 분기를 만듦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087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제어문이란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477" y="1683421"/>
            <a:ext cx="6847047" cy="306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57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/>
              <a:t>if</a:t>
            </a:r>
            <a:r>
              <a:rPr lang="ko-KR" altLang="en-US" sz="4000" dirty="0"/>
              <a:t>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if</a:t>
            </a:r>
            <a:r>
              <a:rPr lang="ko-KR" altLang="en-US" sz="2400" dirty="0"/>
              <a:t>문의 </a:t>
            </a:r>
            <a:r>
              <a:rPr lang="ko-KR" altLang="en-US" sz="2400" dirty="0" err="1"/>
              <a:t>조건식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if</a:t>
            </a:r>
            <a:r>
              <a:rPr lang="ko-KR" altLang="en-US" b="1" dirty="0"/>
              <a:t>문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조건식의</a:t>
            </a:r>
            <a:r>
              <a:rPr lang="ko-KR" altLang="en-US" dirty="0"/>
              <a:t> 값을 평가하여 참</a:t>
            </a:r>
            <a:r>
              <a:rPr lang="en-US" altLang="ko-KR" dirty="0"/>
              <a:t>, </a:t>
            </a:r>
            <a:r>
              <a:rPr lang="ko-KR" altLang="en-US" dirty="0"/>
              <a:t>거짓으로 나누고</a:t>
            </a:r>
            <a:r>
              <a:rPr lang="en-US" altLang="ko-KR" dirty="0"/>
              <a:t> </a:t>
            </a:r>
            <a:r>
              <a:rPr lang="ko-KR" altLang="en-US" dirty="0"/>
              <a:t>그에 따라서 흐름을 양 갈래로 분기함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if</a:t>
            </a:r>
            <a:r>
              <a:rPr lang="ko-KR" altLang="en-US" b="1" dirty="0"/>
              <a:t>문의 사용 형식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76" y="3638493"/>
            <a:ext cx="7070398" cy="129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if</a:t>
            </a:r>
            <a:r>
              <a:rPr lang="ko-KR" altLang="en-US" sz="2400" dirty="0"/>
              <a:t>문의 </a:t>
            </a:r>
            <a:r>
              <a:rPr lang="ko-KR" altLang="en-US" sz="2400" dirty="0" err="1"/>
              <a:t>조건식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911184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-1]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조건식의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평가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47167654"/>
              </p:ext>
            </p:extLst>
          </p:nvPr>
        </p:nvGraphicFramePr>
        <p:xfrm>
          <a:off x="916939" y="2274537"/>
          <a:ext cx="7416825" cy="265177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"0"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35" y="4992647"/>
            <a:ext cx="7447729" cy="549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3443333" y="3472758"/>
            <a:ext cx="2924173" cy="527741"/>
            <a:chOff x="2700469" y="4571999"/>
            <a:chExt cx="2924173" cy="527741"/>
          </a:xfrm>
        </p:grpSpPr>
        <p:sp>
          <p:nvSpPr>
            <p:cNvPr id="9" name="직사각형 8"/>
            <p:cNvSpPr/>
            <p:nvPr/>
          </p:nvSpPr>
          <p:spPr>
            <a:xfrm>
              <a:off x="3290931" y="4571999"/>
              <a:ext cx="2333711" cy="527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rgbClr val="FF0000"/>
                  </a:solidFill>
                </a:rPr>
                <a:t>조건식</a:t>
              </a:r>
              <a:r>
                <a:rPr lang="ko-KR" altLang="en-US" dirty="0">
                  <a:solidFill>
                    <a:srgbClr val="FF0000"/>
                  </a:solidFill>
                </a:rPr>
                <a:t> 자체가 거짓</a:t>
              </a:r>
              <a:r>
                <a:rPr lang="en-US" altLang="ko-KR" dirty="0">
                  <a:solidFill>
                    <a:srgbClr val="FF0000"/>
                  </a:solidFill>
                </a:rPr>
                <a:t>(false)</a:t>
              </a:r>
              <a:r>
                <a:rPr lang="ko-KR" altLang="en-US" dirty="0">
                  <a:solidFill>
                    <a:srgbClr val="FF0000"/>
                  </a:solidFill>
                </a:rPr>
                <a:t>로 평가됨</a:t>
              </a:r>
            </a:p>
          </p:txBody>
        </p:sp>
        <p:cxnSp>
          <p:nvCxnSpPr>
            <p:cNvPr id="10" name="직선 화살표 연결선 9"/>
            <p:cNvCxnSpPr>
              <a:stCxn id="9" idx="1"/>
            </p:cNvCxnSpPr>
            <p:nvPr/>
          </p:nvCxnSpPr>
          <p:spPr>
            <a:xfrm flipH="1">
              <a:off x="2700469" y="4835870"/>
              <a:ext cx="59046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/>
          <p:cNvGrpSpPr/>
          <p:nvPr/>
        </p:nvGrpSpPr>
        <p:grpSpPr>
          <a:xfrm>
            <a:off x="3443333" y="4244283"/>
            <a:ext cx="2924173" cy="527741"/>
            <a:chOff x="2700469" y="4571999"/>
            <a:chExt cx="2924173" cy="527741"/>
          </a:xfrm>
        </p:grpSpPr>
        <p:sp>
          <p:nvSpPr>
            <p:cNvPr id="16" name="직사각형 15"/>
            <p:cNvSpPr/>
            <p:nvPr/>
          </p:nvSpPr>
          <p:spPr>
            <a:xfrm>
              <a:off x="3290931" y="4571999"/>
              <a:ext cx="2333711" cy="527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rgbClr val="FF0000"/>
                  </a:solidFill>
                </a:rPr>
                <a:t>조건식</a:t>
              </a:r>
              <a:r>
                <a:rPr lang="ko-KR" altLang="en-US" dirty="0">
                  <a:solidFill>
                    <a:srgbClr val="FF0000"/>
                  </a:solidFill>
                </a:rPr>
                <a:t> 자체가</a:t>
              </a:r>
              <a:endParaRPr lang="en-US" altLang="ko-KR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참</a:t>
              </a:r>
              <a:r>
                <a:rPr lang="en-US" altLang="ko-KR" dirty="0">
                  <a:solidFill>
                    <a:srgbClr val="FF0000"/>
                  </a:solidFill>
                </a:rPr>
                <a:t>(true)</a:t>
              </a:r>
              <a:r>
                <a:rPr lang="ko-KR" altLang="en-US" dirty="0">
                  <a:solidFill>
                    <a:srgbClr val="FF0000"/>
                  </a:solidFill>
                </a:rPr>
                <a:t>으로 평가됨</a:t>
              </a:r>
            </a:p>
          </p:txBody>
        </p:sp>
        <p:cxnSp>
          <p:nvCxnSpPr>
            <p:cNvPr id="17" name="직선 화살표 연결선 16"/>
            <p:cNvCxnSpPr>
              <a:stCxn id="16" idx="1"/>
            </p:cNvCxnSpPr>
            <p:nvPr/>
          </p:nvCxnSpPr>
          <p:spPr>
            <a:xfrm flipH="1">
              <a:off x="2700469" y="4835870"/>
              <a:ext cx="59046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if</a:t>
            </a:r>
            <a:r>
              <a:rPr lang="ko-KR" altLang="en-US" sz="2400" dirty="0"/>
              <a:t>문의 </a:t>
            </a:r>
            <a:r>
              <a:rPr lang="ko-KR" altLang="en-US" sz="2400" dirty="0" err="1"/>
              <a:t>조건식</a:t>
            </a:r>
            <a:endParaRPr lang="ko-KR" altLang="en-US" sz="2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16E7F91-E832-453B-84BA-B38A5FADCF0E}"/>
              </a:ext>
            </a:extLst>
          </p:cNvPr>
          <p:cNvGrpSpPr/>
          <p:nvPr/>
        </p:nvGrpSpPr>
        <p:grpSpPr>
          <a:xfrm>
            <a:off x="826903" y="1879561"/>
            <a:ext cx="7506861" cy="3783219"/>
            <a:chOff x="826903" y="1806409"/>
            <a:chExt cx="7506861" cy="3783219"/>
          </a:xfrm>
        </p:grpSpPr>
        <p:sp>
          <p:nvSpPr>
            <p:cNvPr id="4" name="Google Shape;102;p7"/>
            <p:cNvSpPr txBox="1"/>
            <p:nvPr/>
          </p:nvSpPr>
          <p:spPr>
            <a:xfrm>
              <a:off x="826903" y="1806409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비교 연산자와 </a:t>
              </a:r>
              <a:r>
                <a:rPr lang="ko-KR" alt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</a:t>
              </a:r>
              <a:endParaRPr dirty="0"/>
            </a:p>
          </p:txBody>
        </p:sp>
        <p:graphicFrame>
          <p:nvGraphicFramePr>
            <p:cNvPr id="5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4006713167"/>
                </p:ext>
              </p:extLst>
            </p:nvPr>
          </p:nvGraphicFramePr>
          <p:xfrm>
            <a:off x="916939" y="2169762"/>
            <a:ext cx="7416825" cy="341986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 = 7;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b = 3;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(a &gt; b)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 &gt; b"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(a &lt; b)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 &lt; b"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512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3693"/>
            <a:stretch/>
          </p:blipFill>
          <p:spPr bwMode="auto">
            <a:xfrm>
              <a:off x="6978396" y="2255810"/>
              <a:ext cx="1248665" cy="559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75827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if</a:t>
            </a:r>
            <a:r>
              <a:rPr lang="ko-KR" altLang="en-US" sz="2400" dirty="0"/>
              <a:t>문의 명령문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if</a:t>
            </a:r>
            <a:r>
              <a:rPr lang="ko-KR" altLang="en-US" b="1" dirty="0"/>
              <a:t>문의 특징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If(</a:t>
            </a:r>
            <a:r>
              <a:rPr lang="ko-KR" altLang="en-US" dirty="0" err="1"/>
              <a:t>조건식</a:t>
            </a:r>
            <a:r>
              <a:rPr lang="en-US" altLang="ko-KR" dirty="0"/>
              <a:t>) </a:t>
            </a:r>
            <a:r>
              <a:rPr lang="ko-KR" altLang="en-US" dirty="0"/>
              <a:t>바로 다음에는 조건식이 참인 경우</a:t>
            </a:r>
            <a:r>
              <a:rPr lang="en-US" altLang="ko-KR" dirty="0"/>
              <a:t> </a:t>
            </a:r>
            <a:r>
              <a:rPr lang="ko-KR" altLang="en-US" dirty="0"/>
              <a:t>수행될 명령문이</a:t>
            </a:r>
            <a:r>
              <a:rPr lang="en-US" altLang="ko-KR" dirty="0"/>
              <a:t> </a:t>
            </a:r>
            <a:r>
              <a:rPr lang="ko-KR" altLang="en-US" dirty="0"/>
              <a:t>단 하나만 존재할 수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여러 개의 명령문을 실행해야 한다면 </a:t>
            </a:r>
            <a:r>
              <a:rPr lang="ko-KR" altLang="en-US" dirty="0" err="1"/>
              <a:t>복합문을</a:t>
            </a:r>
            <a:r>
              <a:rPr lang="ko-KR" altLang="en-US" dirty="0"/>
              <a:t> 만들어야 함</a:t>
            </a:r>
          </a:p>
        </p:txBody>
      </p:sp>
    </p:spTree>
    <p:extLst>
      <p:ext uri="{BB962C8B-B14F-4D97-AF65-F5344CB8AC3E}">
        <p14:creationId xmlns:p14="http://schemas.microsoft.com/office/powerpoint/2010/main" val="1169406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if</a:t>
            </a:r>
            <a:r>
              <a:rPr lang="ko-KR" altLang="en-US" sz="2400" dirty="0"/>
              <a:t>문의 명령문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89499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-3]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명령문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085264413"/>
              </p:ext>
            </p:extLst>
          </p:nvPr>
        </p:nvGraphicFramePr>
        <p:xfrm>
          <a:off x="916939" y="2258344"/>
          <a:ext cx="7416825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0" y="4946591"/>
            <a:ext cx="7531045" cy="832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8786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if</a:t>
            </a:r>
            <a:r>
              <a:rPr lang="ko-KR" altLang="en-US" sz="2400" dirty="0"/>
              <a:t>문의 명령문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891943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-4]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복합문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558324415"/>
              </p:ext>
            </p:extLst>
          </p:nvPr>
        </p:nvGraphicFramePr>
        <p:xfrm>
          <a:off x="916939" y="2255296"/>
          <a:ext cx="7416825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46" y="5418347"/>
            <a:ext cx="7551134" cy="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921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</a:p>
        </p:txBody>
      </p:sp>
      <p:sp>
        <p:nvSpPr>
          <p:cNvPr id="4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064896" cy="66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if</a:t>
            </a:r>
            <a:r>
              <a:rPr lang="ko-KR" altLang="en-US" sz="2400" dirty="0"/>
              <a:t>문의 명령문</a:t>
            </a:r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606876" y="2629639"/>
            <a:ext cx="7958668" cy="2111767"/>
            <a:chOff x="683573" y="1844824"/>
            <a:chExt cx="7924665" cy="2712916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4"/>
              <a:ext cx="7920000" cy="2712916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62141" y="2322932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명령문이 하나도 없는 빈 블록도 </a:t>
              </a: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복합문으로서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하나의 명령문이 됨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문을 사용할 경우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조건식이 참일 때 명령문이 하나뿐이더라도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매크로 함수를 사용하여 </a:t>
              </a: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복합문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실수를 줄일 수 있기 때문에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블록으로 감싸서 복합문을 만들기도 함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문의 명령문이 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경우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661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67864" y="1564186"/>
            <a:ext cx="7027322" cy="4608013"/>
            <a:chOff x="1571624" y="1964237"/>
            <a:chExt cx="6076951" cy="3984828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0675" y="1964237"/>
              <a:ext cx="5981700" cy="2662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1624" y="4626671"/>
              <a:ext cx="6076951" cy="1322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7099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2343" y="2076404"/>
            <a:ext cx="7924665" cy="3477812"/>
            <a:chOff x="615155" y="1379936"/>
            <a:chExt cx="7924665" cy="3477812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3477812"/>
              <a:chOff x="683573" y="1844824"/>
              <a:chExt cx="7924665" cy="143511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351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5-1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홀</a:t>
              </a:r>
              <a:r>
                <a:rPr lang="en-US" altLang="ko-KR" sz="1600" b="1" dirty="0">
                  <a:latin typeface="+mj-ea"/>
                  <a:ea typeface="+mj-ea"/>
                </a:rPr>
                <a:t>/</a:t>
              </a:r>
              <a:r>
                <a:rPr lang="ko-KR" altLang="en-US" sz="1600" b="1" dirty="0">
                  <a:latin typeface="+mj-ea"/>
                  <a:ea typeface="+mj-ea"/>
                </a:rPr>
                <a:t>짝 판별하기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4140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정수를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입력받아서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홀수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짝수를 판별하여 출력하는 프로그램을 작성해봅시다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032" y="2411016"/>
              <a:ext cx="6830987" cy="1014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4273" y="3752762"/>
              <a:ext cx="5195455" cy="291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5608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BF2299-BCCC-445A-991B-3E711154A09E}"/>
              </a:ext>
            </a:extLst>
          </p:cNvPr>
          <p:cNvGrpSpPr/>
          <p:nvPr/>
        </p:nvGrpSpPr>
        <p:grpSpPr>
          <a:xfrm>
            <a:off x="615155" y="1468977"/>
            <a:ext cx="7924665" cy="4729290"/>
            <a:chOff x="615155" y="1560417"/>
            <a:chExt cx="7924665" cy="472929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60417"/>
              <a:ext cx="7924665" cy="4729290"/>
              <a:chOff x="683573" y="1844824"/>
              <a:chExt cx="7924665" cy="139521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3952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5-1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5322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15084380"/>
                </p:ext>
              </p:extLst>
            </p:nvPr>
          </p:nvGraphicFramePr>
          <p:xfrm>
            <a:off x="871407" y="2084867"/>
            <a:ext cx="7416825" cy="3973034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73034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pt-BR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 </a:t>
                        </a:r>
                        <a:r>
                          <a:rPr lang="pt-BR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n;</a:t>
                        </a:r>
                        <a:endParaRPr lang="pt-BR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printf(</a:t>
                        </a:r>
                        <a:r>
                          <a:rPr lang="pt-BR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정수를 입력하세요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</a:t>
                        </a:r>
                        <a:r>
                          <a:rPr lang="pt-BR" altLang="ko-KR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   scanf(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, &amp;n);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pt-BR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pt-BR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(n % 2)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      printf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홀수입니다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</a:t>
                        </a:r>
                        <a:r>
                          <a:rPr lang="pt-BR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pt-BR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pt-BR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(!(n</a:t>
                        </a: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 % 2))</a:t>
                        </a:r>
                        <a:endParaRPr lang="pt-BR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      printf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짝수입니다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</a:t>
                        </a:r>
                        <a:r>
                          <a:rPr lang="pt-BR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0422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sz="4000" dirty="0" err="1"/>
              <a:t>if~else</a:t>
            </a:r>
            <a:r>
              <a:rPr lang="ko-KR" altLang="en-US" sz="4000" dirty="0"/>
              <a:t>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 err="1"/>
              <a:t>if~else</a:t>
            </a:r>
            <a:r>
              <a:rPr lang="ko-KR" altLang="en-US" sz="2400" dirty="0"/>
              <a:t>문의 형식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if</a:t>
            </a:r>
            <a:r>
              <a:rPr lang="ko-KR" altLang="en-US" b="1" dirty="0"/>
              <a:t>문과의 차이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if</a:t>
            </a:r>
            <a:r>
              <a:rPr lang="ko-KR" altLang="en-US" dirty="0"/>
              <a:t>문의 조건식이 거짓인 경우에도 </a:t>
            </a:r>
            <a:r>
              <a:rPr lang="en-US" altLang="ko-KR" dirty="0"/>
              <a:t>else</a:t>
            </a:r>
            <a:r>
              <a:rPr lang="ko-KR" altLang="en-US" dirty="0"/>
              <a:t>를 사용하여 실행될 명령문이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 </a:t>
            </a:r>
            <a:r>
              <a:rPr lang="ko-KR" altLang="en-US" dirty="0"/>
              <a:t>사이에는 오직 명령문</a:t>
            </a:r>
            <a:r>
              <a:rPr lang="en-US" altLang="ko-KR" dirty="0"/>
              <a:t>(</a:t>
            </a:r>
            <a:r>
              <a:rPr lang="ko-KR" altLang="en-US" dirty="0" err="1"/>
              <a:t>복합문</a:t>
            </a:r>
            <a:r>
              <a:rPr lang="en-US" altLang="ko-KR" dirty="0"/>
              <a:t>) </a:t>
            </a:r>
            <a:r>
              <a:rPr lang="ko-KR" altLang="en-US" dirty="0"/>
              <a:t>하나만 있어야 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if~else</a:t>
            </a:r>
            <a:r>
              <a:rPr lang="ko-KR" altLang="en-US" b="1" dirty="0"/>
              <a:t>문의 사용 형식</a:t>
            </a:r>
            <a:endParaRPr lang="en-US" altLang="ko-KR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03" y="3650369"/>
            <a:ext cx="6978845" cy="178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en-US" altLang="ko-KR" sz="2400" dirty="0" err="1"/>
              <a:t>if~else</a:t>
            </a:r>
            <a:r>
              <a:rPr lang="ko-KR" altLang="en-US" sz="2400" dirty="0"/>
              <a:t>문의 형식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2349334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else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974274046"/>
              </p:ext>
            </p:extLst>
          </p:nvPr>
        </p:nvGraphicFramePr>
        <p:xfrm>
          <a:off x="916939" y="2712687"/>
          <a:ext cx="7416825" cy="265177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2286000" y="4510983"/>
            <a:ext cx="2555204" cy="356292"/>
            <a:chOff x="1781261" y="4657724"/>
            <a:chExt cx="2555204" cy="356292"/>
          </a:xfrm>
        </p:grpSpPr>
        <p:sp>
          <p:nvSpPr>
            <p:cNvPr id="18" name="직사각형 17"/>
            <p:cNvSpPr/>
            <p:nvPr/>
          </p:nvSpPr>
          <p:spPr>
            <a:xfrm>
              <a:off x="3290931" y="4657724"/>
              <a:ext cx="1045534" cy="35629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오류</a:t>
              </a:r>
              <a:r>
                <a:rPr lang="en-US" altLang="ko-KR" dirty="0">
                  <a:solidFill>
                    <a:srgbClr val="FF0000"/>
                  </a:solidFill>
                </a:rPr>
                <a:t> </a:t>
              </a:r>
              <a:r>
                <a:rPr lang="ko-KR" altLang="en-US" dirty="0">
                  <a:solidFill>
                    <a:srgbClr val="FF0000"/>
                  </a:solidFill>
                </a:rPr>
                <a:t>발생</a:t>
              </a:r>
            </a:p>
          </p:txBody>
        </p:sp>
        <p:cxnSp>
          <p:nvCxnSpPr>
            <p:cNvPr id="19" name="직선 화살표 연결선 18"/>
            <p:cNvCxnSpPr>
              <a:stCxn id="18" idx="1"/>
            </p:cNvCxnSpPr>
            <p:nvPr/>
          </p:nvCxnSpPr>
          <p:spPr>
            <a:xfrm flipH="1">
              <a:off x="1781261" y="4835870"/>
              <a:ext cx="150967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5843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if~else</a:t>
            </a:r>
            <a:r>
              <a:rPr lang="en-US" altLang="ko-KR" sz="2400" dirty="0"/>
              <a:t> if</a:t>
            </a:r>
            <a:r>
              <a:rPr lang="ko-KR" altLang="en-US" sz="2400" dirty="0"/>
              <a:t>문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if~else</a:t>
            </a:r>
            <a:r>
              <a:rPr lang="en-US" altLang="ko-KR" b="1" dirty="0"/>
              <a:t> if</a:t>
            </a:r>
            <a:r>
              <a:rPr lang="ko-KR" altLang="en-US" b="1" dirty="0"/>
              <a:t>문의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여러 </a:t>
            </a:r>
            <a:r>
              <a:rPr lang="ko-KR" altLang="en-US" dirty="0" err="1"/>
              <a:t>조건식에</a:t>
            </a:r>
            <a:r>
              <a:rPr lang="ko-KR" altLang="en-US" dirty="0"/>
              <a:t> 대해서 각각의 분기가 필요한 경우 사용됨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if~else</a:t>
            </a:r>
            <a:r>
              <a:rPr lang="ko-KR" altLang="en-US" b="1" dirty="0"/>
              <a:t>문의 사용 형식</a:t>
            </a:r>
            <a:endParaRPr lang="en-US" altLang="ko-KR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904" y="3222175"/>
            <a:ext cx="7008417" cy="300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1674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if~else</a:t>
            </a:r>
            <a:r>
              <a:rPr lang="en-US" altLang="ko-KR" sz="2400" dirty="0"/>
              <a:t> if</a:t>
            </a:r>
            <a:r>
              <a:rPr lang="ko-KR" altLang="en-US" sz="2400" dirty="0"/>
              <a:t>문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852152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if~else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897945174"/>
              </p:ext>
            </p:extLst>
          </p:nvPr>
        </p:nvGraphicFramePr>
        <p:xfrm>
          <a:off x="916939" y="2215505"/>
          <a:ext cx="7416825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age;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나이를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&amp;age);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(age &gt;= 20)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성인입니다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(age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&gt;= 12)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청소년입니다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아동입니다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DEAA094F-B000-4C4A-B33D-4E4AD627D9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45"/>
          <a:stretch/>
        </p:blipFill>
        <p:spPr bwMode="auto">
          <a:xfrm>
            <a:off x="6014375" y="2291452"/>
            <a:ext cx="2242409" cy="930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366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if~else</a:t>
            </a:r>
            <a:r>
              <a:rPr lang="en-US" altLang="ko-KR" sz="2400" dirty="0"/>
              <a:t> if</a:t>
            </a:r>
            <a:r>
              <a:rPr lang="ko-KR" altLang="en-US" sz="2400" dirty="0"/>
              <a:t>문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852152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if~else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문에서 오직 한 갈래 분기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667922919"/>
              </p:ext>
            </p:extLst>
          </p:nvPr>
        </p:nvGraphicFramePr>
        <p:xfrm>
          <a:off x="916939" y="2215505"/>
          <a:ext cx="7416825" cy="393193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age = 45;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(age &gt;= 20)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"20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대 이상입니다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(age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&gt;= 30)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"30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대 이상입니다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(age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&gt;= 40)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"40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대 이상입니다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  <a:endParaRPr lang="en-US" altLang="ko-KR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"50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대 이상입니다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5176889C-753C-4DE9-9298-076440270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0"/>
          <a:stretch/>
        </p:blipFill>
        <p:spPr bwMode="auto">
          <a:xfrm>
            <a:off x="6630654" y="2312401"/>
            <a:ext cx="1578466" cy="53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530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if~else</a:t>
            </a:r>
            <a:r>
              <a:rPr lang="en-US" altLang="ko-KR" sz="2400" dirty="0"/>
              <a:t> if</a:t>
            </a:r>
            <a:r>
              <a:rPr lang="ko-KR" altLang="en-US" sz="2400" dirty="0"/>
              <a:t>문</a:t>
            </a:r>
            <a:endParaRPr lang="en-US" altLang="ko-KR" dirty="0"/>
          </a:p>
        </p:txBody>
      </p:sp>
      <p:pic>
        <p:nvPicPr>
          <p:cNvPr id="14339" name="Picture 3" descr="C:\Users\변소현\Desktop\난생처음 C 언어 프로그래밍\그림\Ch5\그림 5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411" y="2240961"/>
            <a:ext cx="6639177" cy="306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017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871" y="1276349"/>
            <a:ext cx="5215308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8742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2103836"/>
            <a:ext cx="7924665" cy="3477812"/>
            <a:chOff x="615155" y="1379936"/>
            <a:chExt cx="7924665" cy="3477812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3477812"/>
              <a:chOff x="683573" y="1844824"/>
              <a:chExt cx="7924665" cy="143511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351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5-2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+mj-ea"/>
                  <a:ea typeface="+mj-ea"/>
                </a:rPr>
                <a:t>2</a:t>
              </a:r>
              <a:r>
                <a:rPr lang="ko-KR" altLang="en-US" sz="1600" b="1" dirty="0">
                  <a:latin typeface="+mj-ea"/>
                  <a:ea typeface="+mj-ea"/>
                </a:rPr>
                <a:t>의 배수</a:t>
              </a:r>
              <a:r>
                <a:rPr lang="en-US" altLang="ko-KR" sz="1600" b="1" dirty="0">
                  <a:latin typeface="+mj-ea"/>
                  <a:ea typeface="+mj-ea"/>
                </a:rPr>
                <a:t>, 3</a:t>
              </a:r>
              <a:r>
                <a:rPr lang="ko-KR" altLang="en-US" sz="1600" b="1" dirty="0">
                  <a:latin typeface="+mj-ea"/>
                  <a:ea typeface="+mj-ea"/>
                </a:rPr>
                <a:t>의 배수</a:t>
              </a:r>
              <a:r>
                <a:rPr lang="en-US" altLang="ko-KR" sz="1600" b="1" dirty="0">
                  <a:latin typeface="+mj-ea"/>
                  <a:ea typeface="+mj-ea"/>
                </a:rPr>
                <a:t>, 2</a:t>
              </a:r>
              <a:r>
                <a:rPr lang="ko-KR" altLang="en-US" sz="1600" b="1" dirty="0">
                  <a:latin typeface="+mj-ea"/>
                  <a:ea typeface="+mj-ea"/>
                </a:rPr>
                <a:t>와 </a:t>
              </a:r>
              <a:r>
                <a:rPr lang="en-US" altLang="ko-KR" sz="1600" b="1" dirty="0">
                  <a:latin typeface="+mj-ea"/>
                  <a:ea typeface="+mj-ea"/>
                </a:rPr>
                <a:t>3</a:t>
              </a:r>
              <a:r>
                <a:rPr lang="ko-KR" altLang="en-US" sz="1600" b="1" dirty="0">
                  <a:latin typeface="+mj-ea"/>
                  <a:ea typeface="+mj-ea"/>
                </a:rPr>
                <a:t>의 공배수 판별하기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833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정수를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입력받아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배수인지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3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배수인지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2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공배수인지를 출력하는 프로그램을 작성해봅시다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31" y="3395699"/>
            <a:ext cx="6830987" cy="1008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895" y="4623545"/>
            <a:ext cx="6512210" cy="46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7186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 err="1">
                <a:solidFill>
                  <a:schemeClr val="tx1"/>
                </a:solidFill>
              </a:rPr>
              <a:t>if~else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217516"/>
            <a:ext cx="7924665" cy="5297583"/>
            <a:chOff x="683573" y="1844824"/>
            <a:chExt cx="7924665" cy="13952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95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93089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5-2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232422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147114826"/>
              </p:ext>
            </p:extLst>
          </p:nvPr>
        </p:nvGraphicFramePr>
        <p:xfrm>
          <a:off x="871407" y="1741967"/>
          <a:ext cx="7416825" cy="470002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30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n;</a:t>
                      </a:r>
                      <a:endParaRPr lang="pt-BR" altLang="ko-KR" baseline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(!(n % 2) &amp;&amp; !(n % 3))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   printf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와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공배수입니다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(!(n % 2))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(!(n</a:t>
                      </a: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% 2))</a:t>
                      </a:r>
                      <a:endParaRPr lang="pt-BR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   printf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  <a:endParaRPr lang="pt-BR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   printf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와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공배수가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아닙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675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/>
              <a:t>switch</a:t>
            </a:r>
            <a:r>
              <a:rPr lang="ko-KR" altLang="en-US" sz="4000" dirty="0"/>
              <a:t>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switch</a:t>
            </a:r>
            <a:r>
              <a:rPr lang="ko-KR" altLang="en-US" sz="2400" dirty="0"/>
              <a:t>문의 형식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switch</a:t>
            </a:r>
            <a:r>
              <a:rPr lang="ko-KR" altLang="en-US" b="1" dirty="0"/>
              <a:t>문의 개념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조건식이 계산된 값에 따라서 다중 분기를 할 수 있는 </a:t>
            </a:r>
            <a:r>
              <a:rPr lang="ko-KR" altLang="en-US" dirty="0" err="1"/>
              <a:t>제어문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switch</a:t>
            </a:r>
            <a:r>
              <a:rPr lang="ko-KR" altLang="en-US" b="1" dirty="0"/>
              <a:t>문의 사용 형식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19" y="3190048"/>
            <a:ext cx="7126306" cy="2816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12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switch</a:t>
            </a:r>
            <a:r>
              <a:rPr lang="ko-KR" altLang="en-US" sz="2400" dirty="0"/>
              <a:t>문의 형식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switch</a:t>
            </a:r>
            <a:r>
              <a:rPr lang="ko-KR" altLang="en-US" b="1" dirty="0"/>
              <a:t>문과 </a:t>
            </a:r>
            <a:r>
              <a:rPr lang="en-US" altLang="ko-KR" b="1" dirty="0"/>
              <a:t>if</a:t>
            </a:r>
            <a:r>
              <a:rPr lang="ko-KR" altLang="en-US" b="1" dirty="0"/>
              <a:t>문의 차이점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switch</a:t>
            </a:r>
            <a:r>
              <a:rPr lang="ko-KR" altLang="en-US" dirty="0"/>
              <a:t>문은 </a:t>
            </a:r>
            <a:r>
              <a:rPr lang="ko-KR" altLang="en-US" dirty="0" err="1"/>
              <a:t>조건식의</a:t>
            </a:r>
            <a:r>
              <a:rPr lang="ko-KR" altLang="en-US" dirty="0"/>
              <a:t> 참</a:t>
            </a:r>
            <a:r>
              <a:rPr lang="en-US" altLang="ko-KR" dirty="0"/>
              <a:t>, </a:t>
            </a:r>
            <a:r>
              <a:rPr lang="ko-KR" altLang="en-US" dirty="0"/>
              <a:t>거짓 여부를 따지지 않고</a:t>
            </a:r>
            <a:r>
              <a:rPr lang="en-US" altLang="ko-KR" dirty="0"/>
              <a:t>, </a:t>
            </a:r>
            <a:r>
              <a:rPr lang="ko-KR" altLang="en-US" dirty="0"/>
              <a:t>오직 조건식의 계산 값과 </a:t>
            </a:r>
            <a:r>
              <a:rPr lang="en-US" altLang="ko-KR" dirty="0"/>
              <a:t>case </a:t>
            </a:r>
            <a:r>
              <a:rPr lang="ko-KR" altLang="en-US" dirty="0"/>
              <a:t>값</a:t>
            </a:r>
            <a:r>
              <a:rPr lang="en-US" altLang="ko-KR" dirty="0"/>
              <a:t>(Label)</a:t>
            </a:r>
            <a:r>
              <a:rPr lang="ko-KR" altLang="en-US" dirty="0"/>
              <a:t>의 일치 여부만을 따짐</a:t>
            </a:r>
            <a:endParaRPr lang="en-US" altLang="ko-KR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switch</a:t>
            </a:r>
            <a:r>
              <a:rPr lang="ko-KR" altLang="en-US" b="1" dirty="0"/>
              <a:t>문의 구성과 실행 흐름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조건식을 계산하여 특정한 명령절로 실행 흐름이 변경된 후에는 특별한 명령이 없는 한 </a:t>
            </a:r>
            <a:r>
              <a:rPr lang="en-US" altLang="ko-KR" dirty="0"/>
              <a:t>switch</a:t>
            </a:r>
            <a:r>
              <a:rPr lang="ko-KR" altLang="en-US" dirty="0"/>
              <a:t>문은 탈출하지 않음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1428029" y="4659956"/>
            <a:ext cx="6306991" cy="1330866"/>
            <a:chOff x="683573" y="1844824"/>
            <a:chExt cx="7924665" cy="2157461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4"/>
              <a:ext cx="7920000" cy="1860376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62141" y="2263515"/>
              <a:ext cx="7772192" cy="1738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저자가 만든 개념으로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0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 이상의 명령문이 나열된 것을 의미함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하나의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case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에 여러 개의 명령문을 사용할 수 있음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7810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4" y="1862053"/>
              <a:ext cx="4699962" cy="460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ko-KR" altLang="en-US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명령절이란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?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69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12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switch</a:t>
            </a:r>
            <a:r>
              <a:rPr lang="ko-KR" altLang="en-US" sz="2400" dirty="0"/>
              <a:t>문의 형식</a:t>
            </a:r>
            <a:endParaRPr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824451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switch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403247954"/>
              </p:ext>
            </p:extLst>
          </p:nvPr>
        </p:nvGraphicFramePr>
        <p:xfrm>
          <a:off x="916939" y="2187804"/>
          <a:ext cx="7416825" cy="444399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  <a:endParaRPr lang="en-US" sz="1400" b="1" u="none" strike="noStrike" cap="none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(1 + 1)          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case 2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로 실행 흐름 분기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1: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2: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"2A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3: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"3A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"3B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default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A29AF1D8-9EAD-458B-ABB0-8C5D5B03D858}"/>
              </a:ext>
            </a:extLst>
          </p:cNvPr>
          <p:cNvGrpSpPr/>
          <p:nvPr/>
        </p:nvGrpSpPr>
        <p:grpSpPr>
          <a:xfrm>
            <a:off x="6556004" y="4315278"/>
            <a:ext cx="1671057" cy="1624725"/>
            <a:chOff x="1151203" y="3085499"/>
            <a:chExt cx="1671057" cy="1624725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A2C6E59F-A16C-4EC1-91FF-E7CF911286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2" r="75565"/>
            <a:stretch/>
          </p:blipFill>
          <p:spPr bwMode="auto">
            <a:xfrm>
              <a:off x="1151204" y="3085499"/>
              <a:ext cx="1671056" cy="687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9192E886-140A-4B4F-AEA8-8475D6399E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877"/>
            <a:stretch/>
          </p:blipFill>
          <p:spPr bwMode="auto">
            <a:xfrm>
              <a:off x="1151203" y="3629627"/>
              <a:ext cx="1671056" cy="1080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84287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12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switch</a:t>
            </a:r>
            <a:r>
              <a:rPr lang="ko-KR" altLang="en-US" sz="2400" dirty="0"/>
              <a:t>문의 형식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switch</a:t>
            </a:r>
            <a:r>
              <a:rPr lang="ko-KR" altLang="en-US" b="1" dirty="0"/>
              <a:t>문과 </a:t>
            </a:r>
            <a:r>
              <a:rPr lang="en-US" altLang="ko-KR" b="1" dirty="0"/>
              <a:t>if</a:t>
            </a:r>
            <a:r>
              <a:rPr lang="ko-KR" altLang="en-US" b="1" dirty="0"/>
              <a:t>문의 실행 흐름 비교</a:t>
            </a:r>
            <a:endParaRPr dirty="0"/>
          </a:p>
        </p:txBody>
      </p:sp>
      <p:pic>
        <p:nvPicPr>
          <p:cNvPr id="19458" name="Picture 2" descr="C:\Users\변소현\Desktop\난생처음 C 언어 프로그래밍\그림\Ch5\그림 5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2443163"/>
            <a:ext cx="5570537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570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sz="2400" dirty="0"/>
              <a:t>break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break</a:t>
            </a:r>
            <a:r>
              <a:rPr lang="ko-KR" altLang="en-US" b="1" dirty="0"/>
              <a:t>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자신을 포함하고 있는 </a:t>
            </a:r>
            <a:r>
              <a:rPr lang="en-US" altLang="ko-KR" dirty="0"/>
              <a:t>switch</a:t>
            </a:r>
            <a:r>
              <a:rPr lang="ko-KR" altLang="en-US" dirty="0"/>
              <a:t>문을 강제로 </a:t>
            </a:r>
            <a:r>
              <a:rPr lang="ko-KR" altLang="en-US" dirty="0" err="1"/>
              <a:t>빠져나오게</a:t>
            </a:r>
            <a:r>
              <a:rPr lang="ko-KR" altLang="en-US" dirty="0"/>
              <a:t> 하는 명령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break</a:t>
            </a:r>
            <a:r>
              <a:rPr lang="ko-KR" altLang="en-US" b="1" dirty="0"/>
              <a:t>의 사용 형식</a:t>
            </a:r>
            <a:endParaRPr lang="ko-KR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196040"/>
            <a:ext cx="7086600" cy="2790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8426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sz="2400" dirty="0"/>
              <a:t>break</a:t>
            </a:r>
            <a:endParaRPr lang="ko-KR" altLang="en-US"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1853105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 break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활용한 다중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분기문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314501805"/>
              </p:ext>
            </p:extLst>
          </p:nvPr>
        </p:nvGraphicFramePr>
        <p:xfrm>
          <a:off x="916939" y="2216458"/>
          <a:ext cx="7416825" cy="316383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(2)                  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case 2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로 실행 흐름 분기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1: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 break;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2: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 break;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실행 후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 탈출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 break;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default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17" y="5372332"/>
            <a:ext cx="7545572" cy="585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368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300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sz="2400" dirty="0"/>
              <a:t>break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break</a:t>
            </a:r>
            <a:r>
              <a:rPr lang="ko-KR" altLang="en-US" b="1" dirty="0"/>
              <a:t>의 활용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switch</a:t>
            </a:r>
            <a:r>
              <a:rPr lang="ko-KR" altLang="en-US" dirty="0"/>
              <a:t>문에서 </a:t>
            </a:r>
            <a:r>
              <a:rPr lang="en-US" altLang="ko-KR" dirty="0"/>
              <a:t>break </a:t>
            </a:r>
            <a:r>
              <a:rPr lang="ko-KR" altLang="en-US" dirty="0"/>
              <a:t>없이 사용하는 경우가 상당히 많음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>
                <a:solidFill>
                  <a:srgbClr val="9D87B7"/>
                </a:solidFill>
              </a:rPr>
              <a:t>예제</a:t>
            </a:r>
            <a:r>
              <a:rPr lang="en-US" altLang="ko-KR" b="1" dirty="0">
                <a:solidFill>
                  <a:srgbClr val="9D87B7"/>
                </a:solidFill>
              </a:rPr>
              <a:t>)</a:t>
            </a:r>
            <a:r>
              <a:rPr lang="en-US" altLang="ko-KR" dirty="0"/>
              <a:t> </a:t>
            </a:r>
            <a:r>
              <a:rPr lang="ko-KR" altLang="en-US" dirty="0"/>
              <a:t>초등학교 저학년에서 수학 시험을 볼 때</a:t>
            </a:r>
            <a:r>
              <a:rPr lang="en-US" altLang="ko-KR" dirty="0"/>
              <a:t>, </a:t>
            </a:r>
            <a:r>
              <a:rPr lang="ko-KR" altLang="en-US" dirty="0"/>
              <a:t>열 문제에 개당 </a:t>
            </a:r>
            <a:r>
              <a:rPr lang="en-US" altLang="ko-KR" dirty="0"/>
              <a:t>10</a:t>
            </a:r>
            <a:r>
              <a:rPr lang="ko-KR" altLang="en-US" dirty="0" err="1"/>
              <a:t>점씩</a:t>
            </a:r>
            <a:r>
              <a:rPr lang="ko-KR" altLang="en-US" dirty="0"/>
              <a:t> </a:t>
            </a:r>
            <a:r>
              <a:rPr lang="en-US" altLang="ko-KR" dirty="0"/>
              <a:t>100</a:t>
            </a:r>
            <a:r>
              <a:rPr lang="ko-KR" altLang="en-US" dirty="0"/>
              <a:t>점 만점일 경우 점수에 따라 메시지를 출력하는 프로그램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100</a:t>
            </a:r>
            <a:r>
              <a:rPr lang="ko-KR" altLang="en-US" dirty="0"/>
              <a:t>점 </a:t>
            </a:r>
            <a:r>
              <a:rPr lang="en-US" altLang="ko-KR" dirty="0"/>
              <a:t>: </a:t>
            </a:r>
            <a:r>
              <a:rPr lang="ko-KR" altLang="en-US" dirty="0"/>
              <a:t>매우 잘함 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80~90</a:t>
            </a:r>
            <a:r>
              <a:rPr lang="ko-KR" altLang="en-US" dirty="0"/>
              <a:t>점 </a:t>
            </a:r>
            <a:r>
              <a:rPr lang="en-US" altLang="ko-KR" dirty="0"/>
              <a:t>: </a:t>
            </a:r>
            <a:r>
              <a:rPr lang="ko-KR" altLang="en-US" dirty="0"/>
              <a:t>잘함</a:t>
            </a:r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50~70</a:t>
            </a:r>
            <a:r>
              <a:rPr lang="ko-KR" altLang="en-US" dirty="0"/>
              <a:t>점 </a:t>
            </a:r>
            <a:r>
              <a:rPr lang="en-US" altLang="ko-KR" dirty="0"/>
              <a:t>: </a:t>
            </a:r>
            <a:r>
              <a:rPr lang="ko-KR" altLang="en-US" dirty="0"/>
              <a:t>보통 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0~40</a:t>
            </a:r>
            <a:r>
              <a:rPr lang="ko-KR" altLang="en-US" dirty="0"/>
              <a:t>점 </a:t>
            </a:r>
            <a:r>
              <a:rPr lang="en-US" altLang="ko-KR" dirty="0"/>
              <a:t>: </a:t>
            </a:r>
            <a:r>
              <a:rPr lang="ko-KR" altLang="en-US" dirty="0"/>
              <a:t>노력이 필요함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3449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10" name="Google Shape;104;p7"/>
          <p:cNvGraphicFramePr/>
          <p:nvPr>
            <p:extLst>
              <p:ext uri="{D42A27DB-BD31-4B8C-83A1-F6EECF244321}">
                <p14:modId xmlns:p14="http://schemas.microsoft.com/office/powerpoint/2010/main" val="551974808"/>
              </p:ext>
            </p:extLst>
          </p:nvPr>
        </p:nvGraphicFramePr>
        <p:xfrm>
          <a:off x="916939" y="1486094"/>
          <a:ext cx="7416825" cy="50840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lang="en-US" sz="1300" b="1" u="none" strike="noStrike" cap="none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수학 점수를 입력하세요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math;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("%d"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&amp;math);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   switch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(math)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100: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매우 잘함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90: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80: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잘함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70: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60: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50: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보통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default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노력이 필요함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48"/>
          <a:stretch/>
        </p:blipFill>
        <p:spPr bwMode="auto">
          <a:xfrm>
            <a:off x="5678378" y="1647470"/>
            <a:ext cx="2427317" cy="1005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02;p7">
            <a:extLst>
              <a:ext uri="{FF2B5EF4-FFF2-40B4-BE49-F238E27FC236}">
                <a16:creationId xmlns:a16="http://schemas.microsoft.com/office/drawing/2014/main" id="{D22572B7-2808-444D-B0E8-7820AFC5215B}"/>
              </a:ext>
            </a:extLst>
          </p:cNvPr>
          <p:cNvSpPr txBox="1"/>
          <p:nvPr/>
        </p:nvSpPr>
        <p:spPr>
          <a:xfrm>
            <a:off x="781956" y="1167978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-10]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break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선별 사용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038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sz="2400" dirty="0"/>
              <a:t>switch</a:t>
            </a:r>
            <a:r>
              <a:rPr lang="ko-KR" altLang="en-US" sz="2400" dirty="0"/>
              <a:t>문의 제약 사항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조건식은</a:t>
            </a:r>
            <a:r>
              <a:rPr lang="ko-KR" altLang="en-US" dirty="0"/>
              <a:t> 반드시 </a:t>
            </a:r>
            <a:r>
              <a:rPr lang="ko-KR" altLang="en-US" dirty="0" err="1"/>
              <a:t>정수값으로</a:t>
            </a:r>
            <a:r>
              <a:rPr lang="ko-KR" altLang="en-US" dirty="0"/>
              <a:t> 계산되어야 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case</a:t>
            </a:r>
            <a:r>
              <a:rPr lang="ko-KR" altLang="en-US" dirty="0"/>
              <a:t>의 값은 정수로서 상수여야 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위의 제약을 어길 경우 컴파일 오류가 발생함</a:t>
            </a:r>
          </a:p>
        </p:txBody>
      </p:sp>
    </p:spTree>
    <p:extLst>
      <p:ext uri="{BB962C8B-B14F-4D97-AF65-F5344CB8AC3E}">
        <p14:creationId xmlns:p14="http://schemas.microsoft.com/office/powerpoint/2010/main" val="67212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switch</a:t>
            </a:r>
            <a:r>
              <a:rPr lang="ko-KR" altLang="en-US" sz="2400" dirty="0"/>
              <a:t>문의 제약 사항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773998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-11]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switch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제약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589940320"/>
              </p:ext>
            </p:extLst>
          </p:nvPr>
        </p:nvGraphicFramePr>
        <p:xfrm>
          <a:off x="916939" y="2137351"/>
          <a:ext cx="7416825" cy="46085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(3.14)                  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정수 아님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3.14: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"3.14"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   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정수 상수 아님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언어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               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정수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아님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언어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언어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정수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상수 아님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= 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i: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"3"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         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정수 상수 아님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115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147" y="992467"/>
            <a:ext cx="5023706" cy="5596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3082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switch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515" y="2185240"/>
            <a:ext cx="5470971" cy="248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49003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>
                <a:solidFill>
                  <a:schemeClr val="accent4"/>
                </a:solidFill>
              </a:rPr>
              <a:t>8</a:t>
            </a:r>
            <a:r>
              <a:rPr lang="ko-KR" altLang="en-US" sz="4000" dirty="0">
                <a:solidFill>
                  <a:schemeClr val="accent4"/>
                </a:solidFill>
              </a:rPr>
              <a:t>의 배수</a:t>
            </a:r>
            <a:r>
              <a:rPr lang="en-US" altLang="ko-KR" sz="4000" dirty="0">
                <a:solidFill>
                  <a:schemeClr val="accent4"/>
                </a:solidFill>
              </a:rPr>
              <a:t>? 4</a:t>
            </a:r>
            <a:r>
              <a:rPr lang="ko-KR" altLang="en-US" sz="4000" dirty="0">
                <a:solidFill>
                  <a:schemeClr val="accent4"/>
                </a:solidFill>
              </a:rPr>
              <a:t>의 배수</a:t>
            </a:r>
            <a:r>
              <a:rPr lang="en-US" altLang="ko-KR" sz="4000" dirty="0">
                <a:solidFill>
                  <a:schemeClr val="accent4"/>
                </a:solidFill>
              </a:rPr>
              <a:t>? 2</a:t>
            </a:r>
            <a:r>
              <a:rPr lang="ko-KR" altLang="en-US" sz="4000" dirty="0">
                <a:solidFill>
                  <a:schemeClr val="accent4"/>
                </a:solidFill>
              </a:rPr>
              <a:t>의 배수</a:t>
            </a:r>
            <a:r>
              <a:rPr lang="en-US" altLang="ko-KR" sz="4000" dirty="0">
                <a:solidFill>
                  <a:schemeClr val="accent4"/>
                </a:solidFill>
              </a:rPr>
              <a:t>?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8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 4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 2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9" y="1433636"/>
            <a:ext cx="6324922" cy="213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sz="1800" dirty="0"/>
              <a:t>정수를 </a:t>
            </a:r>
            <a:r>
              <a:rPr lang="ko-KR" altLang="en-US" sz="1800" dirty="0" err="1"/>
              <a:t>입력받아</a:t>
            </a:r>
            <a:r>
              <a:rPr lang="ko-KR" altLang="en-US" sz="1800" dirty="0"/>
              <a:t> </a:t>
            </a:r>
            <a:r>
              <a:rPr lang="en-US" altLang="ko-KR" sz="1800" dirty="0"/>
              <a:t>8</a:t>
            </a:r>
            <a:r>
              <a:rPr lang="ko-KR" altLang="en-US" sz="1800" dirty="0"/>
              <a:t>의 배수</a:t>
            </a:r>
            <a:r>
              <a:rPr lang="en-US" altLang="ko-KR" sz="1800" dirty="0"/>
              <a:t>, 4</a:t>
            </a:r>
            <a:r>
              <a:rPr lang="ko-KR" altLang="en-US" sz="1800" dirty="0"/>
              <a:t>의 배수</a:t>
            </a:r>
            <a:r>
              <a:rPr lang="en-US" altLang="ko-KR" sz="1800" dirty="0"/>
              <a:t>, 2</a:t>
            </a:r>
            <a:r>
              <a:rPr lang="ko-KR" altLang="en-US" sz="1800" dirty="0"/>
              <a:t>의 배수 중 어디에 해당하는지 출력하는 프로그램을 작성해봅시다</a:t>
            </a:r>
            <a:r>
              <a:rPr lang="en-US" altLang="ko-KR" sz="1800" dirty="0"/>
              <a:t>. </a:t>
            </a:r>
            <a:br>
              <a:rPr lang="en-US" altLang="ko-KR" sz="1800" dirty="0"/>
            </a:br>
            <a:r>
              <a:rPr lang="ko-KR" altLang="en-US" sz="1800" dirty="0"/>
              <a:t>단</a:t>
            </a:r>
            <a:r>
              <a:rPr lang="en-US" altLang="ko-KR" sz="1800" dirty="0"/>
              <a:t>, </a:t>
            </a:r>
            <a:r>
              <a:rPr lang="ko-KR" altLang="en-US" sz="1800" dirty="0"/>
              <a:t>중복해서 해당될 수 있습니다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42" y="1673142"/>
            <a:ext cx="1912143" cy="19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507" y="3781548"/>
            <a:ext cx="5402986" cy="143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8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 4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 2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5"/>
            <a:ext cx="8363272" cy="430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r>
              <a:rPr lang="en-US" altLang="ko-KR" sz="800" dirty="0">
                <a:solidFill>
                  <a:srgbClr val="7030A0"/>
                </a:solidFill>
              </a:rPr>
              <a:t> 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1.</a:t>
            </a:r>
            <a:r>
              <a:rPr lang="en-US" altLang="ko-KR" sz="1800" dirty="0"/>
              <a:t> 8</a:t>
            </a:r>
            <a:r>
              <a:rPr lang="ko-KR" altLang="en-US" sz="1800" dirty="0"/>
              <a:t>의 배수는 </a:t>
            </a:r>
            <a:r>
              <a:rPr lang="en-US" altLang="ko-KR" sz="1800" dirty="0"/>
              <a:t>4</a:t>
            </a:r>
            <a:r>
              <a:rPr lang="ko-KR" altLang="en-US" sz="1800" dirty="0"/>
              <a:t>의 배수이자 </a:t>
            </a:r>
            <a:r>
              <a:rPr lang="en-US" altLang="ko-KR" sz="1800" dirty="0"/>
              <a:t>2</a:t>
            </a:r>
            <a:r>
              <a:rPr lang="ko-KR" altLang="en-US" sz="1800" dirty="0"/>
              <a:t>의 배수이고</a:t>
            </a:r>
            <a:r>
              <a:rPr lang="en-US" altLang="ko-KR" sz="1800" dirty="0"/>
              <a:t>, 4</a:t>
            </a:r>
            <a:r>
              <a:rPr lang="ko-KR" altLang="en-US" sz="1800" dirty="0"/>
              <a:t>의 배수는 </a:t>
            </a:r>
            <a:r>
              <a:rPr lang="en-US" altLang="ko-KR" sz="1800" dirty="0"/>
              <a:t>2</a:t>
            </a:r>
            <a:r>
              <a:rPr lang="ko-KR" altLang="en-US" sz="1800" dirty="0"/>
              <a:t>의 배수이다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2.</a:t>
            </a:r>
            <a:r>
              <a:rPr lang="en-US" altLang="ko-KR" sz="1800" dirty="0"/>
              <a:t> </a:t>
            </a:r>
            <a:r>
              <a:rPr lang="ko-KR" altLang="en-US" sz="1800" dirty="0"/>
              <a:t>따라서 </a:t>
            </a:r>
            <a:r>
              <a:rPr lang="ko-KR" altLang="en-US" sz="1800" dirty="0" err="1"/>
              <a:t>입력받은</a:t>
            </a:r>
            <a:r>
              <a:rPr lang="ko-KR" altLang="en-US" sz="1800" dirty="0"/>
              <a:t> 수가 </a:t>
            </a:r>
            <a:r>
              <a:rPr lang="en-US" altLang="ko-KR" sz="1800" dirty="0"/>
              <a:t>8</a:t>
            </a:r>
            <a:r>
              <a:rPr lang="ko-KR" altLang="en-US" sz="1800" dirty="0"/>
              <a:t>의 배수인지</a:t>
            </a:r>
            <a:r>
              <a:rPr lang="en-US" altLang="ko-KR" sz="1800" dirty="0"/>
              <a:t>, 4</a:t>
            </a:r>
            <a:r>
              <a:rPr lang="ko-KR" altLang="en-US" sz="1800" dirty="0"/>
              <a:t>의 배수인지</a:t>
            </a:r>
            <a:r>
              <a:rPr lang="en-US" altLang="ko-KR" sz="1800" dirty="0"/>
              <a:t>, 2</a:t>
            </a:r>
            <a:r>
              <a:rPr lang="ko-KR" altLang="en-US" sz="1800" dirty="0"/>
              <a:t>의 배수인지를 </a:t>
            </a:r>
            <a:br>
              <a:rPr lang="en-US" altLang="ko-KR" sz="1800" dirty="0"/>
            </a:br>
            <a:r>
              <a:rPr lang="en-US" altLang="ko-KR" sz="1800" dirty="0"/>
              <a:t>    </a:t>
            </a:r>
            <a:r>
              <a:rPr lang="ko-KR" altLang="en-US" sz="1800" dirty="0"/>
              <a:t>순서대로 따져서 변수 </a:t>
            </a:r>
            <a:r>
              <a:rPr lang="en-US" altLang="ko-KR" sz="1800" dirty="0">
                <a:latin typeface="Consolas" panose="020B0609020204030204" pitchFamily="49" charset="0"/>
              </a:rPr>
              <a:t>c</a:t>
            </a:r>
            <a:r>
              <a:rPr lang="ko-KR" altLang="en-US" sz="1800" dirty="0"/>
              <a:t>에 </a:t>
            </a:r>
            <a:r>
              <a:rPr lang="en-US" altLang="ko-KR" sz="1800" dirty="0"/>
              <a:t>8, 4, 2</a:t>
            </a:r>
            <a:r>
              <a:rPr lang="ko-KR" altLang="en-US" sz="1800" dirty="0"/>
              <a:t>를 대입한다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>
              <a:solidFill>
                <a:schemeClr val="accent4"/>
              </a:solidFill>
            </a:endParaRPr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3.</a:t>
            </a:r>
            <a:r>
              <a:rPr lang="en-US" altLang="ko-KR" sz="1800" dirty="0"/>
              <a:t> </a:t>
            </a:r>
            <a:r>
              <a:rPr lang="en-US" altLang="ko-KR" sz="1800" dirty="0">
                <a:latin typeface="Consolas" panose="020B0609020204030204" pitchFamily="49" charset="0"/>
              </a:rPr>
              <a:t>switch</a:t>
            </a:r>
            <a:r>
              <a:rPr lang="ko-KR" altLang="en-US" sz="1800" dirty="0"/>
              <a:t>문의 </a:t>
            </a:r>
            <a:r>
              <a:rPr lang="en-US" altLang="ko-KR" sz="1800" dirty="0">
                <a:latin typeface="Consolas" panose="020B0609020204030204" pitchFamily="49" charset="0"/>
              </a:rPr>
              <a:t>case</a:t>
            </a:r>
            <a:r>
              <a:rPr lang="ko-KR" altLang="en-US" sz="1800" dirty="0"/>
              <a:t>는 </a:t>
            </a:r>
            <a:r>
              <a:rPr lang="en-US" altLang="ko-KR" sz="1800" dirty="0"/>
              <a:t>8</a:t>
            </a:r>
            <a:r>
              <a:rPr lang="ko-KR" altLang="en-US" sz="1800" dirty="0"/>
              <a:t>의 배수</a:t>
            </a:r>
            <a:r>
              <a:rPr lang="en-US" altLang="ko-KR" sz="1800" dirty="0"/>
              <a:t>, 4</a:t>
            </a:r>
            <a:r>
              <a:rPr lang="ko-KR" altLang="en-US" sz="1800" dirty="0"/>
              <a:t>의 배수</a:t>
            </a:r>
            <a:r>
              <a:rPr lang="en-US" altLang="ko-KR" sz="1800" dirty="0"/>
              <a:t>, 2</a:t>
            </a:r>
            <a:r>
              <a:rPr lang="ko-KR" altLang="en-US" sz="1800" dirty="0"/>
              <a:t>의 배수를 묶음 처리하고 마지막에 </a:t>
            </a:r>
            <a:br>
              <a:rPr lang="en-US" altLang="ko-KR" sz="1800" dirty="0"/>
            </a:br>
            <a:r>
              <a:rPr lang="en-US" altLang="ko-KR" sz="1800" dirty="0"/>
              <a:t>   </a:t>
            </a:r>
            <a:r>
              <a:rPr lang="en-US" altLang="ko-KR" sz="1800" dirty="0">
                <a:latin typeface="Consolas" panose="020B0609020204030204" pitchFamily="49" charset="0"/>
              </a:rPr>
              <a:t>break</a:t>
            </a:r>
            <a:r>
              <a:rPr lang="ko-KR" altLang="en-US" sz="1800" dirty="0"/>
              <a:t>를 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4.</a:t>
            </a:r>
            <a:r>
              <a:rPr lang="en-US" altLang="ko-KR" sz="1800" dirty="0"/>
              <a:t> </a:t>
            </a:r>
            <a:r>
              <a:rPr lang="ko-KR" altLang="en-US" sz="1800" dirty="0">
                <a:latin typeface="Consolas" panose="020B0609020204030204" pitchFamily="49" charset="0"/>
              </a:rPr>
              <a:t>흐름이 </a:t>
            </a:r>
            <a:r>
              <a:rPr lang="en-US" altLang="ko-KR" sz="1800" dirty="0">
                <a:latin typeface="Consolas" panose="020B0609020204030204" pitchFamily="49" charset="0"/>
              </a:rPr>
              <a:t>6</a:t>
            </a:r>
            <a:r>
              <a:rPr lang="ko-KR" altLang="en-US" sz="1800" dirty="0">
                <a:latin typeface="Consolas" panose="020B0609020204030204" pitchFamily="49" charset="0"/>
              </a:rPr>
              <a:t>개가 되는지 확인한다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8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 4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 2</a:t>
            </a:r>
            <a:r>
              <a:rPr lang="ko-KR" altLang="en-US" dirty="0">
                <a:solidFill>
                  <a:schemeClr val="tx1"/>
                </a:solidFill>
              </a:rPr>
              <a:t>의 배수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241232" y="830132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750355039"/>
              </p:ext>
            </p:extLst>
          </p:nvPr>
        </p:nvGraphicFramePr>
        <p:xfrm>
          <a:off x="1259327" y="993648"/>
          <a:ext cx="6625347" cy="5790131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8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25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5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5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25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sz="125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</a:t>
                      </a:r>
                      <a:r>
                        <a:rPr lang="en-US" altLang="ko-KR" sz="125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25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5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5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c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(n % 8 ==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    c = 8;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(n % 4 ==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    c = 4;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(n % 2 ==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baseline="0" dirty="0">
                          <a:latin typeface="Consolas" panose="020B0609020204030204" pitchFamily="49" charset="0"/>
                        </a:rPr>
                        <a:t>       c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5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(c)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8: </a:t>
                      </a:r>
                      <a:r>
                        <a:rPr lang="en-US" altLang="ko-KR" sz="125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"8</a:t>
                      </a:r>
                      <a:r>
                        <a:rPr lang="ko-KR" altLang="en-US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, "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4: </a:t>
                      </a:r>
                      <a:r>
                        <a:rPr lang="en-US" altLang="ko-KR" sz="125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"4</a:t>
                      </a:r>
                      <a:r>
                        <a:rPr lang="ko-KR" altLang="en-US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, "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2: </a:t>
                      </a:r>
                      <a:r>
                        <a:rPr lang="en-US" altLang="ko-KR" sz="125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</a:t>
                      </a:r>
                      <a:r>
                        <a:rPr lang="ko-KR" altLang="en-US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5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default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altLang="ko-KR" sz="125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"2, 4, 8</a:t>
                      </a:r>
                      <a:r>
                        <a:rPr lang="ko-KR" altLang="en-US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 아님</a:t>
                      </a:r>
                      <a:r>
                        <a:rPr lang="en-US" altLang="ko-KR" sz="12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5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2300</Words>
  <Application>Microsoft Office PowerPoint</Application>
  <PresentationFormat>화면 슬라이드 쇼(4:3)</PresentationFormat>
  <Paragraphs>598</Paragraphs>
  <Slides>46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05. 선택문</vt:lpstr>
      <vt:lpstr>PowerPoint 프레젠테이션</vt:lpstr>
      <vt:lpstr>PowerPoint 프레젠테이션</vt:lpstr>
      <vt:lpstr>PowerPoint 프레젠테이션</vt:lpstr>
      <vt:lpstr>01. 제어문이란?</vt:lpstr>
      <vt:lpstr>01. 제어문이란?</vt:lpstr>
      <vt:lpstr>01. 제어문이란?</vt:lpstr>
      <vt:lpstr>PowerPoint 프레젠테이션</vt:lpstr>
      <vt:lpstr>02. if문</vt:lpstr>
      <vt:lpstr>02. if문</vt:lpstr>
      <vt:lpstr>02. if문</vt:lpstr>
      <vt:lpstr>02. if문</vt:lpstr>
      <vt:lpstr>02. if문</vt:lpstr>
      <vt:lpstr>02. if문</vt:lpstr>
      <vt:lpstr>02. if문</vt:lpstr>
      <vt:lpstr>02. if문</vt:lpstr>
      <vt:lpstr>02. if문</vt:lpstr>
      <vt:lpstr>02. if문</vt:lpstr>
      <vt:lpstr>PowerPoint 프레젠테이션</vt:lpstr>
      <vt:lpstr>03. if~else문</vt:lpstr>
      <vt:lpstr>03. if~else문</vt:lpstr>
      <vt:lpstr>03. if~else문</vt:lpstr>
      <vt:lpstr>03. if~else문</vt:lpstr>
      <vt:lpstr>03. if~else문</vt:lpstr>
      <vt:lpstr>03. if~else문</vt:lpstr>
      <vt:lpstr>03. if~else문</vt:lpstr>
      <vt:lpstr>03. if~else문</vt:lpstr>
      <vt:lpstr>03. if~else문</vt:lpstr>
      <vt:lpstr>PowerPoint 프레젠테이션</vt:lpstr>
      <vt:lpstr>04. switch문</vt:lpstr>
      <vt:lpstr>04. switch문</vt:lpstr>
      <vt:lpstr>04. switch문</vt:lpstr>
      <vt:lpstr>04. switch문</vt:lpstr>
      <vt:lpstr>04. switch문</vt:lpstr>
      <vt:lpstr>04. switch문</vt:lpstr>
      <vt:lpstr>04. switch문</vt:lpstr>
      <vt:lpstr>04. switch문</vt:lpstr>
      <vt:lpstr>04. switch문</vt:lpstr>
      <vt:lpstr>04. switch문</vt:lpstr>
      <vt:lpstr>04. switch문</vt:lpstr>
      <vt:lpstr>04. switch문</vt:lpstr>
      <vt:lpstr>PowerPoint 프레젠테이션</vt:lpstr>
      <vt:lpstr>[실전예제] 8의 배수? 4의 배수? 2의 배수?</vt:lpstr>
      <vt:lpstr>[실전예제] 8의 배수? 4의 배수? 2의 배수?</vt:lpstr>
      <vt:lpstr>[실전예제] 8의 배수? 4의 배수? 2의 배수?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112</cp:revision>
  <dcterms:created xsi:type="dcterms:W3CDTF">2012-07-11T10:23:22Z</dcterms:created>
  <dcterms:modified xsi:type="dcterms:W3CDTF">2022-02-22T09:34:31Z</dcterms:modified>
</cp:coreProperties>
</file>