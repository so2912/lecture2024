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55"/>
  </p:notesMasterIdLst>
  <p:handoutMasterIdLst>
    <p:handoutMasterId r:id="rId56"/>
  </p:handoutMasterIdLst>
  <p:sldIdLst>
    <p:sldId id="256" r:id="rId2"/>
    <p:sldId id="257" r:id="rId3"/>
    <p:sldId id="258" r:id="rId4"/>
    <p:sldId id="259" r:id="rId5"/>
    <p:sldId id="260" r:id="rId6"/>
    <p:sldId id="526" r:id="rId7"/>
    <p:sldId id="527" r:id="rId8"/>
    <p:sldId id="528" r:id="rId9"/>
    <p:sldId id="529" r:id="rId10"/>
    <p:sldId id="530" r:id="rId11"/>
    <p:sldId id="531" r:id="rId12"/>
    <p:sldId id="532" r:id="rId13"/>
    <p:sldId id="533" r:id="rId14"/>
    <p:sldId id="534" r:id="rId15"/>
    <p:sldId id="535" r:id="rId16"/>
    <p:sldId id="536" r:id="rId17"/>
    <p:sldId id="537" r:id="rId18"/>
    <p:sldId id="538" r:id="rId19"/>
    <p:sldId id="539" r:id="rId20"/>
    <p:sldId id="540" r:id="rId21"/>
    <p:sldId id="541" r:id="rId22"/>
    <p:sldId id="467" r:id="rId23"/>
    <p:sldId id="468" r:id="rId24"/>
    <p:sldId id="469" r:id="rId25"/>
    <p:sldId id="542" r:id="rId26"/>
    <p:sldId id="261" r:id="rId27"/>
    <p:sldId id="543" r:id="rId28"/>
    <p:sldId id="544" r:id="rId29"/>
    <p:sldId id="545" r:id="rId30"/>
    <p:sldId id="546" r:id="rId31"/>
    <p:sldId id="548" r:id="rId32"/>
    <p:sldId id="549" r:id="rId33"/>
    <p:sldId id="476" r:id="rId34"/>
    <p:sldId id="559" r:id="rId35"/>
    <p:sldId id="433" r:id="rId36"/>
    <p:sldId id="434" r:id="rId37"/>
    <p:sldId id="287" r:id="rId38"/>
    <p:sldId id="551" r:id="rId39"/>
    <p:sldId id="552" r:id="rId40"/>
    <p:sldId id="553" r:id="rId41"/>
    <p:sldId id="554" r:id="rId42"/>
    <p:sldId id="555" r:id="rId43"/>
    <p:sldId id="556" r:id="rId44"/>
    <p:sldId id="557" r:id="rId45"/>
    <p:sldId id="558" r:id="rId46"/>
    <p:sldId id="438" r:id="rId47"/>
    <p:sldId id="439" r:id="rId48"/>
    <p:sldId id="440" r:id="rId49"/>
    <p:sldId id="316" r:id="rId50"/>
    <p:sldId id="264" r:id="rId51"/>
    <p:sldId id="317" r:id="rId52"/>
    <p:sldId id="318" r:id="rId53"/>
    <p:sldId id="267" r:id="rId5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190">
          <p15:clr>
            <a:srgbClr val="A4A3A4"/>
          </p15:clr>
        </p15:guide>
        <p15:guide id="4" pos="284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4" roundtripDataSignature="AMtx7minI3MDKZStEEFPCD0pd8mEwA/T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47C"/>
    <a:srgbClr val="FDE2CB"/>
    <a:srgbClr val="FBFBD1"/>
    <a:srgbClr val="9D87B7"/>
    <a:srgbClr val="B4A4C8"/>
    <a:srgbClr val="8AC9DA"/>
    <a:srgbClr val="F1D8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70F0E0B-0B7A-4AD7-8269-C2576374BDFF}">
  <a:tblStyle styleId="{270F0E0B-0B7A-4AD7-8269-C2576374BDFF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82" autoAdjust="0"/>
    <p:restoredTop sz="94464" autoAdjust="0"/>
  </p:normalViewPr>
  <p:slideViewPr>
    <p:cSldViewPr snapToGrid="0">
      <p:cViewPr varScale="1">
        <p:scale>
          <a:sx n="105" d="100"/>
          <a:sy n="105" d="100"/>
        </p:scale>
        <p:origin x="1980" y="114"/>
      </p:cViewPr>
      <p:guideLst>
        <p:guide orient="horz" pos="2160"/>
        <p:guide pos="2880"/>
        <p:guide orient="horz" pos="2190"/>
        <p:guide pos="284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95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98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9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F64742-9361-41AF-BEB5-9C4A02623FAB}" type="datetimeFigureOut">
              <a:rPr lang="ko-KR" altLang="en-US" smtClean="0"/>
              <a:t>2022-02-15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A8AF58-5242-4D16-97DC-D8C5673ED1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3604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44088840"/>
      </p:ext>
    </p:extLst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1">
  <p:cSld name="1_제목 슬라이드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/>
          <p:nvPr/>
        </p:nvSpPr>
        <p:spPr>
          <a:xfrm>
            <a:off x="0" y="5373216"/>
            <a:ext cx="9144000" cy="1484784"/>
          </a:xfrm>
          <a:prstGeom prst="rect">
            <a:avLst/>
          </a:prstGeom>
          <a:solidFill>
            <a:srgbClr val="E524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7" name="Google Shape;17;p14" descr="C:\Users\김현용\Desktop\제호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81257" y="320688"/>
            <a:ext cx="1800000" cy="3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82894" y="329071"/>
            <a:ext cx="3978211" cy="4684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>
  <p:cSld name="목차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body" idx="1"/>
          </p:nvPr>
        </p:nvSpPr>
        <p:spPr>
          <a:xfrm>
            <a:off x="755576" y="1851323"/>
            <a:ext cx="7615014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  <a:defRPr sz="2000" b="1">
                <a:solidFill>
                  <a:schemeClr val="dk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학습목표">
  <p:cSld name="학습목표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학습목표</a:t>
            </a:r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body" idx="1"/>
          </p:nvPr>
        </p:nvSpPr>
        <p:spPr>
          <a:xfrm>
            <a:off x="755576" y="1844824"/>
            <a:ext cx="7704856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>
                <a:solidFill>
                  <a:schemeClr val="dk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>
  <p:cSld name="2_사용자 지정 레이아웃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/>
          <p:nvPr/>
        </p:nvSpPr>
        <p:spPr>
          <a:xfrm>
            <a:off x="323057" y="404813"/>
            <a:ext cx="8497887" cy="6048375"/>
          </a:xfrm>
          <a:prstGeom prst="roundRect">
            <a:avLst>
              <a:gd name="adj" fmla="val 5013"/>
            </a:avLst>
          </a:prstGeom>
          <a:solidFill>
            <a:srgbClr val="F29B8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999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" name="Google Shape;29;p17"/>
          <p:cNvSpPr/>
          <p:nvPr/>
        </p:nvSpPr>
        <p:spPr>
          <a:xfrm>
            <a:off x="719101" y="341260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30;p17"/>
          <p:cNvSpPr/>
          <p:nvPr/>
        </p:nvSpPr>
        <p:spPr>
          <a:xfrm>
            <a:off x="719101" y="2348880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31;p17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algun Gothic"/>
              <a:buNone/>
              <a:defRPr sz="4800" b="1">
                <a:solidFill>
                  <a:schemeClr val="lt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2"/>
          </p:nvPr>
        </p:nvSpPr>
        <p:spPr>
          <a:xfrm>
            <a:off x="719572" y="2348880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Malgun Gothic"/>
              <a:buNone/>
              <a:defRPr sz="5400" b="1">
                <a:solidFill>
                  <a:schemeClr val="lt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섹션 목차">
  <p:cSld name="섹션 목차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6840760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5" name="Google Shape;35;p18"/>
          <p:cNvCxnSpPr/>
          <p:nvPr/>
        </p:nvCxnSpPr>
        <p:spPr>
          <a:xfrm>
            <a:off x="2124744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" name="Google Shape;36;p18"/>
          <p:cNvCxnSpPr/>
          <p:nvPr/>
        </p:nvCxnSpPr>
        <p:spPr>
          <a:xfrm>
            <a:off x="4464496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8"/>
          <p:cNvCxnSpPr/>
          <p:nvPr/>
        </p:nvCxnSpPr>
        <p:spPr>
          <a:xfrm>
            <a:off x="6804248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8"/>
          <p:cNvCxnSpPr/>
          <p:nvPr/>
        </p:nvCxnSpPr>
        <p:spPr>
          <a:xfrm>
            <a:off x="0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18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8208912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/>
            </a:lvl3pPr>
            <a:lvl4pPr marL="1828800" lvl="3" indent="-326136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/>
          <p:nvPr/>
        </p:nvSpPr>
        <p:spPr>
          <a:xfrm>
            <a:off x="8553698" y="6525344"/>
            <a:ext cx="648072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/ 53</a:t>
            </a:r>
          </a:p>
        </p:txBody>
      </p:sp>
      <p:sp>
        <p:nvSpPr>
          <p:cNvPr id="41" name="Google Shape;41;p18"/>
          <p:cNvSpPr txBox="1"/>
          <p:nvPr/>
        </p:nvSpPr>
        <p:spPr>
          <a:xfrm>
            <a:off x="8244408" y="6525344"/>
            <a:ext cx="648072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600" b="0" i="0" u="none" strike="noStrike" cap="non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끝">
  <p:cSld name="1_끝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/>
          <p:nvPr/>
        </p:nvSpPr>
        <p:spPr>
          <a:xfrm>
            <a:off x="-1" y="6165304"/>
            <a:ext cx="9144001" cy="692696"/>
          </a:xfrm>
          <a:prstGeom prst="rect">
            <a:avLst/>
          </a:prstGeom>
          <a:solidFill>
            <a:srgbClr val="E524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Google Shape;44;p19"/>
          <p:cNvSpPr/>
          <p:nvPr/>
        </p:nvSpPr>
        <p:spPr>
          <a:xfrm>
            <a:off x="0" y="6092750"/>
            <a:ext cx="9144000" cy="72554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5" name="Google Shape;45;p19" descr="C:\Users\김현용\Desktop\제호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20272" y="5631234"/>
            <a:ext cx="1905001" cy="317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9"/>
          <p:cNvSpPr txBox="1"/>
          <p:nvPr/>
        </p:nvSpPr>
        <p:spPr>
          <a:xfrm>
            <a:off x="3084944" y="6309320"/>
            <a:ext cx="283282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Copyright© 2021 Hanbit Academy, Inc.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9"/>
          <p:cNvSpPr txBox="1"/>
          <p:nvPr/>
        </p:nvSpPr>
        <p:spPr>
          <a:xfrm>
            <a:off x="2933818" y="2492896"/>
            <a:ext cx="327636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5242C"/>
                </a:solidFill>
                <a:latin typeface="Verdana"/>
                <a:ea typeface="Verdana"/>
                <a:cs typeface="Verdana"/>
                <a:sym typeface="Verdana"/>
              </a:rPr>
              <a:t>Thank you!</a:t>
            </a:r>
            <a:endParaRPr sz="4000" b="1">
              <a:solidFill>
                <a:srgbClr val="E5242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저작권">
  <p:cSld name="1_저작권"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/>
        </p:nvSpPr>
        <p:spPr>
          <a:xfrm>
            <a:off x="612452" y="981075"/>
            <a:ext cx="799147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난생처음 C 언어 프로그래밍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0"/>
          <p:cNvSpPr txBox="1"/>
          <p:nvPr/>
        </p:nvSpPr>
        <p:spPr>
          <a:xfrm>
            <a:off x="612453" y="1700213"/>
            <a:ext cx="7991475" cy="1446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rPr>
              <a:t>[강의교안 이용 안내]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강의교안의 저작권은 한빛아카데미㈜에 있습니다.</a:t>
            </a:r>
            <a:r>
              <a:rPr lang="en-US"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100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Char char="•"/>
            </a:pPr>
            <a:r>
              <a:rPr lang="en-US" sz="1100" u="sng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자료를 무단으로 전제하거나 배포할 경우 저작권법 136조에 의거하여 최고 5년 이하의 징역 또는 5천만원 이하의 벌금에 처할 수 있고 이를 병과(倂科)할 수도 있습니다.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" name="Google Shape;51;p20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본문2">
  <p:cSld name="본문2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1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3924944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1600"/>
              <a:buFont typeface="Noto Sans Symbols"/>
              <a:buChar char="■"/>
              <a:defRPr sz="16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  <a:defRPr sz="1200"/>
            </a:lvl2pPr>
            <a:lvl3pPr marL="1371600" lvl="2" indent="-3048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•"/>
              <a:defRPr sz="1200"/>
            </a:lvl3pPr>
            <a:lvl4pPr marL="1828800" lvl="3" indent="-295656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6"/>
              <a:buChar char="–"/>
              <a:defRPr sz="1100"/>
            </a:lvl4pPr>
            <a:lvl5pPr marL="2286000" lvl="4" indent="-2984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1"/>
          <p:cNvSpPr txBox="1">
            <a:spLocks noGrp="1"/>
          </p:cNvSpPr>
          <p:nvPr>
            <p:ph type="body" idx="2"/>
          </p:nvPr>
        </p:nvSpPr>
        <p:spPr>
          <a:xfrm>
            <a:off x="4644008" y="1196752"/>
            <a:ext cx="3924944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1600"/>
              <a:buFont typeface="Noto Sans Symbols"/>
              <a:buChar char="■"/>
              <a:defRPr sz="16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  <a:defRPr sz="1200"/>
            </a:lvl2pPr>
            <a:lvl3pPr marL="1371600" lvl="2" indent="-3048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•"/>
              <a:defRPr sz="1200"/>
            </a:lvl3pPr>
            <a:lvl4pPr marL="1828800" lvl="3" indent="-295656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6"/>
              <a:buChar char="–"/>
              <a:defRPr sz="1100"/>
            </a:lvl4pPr>
            <a:lvl5pPr marL="2286000" lvl="4" indent="-2984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6" name="Google Shape;56;p21" descr="쿡북로고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68344" y="485909"/>
            <a:ext cx="1216025" cy="3222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21"/>
          <p:cNvCxnSpPr/>
          <p:nvPr/>
        </p:nvCxnSpPr>
        <p:spPr>
          <a:xfrm>
            <a:off x="2124744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" name="Google Shape;58;p21"/>
          <p:cNvCxnSpPr/>
          <p:nvPr/>
        </p:nvCxnSpPr>
        <p:spPr>
          <a:xfrm>
            <a:off x="4464496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" name="Google Shape;59;p21"/>
          <p:cNvCxnSpPr/>
          <p:nvPr/>
        </p:nvCxnSpPr>
        <p:spPr>
          <a:xfrm>
            <a:off x="6804248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" name="Google Shape;60;p21"/>
          <p:cNvCxnSpPr/>
          <p:nvPr/>
        </p:nvCxnSpPr>
        <p:spPr>
          <a:xfrm>
            <a:off x="0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251520" y="274638"/>
            <a:ext cx="871296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251520" y="1600200"/>
            <a:ext cx="8712968" cy="4853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>
            <a:spLocks noGrp="1"/>
          </p:cNvSpPr>
          <p:nvPr>
            <p:ph type="title" idx="4294967295"/>
          </p:nvPr>
        </p:nvSpPr>
        <p:spPr>
          <a:xfrm>
            <a:off x="395536" y="6173660"/>
            <a:ext cx="8306320" cy="321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lt1"/>
                </a:solidFill>
              </a:rPr>
              <a:t>Chapter 08. </a:t>
            </a:r>
            <a:r>
              <a:rPr lang="ko-KR" altLang="en-US" sz="3600" b="1" dirty="0">
                <a:solidFill>
                  <a:schemeClr val="lt1"/>
                </a:solidFill>
              </a:rPr>
              <a:t>함수</a:t>
            </a:r>
            <a:endParaRPr dirty="0"/>
          </a:p>
        </p:txBody>
      </p:sp>
      <p:sp>
        <p:nvSpPr>
          <p:cNvPr id="66" name="Google Shape;66;p1"/>
          <p:cNvSpPr txBox="1"/>
          <p:nvPr/>
        </p:nvSpPr>
        <p:spPr>
          <a:xfrm>
            <a:off x="418840" y="5517232"/>
            <a:ext cx="8306320" cy="625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Part 02. C </a:t>
            </a:r>
            <a:r>
              <a:rPr lang="en-US" sz="2000" b="1" i="0" u="none" strike="noStrike" cap="none" dirty="0" err="1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언어</a:t>
            </a:r>
            <a:r>
              <a:rPr 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</a:t>
            </a:r>
            <a:r>
              <a:rPr 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000" b="1" i="0" u="none" strike="noStrike" cap="none" dirty="0" err="1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 txBox="1"/>
          <p:nvPr/>
        </p:nvSpPr>
        <p:spPr>
          <a:xfrm>
            <a:off x="785292" y="908720"/>
            <a:ext cx="6739458" cy="504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lang="en-US"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lang="en-US"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함수의 정의와 선언</a:t>
            </a:r>
            <a:endParaRPr lang="en-US" altLang="ko-KR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함수 인자</a:t>
            </a:r>
            <a:endParaRPr lang="en-US" altLang="ko-KR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함수 호출</a:t>
            </a:r>
            <a:endParaRPr lang="en-US" altLang="ko-KR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50000"/>
              </a:lnSpc>
              <a:buClr>
                <a:schemeClr val="dk1"/>
              </a:buClr>
              <a:buSzPts val="2000"/>
            </a:pP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[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실전예제</a:t>
            </a: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] 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재귀 호출을 이용한 배열 요소의 합 구하기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>
            <a:spLocks noGrp="1"/>
          </p:cNvSpPr>
          <p:nvPr>
            <p:ph type="body" idx="1"/>
          </p:nvPr>
        </p:nvSpPr>
        <p:spPr>
          <a:xfrm>
            <a:off x="755576" y="1844824"/>
            <a:ext cx="7704856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457200">
              <a:spcBef>
                <a:spcPts val="0"/>
              </a:spcBef>
            </a:pPr>
            <a:r>
              <a:rPr lang="ko-KR" altLang="en-US" dirty="0"/>
              <a:t>함수를 정의하는 형식과 구성 요소를 살펴본다</a:t>
            </a:r>
            <a:r>
              <a:rPr lang="en-US" altLang="ko-KR" dirty="0"/>
              <a:t>. </a:t>
            </a:r>
          </a:p>
          <a:p>
            <a:pPr lvl="0" indent="-457200">
              <a:spcBef>
                <a:spcPts val="0"/>
              </a:spcBef>
            </a:pPr>
            <a:r>
              <a:rPr lang="ko-KR" altLang="en-US" dirty="0" err="1"/>
              <a:t>실인자와</a:t>
            </a:r>
            <a:r>
              <a:rPr lang="ko-KR" altLang="en-US" dirty="0"/>
              <a:t> 매개변수의 개념을 이해하고 차이점을 살펴본다</a:t>
            </a:r>
            <a:r>
              <a:rPr lang="en-US" altLang="ko-KR" dirty="0"/>
              <a:t>.</a:t>
            </a:r>
          </a:p>
          <a:p>
            <a:pPr lvl="0" indent="-457200">
              <a:spcBef>
                <a:spcPts val="0"/>
              </a:spcBef>
            </a:pPr>
            <a:r>
              <a:rPr lang="ko-KR" altLang="en-US" dirty="0"/>
              <a:t>값 전달 방식과 참조 전달 방식을 이해한다</a:t>
            </a:r>
            <a:r>
              <a:rPr lang="en-US" altLang="ko-KR" dirty="0"/>
              <a:t>. </a:t>
            </a:r>
          </a:p>
          <a:p>
            <a:pPr lvl="0" indent="-457200">
              <a:spcBef>
                <a:spcPts val="0"/>
              </a:spcBef>
            </a:pPr>
            <a:r>
              <a:rPr lang="ko-KR" altLang="en-US" dirty="0"/>
              <a:t>재귀 호출의 장점과 주의할 점을 살펴본다</a:t>
            </a:r>
            <a:r>
              <a:rPr lang="en-US" altLang="ko-KR" dirty="0"/>
              <a:t>. </a:t>
            </a:r>
          </a:p>
          <a:p>
            <a:pPr lvl="0" indent="-457200">
              <a:spcBef>
                <a:spcPts val="0"/>
              </a:spcBef>
            </a:pPr>
            <a:r>
              <a:rPr lang="ko-KR" altLang="en-US" dirty="0"/>
              <a:t>객체의 가시 범위와 생명 주기의 개념을 이해한다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4000"/>
            </a:pPr>
            <a:r>
              <a:rPr lang="ko-KR" altLang="en-US" dirty="0"/>
              <a:t>함수의 정의와 선언</a:t>
            </a:r>
            <a:endParaRPr dirty="0"/>
          </a:p>
        </p:txBody>
      </p:sp>
      <p:sp>
        <p:nvSpPr>
          <p:cNvPr id="82" name="Google Shape;82;p4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/>
              <a:t>01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함수의 정의와 선언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Malgun Gothic"/>
              <a:buAutoNum type="romanUcPeriod"/>
            </a:pPr>
            <a:r>
              <a:rPr lang="ko-KR" altLang="en-US" sz="2400" dirty="0"/>
              <a:t>함수의 정의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함수의 정의 형식</a:t>
            </a: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함수 정의 형식의 구성 요소</a:t>
            </a:r>
            <a:endParaRPr lang="en-US" altLang="ko-KR"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반환형 </a:t>
            </a:r>
            <a:r>
              <a:rPr lang="en-US" altLang="ko-KR" dirty="0"/>
              <a:t>: </a:t>
            </a:r>
            <a:r>
              <a:rPr lang="ko-KR" altLang="en-US" dirty="0"/>
              <a:t>함수가 반환될 때 반환 값의 타입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 err="1"/>
              <a:t>함수명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함수의 이름으로 </a:t>
            </a:r>
            <a:r>
              <a:rPr lang="ko-KR" altLang="en-US" dirty="0" err="1"/>
              <a:t>식별자</a:t>
            </a:r>
            <a:r>
              <a:rPr lang="ko-KR" altLang="en-US" dirty="0"/>
              <a:t> 규칙을 따름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매개변수타입 </a:t>
            </a:r>
            <a:r>
              <a:rPr lang="en-US" altLang="ko-KR" dirty="0"/>
              <a:t>: </a:t>
            </a:r>
            <a:r>
              <a:rPr lang="ko-KR" altLang="en-US" dirty="0"/>
              <a:t>함수를 호출하면서 데이터를 함수에 전달할 때 전달되는 데이터를 인자라고 하는데</a:t>
            </a:r>
            <a:r>
              <a:rPr lang="en-US" altLang="ko-KR" dirty="0"/>
              <a:t>, </a:t>
            </a:r>
            <a:r>
              <a:rPr lang="ko-KR" altLang="en-US" dirty="0"/>
              <a:t>인자를 전달받는 매개변수의 타입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매개변수 </a:t>
            </a:r>
            <a:r>
              <a:rPr lang="en-US" altLang="ko-KR" dirty="0"/>
              <a:t>: </a:t>
            </a:r>
            <a:r>
              <a:rPr lang="ko-KR" altLang="en-US" dirty="0"/>
              <a:t>매개변수의 이름</a:t>
            </a:r>
            <a:endParaRPr lang="en-US" altLang="ko-K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509" y="2032523"/>
            <a:ext cx="7014332" cy="1307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함수의 정의와 선언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Malgun Gothic"/>
              <a:buAutoNum type="romanUcPeriod"/>
            </a:pPr>
            <a:r>
              <a:rPr lang="ko-KR" altLang="en-US" sz="2400" dirty="0"/>
              <a:t>함수의 정의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함수 정의하기</a:t>
            </a:r>
            <a:endParaRPr lang="en-US" altLang="ko-KR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978033" y="2087851"/>
            <a:ext cx="525131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8-1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급수 함수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3560438852"/>
              </p:ext>
            </p:extLst>
          </p:nvPr>
        </p:nvGraphicFramePr>
        <p:xfrm>
          <a:off x="1068069" y="2451204"/>
          <a:ext cx="6779261" cy="411614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  <a:endParaRPr lang="en-US" altLang="ko-KR" sz="13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Sum(</a:t>
                      </a: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from, </a:t>
                      </a: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to)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sum = 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300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from; </a:t>
                      </a:r>
                      <a:r>
                        <a:rPr lang="en-US" altLang="ko-KR" sz="1300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&lt;= to; </a:t>
                      </a:r>
                      <a:r>
                        <a:rPr lang="en-US" altLang="ko-KR" sz="1300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++)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sum += </a:t>
                      </a:r>
                      <a:r>
                        <a:rPr lang="en-US" altLang="ko-KR" sz="1300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sum;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"Complete!"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 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 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result = Sum(1, 100);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"Sum: %d"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result);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Picture 2">
            <a:extLst>
              <a:ext uri="{FF2B5EF4-FFF2-40B4-BE49-F238E27FC236}">
                <a16:creationId xmlns:a16="http://schemas.microsoft.com/office/drawing/2014/main" id="{71D2C803-FC06-4507-912E-35B16988BE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404"/>
          <a:stretch/>
        </p:blipFill>
        <p:spPr bwMode="auto">
          <a:xfrm>
            <a:off x="5889885" y="2535368"/>
            <a:ext cx="1873371" cy="508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0236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함수의 정의와 선언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Malgun Gothic"/>
              <a:buAutoNum type="romanUcPeriod"/>
            </a:pPr>
            <a:r>
              <a:rPr lang="ko-KR" altLang="en-US" sz="2400" dirty="0"/>
              <a:t>함수의 정의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void </a:t>
            </a:r>
            <a:r>
              <a:rPr lang="ko-KR" altLang="en-US" b="1" dirty="0"/>
              <a:t>함수</a:t>
            </a:r>
            <a:endParaRPr lang="en-US" altLang="ko-KR"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함수가 반환할 때 반환 값이 없는 경우 반환 타입으로 </a:t>
            </a:r>
            <a:r>
              <a:rPr lang="en-US" altLang="ko-KR" dirty="0"/>
              <a:t>void</a:t>
            </a:r>
            <a:r>
              <a:rPr lang="ko-KR" altLang="en-US" dirty="0"/>
              <a:t>를 사용함</a:t>
            </a:r>
            <a:endParaRPr lang="en-US" altLang="ko-KR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978033" y="2573626"/>
            <a:ext cx="525131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8-2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en-US" altLang="ko-KR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void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함수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1100044143"/>
              </p:ext>
            </p:extLst>
          </p:nvPr>
        </p:nvGraphicFramePr>
        <p:xfrm>
          <a:off x="1068069" y="2936979"/>
          <a:ext cx="6779261" cy="3145546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f(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"f 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함수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g(void)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"g 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함수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6912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함수의 정의와 선언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Malgun Gothic"/>
              <a:buAutoNum type="romanUcPeriod"/>
            </a:pPr>
            <a:r>
              <a:rPr lang="ko-KR" altLang="en-US" sz="2400" dirty="0"/>
              <a:t>함수의 정의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void </a:t>
            </a:r>
            <a:r>
              <a:rPr lang="ko-KR" altLang="en-US" b="1" dirty="0"/>
              <a:t>함수</a:t>
            </a:r>
            <a:endParaRPr lang="en-US" altLang="ko-KR"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함수가 반환할 때 반환 값이 없는 경우 반환 타입으로 </a:t>
            </a:r>
            <a:r>
              <a:rPr lang="en-US" altLang="ko-KR" dirty="0"/>
              <a:t>void</a:t>
            </a:r>
            <a:r>
              <a:rPr lang="ko-KR" altLang="en-US" dirty="0"/>
              <a:t>를 사용함</a:t>
            </a:r>
            <a:endParaRPr lang="en-US" altLang="ko-KR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978033" y="2573626"/>
            <a:ext cx="525131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8-2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en-US" altLang="ko-KR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void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함수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2403311863"/>
              </p:ext>
            </p:extLst>
          </p:nvPr>
        </p:nvGraphicFramePr>
        <p:xfrm>
          <a:off x="1068069" y="2936979"/>
          <a:ext cx="6779261" cy="160935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f();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g();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727" y="4682593"/>
            <a:ext cx="7020245" cy="502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1042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함수의 정의와 선언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Malgun Gothic"/>
              <a:buAutoNum type="romanUcPeriod"/>
            </a:pPr>
            <a:r>
              <a:rPr lang="ko-KR" altLang="en-US" sz="2400" dirty="0"/>
              <a:t>함수의 정의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함수 중복 정의</a:t>
            </a:r>
            <a:endParaRPr lang="en-US" altLang="ko-KR"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함수를 이름으로 구분하기 때문에 같은 이름으로 중복 정의하는 것을 허용하지 않음</a:t>
            </a:r>
          </a:p>
        </p:txBody>
      </p:sp>
      <p:sp>
        <p:nvSpPr>
          <p:cNvPr id="5" name="Google Shape;102;p7"/>
          <p:cNvSpPr txBox="1"/>
          <p:nvPr/>
        </p:nvSpPr>
        <p:spPr>
          <a:xfrm>
            <a:off x="978033" y="2897476"/>
            <a:ext cx="525131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8-3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함수 중복 정의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2970711217"/>
              </p:ext>
            </p:extLst>
          </p:nvPr>
        </p:nvGraphicFramePr>
        <p:xfrm>
          <a:off x="1068069" y="3260829"/>
          <a:ext cx="6779261" cy="3145546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arg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return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9" name="그룹 8"/>
          <p:cNvGrpSpPr/>
          <p:nvPr/>
        </p:nvGrpSpPr>
        <p:grpSpPr>
          <a:xfrm>
            <a:off x="3381375" y="4391025"/>
            <a:ext cx="1133475" cy="228600"/>
            <a:chOff x="3381375" y="4391025"/>
            <a:chExt cx="1133475" cy="228600"/>
          </a:xfrm>
        </p:grpSpPr>
        <p:cxnSp>
          <p:nvCxnSpPr>
            <p:cNvPr id="7" name="직선 화살표 연결선 6"/>
            <p:cNvCxnSpPr/>
            <p:nvPr/>
          </p:nvCxnSpPr>
          <p:spPr>
            <a:xfrm flipH="1">
              <a:off x="3381375" y="4495800"/>
              <a:ext cx="361950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직사각형 7"/>
            <p:cNvSpPr/>
            <p:nvPr/>
          </p:nvSpPr>
          <p:spPr>
            <a:xfrm>
              <a:off x="3743325" y="4391025"/>
              <a:ext cx="771525" cy="2286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rgbClr val="FF0000"/>
                  </a:solidFill>
                </a:rPr>
                <a:t>오류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2643187" y="5391150"/>
            <a:ext cx="1133475" cy="228600"/>
            <a:chOff x="3381375" y="4391025"/>
            <a:chExt cx="1133475" cy="228600"/>
          </a:xfrm>
        </p:grpSpPr>
        <p:cxnSp>
          <p:nvCxnSpPr>
            <p:cNvPr id="13" name="직선 화살표 연결선 12"/>
            <p:cNvCxnSpPr/>
            <p:nvPr/>
          </p:nvCxnSpPr>
          <p:spPr>
            <a:xfrm flipH="1">
              <a:off x="3381375" y="4495800"/>
              <a:ext cx="361950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직사각형 13"/>
            <p:cNvSpPr/>
            <p:nvPr/>
          </p:nvSpPr>
          <p:spPr>
            <a:xfrm>
              <a:off x="3743325" y="4391025"/>
              <a:ext cx="771525" cy="2286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rgbClr val="FF0000"/>
                  </a:solidFill>
                </a:rPr>
                <a:t>오류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73427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함수의 정의와 선언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함수의 선언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함수 선언의 개념</a:t>
            </a:r>
            <a:endParaRPr lang="en-US" altLang="ko-KR"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함수 정의에서 함수 본체를 없애고 끝에 세미콜론</a:t>
            </a:r>
            <a:r>
              <a:rPr lang="en-US" altLang="ko-KR" dirty="0"/>
              <a:t>(;)</a:t>
            </a:r>
            <a:r>
              <a:rPr lang="ko-KR" altLang="en-US" dirty="0"/>
              <a:t>이 붙는 선언문</a:t>
            </a:r>
            <a:endParaRPr lang="en-US" altLang="ko-K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669" y="2541204"/>
            <a:ext cx="7079387" cy="585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 descr="C:\Users\변소현\Desktop\난생처음 C 언어 프로그래밍\그림\Ch8\그림 8-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737" y="3476625"/>
            <a:ext cx="3070225" cy="2865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6348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함수의 정의와 선언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함수를 선언하지 않을 경우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함수 선언이 필요한 이유</a:t>
            </a:r>
            <a:endParaRPr lang="en-US" altLang="ko-KR" b="1" dirty="0"/>
          </a:p>
        </p:txBody>
      </p:sp>
      <p:sp>
        <p:nvSpPr>
          <p:cNvPr id="6" name="Google Shape;102;p7"/>
          <p:cNvSpPr txBox="1"/>
          <p:nvPr/>
        </p:nvSpPr>
        <p:spPr>
          <a:xfrm>
            <a:off x="978033" y="2154526"/>
            <a:ext cx="525131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8-4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경고와 오류</a:t>
            </a:r>
            <a:endParaRPr dirty="0"/>
          </a:p>
        </p:txBody>
      </p:sp>
      <p:graphicFrame>
        <p:nvGraphicFramePr>
          <p:cNvPr id="7" name="Google Shape;104;p7"/>
          <p:cNvGraphicFramePr/>
          <p:nvPr>
            <p:extLst>
              <p:ext uri="{D42A27DB-BD31-4B8C-83A1-F6EECF244321}">
                <p14:modId xmlns:p14="http://schemas.microsoft.com/office/powerpoint/2010/main" val="754064361"/>
              </p:ext>
            </p:extLst>
          </p:nvPr>
        </p:nvGraphicFramePr>
        <p:xfrm>
          <a:off x="1068069" y="2517879"/>
          <a:ext cx="6779261" cy="1180022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8" name="그룹 7"/>
          <p:cNvGrpSpPr/>
          <p:nvPr/>
        </p:nvGrpSpPr>
        <p:grpSpPr>
          <a:xfrm>
            <a:off x="2643187" y="3114675"/>
            <a:ext cx="1966913" cy="228600"/>
            <a:chOff x="3381375" y="4391025"/>
            <a:chExt cx="1966913" cy="228600"/>
          </a:xfrm>
        </p:grpSpPr>
        <p:cxnSp>
          <p:nvCxnSpPr>
            <p:cNvPr id="9" name="직선 화살표 연결선 8"/>
            <p:cNvCxnSpPr/>
            <p:nvPr/>
          </p:nvCxnSpPr>
          <p:spPr>
            <a:xfrm flipH="1">
              <a:off x="3381375" y="4495800"/>
              <a:ext cx="361950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직사각형 9"/>
            <p:cNvSpPr/>
            <p:nvPr/>
          </p:nvSpPr>
          <p:spPr>
            <a:xfrm>
              <a:off x="3743325" y="4391025"/>
              <a:ext cx="1604963" cy="2286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FF0000"/>
                  </a:solidFill>
                </a:rPr>
                <a:t>경고와 오류 발생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3902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함수의 정의와 선언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함수를 선언하지 않을 경우</a:t>
            </a:r>
            <a:endParaRPr lang="en-US" altLang="ko-KR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함수 선언이 필요한 이유</a:t>
            </a:r>
            <a:endParaRPr lang="en-US" altLang="ko-KR" b="1" dirty="0"/>
          </a:p>
        </p:txBody>
      </p:sp>
      <p:sp>
        <p:nvSpPr>
          <p:cNvPr id="6" name="Google Shape;102;p7"/>
          <p:cNvSpPr txBox="1"/>
          <p:nvPr/>
        </p:nvSpPr>
        <p:spPr>
          <a:xfrm>
            <a:off x="978033" y="2154526"/>
            <a:ext cx="525131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8-5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경고</a:t>
            </a:r>
            <a:endParaRPr dirty="0"/>
          </a:p>
        </p:txBody>
      </p:sp>
      <p:graphicFrame>
        <p:nvGraphicFramePr>
          <p:cNvPr id="7" name="Google Shape;104;p7"/>
          <p:cNvGraphicFramePr/>
          <p:nvPr>
            <p:extLst>
              <p:ext uri="{D42A27DB-BD31-4B8C-83A1-F6EECF244321}">
                <p14:modId xmlns:p14="http://schemas.microsoft.com/office/powerpoint/2010/main" val="1710972691"/>
              </p:ext>
            </p:extLst>
          </p:nvPr>
        </p:nvGraphicFramePr>
        <p:xfrm>
          <a:off x="1068069" y="2517879"/>
          <a:ext cx="6779261" cy="2377450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();    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경고</a:t>
                      </a:r>
                      <a:endParaRPr lang="en-US" altLang="ko-KR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1;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4456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함수의 정의와 선언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함수를 선언하지 않을 경우</a:t>
            </a:r>
            <a:endParaRPr lang="en-US" altLang="ko-KR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함수 선언이 필요한 이유</a:t>
            </a:r>
            <a:endParaRPr lang="en-US" altLang="ko-KR" b="1" dirty="0"/>
          </a:p>
        </p:txBody>
      </p:sp>
      <p:sp>
        <p:nvSpPr>
          <p:cNvPr id="6" name="Google Shape;102;p7"/>
          <p:cNvSpPr txBox="1"/>
          <p:nvPr/>
        </p:nvSpPr>
        <p:spPr>
          <a:xfrm>
            <a:off x="978033" y="2154526"/>
            <a:ext cx="525131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8-6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재정의 오류</a:t>
            </a:r>
            <a:endParaRPr dirty="0"/>
          </a:p>
        </p:txBody>
      </p:sp>
      <p:graphicFrame>
        <p:nvGraphicFramePr>
          <p:cNvPr id="7" name="Google Shape;104;p7"/>
          <p:cNvGraphicFramePr/>
          <p:nvPr>
            <p:extLst>
              <p:ext uri="{D42A27DB-BD31-4B8C-83A1-F6EECF244321}">
                <p14:modId xmlns:p14="http://schemas.microsoft.com/office/powerpoint/2010/main" val="3195671125"/>
              </p:ext>
            </p:extLst>
          </p:nvPr>
        </p:nvGraphicFramePr>
        <p:xfrm>
          <a:off x="1068069" y="2517879"/>
          <a:ext cx="6779261" cy="2121418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();    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경고</a:t>
                      </a:r>
                      <a:endParaRPr lang="en-US" altLang="ko-KR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8" name="그룹 7"/>
          <p:cNvGrpSpPr/>
          <p:nvPr/>
        </p:nvGrpSpPr>
        <p:grpSpPr>
          <a:xfrm>
            <a:off x="2789303" y="3886200"/>
            <a:ext cx="1133475" cy="228600"/>
            <a:chOff x="3381375" y="4391025"/>
            <a:chExt cx="1133475" cy="228600"/>
          </a:xfrm>
        </p:grpSpPr>
        <p:cxnSp>
          <p:nvCxnSpPr>
            <p:cNvPr id="9" name="직선 화살표 연결선 8"/>
            <p:cNvCxnSpPr/>
            <p:nvPr/>
          </p:nvCxnSpPr>
          <p:spPr>
            <a:xfrm flipH="1">
              <a:off x="3381375" y="4495800"/>
              <a:ext cx="361950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직사각형 9"/>
            <p:cNvSpPr/>
            <p:nvPr/>
          </p:nvSpPr>
          <p:spPr>
            <a:xfrm>
              <a:off x="3743325" y="4391025"/>
              <a:ext cx="771525" cy="2286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rgbClr val="FF0000"/>
                  </a:solidFill>
                </a:rPr>
                <a:t>오류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1539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함수의 정의와 선언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함수를 선언하지 않을 경우</a:t>
            </a:r>
            <a:endParaRPr lang="en-US" altLang="ko-KR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해결방법 ➊</a:t>
            </a:r>
            <a:r>
              <a:rPr lang="en-US" altLang="ko-KR" b="1" dirty="0"/>
              <a:t> </a:t>
            </a:r>
            <a:r>
              <a:rPr lang="ko-KR" altLang="en-US" b="1" dirty="0"/>
              <a:t>함수를 먼저 정의하기</a:t>
            </a:r>
            <a:endParaRPr lang="en-US" altLang="ko-KR" b="1" dirty="0"/>
          </a:p>
        </p:txBody>
      </p:sp>
      <p:sp>
        <p:nvSpPr>
          <p:cNvPr id="6" name="Google Shape;102;p7"/>
          <p:cNvSpPr txBox="1"/>
          <p:nvPr/>
        </p:nvSpPr>
        <p:spPr>
          <a:xfrm>
            <a:off x="978033" y="2154526"/>
            <a:ext cx="525131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8-7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함수를 먼저 정의하기</a:t>
            </a:r>
            <a:endParaRPr dirty="0"/>
          </a:p>
        </p:txBody>
      </p:sp>
      <p:graphicFrame>
        <p:nvGraphicFramePr>
          <p:cNvPr id="7" name="Google Shape;104;p7"/>
          <p:cNvGraphicFramePr/>
          <p:nvPr>
            <p:extLst>
              <p:ext uri="{D42A27DB-BD31-4B8C-83A1-F6EECF244321}">
                <p14:modId xmlns:p14="http://schemas.microsoft.com/office/powerpoint/2010/main" val="1363905571"/>
              </p:ext>
            </p:extLst>
          </p:nvPr>
        </p:nvGraphicFramePr>
        <p:xfrm>
          <a:off x="1068069" y="2517879"/>
          <a:ext cx="6779261" cy="2121418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8642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485900" y="2590800"/>
            <a:ext cx="1238250" cy="219075"/>
          </a:xfrm>
          <a:prstGeom prst="rect">
            <a:avLst/>
          </a:prstGeom>
          <a:solidFill>
            <a:srgbClr val="F7F4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함수의 정의와 선언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함수를 선언하지 않을 경우</a:t>
            </a:r>
            <a:endParaRPr lang="en-US" altLang="ko-KR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해결방법 ➋</a:t>
            </a:r>
            <a:r>
              <a:rPr lang="en-US" altLang="ko-KR" b="1" dirty="0"/>
              <a:t> </a:t>
            </a:r>
            <a:r>
              <a:rPr lang="ko-KR" altLang="en-US" b="1" dirty="0"/>
              <a:t>함수 선언하기</a:t>
            </a:r>
            <a:endParaRPr lang="en-US" altLang="ko-KR" b="1" dirty="0"/>
          </a:p>
        </p:txBody>
      </p:sp>
      <p:sp>
        <p:nvSpPr>
          <p:cNvPr id="6" name="Google Shape;102;p7"/>
          <p:cNvSpPr txBox="1"/>
          <p:nvPr/>
        </p:nvSpPr>
        <p:spPr>
          <a:xfrm>
            <a:off x="978033" y="2154526"/>
            <a:ext cx="525131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8-8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함수 정의 </a:t>
            </a:r>
            <a:r>
              <a:rPr lang="en-US" altLang="ko-KR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&amp;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함수 호출</a:t>
            </a:r>
            <a:endParaRPr dirty="0"/>
          </a:p>
        </p:txBody>
      </p:sp>
      <p:graphicFrame>
        <p:nvGraphicFramePr>
          <p:cNvPr id="7" name="Google Shape;104;p7"/>
          <p:cNvGraphicFramePr/>
          <p:nvPr>
            <p:extLst>
              <p:ext uri="{D42A27DB-BD31-4B8C-83A1-F6EECF244321}">
                <p14:modId xmlns:p14="http://schemas.microsoft.com/office/powerpoint/2010/main" val="207410179"/>
              </p:ext>
            </p:extLst>
          </p:nvPr>
        </p:nvGraphicFramePr>
        <p:xfrm>
          <a:off x="1068069" y="2517879"/>
          <a:ext cx="6779261" cy="2633482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8" name="그룹 7"/>
          <p:cNvGrpSpPr/>
          <p:nvPr/>
        </p:nvGrpSpPr>
        <p:grpSpPr>
          <a:xfrm>
            <a:off x="2983044" y="2600325"/>
            <a:ext cx="1417506" cy="219075"/>
            <a:chOff x="3381375" y="4391025"/>
            <a:chExt cx="1417506" cy="219075"/>
          </a:xfrm>
        </p:grpSpPr>
        <p:cxnSp>
          <p:nvCxnSpPr>
            <p:cNvPr id="9" name="직선 화살표 연결선 8"/>
            <p:cNvCxnSpPr/>
            <p:nvPr/>
          </p:nvCxnSpPr>
          <p:spPr>
            <a:xfrm flipH="1">
              <a:off x="3381375" y="4495800"/>
              <a:ext cx="361950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직사각형 9"/>
            <p:cNvSpPr/>
            <p:nvPr/>
          </p:nvSpPr>
          <p:spPr>
            <a:xfrm>
              <a:off x="3743325" y="4391025"/>
              <a:ext cx="1055556" cy="21907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rgbClr val="FF0000"/>
                  </a:solidFill>
                </a:rPr>
                <a:t>함수</a:t>
              </a:r>
              <a:r>
                <a:rPr lang="en-US" altLang="ko-KR" dirty="0">
                  <a:solidFill>
                    <a:srgbClr val="FF0000"/>
                  </a:solidFill>
                </a:rPr>
                <a:t> </a:t>
              </a:r>
              <a:r>
                <a:rPr lang="ko-KR" altLang="en-US" dirty="0">
                  <a:solidFill>
                    <a:srgbClr val="FF0000"/>
                  </a:solidFill>
                </a:rPr>
                <a:t>선언</a:t>
              </a:r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2724150" y="3629025"/>
            <a:ext cx="1417506" cy="219075"/>
            <a:chOff x="3381375" y="4391025"/>
            <a:chExt cx="1417506" cy="219075"/>
          </a:xfrm>
        </p:grpSpPr>
        <p:cxnSp>
          <p:nvCxnSpPr>
            <p:cNvPr id="12" name="직선 화살표 연결선 11"/>
            <p:cNvCxnSpPr/>
            <p:nvPr/>
          </p:nvCxnSpPr>
          <p:spPr>
            <a:xfrm flipH="1">
              <a:off x="3381375" y="4495800"/>
              <a:ext cx="361950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직사각형 12"/>
            <p:cNvSpPr/>
            <p:nvPr/>
          </p:nvSpPr>
          <p:spPr>
            <a:xfrm>
              <a:off x="3743325" y="4391025"/>
              <a:ext cx="1055556" cy="21907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FF0000"/>
                  </a:solidFill>
                </a:rPr>
                <a:t>함수</a:t>
              </a:r>
              <a:r>
                <a:rPr lang="en-US" altLang="ko-KR" dirty="0">
                  <a:solidFill>
                    <a:srgbClr val="FF0000"/>
                  </a:solidFill>
                </a:rPr>
                <a:t> </a:t>
              </a:r>
              <a:r>
                <a:rPr lang="ko-KR" altLang="en-US" dirty="0">
                  <a:solidFill>
                    <a:srgbClr val="FF0000"/>
                  </a:solidFill>
                </a:rPr>
                <a:t>호출</a:t>
              </a:r>
            </a:p>
          </p:txBody>
        </p:sp>
      </p:grpSp>
      <p:grpSp>
        <p:nvGrpSpPr>
          <p:cNvPr id="14" name="그룹 13"/>
          <p:cNvGrpSpPr/>
          <p:nvPr/>
        </p:nvGrpSpPr>
        <p:grpSpPr>
          <a:xfrm>
            <a:off x="2724150" y="4400550"/>
            <a:ext cx="1417506" cy="219075"/>
            <a:chOff x="3381375" y="4391025"/>
            <a:chExt cx="1417506" cy="219075"/>
          </a:xfrm>
        </p:grpSpPr>
        <p:cxnSp>
          <p:nvCxnSpPr>
            <p:cNvPr id="15" name="직선 화살표 연결선 14"/>
            <p:cNvCxnSpPr/>
            <p:nvPr/>
          </p:nvCxnSpPr>
          <p:spPr>
            <a:xfrm flipH="1">
              <a:off x="3381375" y="4495800"/>
              <a:ext cx="361950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직사각형 15"/>
            <p:cNvSpPr/>
            <p:nvPr/>
          </p:nvSpPr>
          <p:spPr>
            <a:xfrm>
              <a:off x="3743325" y="4391025"/>
              <a:ext cx="1055556" cy="21907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FF0000"/>
                  </a:solidFill>
                </a:rPr>
                <a:t>함수</a:t>
              </a:r>
              <a:r>
                <a:rPr lang="en-US" altLang="ko-KR" dirty="0">
                  <a:solidFill>
                    <a:srgbClr val="FF0000"/>
                  </a:solidFill>
                </a:rPr>
                <a:t> </a:t>
              </a:r>
              <a:r>
                <a:rPr lang="ko-KR" altLang="en-US" dirty="0">
                  <a:solidFill>
                    <a:srgbClr val="FF0000"/>
                  </a:solidFill>
                </a:rPr>
                <a:t>정의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0546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함수의 정의와 선언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4"/>
            </a:pPr>
            <a:r>
              <a:rPr lang="ko-KR" altLang="en-US" sz="2400" dirty="0"/>
              <a:t>함수 선언이 반드시 필요한 경우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함수가 서로를 호출하는 경우</a:t>
            </a:r>
            <a:endParaRPr lang="en-US" altLang="ko-KR" b="1" dirty="0"/>
          </a:p>
        </p:txBody>
      </p:sp>
      <p:sp>
        <p:nvSpPr>
          <p:cNvPr id="6" name="Google Shape;102;p7"/>
          <p:cNvSpPr txBox="1"/>
          <p:nvPr/>
        </p:nvSpPr>
        <p:spPr>
          <a:xfrm>
            <a:off x="978033" y="2154526"/>
            <a:ext cx="525131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8-9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서로 호출하는 함수</a:t>
            </a:r>
            <a:endParaRPr dirty="0"/>
          </a:p>
        </p:txBody>
      </p:sp>
      <p:graphicFrame>
        <p:nvGraphicFramePr>
          <p:cNvPr id="7" name="Google Shape;104;p7"/>
          <p:cNvGraphicFramePr/>
          <p:nvPr>
            <p:extLst>
              <p:ext uri="{D42A27DB-BD31-4B8C-83A1-F6EECF244321}">
                <p14:modId xmlns:p14="http://schemas.microsoft.com/office/powerpoint/2010/main" val="595318797"/>
              </p:ext>
            </p:extLst>
          </p:nvPr>
        </p:nvGraphicFramePr>
        <p:xfrm>
          <a:off x="1068069" y="2517879"/>
          <a:ext cx="6779261" cy="3657610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funcA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funcB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();   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경고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funcB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funcA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 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funcA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1" name="그룹 10"/>
          <p:cNvGrpSpPr/>
          <p:nvPr/>
        </p:nvGrpSpPr>
        <p:grpSpPr>
          <a:xfrm>
            <a:off x="2817878" y="3886200"/>
            <a:ext cx="1133475" cy="228600"/>
            <a:chOff x="3381375" y="4391025"/>
            <a:chExt cx="1133475" cy="228600"/>
          </a:xfrm>
        </p:grpSpPr>
        <p:cxnSp>
          <p:nvCxnSpPr>
            <p:cNvPr id="12" name="직선 화살표 연결선 11"/>
            <p:cNvCxnSpPr/>
            <p:nvPr/>
          </p:nvCxnSpPr>
          <p:spPr>
            <a:xfrm flipH="1">
              <a:off x="3381375" y="4495800"/>
              <a:ext cx="361950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직사각형 12"/>
            <p:cNvSpPr/>
            <p:nvPr/>
          </p:nvSpPr>
          <p:spPr>
            <a:xfrm>
              <a:off x="3743325" y="4391025"/>
              <a:ext cx="771525" cy="2286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rgbClr val="FF0000"/>
                  </a:solidFill>
                </a:rPr>
                <a:t>오류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09756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함수의 정의와 선언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4"/>
            </a:pPr>
            <a:r>
              <a:rPr lang="ko-KR" altLang="en-US" sz="2400" dirty="0"/>
              <a:t>함수 선언이 반드시 필요한 경우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함수가 서로를 호출하는 경우</a:t>
            </a:r>
            <a:endParaRPr lang="en-US" altLang="ko-KR" b="1" dirty="0"/>
          </a:p>
        </p:txBody>
      </p:sp>
      <p:sp>
        <p:nvSpPr>
          <p:cNvPr id="6" name="Google Shape;102;p7"/>
          <p:cNvSpPr txBox="1"/>
          <p:nvPr/>
        </p:nvSpPr>
        <p:spPr>
          <a:xfrm>
            <a:off x="978033" y="2154526"/>
            <a:ext cx="525131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8-10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서로 호출하는 함수 오류 해결</a:t>
            </a:r>
            <a:endParaRPr dirty="0"/>
          </a:p>
        </p:txBody>
      </p:sp>
      <p:graphicFrame>
        <p:nvGraphicFramePr>
          <p:cNvPr id="7" name="Google Shape;104;p7"/>
          <p:cNvGraphicFramePr/>
          <p:nvPr>
            <p:extLst>
              <p:ext uri="{D42A27DB-BD31-4B8C-83A1-F6EECF244321}">
                <p14:modId xmlns:p14="http://schemas.microsoft.com/office/powerpoint/2010/main" val="1443226707"/>
              </p:ext>
            </p:extLst>
          </p:nvPr>
        </p:nvGraphicFramePr>
        <p:xfrm>
          <a:off x="1068069" y="2517879"/>
          <a:ext cx="6779261" cy="416967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funcB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funcA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funcB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();</a:t>
                      </a:r>
                      <a:endParaRPr lang="ko-KR" altLang="en-US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funcB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funcA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 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funcA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97497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함수의 정의와 선언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4"/>
            </a:pPr>
            <a:r>
              <a:rPr lang="ko-KR" altLang="en-US" sz="2400" dirty="0"/>
              <a:t>함수 선언이 반드시 필요한 경우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소스 파일이 여러 곳에 흩어져 정의되는 경우</a:t>
            </a:r>
            <a:endParaRPr lang="en-US" altLang="ko-KR" b="1" dirty="0"/>
          </a:p>
        </p:txBody>
      </p:sp>
      <p:pic>
        <p:nvPicPr>
          <p:cNvPr id="5122" name="Picture 2" descr="C:\Users\변소현\Desktop\난생처음 C 언어 프로그래밍\그림\Ch8\그림 8-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238" y="2657475"/>
            <a:ext cx="5089525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8008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함수의 정의와 선언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4"/>
            </a:pPr>
            <a:r>
              <a:rPr lang="ko-KR" altLang="en-US" sz="2400" dirty="0"/>
              <a:t>함수 선언이 반드시 필요한 경우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소스 파일이 여러 곳에 흩어져 정의되는 경우</a:t>
            </a:r>
            <a:endParaRPr lang="en-US" altLang="ko-KR" b="1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978033" y="2154526"/>
            <a:ext cx="687056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8-11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여러 개의 소스 파일                                      </a:t>
            </a:r>
            <a:r>
              <a:rPr lang="en-US" altLang="ko-KR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Function.c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3287325277"/>
              </p:ext>
            </p:extLst>
          </p:nvPr>
        </p:nvGraphicFramePr>
        <p:xfrm>
          <a:off x="1068069" y="2517879"/>
          <a:ext cx="6779261" cy="1180022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0;</a:t>
                      </a: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Google Shape;104;p7"/>
          <p:cNvGraphicFramePr/>
          <p:nvPr>
            <p:extLst>
              <p:ext uri="{D42A27DB-BD31-4B8C-83A1-F6EECF244321}">
                <p14:modId xmlns:p14="http://schemas.microsoft.com/office/powerpoint/2010/main" val="1194097890"/>
              </p:ext>
            </p:extLst>
          </p:nvPr>
        </p:nvGraphicFramePr>
        <p:xfrm>
          <a:off x="1069339" y="4137129"/>
          <a:ext cx="6779261" cy="1180022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*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();     </a:t>
                      </a:r>
                      <a:r>
                        <a:rPr lang="en-US" altLang="ko-KR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</a:t>
                      </a:r>
                      <a:r>
                        <a:rPr lang="ko-KR" altLang="en-US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 오류 발생</a:t>
                      </a:r>
                      <a:endParaRPr lang="en-US" altLang="ko-KR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Google Shape;102;p7"/>
          <p:cNvSpPr txBox="1"/>
          <p:nvPr/>
        </p:nvSpPr>
        <p:spPr>
          <a:xfrm>
            <a:off x="978032" y="3811876"/>
            <a:ext cx="687056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Main.c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78245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함수의 정의와 선언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4"/>
            </a:pPr>
            <a:r>
              <a:rPr lang="ko-KR" altLang="en-US" sz="2400" dirty="0"/>
              <a:t>함수 선언이 반드시 필요한 경우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소스 파일이 여러 곳에 흩어져 정의되는 경우</a:t>
            </a:r>
            <a:endParaRPr lang="en-US" altLang="ko-KR" b="1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978033" y="2154526"/>
            <a:ext cx="687056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8-12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함수 선언된 </a:t>
            </a:r>
            <a:r>
              <a:rPr lang="en-US" altLang="ko-KR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Main.c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</a:t>
            </a:r>
            <a:r>
              <a:rPr lang="en-US" altLang="ko-KR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Main.c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2517326819"/>
              </p:ext>
            </p:extLst>
          </p:nvPr>
        </p:nvGraphicFramePr>
        <p:xfrm>
          <a:off x="1068069" y="2517879"/>
          <a:ext cx="6779261" cy="1865386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</a:t>
                      </a:r>
                      <a:r>
                        <a:rPr lang="en-US" altLang="ko-KR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 err="1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Main.c</a:t>
                      </a:r>
                      <a:endParaRPr lang="en-US" altLang="ko-KR" baseline="0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*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();    </a:t>
                      </a:r>
                      <a:r>
                        <a:rPr lang="en-US" altLang="ko-KR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문제 없음</a:t>
                      </a:r>
                      <a:endParaRPr lang="en-US" altLang="ko-KR" baseline="0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616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함수의 정의와 선언</a:t>
            </a:r>
            <a:endParaRPr lang="ko-KR" altLang="en-US" dirty="0"/>
          </a:p>
        </p:txBody>
      </p:sp>
      <p:sp>
        <p:nvSpPr>
          <p:cNvPr id="4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4"/>
            </a:pPr>
            <a:r>
              <a:rPr lang="ko-KR" altLang="en-US" sz="2400" dirty="0"/>
              <a:t>함수 선언이 반드시 필요한 경우</a:t>
            </a:r>
            <a:endParaRPr lang="en-US" altLang="ko-KR" dirty="0"/>
          </a:p>
        </p:txBody>
      </p:sp>
      <p:grpSp>
        <p:nvGrpSpPr>
          <p:cNvPr id="5" name="Google Shape;118;p8"/>
          <p:cNvGrpSpPr>
            <a:grpSpLocks noChangeAspect="1"/>
          </p:cNvGrpSpPr>
          <p:nvPr/>
        </p:nvGrpSpPr>
        <p:grpSpPr>
          <a:xfrm>
            <a:off x="606876" y="2629639"/>
            <a:ext cx="7958668" cy="2228111"/>
            <a:chOff x="683573" y="1844824"/>
            <a:chExt cx="7924665" cy="2862379"/>
          </a:xfrm>
        </p:grpSpPr>
        <p:sp>
          <p:nvSpPr>
            <p:cNvPr id="6" name="Google Shape;119;p8"/>
            <p:cNvSpPr/>
            <p:nvPr/>
          </p:nvSpPr>
          <p:spPr>
            <a:xfrm>
              <a:off x="688238" y="1844824"/>
              <a:ext cx="7920000" cy="2862379"/>
            </a:xfrm>
            <a:prstGeom prst="rect">
              <a:avLst/>
            </a:prstGeom>
            <a:solidFill>
              <a:srgbClr val="EAF1DD"/>
            </a:solidFill>
            <a:ln w="12700" cap="flat" cmpd="sng">
              <a:solidFill>
                <a:srgbClr val="008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20;p8"/>
            <p:cNvSpPr txBox="1"/>
            <p:nvPr/>
          </p:nvSpPr>
          <p:spPr>
            <a:xfrm>
              <a:off x="762141" y="2322932"/>
              <a:ext cx="7772192" cy="14088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447675" lvl="1" indent="-180975">
                <a:lnSpc>
                  <a:spcPct val="150000"/>
                </a:lnSpc>
                <a:spcBef>
                  <a:spcPts val="600"/>
                </a:spcBef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함수를 호출하는 파일 가장 위쪽에는 해당 함수의 선언을 하는 것이 일반적임</a:t>
              </a:r>
              <a:endPara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447675" lvl="1" indent="-180975">
                <a:lnSpc>
                  <a:spcPct val="150000"/>
                </a:lnSpc>
                <a:spcBef>
                  <a:spcPts val="600"/>
                </a:spcBef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그러나 함수의 종류가 많고 파일 위쪽에 선언되는 함수가 많아지면 </a:t>
              </a:r>
              <a:r>
                <a:rPr lang="ko-KR" altLang="en-US" sz="16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가독성이</a:t>
              </a: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떨어져 헤더 파일을 사용하기도 함</a:t>
              </a:r>
              <a:endPara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447675" lvl="1" indent="-180975">
                <a:lnSpc>
                  <a:spcPct val="150000"/>
                </a:lnSpc>
                <a:spcBef>
                  <a:spcPts val="600"/>
                </a:spcBef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헤더 파일 덕분에 간결한 소스 코드를 유지할 수 있음</a:t>
              </a:r>
              <a:endPara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" name="Google Shape;121;p8"/>
            <p:cNvSpPr/>
            <p:nvPr/>
          </p:nvSpPr>
          <p:spPr>
            <a:xfrm>
              <a:off x="683573" y="1844824"/>
              <a:ext cx="1511728" cy="432050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하나</a:t>
              </a:r>
              <a:r>
                <a:rPr lang="en-US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더 </a:t>
              </a:r>
              <a:r>
                <a:rPr lang="en-US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알기</a:t>
              </a:r>
              <a:endParaRPr sz="1200" dirty="0"/>
            </a:p>
          </p:txBody>
        </p:sp>
        <p:sp>
          <p:nvSpPr>
            <p:cNvPr id="9" name="Google Shape;122;p8"/>
            <p:cNvSpPr txBox="1"/>
            <p:nvPr/>
          </p:nvSpPr>
          <p:spPr>
            <a:xfrm>
              <a:off x="2256715" y="1862054"/>
              <a:ext cx="4699962" cy="3534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>
                <a:lnSpc>
                  <a:spcPct val="150000"/>
                </a:lnSpc>
                <a:buClr>
                  <a:srgbClr val="3C479D"/>
                </a:buClr>
                <a:buSzPts val="1800"/>
              </a:pPr>
              <a:r>
                <a:rPr lang="ko-KR" altLang="en-US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헤더 파일의 필요성</a:t>
              </a:r>
              <a:endParaRPr sz="1600" b="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45768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함수의 정의와 선언</a:t>
            </a:r>
            <a:endParaRPr lang="ko-KR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925" y="1598158"/>
            <a:ext cx="7032075" cy="3909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31326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함수의 정의와 선언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06555" y="1412679"/>
            <a:ext cx="7940903" cy="4045148"/>
            <a:chOff x="615155" y="1379937"/>
            <a:chExt cx="7940903" cy="4045148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379937"/>
              <a:ext cx="7924665" cy="4045148"/>
              <a:chOff x="683573" y="1844824"/>
              <a:chExt cx="7924665" cy="1669224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66922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5293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8-1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395971"/>
              <a:ext cx="6366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곱셈 함수와 나눗셈 함수 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775031" y="1767809"/>
              <a:ext cx="7781027" cy="10924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두 수의 곱셈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,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나눗셈을 하는 함수를 작성하고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,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두 정수를 </a:t>
              </a:r>
              <a:r>
                <a:rPr lang="ko-KR" altLang="en-US" sz="1500" dirty="0" err="1">
                  <a:latin typeface="Consolas" panose="020B0609020204030204" pitchFamily="49" charset="0"/>
                  <a:ea typeface="맑은 고딕" panose="020B0503020000020004" pitchFamily="50" charset="-127"/>
                </a:rPr>
                <a:t>입력받아서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 계산 결과를 출력하는 프로그램을 작성해봅시다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(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단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,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나눗셈의 경우 나누는 수가 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0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인 경우 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0.0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을 반환합니다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.).</a:t>
              </a:r>
              <a:endPara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226" y="3106259"/>
            <a:ext cx="6209988" cy="1153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378" y="4488144"/>
            <a:ext cx="6551244" cy="748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08438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함수의 정의와 선언</a:t>
            </a:r>
            <a:endParaRPr lang="ko-KR" altLang="en-US" dirty="0"/>
          </a:p>
        </p:txBody>
      </p:sp>
      <p:grpSp>
        <p:nvGrpSpPr>
          <p:cNvPr id="4" name="Google Shape;129;p9"/>
          <p:cNvGrpSpPr/>
          <p:nvPr/>
        </p:nvGrpSpPr>
        <p:grpSpPr>
          <a:xfrm>
            <a:off x="610295" y="1350253"/>
            <a:ext cx="7920000" cy="4698122"/>
            <a:chOff x="678713" y="1844824"/>
            <a:chExt cx="7920000" cy="138602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78713" y="1844824"/>
              <a:ext cx="7920000" cy="1386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104275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8-1</a:t>
              </a:r>
              <a:endParaRPr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26883" y="1365158"/>
            <a:ext cx="3769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정답</a:t>
            </a:r>
          </a:p>
        </p:txBody>
      </p:sp>
      <p:graphicFrame>
        <p:nvGraphicFramePr>
          <p:cNvPr id="13" name="Google Shape;104;p7"/>
          <p:cNvGraphicFramePr/>
          <p:nvPr>
            <p:extLst>
              <p:ext uri="{D42A27DB-BD31-4B8C-83A1-F6EECF244321}">
                <p14:modId xmlns:p14="http://schemas.microsoft.com/office/powerpoint/2010/main" val="3569389266"/>
              </p:ext>
            </p:extLst>
          </p:nvPr>
        </p:nvGraphicFramePr>
        <p:xfrm>
          <a:off x="871407" y="1817554"/>
          <a:ext cx="7416825" cy="4169674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8149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16</a:t>
                      </a:r>
                    </a:p>
                  </a:txBody>
                  <a:tcPr marL="91450" marR="91450"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b="1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Multiply(</a:t>
                      </a: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a, </a:t>
                      </a: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b)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 * b;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double Divide(</a:t>
                      </a:r>
                      <a:r>
                        <a:rPr lang="en-US" altLang="ko-KR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a, </a:t>
                      </a:r>
                      <a:r>
                        <a:rPr lang="en-US" altLang="ko-KR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b)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(!b)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0.0;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else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double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)a / b;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b="1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44813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함수의 정의와 선언</a:t>
            </a:r>
            <a:endParaRPr lang="ko-KR" altLang="en-US" dirty="0"/>
          </a:p>
        </p:txBody>
      </p:sp>
      <p:grpSp>
        <p:nvGrpSpPr>
          <p:cNvPr id="4" name="Google Shape;129;p9"/>
          <p:cNvGrpSpPr/>
          <p:nvPr/>
        </p:nvGrpSpPr>
        <p:grpSpPr>
          <a:xfrm>
            <a:off x="610295" y="1350253"/>
            <a:ext cx="7920000" cy="2926471"/>
            <a:chOff x="678713" y="1844824"/>
            <a:chExt cx="7920000" cy="86335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78713" y="1844824"/>
              <a:ext cx="7920000" cy="8633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104275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8-1</a:t>
              </a:r>
              <a:endParaRPr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26883" y="1365158"/>
            <a:ext cx="3769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정답</a:t>
            </a:r>
          </a:p>
        </p:txBody>
      </p:sp>
      <p:graphicFrame>
        <p:nvGraphicFramePr>
          <p:cNvPr id="13" name="Google Shape;104;p7"/>
          <p:cNvGraphicFramePr/>
          <p:nvPr>
            <p:extLst>
              <p:ext uri="{D42A27DB-BD31-4B8C-83A1-F6EECF244321}">
                <p14:modId xmlns:p14="http://schemas.microsoft.com/office/powerpoint/2010/main" val="2139953263"/>
              </p:ext>
            </p:extLst>
          </p:nvPr>
        </p:nvGraphicFramePr>
        <p:xfrm>
          <a:off x="871407" y="1817554"/>
          <a:ext cx="7416825" cy="237745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8149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25</a:t>
                      </a:r>
                    </a:p>
                  </a:txBody>
                  <a:tcPr marL="91450" marR="91450"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 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a, b;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두 정수를 공백으로 구분하여 입력하세요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US" altLang="ko-KR" b="1" baseline="0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</a:t>
                      </a:r>
                      <a:r>
                        <a:rPr lang="en-US" altLang="ko-KR" b="1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d%d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&amp;a, &amp;b);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 * %d = %d</a:t>
                      </a:r>
                      <a:r>
                        <a:rPr lang="en-US" altLang="ko-KR" b="1" baseline="0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a, b, Multiply(a, b));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 / %d = %f"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a, b, Divide(a, b));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14683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4000"/>
            </a:pPr>
            <a:r>
              <a:rPr lang="ko-KR" altLang="en-US" sz="4000" dirty="0"/>
              <a:t>함수 인자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ko-KR" altLang="en-US" dirty="0">
                <a:solidFill>
                  <a:schemeClr val="tx1"/>
                </a:solidFill>
              </a:rPr>
              <a:t>함수 인자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Malgun Gothic"/>
              <a:buAutoNum type="romanUcPeriod"/>
            </a:pPr>
            <a:r>
              <a:rPr lang="ko-KR" altLang="en-US" sz="2400" dirty="0" err="1"/>
              <a:t>실인자와</a:t>
            </a:r>
            <a:r>
              <a:rPr lang="ko-KR" altLang="en-US" sz="2400" dirty="0"/>
              <a:t> 매개변수</a:t>
            </a: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 err="1"/>
              <a:t>실인자</a:t>
            </a:r>
            <a:endParaRPr lang="en-US" altLang="ko-KR"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함수를 호출할 때 전달되는 값 자체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매개변수</a:t>
            </a:r>
            <a:endParaRPr lang="en-US" altLang="ko-KR"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 err="1"/>
              <a:t>실인자를</a:t>
            </a:r>
            <a:r>
              <a:rPr lang="ko-KR" altLang="en-US" dirty="0"/>
              <a:t> 받는 변수로서 함수 정의에서 함수 이름 옆의 괄호 안에 선언됨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610496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ko-KR" altLang="en-US" dirty="0">
                <a:solidFill>
                  <a:schemeClr val="tx1"/>
                </a:solidFill>
              </a:rPr>
              <a:t>함수 인자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Malgun Gothic"/>
              <a:buAutoNum type="romanUcPeriod"/>
            </a:pPr>
            <a:r>
              <a:rPr lang="ko-KR" altLang="en-US" sz="2400" dirty="0" err="1"/>
              <a:t>실인자와</a:t>
            </a:r>
            <a:r>
              <a:rPr lang="ko-KR" altLang="en-US" sz="2400" dirty="0"/>
              <a:t> 매개변수</a:t>
            </a:r>
            <a:endParaRPr lang="en-US" altLang="ko-KR" b="1" dirty="0"/>
          </a:p>
        </p:txBody>
      </p:sp>
      <p:sp>
        <p:nvSpPr>
          <p:cNvPr id="4" name="Google Shape;102;p7"/>
          <p:cNvSpPr txBox="1"/>
          <p:nvPr/>
        </p:nvSpPr>
        <p:spPr>
          <a:xfrm>
            <a:off x="978033" y="1706851"/>
            <a:ext cx="687056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8-13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alt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실인자와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매개변수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1585829670"/>
              </p:ext>
            </p:extLst>
          </p:nvPr>
        </p:nvGraphicFramePr>
        <p:xfrm>
          <a:off x="1068069" y="2070204"/>
          <a:ext cx="6779261" cy="3145546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Square(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num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return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num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*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num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Square(1);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 = 3;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Square(a);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75351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ko-KR" altLang="en-US" dirty="0">
                <a:solidFill>
                  <a:schemeClr val="tx1"/>
                </a:solidFill>
              </a:rPr>
              <a:t>함수 인자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값 전달</a:t>
            </a:r>
            <a:endParaRPr lang="en-US" altLang="ko-KR" dirty="0"/>
          </a:p>
        </p:txBody>
      </p:sp>
      <p:sp>
        <p:nvSpPr>
          <p:cNvPr id="4" name="Google Shape;102;p7"/>
          <p:cNvSpPr txBox="1"/>
          <p:nvPr/>
        </p:nvSpPr>
        <p:spPr>
          <a:xfrm>
            <a:off x="978033" y="1706851"/>
            <a:ext cx="687056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8-14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값 전달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3211405228"/>
              </p:ext>
            </p:extLst>
          </p:nvPr>
        </p:nvGraphicFramePr>
        <p:xfrm>
          <a:off x="1068069" y="2070204"/>
          <a:ext cx="6779261" cy="3913642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param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param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2;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arg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1;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"Before: %d</a:t>
                      </a:r>
                      <a:r>
                        <a:rPr lang="en-US" altLang="ko-KR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arg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arg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"After: %d"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arg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6258" y="2070204"/>
            <a:ext cx="1899665" cy="8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02620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ko-KR" altLang="en-US" dirty="0">
                <a:solidFill>
                  <a:schemeClr val="tx1"/>
                </a:solidFill>
              </a:rPr>
              <a:t>함수 인자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값 전달</a:t>
            </a: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인자로 배열을 사용하는 경우</a:t>
            </a:r>
            <a:endParaRPr lang="en-US" altLang="ko-KR" dirty="0"/>
          </a:p>
        </p:txBody>
      </p:sp>
      <p:sp>
        <p:nvSpPr>
          <p:cNvPr id="4" name="Google Shape;102;p7"/>
          <p:cNvSpPr txBox="1"/>
          <p:nvPr/>
        </p:nvSpPr>
        <p:spPr>
          <a:xfrm>
            <a:off x="978033" y="2091642"/>
            <a:ext cx="687056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8-15]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배열 전달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4194927289"/>
              </p:ext>
            </p:extLst>
          </p:nvPr>
        </p:nvGraphicFramePr>
        <p:xfrm>
          <a:off x="1068069" y="2454995"/>
          <a:ext cx="6779261" cy="3913642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param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[1])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param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[0] = 2;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[1] = { 1 };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"Before: %d</a:t>
                      </a:r>
                      <a:r>
                        <a:rPr lang="en-US" altLang="ko-KR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[0]);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"After: %d"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[0]);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2542" y="2520153"/>
            <a:ext cx="1803381" cy="908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91908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ko-KR" altLang="en-US" dirty="0">
                <a:solidFill>
                  <a:schemeClr val="tx1"/>
                </a:solidFill>
              </a:rPr>
              <a:t>함수 인자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가변</a:t>
            </a:r>
            <a:r>
              <a:rPr lang="en-US" altLang="ko-KR" sz="2400" dirty="0"/>
              <a:t> </a:t>
            </a:r>
            <a:r>
              <a:rPr lang="ko-KR" altLang="en-US" sz="2400" dirty="0"/>
              <a:t>인자 함수</a:t>
            </a: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가변 인자 함수의 개념</a:t>
            </a:r>
            <a:endParaRPr lang="en-US" altLang="ko-KR"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가변적인 개수의 실인자를 전달할 수 있는 함수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sz="5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가변 인자 함수의 정의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509" y="3218394"/>
            <a:ext cx="7014332" cy="1295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oogle Shape;118;p8"/>
          <p:cNvGrpSpPr>
            <a:grpSpLocks noChangeAspect="1"/>
          </p:cNvGrpSpPr>
          <p:nvPr/>
        </p:nvGrpSpPr>
        <p:grpSpPr>
          <a:xfrm>
            <a:off x="1036701" y="4748180"/>
            <a:ext cx="7180326" cy="1213896"/>
            <a:chOff x="683573" y="1844824"/>
            <a:chExt cx="7924665" cy="1886937"/>
          </a:xfrm>
        </p:grpSpPr>
        <p:sp>
          <p:nvSpPr>
            <p:cNvPr id="6" name="Google Shape;119;p8"/>
            <p:cNvSpPr/>
            <p:nvPr/>
          </p:nvSpPr>
          <p:spPr>
            <a:xfrm>
              <a:off x="688238" y="1844824"/>
              <a:ext cx="7920000" cy="1886936"/>
            </a:xfrm>
            <a:prstGeom prst="rect">
              <a:avLst/>
            </a:prstGeom>
            <a:solidFill>
              <a:srgbClr val="EAF1DD"/>
            </a:solidFill>
            <a:ln w="12700" cap="flat" cmpd="sng">
              <a:solidFill>
                <a:srgbClr val="008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20;p8"/>
            <p:cNvSpPr txBox="1"/>
            <p:nvPr/>
          </p:nvSpPr>
          <p:spPr>
            <a:xfrm>
              <a:off x="762141" y="2322932"/>
              <a:ext cx="7772192" cy="14088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447675" lvl="1" indent="-180975">
                <a:lnSpc>
                  <a:spcPct val="150000"/>
                </a:lnSpc>
                <a:spcBef>
                  <a:spcPts val="600"/>
                </a:spcBef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ko-KR" altLang="en-US" sz="15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가장 마지막 매개변수</a:t>
              </a:r>
              <a:r>
                <a:rPr lang="en-US" altLang="ko-KR" sz="15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N</a:t>
              </a:r>
              <a:r>
                <a:rPr lang="ko-KR" altLang="en-US" sz="15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은  함수에 전달된 </a:t>
              </a:r>
              <a:r>
                <a:rPr lang="ko-KR" altLang="en-US" sz="15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실인자들</a:t>
              </a:r>
              <a:r>
                <a:rPr lang="ko-KR" altLang="en-US" sz="15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중에서 매개변수 개수를 넘어서 매개변수가 받을 수 없는 </a:t>
              </a:r>
              <a:r>
                <a:rPr lang="ko-KR" altLang="en-US" sz="15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실인자를</a:t>
              </a:r>
              <a:r>
                <a:rPr lang="ko-KR" altLang="en-US" sz="15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구하기 위한 기준점이 됨</a:t>
              </a:r>
              <a:endParaRPr lang="en-US" altLang="ko-KR" sz="15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" name="Google Shape;121;p8"/>
            <p:cNvSpPr/>
            <p:nvPr/>
          </p:nvSpPr>
          <p:spPr>
            <a:xfrm>
              <a:off x="683573" y="1844824"/>
              <a:ext cx="1511728" cy="432050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하나</a:t>
              </a:r>
              <a:r>
                <a:rPr lang="en-US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더 </a:t>
              </a:r>
              <a:r>
                <a:rPr lang="en-US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알기</a:t>
              </a:r>
              <a:endParaRPr sz="1200" dirty="0"/>
            </a:p>
          </p:txBody>
        </p:sp>
        <p:sp>
          <p:nvSpPr>
            <p:cNvPr id="9" name="Google Shape;122;p8"/>
            <p:cNvSpPr txBox="1"/>
            <p:nvPr/>
          </p:nvSpPr>
          <p:spPr>
            <a:xfrm>
              <a:off x="2256715" y="1862054"/>
              <a:ext cx="4699962" cy="3534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>
                <a:lnSpc>
                  <a:spcPct val="150000"/>
                </a:lnSpc>
                <a:buClr>
                  <a:srgbClr val="3C479D"/>
                </a:buClr>
                <a:buSzPts val="1800"/>
              </a:pPr>
              <a:r>
                <a:rPr lang="ko-KR" altLang="en-US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매개변수</a:t>
              </a:r>
              <a:r>
                <a:rPr lang="en-US" altLang="ko-KR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N</a:t>
              </a:r>
              <a:r>
                <a:rPr lang="ko-KR" altLang="en-US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의 역할</a:t>
              </a:r>
              <a:endParaRPr sz="1600" b="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52795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800225" y="4991100"/>
            <a:ext cx="2971800" cy="238125"/>
          </a:xfrm>
          <a:prstGeom prst="rect">
            <a:avLst/>
          </a:prstGeom>
          <a:solidFill>
            <a:srgbClr val="F7F4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ko-KR" altLang="en-US" dirty="0">
                <a:solidFill>
                  <a:schemeClr val="tx1"/>
                </a:solidFill>
              </a:rPr>
              <a:t>함수 인자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가변</a:t>
            </a:r>
            <a:r>
              <a:rPr lang="en-US" altLang="ko-KR" sz="2400" dirty="0"/>
              <a:t> </a:t>
            </a:r>
            <a:r>
              <a:rPr lang="ko-KR" altLang="en-US" sz="2400" dirty="0"/>
              <a:t>인자 함수</a:t>
            </a: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대표적인 가변 인자 함수 </a:t>
            </a:r>
            <a:r>
              <a:rPr lang="en-US" altLang="ko-KR" b="1" dirty="0" err="1"/>
              <a:t>printf</a:t>
            </a:r>
            <a:endParaRPr lang="en-US" altLang="ko-KR" b="1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315" y="2042048"/>
            <a:ext cx="7020245" cy="1307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Google Shape;102;p7"/>
          <p:cNvSpPr txBox="1"/>
          <p:nvPr/>
        </p:nvSpPr>
        <p:spPr>
          <a:xfrm>
            <a:off x="978033" y="3517592"/>
            <a:ext cx="687056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8-16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가변 인자 전달</a:t>
            </a:r>
            <a:endParaRPr dirty="0"/>
          </a:p>
        </p:txBody>
      </p:sp>
      <p:graphicFrame>
        <p:nvGraphicFramePr>
          <p:cNvPr id="12" name="Google Shape;104;p7"/>
          <p:cNvGraphicFramePr/>
          <p:nvPr>
            <p:extLst>
              <p:ext uri="{D42A27DB-BD31-4B8C-83A1-F6EECF244321}">
                <p14:modId xmlns:p14="http://schemas.microsoft.com/office/powerpoint/2010/main" val="1154090992"/>
              </p:ext>
            </p:extLst>
          </p:nvPr>
        </p:nvGraphicFramePr>
        <p:xfrm>
          <a:off x="1068069" y="3880945"/>
          <a:ext cx="6779261" cy="160935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"%d, %d, %d"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1, 3.14);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881" y="5548372"/>
            <a:ext cx="7120787" cy="561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9182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ko-KR" altLang="en-US" dirty="0">
                <a:solidFill>
                  <a:schemeClr val="tx1"/>
                </a:solidFill>
              </a:rPr>
              <a:t>함수 인자</a:t>
            </a:r>
            <a:endParaRPr lang="ko-KR" alt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/>
        </p:blipFill>
        <p:spPr bwMode="auto">
          <a:xfrm>
            <a:off x="1505744" y="1194729"/>
            <a:ext cx="6016625" cy="5099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98633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ko-KR" altLang="en-US" dirty="0">
                <a:solidFill>
                  <a:schemeClr val="tx1"/>
                </a:solidFill>
              </a:rPr>
              <a:t>함수 인자</a:t>
            </a:r>
            <a:endParaRPr lang="ko-KR" alt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511"/>
          <a:stretch/>
        </p:blipFill>
        <p:spPr bwMode="auto">
          <a:xfrm>
            <a:off x="1262855" y="2024398"/>
            <a:ext cx="6618288" cy="1434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17385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ko-KR" altLang="en-US" dirty="0">
                <a:solidFill>
                  <a:schemeClr val="tx1"/>
                </a:solidFill>
              </a:rPr>
              <a:t>함수 인자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17008" y="1285279"/>
            <a:ext cx="7924665" cy="4953596"/>
            <a:chOff x="615155" y="1379935"/>
            <a:chExt cx="7924665" cy="4953596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379935"/>
              <a:ext cx="7924665" cy="4953596"/>
              <a:chOff x="683573" y="1844825"/>
              <a:chExt cx="7924665" cy="2044095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5"/>
                <a:ext cx="7920000" cy="20440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5293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8-2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395971"/>
              <a:ext cx="6366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배열 요소를 거꾸로 재배치하기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836842" y="1815434"/>
              <a:ext cx="7485956" cy="10924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배열 </a:t>
              </a:r>
              <a:r>
                <a:rPr lang="en-US" altLang="ko-KR" sz="1500" dirty="0" err="1">
                  <a:latin typeface="Consolas" panose="020B0609020204030204" pitchFamily="49" charset="0"/>
                  <a:ea typeface="맑은 고딕" panose="020B0503020000020004" pitchFamily="50" charset="-127"/>
                </a:rPr>
                <a:t>arr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이 다음과 같이 정의될 때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, </a:t>
              </a:r>
              <a:r>
                <a:rPr lang="en-US" altLang="ko-KR" sz="1500" dirty="0" err="1">
                  <a:latin typeface="Consolas" panose="020B0609020204030204" pitchFamily="49" charset="0"/>
                  <a:ea typeface="맑은 고딕" panose="020B0503020000020004" pitchFamily="50" charset="-127"/>
                </a:rPr>
                <a:t>arr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을 인자로 받아서 배열 요소를 거꾸로 재배치하는 함수 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void Reverse(</a:t>
              </a:r>
              <a:r>
                <a:rPr lang="en-US" altLang="ko-KR" sz="1500" dirty="0" err="1">
                  <a:latin typeface="Consolas" panose="020B0609020204030204" pitchFamily="49" charset="0"/>
                  <a:ea typeface="맑은 고딕" panose="020B0503020000020004" pitchFamily="50" charset="-127"/>
                </a:rPr>
                <a:t>int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 </a:t>
              </a:r>
              <a:r>
                <a:rPr lang="en-US" altLang="ko-KR" sz="1500" dirty="0" err="1">
                  <a:latin typeface="Consolas" panose="020B0609020204030204" pitchFamily="49" charset="0"/>
                  <a:ea typeface="맑은 고딕" panose="020B0503020000020004" pitchFamily="50" charset="-127"/>
                </a:rPr>
                <a:t>arr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[10])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를 구현하고 결과를 출력하는 프로그램을 작성해봅시다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</a:t>
              </a:r>
              <a:endPara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8150" y="3022570"/>
            <a:ext cx="4107701" cy="379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355" y="3664580"/>
            <a:ext cx="6603289" cy="2329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01832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ko-KR" altLang="en-US" dirty="0">
                <a:solidFill>
                  <a:schemeClr val="tx1"/>
                </a:solidFill>
              </a:rPr>
              <a:t>함수 인자</a:t>
            </a:r>
            <a:endParaRPr lang="ko-KR" altLang="en-US" dirty="0"/>
          </a:p>
        </p:txBody>
      </p:sp>
      <p:grpSp>
        <p:nvGrpSpPr>
          <p:cNvPr id="4" name="Google Shape;129;p9"/>
          <p:cNvGrpSpPr/>
          <p:nvPr/>
        </p:nvGrpSpPr>
        <p:grpSpPr>
          <a:xfrm>
            <a:off x="619192" y="1350961"/>
            <a:ext cx="7924665" cy="5113845"/>
            <a:chOff x="683573" y="1844824"/>
            <a:chExt cx="7924665" cy="150866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15086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104275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7-2</a:t>
              </a:r>
              <a:endParaRPr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30920" y="1365866"/>
            <a:ext cx="3769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정답</a:t>
            </a:r>
          </a:p>
        </p:txBody>
      </p:sp>
      <p:graphicFrame>
        <p:nvGraphicFramePr>
          <p:cNvPr id="13" name="Google Shape;104;p7"/>
          <p:cNvGraphicFramePr/>
          <p:nvPr>
            <p:extLst>
              <p:ext uri="{D42A27DB-BD31-4B8C-83A1-F6EECF244321}">
                <p14:modId xmlns:p14="http://schemas.microsoft.com/office/powerpoint/2010/main" val="383326387"/>
              </p:ext>
            </p:extLst>
          </p:nvPr>
        </p:nvGraphicFramePr>
        <p:xfrm>
          <a:off x="875444" y="1818261"/>
          <a:ext cx="7416825" cy="4591632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008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19</a:t>
                      </a:r>
                    </a:p>
                  </a:txBody>
                  <a:tcPr marL="91450" marR="91450"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Reverse(</a:t>
                      </a:r>
                      <a:r>
                        <a:rPr lang="en-US" altLang="ko-KR" sz="1300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[10])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&lt; 5;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++)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temp =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 =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[9 -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[9 -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 = temp;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[] = { 0, 1, 2, 3, 4, 5, 6, 7, 8, 9 };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Reverse(</a:t>
                      </a:r>
                      <a:r>
                        <a:rPr lang="en-US" altLang="ko-KR" sz="12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200" b="1" baseline="0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200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2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altLang="ko-KR" sz="12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&lt; 10; </a:t>
                      </a:r>
                      <a:r>
                        <a:rPr lang="en-US" altLang="ko-KR" sz="12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++)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2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"%d, "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sz="12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ko-KR" sz="12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sz="1300" b="1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0987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ko-KR" altLang="en-US" sz="4000" dirty="0"/>
              <a:t>함수 호출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24248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함수 호출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Malgun Gothic"/>
              <a:buAutoNum type="romanUcPeriod"/>
            </a:pPr>
            <a:r>
              <a:rPr lang="ko-KR" altLang="en-US" sz="2400" dirty="0" err="1"/>
              <a:t>스택</a:t>
            </a:r>
            <a:r>
              <a:rPr lang="ko-KR" altLang="en-US" sz="2400" dirty="0"/>
              <a:t> 프레임</a:t>
            </a: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 err="1"/>
              <a:t>스택</a:t>
            </a:r>
            <a:r>
              <a:rPr lang="ko-KR" altLang="en-US" b="1" dirty="0"/>
              <a:t> 프레임의 개념</a:t>
            </a:r>
            <a:endParaRPr lang="en-US" altLang="ko-KR"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함수 하나가 호출될 때 때 필요한 전용 메모리</a:t>
            </a:r>
            <a:endParaRPr lang="en-US" altLang="ko-KR" dirty="0"/>
          </a:p>
        </p:txBody>
      </p:sp>
      <p:pic>
        <p:nvPicPr>
          <p:cNvPr id="14338" name="Picture 2" descr="C:\Users\변소현\Desktop\난생처음 C 언어 프로그래밍\그림\Ch8\그림 8-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734" y="2911948"/>
            <a:ext cx="5062945" cy="322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18423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함수 호출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Malgun Gothic"/>
              <a:buAutoNum type="romanUcPeriod"/>
            </a:pPr>
            <a:r>
              <a:rPr lang="ko-KR" altLang="en-US" sz="2400" dirty="0" err="1"/>
              <a:t>스택</a:t>
            </a:r>
            <a:r>
              <a:rPr lang="ko-KR" altLang="en-US" sz="2400" dirty="0"/>
              <a:t> 프레임</a:t>
            </a: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 err="1"/>
              <a:t>스택</a:t>
            </a:r>
            <a:r>
              <a:rPr lang="ko-KR" altLang="en-US" b="1" dirty="0"/>
              <a:t> 프레임의 개념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5344FCB-F9DD-4088-944A-AA35A0FFD8D0}"/>
              </a:ext>
            </a:extLst>
          </p:cNvPr>
          <p:cNvGrpSpPr/>
          <p:nvPr/>
        </p:nvGrpSpPr>
        <p:grpSpPr>
          <a:xfrm>
            <a:off x="978033" y="2117417"/>
            <a:ext cx="6870567" cy="4276995"/>
            <a:chOff x="978033" y="2117417"/>
            <a:chExt cx="6870567" cy="4276995"/>
          </a:xfrm>
        </p:grpSpPr>
        <p:sp>
          <p:nvSpPr>
            <p:cNvPr id="5" name="Google Shape;102;p7"/>
            <p:cNvSpPr txBox="1"/>
            <p:nvPr/>
          </p:nvSpPr>
          <p:spPr>
            <a:xfrm>
              <a:off x="978033" y="2117417"/>
              <a:ext cx="6870567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8-17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] </a:t>
              </a:r>
              <a:r>
                <a:rPr lang="ko-KR" alt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스택</a:t>
              </a:r>
              <a:r>
                <a:rPr lang="ko-KR" alt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프레임</a:t>
              </a:r>
              <a:endParaRPr dirty="0"/>
            </a:p>
          </p:txBody>
        </p:sp>
        <p:graphicFrame>
          <p:nvGraphicFramePr>
            <p:cNvPr id="6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2261832854"/>
                </p:ext>
              </p:extLst>
            </p:nvPr>
          </p:nvGraphicFramePr>
          <p:xfrm>
            <a:off x="1068069" y="2480770"/>
            <a:ext cx="6779261" cy="3913642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3008437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429768">
                    <a:extLst>
                      <a:ext uri="{9D8B030D-6E8A-4147-A177-3AD203B41FA5}">
                        <a16:colId xmlns:a16="http://schemas.microsoft.com/office/drawing/2014/main" val="1147873544"/>
                      </a:ext>
                    </a:extLst>
                  </a:gridCol>
                  <a:gridCol w="2946146">
                    <a:extLst>
                      <a:ext uri="{9D8B030D-6E8A-4147-A177-3AD203B41FA5}">
                        <a16:colId xmlns:a16="http://schemas.microsoft.com/office/drawing/2014/main" val="1069143701"/>
                      </a:ext>
                    </a:extLst>
                  </a:gridCol>
                </a:tblGrid>
                <a:tr h="1180022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15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void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funcC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arg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arg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= 1;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void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funcB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arg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funcC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arg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+ 1);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void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funcA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arg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funcB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arg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+ 1);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16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17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18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19</a:t>
                        </a:r>
                      </a:p>
                    </a:txBody>
                    <a:tcPr marL="91450" marR="91450" marT="45725" marB="45725">
                      <a:lnL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 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funcA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(1);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1788981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함수 호출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Malgun Gothic"/>
              <a:buAutoNum type="romanUcPeriod"/>
            </a:pPr>
            <a:r>
              <a:rPr lang="ko-KR" altLang="en-US" sz="2400" dirty="0" err="1"/>
              <a:t>스택</a:t>
            </a:r>
            <a:r>
              <a:rPr lang="ko-KR" altLang="en-US" sz="2400" dirty="0"/>
              <a:t> 프레임</a:t>
            </a: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 err="1"/>
              <a:t>스택</a:t>
            </a:r>
            <a:r>
              <a:rPr lang="ko-KR" altLang="en-US" b="1" dirty="0"/>
              <a:t> 프레임의 개념</a:t>
            </a:r>
          </a:p>
        </p:txBody>
      </p:sp>
      <p:pic>
        <p:nvPicPr>
          <p:cNvPr id="15362" name="Picture 2" descr="C:\Users\변소현\Desktop\난생처음 C 언어 프로그래밍\그림\Ch8\그림 8-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2014" y="2220024"/>
            <a:ext cx="5287964" cy="364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32713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함수 호출</a:t>
            </a:r>
            <a:endParaRPr lang="ko-KR" altLang="en-US" dirty="0"/>
          </a:p>
        </p:txBody>
      </p:sp>
      <p:sp>
        <p:nvSpPr>
          <p:cNvPr id="4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Malgun Gothic"/>
              <a:buAutoNum type="romanUcPeriod"/>
            </a:pPr>
            <a:r>
              <a:rPr lang="ko-KR" altLang="en-US" sz="2400" dirty="0" err="1"/>
              <a:t>스택</a:t>
            </a:r>
            <a:r>
              <a:rPr lang="ko-KR" altLang="en-US" sz="2400" dirty="0"/>
              <a:t> 프레임</a:t>
            </a: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 err="1"/>
              <a:t>스택</a:t>
            </a:r>
            <a:r>
              <a:rPr lang="ko-KR" altLang="en-US" b="1" dirty="0"/>
              <a:t> 프레임의 개념</a:t>
            </a:r>
          </a:p>
        </p:txBody>
      </p:sp>
      <p:grpSp>
        <p:nvGrpSpPr>
          <p:cNvPr id="5" name="Google Shape;118;p8"/>
          <p:cNvGrpSpPr>
            <a:grpSpLocks noChangeAspect="1"/>
          </p:cNvGrpSpPr>
          <p:nvPr/>
        </p:nvGrpSpPr>
        <p:grpSpPr>
          <a:xfrm>
            <a:off x="1297504" y="2692605"/>
            <a:ext cx="6577412" cy="2012745"/>
            <a:chOff x="683573" y="1844822"/>
            <a:chExt cx="7924665" cy="3128705"/>
          </a:xfrm>
        </p:grpSpPr>
        <p:sp>
          <p:nvSpPr>
            <p:cNvPr id="6" name="Google Shape;119;p8"/>
            <p:cNvSpPr/>
            <p:nvPr/>
          </p:nvSpPr>
          <p:spPr>
            <a:xfrm>
              <a:off x="688238" y="1844822"/>
              <a:ext cx="7920000" cy="3128705"/>
            </a:xfrm>
            <a:prstGeom prst="rect">
              <a:avLst/>
            </a:prstGeom>
            <a:solidFill>
              <a:srgbClr val="EAF1DD"/>
            </a:solidFill>
            <a:ln w="12700" cap="flat" cmpd="sng">
              <a:solidFill>
                <a:srgbClr val="008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20;p8"/>
            <p:cNvSpPr txBox="1"/>
            <p:nvPr/>
          </p:nvSpPr>
          <p:spPr>
            <a:xfrm>
              <a:off x="762141" y="2322932"/>
              <a:ext cx="7772192" cy="14088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447675" lvl="1" indent="-180975">
                <a:lnSpc>
                  <a:spcPct val="150000"/>
                </a:lnSpc>
                <a:spcBef>
                  <a:spcPts val="600"/>
                </a:spcBef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ko-KR" altLang="en-US" sz="15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가장 나중에 쌓인 것이 가장 먼저 빠지는 구조를 </a:t>
              </a:r>
              <a:r>
                <a:rPr lang="ko-KR" altLang="en-US" sz="15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후입선출이라</a:t>
              </a:r>
              <a:r>
                <a:rPr lang="ko-KR" altLang="en-US" sz="15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하고</a:t>
              </a:r>
              <a:r>
                <a:rPr lang="en-US" altLang="ko-KR" sz="15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lang="ko-KR" altLang="en-US" sz="15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보통 </a:t>
              </a:r>
              <a:r>
                <a:rPr lang="en-US" altLang="ko-KR" sz="15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LIFO(Last In, First Out)</a:t>
              </a:r>
              <a:r>
                <a:rPr lang="ko-KR" altLang="en-US" sz="15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라고도 함</a:t>
              </a:r>
              <a:endParaRPr lang="en-US" altLang="ko-KR" sz="15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447675" lvl="1" indent="-180975">
                <a:lnSpc>
                  <a:spcPct val="150000"/>
                </a:lnSpc>
                <a:spcBef>
                  <a:spcPts val="600"/>
                </a:spcBef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ko-KR" altLang="en-US" sz="15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컴퓨터는 메모리를 관리할 때 </a:t>
              </a:r>
              <a:r>
                <a:rPr lang="en-US" altLang="ko-KR" sz="15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LIFO </a:t>
              </a:r>
              <a:r>
                <a:rPr lang="ko-KR" altLang="en-US" sz="15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구조를 많이 사용하는데</a:t>
              </a:r>
              <a:r>
                <a:rPr lang="en-US" altLang="ko-KR" sz="15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lang="ko-KR" altLang="en-US" sz="15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대표적인 것이 바로 </a:t>
              </a:r>
              <a:r>
                <a:rPr lang="ko-KR" altLang="en-US" sz="15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스택</a:t>
              </a:r>
              <a:r>
                <a:rPr lang="ko-KR" altLang="en-US" sz="15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프레임이 쌓이는 </a:t>
              </a:r>
              <a:r>
                <a:rPr lang="ko-KR" altLang="en-US" sz="15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스택</a:t>
              </a:r>
              <a:r>
                <a:rPr lang="ko-KR" altLang="en-US" sz="15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영역임</a:t>
              </a:r>
              <a:endParaRPr lang="en-US" altLang="ko-KR" sz="15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" name="Google Shape;121;p8"/>
            <p:cNvSpPr/>
            <p:nvPr/>
          </p:nvSpPr>
          <p:spPr>
            <a:xfrm>
              <a:off x="683573" y="1844824"/>
              <a:ext cx="1511728" cy="478109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하나</a:t>
              </a:r>
              <a:r>
                <a:rPr lang="en-US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더 </a:t>
              </a:r>
              <a:r>
                <a:rPr lang="en-US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알기</a:t>
              </a:r>
              <a:endParaRPr sz="1200" dirty="0"/>
            </a:p>
          </p:txBody>
        </p:sp>
        <p:sp>
          <p:nvSpPr>
            <p:cNvPr id="9" name="Google Shape;122;p8"/>
            <p:cNvSpPr txBox="1"/>
            <p:nvPr/>
          </p:nvSpPr>
          <p:spPr>
            <a:xfrm>
              <a:off x="2256715" y="1862054"/>
              <a:ext cx="4699962" cy="3534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>
                <a:lnSpc>
                  <a:spcPct val="150000"/>
                </a:lnSpc>
                <a:buClr>
                  <a:srgbClr val="3C479D"/>
                </a:buClr>
                <a:buSzPts val="1800"/>
              </a:pPr>
              <a:r>
                <a:rPr lang="en-US" altLang="ko-KR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LIFO </a:t>
              </a:r>
              <a:r>
                <a:rPr lang="ko-KR" altLang="en-US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구조</a:t>
              </a:r>
              <a:endParaRPr sz="1600" b="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47606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함수 호출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재귀 호출</a:t>
            </a: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재귀 호출의 개념</a:t>
            </a:r>
            <a:endParaRPr lang="en-US" altLang="ko-KR"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자기 자신을 호출하는 것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재귀 호출이 많아질수록 </a:t>
            </a:r>
            <a:r>
              <a:rPr lang="ko-KR" altLang="en-US" dirty="0" err="1"/>
              <a:t>스택</a:t>
            </a:r>
            <a:r>
              <a:rPr lang="ko-KR" altLang="en-US" dirty="0"/>
              <a:t> 프레임의 층수도</a:t>
            </a:r>
            <a:br>
              <a:rPr lang="en-US" altLang="ko-KR" dirty="0"/>
            </a:br>
            <a:r>
              <a:rPr lang="ko-KR" altLang="en-US" dirty="0"/>
              <a:t>점점</a:t>
            </a:r>
            <a:r>
              <a:rPr lang="en-US" altLang="ko-KR" dirty="0"/>
              <a:t> </a:t>
            </a:r>
            <a:r>
              <a:rPr lang="ko-KR" altLang="en-US" dirty="0"/>
              <a:t>높아지고</a:t>
            </a:r>
            <a:r>
              <a:rPr lang="en-US" altLang="ko-KR" dirty="0"/>
              <a:t>, </a:t>
            </a:r>
            <a:r>
              <a:rPr lang="ko-KR" altLang="en-US" dirty="0"/>
              <a:t>호출이 무한 반복됨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 err="1"/>
              <a:t>스택</a:t>
            </a:r>
            <a:r>
              <a:rPr lang="ko-KR" altLang="en-US" dirty="0"/>
              <a:t> 프레임의 전체 크기가 </a:t>
            </a:r>
            <a:r>
              <a:rPr lang="ko-KR" altLang="en-US" dirty="0" err="1"/>
              <a:t>스택</a:t>
            </a:r>
            <a:r>
              <a:rPr lang="ko-KR" altLang="en-US" dirty="0"/>
              <a:t> 영역의 크기</a:t>
            </a:r>
            <a:br>
              <a:rPr lang="en-US" altLang="ko-KR" dirty="0"/>
            </a:br>
            <a:r>
              <a:rPr lang="ko-KR" altLang="en-US" dirty="0"/>
              <a:t>제한을</a:t>
            </a:r>
            <a:r>
              <a:rPr lang="en-US" altLang="ko-KR" dirty="0"/>
              <a:t> </a:t>
            </a:r>
            <a:r>
              <a:rPr lang="ko-KR" altLang="en-US" dirty="0"/>
              <a:t>넘어서면 컴퓨터는 프로그램을 중지함</a:t>
            </a:r>
            <a:endParaRPr lang="en-US" altLang="ko-KR" dirty="0"/>
          </a:p>
        </p:txBody>
      </p:sp>
      <p:pic>
        <p:nvPicPr>
          <p:cNvPr id="16386" name="Picture 2" descr="C:\Users\변소현\Desktop\난생처음 C 언어 프로그래밍\그림\Ch8\그림 8-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040" y="1828522"/>
            <a:ext cx="2559399" cy="4095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55877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함수 호출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재귀 호출</a:t>
            </a: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재귀 호출의 개념</a:t>
            </a:r>
            <a:endParaRPr lang="en-US" altLang="ko-KR" b="1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978033" y="2117417"/>
            <a:ext cx="687056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8-18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재귀 호출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822442518"/>
              </p:ext>
            </p:extLst>
          </p:nvPr>
        </p:nvGraphicFramePr>
        <p:xfrm>
          <a:off x="1068069" y="2480770"/>
          <a:ext cx="6779261" cy="2377450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arg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arg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(1);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75752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함수 호출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재귀 호출</a:t>
            </a: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재귀 호출의 장점</a:t>
            </a:r>
            <a:endParaRPr lang="en-US" altLang="ko-KR" b="1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978033" y="2117417"/>
            <a:ext cx="687056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8-19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일반 호출과 재귀 호출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1564409056"/>
              </p:ext>
            </p:extLst>
          </p:nvPr>
        </p:nvGraphicFramePr>
        <p:xfrm>
          <a:off x="1068069" y="2480770"/>
          <a:ext cx="6779261" cy="3913642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Sum(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N)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result = 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1;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&lt;= N;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++)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result +=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result;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RecursiveSum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N)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8712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함수 호출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재귀 호출</a:t>
            </a: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재귀 호출의 장점</a:t>
            </a:r>
            <a:endParaRPr lang="en-US" altLang="ko-KR" b="1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978033" y="2117417"/>
            <a:ext cx="6870567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8-19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일반 호출과 재귀 호출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2737178915"/>
              </p:ext>
            </p:extLst>
          </p:nvPr>
        </p:nvGraphicFramePr>
        <p:xfrm>
          <a:off x="1068069" y="2480770"/>
          <a:ext cx="6779261" cy="288951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26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(N == 1)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1;    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반환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N +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RecursiveSum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(N - 1);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재귀 호출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"Sum: %d</a:t>
                      </a:r>
                      <a:r>
                        <a:rPr lang="en-US" altLang="ko-KR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Sum(100));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RecursiveSum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%d"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RecursiveSum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(100));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807" y="5426180"/>
            <a:ext cx="7056086" cy="787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36162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함수 호출</a:t>
            </a:r>
            <a:endParaRPr lang="ko-KR" altLang="en-US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226" y="1838356"/>
            <a:ext cx="6557749" cy="318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95367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함수 호출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19191" y="2360958"/>
            <a:ext cx="7924665" cy="2114548"/>
            <a:chOff x="615155" y="898524"/>
            <a:chExt cx="7924665" cy="2114548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898524"/>
              <a:ext cx="7924665" cy="2114548"/>
              <a:chOff x="683573" y="1646170"/>
              <a:chExt cx="7924665" cy="872565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646170"/>
                <a:ext cx="7920000" cy="87256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647056"/>
                <a:ext cx="1511728" cy="15293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8-3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916704"/>
              <a:ext cx="6366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재귀 호출을 이용한 </a:t>
              </a:r>
              <a:r>
                <a:rPr lang="en-US" altLang="ko-KR" sz="1600" b="1" dirty="0">
                  <a:latin typeface="+mj-ea"/>
                  <a:ea typeface="+mj-ea"/>
                </a:rPr>
                <a:t>n! </a:t>
              </a:r>
              <a:r>
                <a:rPr lang="ko-KR" altLang="en-US" sz="1600" b="1" dirty="0">
                  <a:latin typeface="+mj-ea"/>
                  <a:ea typeface="+mj-ea"/>
                </a:rPr>
                <a:t>구하기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885627" y="1288542"/>
              <a:ext cx="7397419" cy="7833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정수 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n</a:t>
              </a:r>
              <a:r>
                <a:rPr lang="ko-KR" altLang="en-US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을 </a:t>
              </a:r>
              <a:r>
                <a:rPr lang="ko-KR" altLang="en-US" sz="1600" dirty="0" err="1">
                  <a:latin typeface="Consolas" panose="020B0609020204030204" pitchFamily="49" charset="0"/>
                  <a:ea typeface="맑은 고딕" panose="020B0503020000020004" pitchFamily="50" charset="-127"/>
                </a:rPr>
                <a:t>입력받아서</a:t>
              </a:r>
              <a:r>
                <a:rPr lang="ko-KR" altLang="en-US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 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n!</a:t>
              </a:r>
              <a:r>
                <a:rPr lang="ko-KR" altLang="en-US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을 출력하는 프로그램을 재귀 호출을 이용하여 작성해봅시다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512" y="3716499"/>
            <a:ext cx="6611085" cy="527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01960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함수 호출</a:t>
            </a:r>
            <a:endParaRPr lang="ko-KR" altLang="en-US" dirty="0"/>
          </a:p>
        </p:txBody>
      </p:sp>
      <p:grpSp>
        <p:nvGrpSpPr>
          <p:cNvPr id="4" name="Google Shape;129;p9"/>
          <p:cNvGrpSpPr/>
          <p:nvPr/>
        </p:nvGrpSpPr>
        <p:grpSpPr>
          <a:xfrm>
            <a:off x="624680" y="1060973"/>
            <a:ext cx="7924665" cy="5193524"/>
            <a:chOff x="683573" y="1844824"/>
            <a:chExt cx="7924665" cy="1532171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15321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104275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r>
                <a:rPr lang="en-US" altLang="ko-KR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8-3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36408" y="1066351"/>
            <a:ext cx="3769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정답</a:t>
            </a:r>
          </a:p>
        </p:txBody>
      </p:sp>
      <p:graphicFrame>
        <p:nvGraphicFramePr>
          <p:cNvPr id="13" name="Google Shape;104;p7"/>
          <p:cNvGraphicFramePr/>
          <p:nvPr>
            <p:extLst>
              <p:ext uri="{D42A27DB-BD31-4B8C-83A1-F6EECF244321}">
                <p14:modId xmlns:p14="http://schemas.microsoft.com/office/powerpoint/2010/main" val="655398506"/>
              </p:ext>
            </p:extLst>
          </p:nvPr>
        </p:nvGraphicFramePr>
        <p:xfrm>
          <a:off x="880932" y="1518746"/>
          <a:ext cx="7416825" cy="4591632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008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19</a:t>
                      </a:r>
                    </a:p>
                  </a:txBody>
                  <a:tcPr marL="91450" marR="91450"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sz="1300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factorial(</a:t>
                      </a:r>
                      <a:r>
                        <a:rPr lang="en-US" altLang="ko-KR" sz="1300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n)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(n == 1)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1;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n * factorial(n - 1);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n;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정수를 입력하세요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US" altLang="ko-KR" sz="1300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"%d"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&amp;n);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"n!: %d"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factorial(n));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sz="1300" b="1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22177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B4A4C8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모서리가 둥근 직사각형 3"/>
          <p:cNvSpPr/>
          <p:nvPr/>
        </p:nvSpPr>
        <p:spPr>
          <a:xfrm>
            <a:off x="328612" y="342900"/>
            <a:ext cx="8505825" cy="617377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4000"/>
            </a:pPr>
            <a:r>
              <a:rPr lang="ko-KR" altLang="en-US" sz="4000" dirty="0">
                <a:solidFill>
                  <a:schemeClr val="accent4"/>
                </a:solidFill>
              </a:rPr>
              <a:t>재귀 호출을 이용한</a:t>
            </a:r>
            <a:endParaRPr lang="en-US" altLang="ko-KR" sz="4000" dirty="0">
              <a:solidFill>
                <a:schemeClr val="accent4"/>
              </a:solidFill>
            </a:endParaRPr>
          </a:p>
          <a:p>
            <a:pPr marL="0" lvl="0" indent="0">
              <a:spcBef>
                <a:spcPts val="0"/>
              </a:spcBef>
              <a:buSzPts val="4000"/>
            </a:pPr>
            <a:r>
              <a:rPr lang="ko-KR" altLang="en-US" sz="4000" dirty="0">
                <a:solidFill>
                  <a:schemeClr val="accent4"/>
                </a:solidFill>
              </a:rPr>
              <a:t>배열 요소의 합 구하기</a:t>
            </a:r>
            <a:endParaRPr sz="40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3012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sz="2400" dirty="0">
                <a:solidFill>
                  <a:schemeClr val="accent4"/>
                </a:solidFill>
              </a:rPr>
              <a:t>[</a:t>
            </a:r>
            <a:r>
              <a:rPr lang="ko-KR" altLang="en-US" sz="2400" dirty="0">
                <a:solidFill>
                  <a:schemeClr val="accent4"/>
                </a:solidFill>
              </a:rPr>
              <a:t>실전예제</a:t>
            </a:r>
            <a:r>
              <a:rPr lang="en-US" altLang="ko-KR" sz="2400" dirty="0">
                <a:solidFill>
                  <a:schemeClr val="accent4"/>
                </a:solidFill>
              </a:rPr>
              <a:t>] </a:t>
            </a:r>
            <a:r>
              <a:rPr lang="ko-KR" altLang="en-US" sz="2400" dirty="0">
                <a:solidFill>
                  <a:schemeClr val="tx1"/>
                </a:solidFill>
              </a:rPr>
              <a:t>재귀 호출을 이용한 배열 요소의 합 구하기</a:t>
            </a:r>
            <a:endParaRPr sz="2400" dirty="0">
              <a:solidFill>
                <a:schemeClr val="tx1"/>
              </a:solidFill>
            </a:endParaRPr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618802" y="1366961"/>
            <a:ext cx="8639498" cy="1357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문제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  <a:p>
            <a:pPr marL="0" indent="0">
              <a:buNone/>
            </a:pPr>
            <a:r>
              <a:rPr lang="ko-KR" altLang="en-US" sz="1800" dirty="0"/>
              <a:t>다음과 같은 배열 </a:t>
            </a:r>
            <a:r>
              <a:rPr lang="en-US" altLang="ko-KR" sz="1800" dirty="0" err="1"/>
              <a:t>arr</a:t>
            </a:r>
            <a:r>
              <a:rPr lang="ko-KR" altLang="en-US" sz="1800" dirty="0"/>
              <a:t>에 대해서 배열 요소의 모든 합을 구해서 출력하는 프로그램을 </a:t>
            </a:r>
            <a:r>
              <a:rPr lang="ko-KR" altLang="en-US" sz="1800" dirty="0" err="1"/>
              <a:t>반복문을</a:t>
            </a:r>
            <a:r>
              <a:rPr lang="ko-KR" altLang="en-US" sz="1800" dirty="0"/>
              <a:t> 사용하지 않고 재귀 호출을 이용하여 작성하시오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820" y="2788936"/>
            <a:ext cx="7785310" cy="535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666" y="3552432"/>
            <a:ext cx="7824669" cy="85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sz="2400" dirty="0">
                <a:solidFill>
                  <a:schemeClr val="accent4"/>
                </a:solidFill>
              </a:rPr>
              <a:t>[</a:t>
            </a:r>
            <a:r>
              <a:rPr lang="ko-KR" altLang="en-US" sz="2400" dirty="0">
                <a:solidFill>
                  <a:schemeClr val="accent4"/>
                </a:solidFill>
              </a:rPr>
              <a:t>실전예제</a:t>
            </a:r>
            <a:r>
              <a:rPr lang="en-US" altLang="ko-KR" sz="2400" dirty="0">
                <a:solidFill>
                  <a:schemeClr val="accent4"/>
                </a:solidFill>
              </a:rPr>
              <a:t>] </a:t>
            </a:r>
            <a:r>
              <a:rPr lang="ko-KR" altLang="en-US" sz="2400" dirty="0">
                <a:solidFill>
                  <a:schemeClr val="tx1"/>
                </a:solidFill>
              </a:rPr>
              <a:t>재귀 호출을 이용한 배열 요소의 합 구하기</a:t>
            </a:r>
            <a:endParaRPr sz="2400"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23528" y="1228970"/>
            <a:ext cx="8363272" cy="579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해결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  <a:p>
            <a:pPr marL="0" indent="0">
              <a:buFont typeface="Noto Sans Symbols"/>
              <a:buNone/>
            </a:pPr>
            <a:endParaRPr lang="en-US" altLang="ko-KR" sz="1600" dirty="0">
              <a:solidFill>
                <a:srgbClr val="7030A0"/>
              </a:solidFill>
            </a:endParaRPr>
          </a:p>
          <a:p>
            <a:pPr marL="342900" indent="-342900" algn="just">
              <a:buClr>
                <a:srgbClr val="7030A0"/>
              </a:buClr>
              <a:buSzPct val="100000"/>
              <a:buAutoNum type="arabicPeriod"/>
            </a:pPr>
            <a:r>
              <a:rPr lang="ko-KR" altLang="en-US" sz="1800" dirty="0"/>
              <a:t>함수 </a:t>
            </a:r>
            <a:r>
              <a:rPr lang="en-US" altLang="ko-KR" sz="1800" dirty="0"/>
              <a:t>Sum</a:t>
            </a:r>
            <a:r>
              <a:rPr lang="ko-KR" altLang="en-US" sz="1800" dirty="0"/>
              <a:t>의 두 번째 매개변수는 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 </a:t>
            </a:r>
            <a:r>
              <a:rPr lang="en-US" altLang="ko-KR" sz="1800" dirty="0" err="1"/>
              <a:t>arr</a:t>
            </a:r>
            <a:r>
              <a:rPr lang="en-US" altLang="ko-KR" sz="1800" dirty="0"/>
              <a:t>[]</a:t>
            </a:r>
            <a:r>
              <a:rPr lang="ko-KR" altLang="en-US" sz="1800" dirty="0"/>
              <a:t>로 요소의 개수가 정해지지 않았다</a:t>
            </a:r>
            <a:r>
              <a:rPr lang="en-US" altLang="ko-KR" sz="1800" dirty="0"/>
              <a:t>. </a:t>
            </a:r>
            <a:r>
              <a:rPr lang="ko-KR" altLang="en-US" sz="1800" dirty="0"/>
              <a:t>이런 경우 가변 길이 배열을 인자로 받을 수 있다</a:t>
            </a:r>
            <a:r>
              <a:rPr lang="en-US" altLang="ko-KR" sz="1800" dirty="0"/>
              <a:t>.</a:t>
            </a:r>
          </a:p>
          <a:p>
            <a:pPr marL="342900" indent="-342900" algn="just">
              <a:buAutoNum type="arabicPeriod"/>
            </a:pPr>
            <a:endParaRPr lang="en-US" altLang="ko-KR" sz="1800" dirty="0"/>
          </a:p>
          <a:p>
            <a:pPr marL="342900" indent="-342900" algn="just">
              <a:buClr>
                <a:srgbClr val="7030A0"/>
              </a:buClr>
              <a:buSzPct val="100000"/>
              <a:buAutoNum type="arabicPeriod"/>
            </a:pPr>
            <a:r>
              <a:rPr lang="ko-KR" altLang="en-US" sz="1800" dirty="0"/>
              <a:t>배열이 함수의 인자로 전달되는 경우 참조 전달 방식처럼 동작하므로 재귀 호출을 사용해도 배열 복사의 비용이 발생하지 않는다</a:t>
            </a:r>
            <a:r>
              <a:rPr lang="en-US" altLang="ko-K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20690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sz="2400" dirty="0">
                <a:solidFill>
                  <a:schemeClr val="accent4"/>
                </a:solidFill>
              </a:rPr>
              <a:t>[</a:t>
            </a:r>
            <a:r>
              <a:rPr lang="ko-KR" altLang="en-US" sz="2400" dirty="0">
                <a:solidFill>
                  <a:schemeClr val="accent4"/>
                </a:solidFill>
              </a:rPr>
              <a:t>실전예제</a:t>
            </a:r>
            <a:r>
              <a:rPr lang="en-US" altLang="ko-KR" sz="2400" dirty="0">
                <a:solidFill>
                  <a:schemeClr val="accent4"/>
                </a:solidFill>
              </a:rPr>
              <a:t>] </a:t>
            </a:r>
            <a:r>
              <a:rPr lang="ko-KR" altLang="en-US" sz="2400" dirty="0">
                <a:solidFill>
                  <a:schemeClr val="tx1"/>
                </a:solidFill>
              </a:rPr>
              <a:t>재귀 호출을 이용한 배열 요소의 합 구하기</a:t>
            </a:r>
            <a:endParaRPr sz="2400"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33214" y="995486"/>
            <a:ext cx="8363272" cy="497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해결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720008271"/>
              </p:ext>
            </p:extLst>
          </p:nvPr>
        </p:nvGraphicFramePr>
        <p:xfrm>
          <a:off x="882798" y="1543050"/>
          <a:ext cx="7416825" cy="4425706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17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Sum(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index,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[])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(index == 0)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[0];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[index] + Sum(index - 1,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[] = { 3, 5, 1, 10, 9, 8, 2, 6, 4, 7 };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count =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) /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[0]);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"Sum: %d"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, Sum(count - 1,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));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84488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2263</TotalTime>
  <Words>2617</Words>
  <Application>Microsoft Office PowerPoint</Application>
  <PresentationFormat>화면 슬라이드 쇼(4:3)</PresentationFormat>
  <Paragraphs>842</Paragraphs>
  <Slides>53</Slides>
  <Notes>40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53</vt:i4>
      </vt:variant>
    </vt:vector>
  </HeadingPairs>
  <TitlesOfParts>
    <vt:vector size="60" baseType="lpstr">
      <vt:lpstr>Noto Sans Symbols</vt:lpstr>
      <vt:lpstr>맑은 고딕</vt:lpstr>
      <vt:lpstr>맑은 고딕</vt:lpstr>
      <vt:lpstr>Arial</vt:lpstr>
      <vt:lpstr>Consolas</vt:lpstr>
      <vt:lpstr>Verdana</vt:lpstr>
      <vt:lpstr>Office 테마</vt:lpstr>
      <vt:lpstr>Chapter 08. 함수</vt:lpstr>
      <vt:lpstr>PowerPoint 프레젠테이션</vt:lpstr>
      <vt:lpstr>PowerPoint 프레젠테이션</vt:lpstr>
      <vt:lpstr>PowerPoint 프레젠테이션</vt:lpstr>
      <vt:lpstr>01. 함수의 정의와 선언</vt:lpstr>
      <vt:lpstr>01. 함수의 정의와 선언</vt:lpstr>
      <vt:lpstr>01. 함수의 정의와 선언</vt:lpstr>
      <vt:lpstr>01. 함수의 정의와 선언</vt:lpstr>
      <vt:lpstr>01. 함수의 정의와 선언</vt:lpstr>
      <vt:lpstr>01. 함수의 정의와 선언</vt:lpstr>
      <vt:lpstr>01. 함수의 정의와 선언</vt:lpstr>
      <vt:lpstr>01. 함수의 정의와 선언</vt:lpstr>
      <vt:lpstr>01. 함수의 정의와 선언</vt:lpstr>
      <vt:lpstr>01. 함수의 정의와 선언</vt:lpstr>
      <vt:lpstr>01. 함수의 정의와 선언</vt:lpstr>
      <vt:lpstr>01. 함수의 정의와 선언</vt:lpstr>
      <vt:lpstr>01. 함수의 정의와 선언</vt:lpstr>
      <vt:lpstr>01. 함수의 정의와 선언</vt:lpstr>
      <vt:lpstr>01. 함수의 정의와 선언</vt:lpstr>
      <vt:lpstr>01. 함수의 정의와 선언</vt:lpstr>
      <vt:lpstr>01. 함수의 정의와 선언</vt:lpstr>
      <vt:lpstr>01. 함수의 정의와 선언</vt:lpstr>
      <vt:lpstr>01. 함수의 정의와 선언</vt:lpstr>
      <vt:lpstr>01. 함수의 정의와 선언</vt:lpstr>
      <vt:lpstr>01. 함수의 정의와 선언</vt:lpstr>
      <vt:lpstr>PowerPoint 프레젠테이션</vt:lpstr>
      <vt:lpstr>02. 함수 인자</vt:lpstr>
      <vt:lpstr>02. 함수 인자</vt:lpstr>
      <vt:lpstr>02. 함수 인자</vt:lpstr>
      <vt:lpstr>02. 함수 인자</vt:lpstr>
      <vt:lpstr>02. 함수 인자</vt:lpstr>
      <vt:lpstr>02. 함수 인자</vt:lpstr>
      <vt:lpstr>02. 함수 인자</vt:lpstr>
      <vt:lpstr>02. 함수 인자</vt:lpstr>
      <vt:lpstr>02. 함수 인자</vt:lpstr>
      <vt:lpstr>02. 함수 인자</vt:lpstr>
      <vt:lpstr>PowerPoint 프레젠테이션</vt:lpstr>
      <vt:lpstr>03. 함수 호출</vt:lpstr>
      <vt:lpstr>03. 함수 호출</vt:lpstr>
      <vt:lpstr>03. 함수 호출</vt:lpstr>
      <vt:lpstr>03. 함수 호출</vt:lpstr>
      <vt:lpstr>03. 함수 호출</vt:lpstr>
      <vt:lpstr>03. 함수 호출</vt:lpstr>
      <vt:lpstr>03. 함수 호출</vt:lpstr>
      <vt:lpstr>03. 함수 호출</vt:lpstr>
      <vt:lpstr>03. 함수 호출</vt:lpstr>
      <vt:lpstr>03. 함수 호출</vt:lpstr>
      <vt:lpstr>03. 함수 호출</vt:lpstr>
      <vt:lpstr>PowerPoint 프레젠테이션</vt:lpstr>
      <vt:lpstr>[실전예제] 재귀 호출을 이용한 배열 요소의 합 구하기</vt:lpstr>
      <vt:lpstr>[실전예제] 재귀 호출을 이용한 배열 요소의 합 구하기</vt:lpstr>
      <vt:lpstr>[실전예제] 재귀 호출을 이용한 배열 요소의 합 구하기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01. 프로그래밍과 C 언어</dc:title>
  <dc:creator>서지영</dc:creator>
  <cp:lastModifiedBy>마케팅팀</cp:lastModifiedBy>
  <cp:revision>222</cp:revision>
  <dcterms:created xsi:type="dcterms:W3CDTF">2012-07-11T10:23:22Z</dcterms:created>
  <dcterms:modified xsi:type="dcterms:W3CDTF">2022-02-15T02:37:29Z</dcterms:modified>
</cp:coreProperties>
</file>