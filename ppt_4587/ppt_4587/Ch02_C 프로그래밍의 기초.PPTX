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256" r:id="rId2"/>
    <p:sldId id="257" r:id="rId3"/>
    <p:sldId id="258" r:id="rId4"/>
    <p:sldId id="259" r:id="rId5"/>
    <p:sldId id="260" r:id="rId6"/>
    <p:sldId id="269" r:id="rId7"/>
    <p:sldId id="326" r:id="rId8"/>
    <p:sldId id="328" r:id="rId9"/>
    <p:sldId id="329" r:id="rId10"/>
    <p:sldId id="330" r:id="rId11"/>
    <p:sldId id="331" r:id="rId12"/>
    <p:sldId id="332" r:id="rId13"/>
    <p:sldId id="333" r:id="rId14"/>
    <p:sldId id="270" r:id="rId15"/>
    <p:sldId id="334" r:id="rId16"/>
    <p:sldId id="271" r:id="rId17"/>
    <p:sldId id="261" r:id="rId18"/>
    <p:sldId id="273" r:id="rId19"/>
    <p:sldId id="339" r:id="rId20"/>
    <p:sldId id="336" r:id="rId21"/>
    <p:sldId id="335" r:id="rId22"/>
    <p:sldId id="338" r:id="rId23"/>
    <p:sldId id="262" r:id="rId24"/>
    <p:sldId id="340" r:id="rId25"/>
    <p:sldId id="341" r:id="rId26"/>
    <p:sldId id="342" r:id="rId27"/>
    <p:sldId id="278" r:id="rId28"/>
    <p:sldId id="343" r:id="rId29"/>
    <p:sldId id="344" r:id="rId30"/>
    <p:sldId id="287" r:id="rId31"/>
    <p:sldId id="288" r:id="rId32"/>
    <p:sldId id="345" r:id="rId33"/>
    <p:sldId id="346" r:id="rId34"/>
    <p:sldId id="347" r:id="rId35"/>
    <p:sldId id="289" r:id="rId36"/>
    <p:sldId id="348" r:id="rId37"/>
    <p:sldId id="349" r:id="rId38"/>
    <p:sldId id="350" r:id="rId39"/>
    <p:sldId id="351" r:id="rId40"/>
    <p:sldId id="301" r:id="rId41"/>
    <p:sldId id="302" r:id="rId42"/>
    <p:sldId id="303" r:id="rId43"/>
    <p:sldId id="352" r:id="rId44"/>
    <p:sldId id="353" r:id="rId45"/>
    <p:sldId id="354" r:id="rId46"/>
    <p:sldId id="355" r:id="rId47"/>
    <p:sldId id="356" r:id="rId48"/>
    <p:sldId id="357" r:id="rId49"/>
    <p:sldId id="359" r:id="rId50"/>
    <p:sldId id="361" r:id="rId51"/>
    <p:sldId id="305" r:id="rId52"/>
    <p:sldId id="306" r:id="rId53"/>
    <p:sldId id="307" r:id="rId54"/>
    <p:sldId id="308" r:id="rId55"/>
    <p:sldId id="362" r:id="rId56"/>
    <p:sldId id="363" r:id="rId57"/>
    <p:sldId id="364" r:id="rId58"/>
    <p:sldId id="365" r:id="rId59"/>
    <p:sldId id="373" r:id="rId60"/>
    <p:sldId id="367" r:id="rId61"/>
    <p:sldId id="368" r:id="rId62"/>
    <p:sldId id="369" r:id="rId63"/>
    <p:sldId id="370" r:id="rId64"/>
    <p:sldId id="316" r:id="rId65"/>
    <p:sldId id="264" r:id="rId66"/>
    <p:sldId id="317" r:id="rId67"/>
    <p:sldId id="318" r:id="rId68"/>
    <p:sldId id="371" r:id="rId69"/>
    <p:sldId id="267" r:id="rId7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288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7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D87B7"/>
    <a:srgbClr val="B4A4C8"/>
    <a:srgbClr val="8AC9DA"/>
    <a:srgbClr val="FBFBD1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64" autoAdjust="0"/>
  </p:normalViewPr>
  <p:slideViewPr>
    <p:cSldViewPr snapToGrid="0">
      <p:cViewPr varScale="1">
        <p:scale>
          <a:sx n="109" d="100"/>
          <a:sy n="109" d="100"/>
        </p:scale>
        <p:origin x="-1674" y="-90"/>
      </p:cViewPr>
      <p:guideLst>
        <p:guide orient="horz" pos="2160"/>
        <p:guide pos="288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809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809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06448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69</a:t>
            </a:r>
            <a:endParaRPr sz="1600" b="0" i="0" u="none" strike="noStrike" cap="none" dirty="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 dirty="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2022 </a:t>
            </a:r>
            <a:r>
              <a:rPr lang="en-US" sz="11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Hanbit</a:t>
            </a: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Academy, Inc.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02. </a:t>
            </a:r>
            <a:r>
              <a:rPr lang="en-US" altLang="ko-KR" sz="3600" b="1" dirty="0">
                <a:solidFill>
                  <a:schemeClr val="lt1"/>
                </a:solidFill>
              </a:rPr>
              <a:t>C </a:t>
            </a:r>
            <a:r>
              <a:rPr lang="ko-KR" altLang="en-US" sz="3600" b="1" dirty="0">
                <a:solidFill>
                  <a:schemeClr val="lt1"/>
                </a:solidFill>
              </a:rPr>
              <a:t>프로그래밍의 기초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01. 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준비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162972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소스 파일과 헤더 파일이란</a:t>
            </a:r>
            <a:r>
              <a:rPr lang="en-US" altLang="ko-KR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dirty="0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코드의 기초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프로그램의 기초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 입출력이란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프로그램 생성 및 실행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</a:t>
            </a:r>
            <a:r>
              <a:rPr lang="en-US" altLang="ko-KR" sz="2000" b="1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int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와 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float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사이의 오차 구하기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altLang="ko-KR" dirty="0"/>
          </a:p>
          <a:p>
            <a:pPr marL="4572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altLang="ko-KR" dirty="0"/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altLang="en-US" dirty="0"/>
              <a:t>소스 파일과 헤더 파일의 개념을 이해하고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직접 프로그램을 만들어본다</a:t>
            </a:r>
            <a:r>
              <a:rPr lang="en-US" altLang="ko-KR" dirty="0"/>
              <a:t>.</a:t>
            </a:r>
            <a:endParaRPr dirty="0"/>
          </a:p>
          <a:p>
            <a:pPr marL="457200" lvl="0" indent="-4572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/>
              <a:t>C </a:t>
            </a:r>
            <a:r>
              <a:rPr lang="ko-KR" altLang="en-US" dirty="0"/>
              <a:t>코드를 구성하는 기본 요소를 익힌다</a:t>
            </a:r>
            <a:r>
              <a:rPr lang="en-US" altLang="ko-KR" dirty="0"/>
              <a:t>.</a:t>
            </a:r>
            <a:endParaRPr dirty="0"/>
          </a:p>
          <a:p>
            <a:pPr marL="457200" lvl="0" indent="-4572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/>
              <a:t>C </a:t>
            </a:r>
            <a:r>
              <a:rPr lang="ko-KR" altLang="en-US" dirty="0"/>
              <a:t>프로그램의 필수 요소인 함수와 </a:t>
            </a:r>
            <a:r>
              <a:rPr lang="en-US" altLang="ko-KR" dirty="0"/>
              <a:t>main </a:t>
            </a:r>
            <a:r>
              <a:rPr lang="ko-KR" altLang="en-US" dirty="0"/>
              <a:t>함수를 이해한다</a:t>
            </a:r>
            <a:r>
              <a:rPr lang="en-US" altLang="ko-KR" dirty="0"/>
              <a:t>.</a:t>
            </a:r>
            <a:endParaRPr dirty="0"/>
          </a:p>
          <a:p>
            <a:pPr marL="457200" lvl="0" indent="-4572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altLang="en-US" dirty="0"/>
              <a:t>표준 입출력 함수인 </a:t>
            </a:r>
            <a:r>
              <a:rPr lang="en-US" altLang="ko-KR" dirty="0" err="1"/>
              <a:t>printf</a:t>
            </a:r>
            <a:r>
              <a:rPr lang="en-US" altLang="ko-KR" dirty="0"/>
              <a:t>, </a:t>
            </a:r>
            <a:r>
              <a:rPr lang="en-US" altLang="ko-KR" dirty="0" err="1"/>
              <a:t>scanf</a:t>
            </a:r>
            <a:r>
              <a:rPr lang="en-US" altLang="ko-KR" dirty="0"/>
              <a:t> </a:t>
            </a:r>
            <a:r>
              <a:rPr lang="ko-KR" altLang="en-US" dirty="0"/>
              <a:t>함수의 개념을 이해한다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dirty="0"/>
              <a:t>소스 파일과 헤더 파일이란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262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프로그램이 기록되는 위치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C </a:t>
            </a:r>
            <a:r>
              <a:rPr lang="ko-KR" altLang="en-US" b="1" dirty="0"/>
              <a:t>언어가 기록되는 파일</a:t>
            </a:r>
            <a:endParaRPr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소스 파일</a:t>
            </a:r>
            <a:r>
              <a:rPr lang="en-US" altLang="ko-KR" dirty="0"/>
              <a:t>(*c.)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확장자가 </a:t>
            </a:r>
            <a:r>
              <a:rPr lang="en-US" altLang="ko-KR" dirty="0"/>
              <a:t>c</a:t>
            </a:r>
            <a:r>
              <a:rPr lang="ko-KR" altLang="en-US" dirty="0"/>
              <a:t>인 파일</a:t>
            </a:r>
            <a:r>
              <a:rPr lang="en-US" altLang="ko-KR" dirty="0"/>
              <a:t>, </a:t>
            </a:r>
            <a:r>
              <a:rPr lang="ko-KR" altLang="en-US" dirty="0"/>
              <a:t>프로그램의 핵심 코드가 담기는 파일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헤더 파일</a:t>
            </a:r>
            <a:r>
              <a:rPr lang="en-US" altLang="ko-KR" dirty="0"/>
              <a:t>(*h.)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확장자가 </a:t>
            </a:r>
            <a:r>
              <a:rPr lang="en-US" altLang="ko-KR" dirty="0"/>
              <a:t>h</a:t>
            </a:r>
            <a:r>
              <a:rPr lang="ko-KR" altLang="en-US" dirty="0"/>
              <a:t>인 파일</a:t>
            </a:r>
            <a:r>
              <a:rPr lang="en-US" altLang="ko-KR" dirty="0"/>
              <a:t>, </a:t>
            </a:r>
            <a:r>
              <a:rPr lang="ko-KR" altLang="en-US" dirty="0"/>
              <a:t>참조 파일</a:t>
            </a:r>
            <a:endParaRPr lang="en-US" altLang="ko-KR" dirty="0"/>
          </a:p>
        </p:txBody>
      </p:sp>
      <p:pic>
        <p:nvPicPr>
          <p:cNvPr id="1026" name="Picture 2" descr="C:\Users\변소현\Desktop\난생처음 C 언어 프로그래밍\그림\Ch2\그림 2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281" y="3536414"/>
            <a:ext cx="6186487" cy="256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소스 파일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/>
            </a:pPr>
            <a:r>
              <a:rPr lang="en-US" altLang="ko-KR" b="1" dirty="0"/>
              <a:t>VS2022</a:t>
            </a:r>
            <a:r>
              <a:rPr lang="ko-KR" altLang="en-US" b="1" dirty="0"/>
              <a:t>를 실행하고 </a:t>
            </a:r>
            <a:r>
              <a:rPr lang="en-US" altLang="ko-KR" b="1" dirty="0"/>
              <a:t>[</a:t>
            </a:r>
            <a:r>
              <a:rPr lang="ko-KR" altLang="en-US" b="1" dirty="0"/>
              <a:t>소스 파일</a:t>
            </a:r>
            <a:r>
              <a:rPr lang="en-US" altLang="ko-KR" b="1" dirty="0"/>
              <a:t>] </a:t>
            </a:r>
            <a:r>
              <a:rPr lang="ko-KR" altLang="en-US" b="1" dirty="0"/>
              <a:t>폴더에서</a:t>
            </a:r>
            <a:r>
              <a:rPr lang="en-US" altLang="ko-KR" b="1" dirty="0"/>
              <a:t> </a:t>
            </a:r>
            <a:r>
              <a:rPr lang="ko-KR" altLang="en-US" b="1" dirty="0"/>
              <a:t>마우스 오른쪽 클릭 후 </a:t>
            </a:r>
            <a:r>
              <a:rPr lang="en-US" altLang="ko-KR" b="1" dirty="0"/>
              <a:t>[</a:t>
            </a:r>
            <a:r>
              <a:rPr lang="ko-KR" altLang="en-US" b="1" dirty="0"/>
              <a:t>추가</a:t>
            </a:r>
            <a:r>
              <a:rPr lang="en-US" altLang="ko-KR" b="1" dirty="0"/>
              <a:t>] [</a:t>
            </a:r>
            <a:r>
              <a:rPr lang="ko-KR" altLang="en-US" b="1" dirty="0"/>
              <a:t>새 항목</a:t>
            </a:r>
            <a:r>
              <a:rPr lang="en-US" altLang="ko-KR" b="1" dirty="0"/>
              <a:t>]</a:t>
            </a:r>
            <a:r>
              <a:rPr lang="ko-KR" altLang="en-US" b="1" dirty="0"/>
              <a:t>을 선택</a:t>
            </a:r>
          </a:p>
        </p:txBody>
      </p:sp>
      <p:pic>
        <p:nvPicPr>
          <p:cNvPr id="4" name="Picture 2" descr="C:\Users\변소현\Desktop\난생처음 C 언어 프로그래밍\그림\Ch2\p45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7" y="2794635"/>
            <a:ext cx="4161575" cy="356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87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소스 파일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 startAt="2"/>
            </a:pPr>
            <a:r>
              <a:rPr lang="en-US" altLang="ko-KR" b="1" dirty="0"/>
              <a:t>[C++ </a:t>
            </a:r>
            <a:r>
              <a:rPr lang="ko-KR" altLang="en-US" b="1" dirty="0"/>
              <a:t>파일</a:t>
            </a:r>
            <a:r>
              <a:rPr lang="en-US" altLang="ko-KR" b="1" dirty="0"/>
              <a:t>(.</a:t>
            </a:r>
            <a:r>
              <a:rPr lang="en-US" altLang="ko-KR" b="1" dirty="0" err="1"/>
              <a:t>cpp</a:t>
            </a:r>
            <a:r>
              <a:rPr lang="en-US" altLang="ko-KR" b="1" dirty="0"/>
              <a:t>)]</a:t>
            </a:r>
            <a:r>
              <a:rPr lang="ko-KR" altLang="en-US" b="1" dirty="0"/>
              <a:t>이 선택되어 있는지 확인 후</a:t>
            </a:r>
            <a:r>
              <a:rPr lang="en-US" altLang="ko-KR" b="1" dirty="0"/>
              <a:t> [</a:t>
            </a:r>
            <a:r>
              <a:rPr lang="ko-KR" altLang="en-US" b="1" dirty="0"/>
              <a:t>이름</a:t>
            </a:r>
            <a:r>
              <a:rPr lang="en-US" altLang="ko-KR" b="1" dirty="0"/>
              <a:t>]</a:t>
            </a:r>
            <a:r>
              <a:rPr lang="ko-KR" altLang="en-US" b="1" dirty="0"/>
              <a:t>에 </a:t>
            </a:r>
            <a:r>
              <a:rPr lang="en-US" altLang="ko-KR" b="1" dirty="0" err="1"/>
              <a:t>Main.c</a:t>
            </a:r>
            <a:r>
              <a:rPr lang="ko-KR" altLang="en-US" b="1" dirty="0"/>
              <a:t>를 입력</a:t>
            </a:r>
          </a:p>
        </p:txBody>
      </p:sp>
      <p:pic>
        <p:nvPicPr>
          <p:cNvPr id="3074" name="Picture 2" descr="C:\Users\변소현\Desktop\난생처음 C 언어 프로그래밍\그림\Ch2\p46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37" y="2408810"/>
            <a:ext cx="5210175" cy="248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oogle Shape;118;p8">
            <a:extLst>
              <a:ext uri="{FF2B5EF4-FFF2-40B4-BE49-F238E27FC236}">
                <a16:creationId xmlns:a16="http://schemas.microsoft.com/office/drawing/2014/main" xmlns="" id="{A1CEFD97-F8BE-4ECC-9188-8288A2824952}"/>
              </a:ext>
            </a:extLst>
          </p:cNvPr>
          <p:cNvGrpSpPr>
            <a:grpSpLocks noChangeAspect="1"/>
          </p:cNvGrpSpPr>
          <p:nvPr/>
        </p:nvGrpSpPr>
        <p:grpSpPr>
          <a:xfrm>
            <a:off x="1283294" y="5051095"/>
            <a:ext cx="6577412" cy="1511630"/>
            <a:chOff x="683573" y="1844824"/>
            <a:chExt cx="7924665" cy="1967590"/>
          </a:xfrm>
        </p:grpSpPr>
        <p:sp>
          <p:nvSpPr>
            <p:cNvPr id="6" name="Google Shape;119;p8">
              <a:extLst>
                <a:ext uri="{FF2B5EF4-FFF2-40B4-BE49-F238E27FC236}">
                  <a16:creationId xmlns:a16="http://schemas.microsoft.com/office/drawing/2014/main" xmlns="" id="{F2F2E0E9-A590-4583-920C-964F76CFBFB7}"/>
                </a:ext>
              </a:extLst>
            </p:cNvPr>
            <p:cNvSpPr/>
            <p:nvPr/>
          </p:nvSpPr>
          <p:spPr>
            <a:xfrm>
              <a:off x="688238" y="1844824"/>
              <a:ext cx="7920000" cy="1886937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0;p8">
              <a:extLst>
                <a:ext uri="{FF2B5EF4-FFF2-40B4-BE49-F238E27FC236}">
                  <a16:creationId xmlns:a16="http://schemas.microsoft.com/office/drawing/2014/main" xmlns="" id="{5D743D10-26E7-451A-885B-A734175352B7}"/>
                </a:ext>
              </a:extLst>
            </p:cNvPr>
            <p:cNvSpPr txBox="1"/>
            <p:nvPr/>
          </p:nvSpPr>
          <p:spPr>
            <a:xfrm>
              <a:off x="762141" y="2322932"/>
              <a:ext cx="7772192" cy="1489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en-US" altLang="ko-KR" sz="1200" dirty="0">
                  <a:latin typeface="+mj-ea"/>
                  <a:ea typeface="+mj-ea"/>
                </a:rPr>
                <a:t>VS2022</a:t>
              </a:r>
              <a:r>
                <a:rPr lang="ko-KR" altLang="en-US" sz="1200" dirty="0">
                  <a:latin typeface="+mj-ea"/>
                  <a:ea typeface="+mj-ea"/>
                </a:rPr>
                <a:t>는 확장자가 </a:t>
              </a:r>
              <a:r>
                <a:rPr lang="en-US" altLang="ko-KR" sz="1200" dirty="0" err="1">
                  <a:latin typeface="+mj-ea"/>
                  <a:ea typeface="+mj-ea"/>
                </a:rPr>
                <a:t>cpp</a:t>
              </a:r>
              <a:r>
                <a:rPr lang="ko-KR" altLang="en-US" sz="1200" dirty="0">
                  <a:latin typeface="+mj-ea"/>
                  <a:ea typeface="+mj-ea"/>
                </a:rPr>
                <a:t>인 </a:t>
              </a:r>
              <a:r>
                <a:rPr lang="en-US" altLang="ko-KR" sz="1200" dirty="0">
                  <a:latin typeface="+mj-ea"/>
                  <a:ea typeface="+mj-ea"/>
                </a:rPr>
                <a:t>C++</a:t>
              </a:r>
              <a:r>
                <a:rPr lang="ko-KR" altLang="en-US" sz="1200" dirty="0">
                  <a:latin typeface="+mj-ea"/>
                  <a:ea typeface="+mj-ea"/>
                </a:rPr>
                <a:t>의 소스 파일은 목록에서 골라서 쉽게 추가할 수 있지만</a:t>
              </a:r>
              <a:r>
                <a:rPr lang="en-US" altLang="ko-KR" sz="1200" dirty="0">
                  <a:latin typeface="+mj-ea"/>
                  <a:ea typeface="+mj-ea"/>
                </a:rPr>
                <a:t>, </a:t>
              </a:r>
              <a:r>
                <a:rPr lang="ko-KR" altLang="en-US" sz="1200" dirty="0">
                  <a:latin typeface="+mj-ea"/>
                  <a:ea typeface="+mj-ea"/>
                </a:rPr>
                <a:t>확장자가 </a:t>
              </a:r>
              <a:r>
                <a:rPr lang="en-US" altLang="ko-KR" sz="1200" dirty="0">
                  <a:latin typeface="+mj-ea"/>
                  <a:ea typeface="+mj-ea"/>
                </a:rPr>
                <a:t>c</a:t>
              </a:r>
              <a:r>
                <a:rPr lang="ko-KR" altLang="en-US" sz="1200" dirty="0">
                  <a:latin typeface="+mj-ea"/>
                  <a:ea typeface="+mj-ea"/>
                </a:rPr>
                <a:t>인 </a:t>
              </a:r>
              <a:r>
                <a:rPr lang="en-US" altLang="ko-KR" sz="1200" dirty="0">
                  <a:latin typeface="+mj-ea"/>
                  <a:ea typeface="+mj-ea"/>
                </a:rPr>
                <a:t>C </a:t>
              </a:r>
              <a:r>
                <a:rPr lang="ko-KR" altLang="en-US" sz="1200" dirty="0">
                  <a:latin typeface="+mj-ea"/>
                  <a:ea typeface="+mj-ea"/>
                </a:rPr>
                <a:t>언어 소스 파일은 그렇지 못함</a:t>
              </a:r>
            </a:p>
            <a:p>
              <a:pPr marL="447675" marR="0" lvl="1" indent="-180975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200" i="0" u="none" strike="noStrike" cap="none" dirty="0">
                  <a:solidFill>
                    <a:schemeClr val="dk1"/>
                  </a:solidFill>
                  <a:latin typeface="+mj-ea"/>
                  <a:ea typeface="+mj-ea"/>
                  <a:cs typeface="Malgun Gothic"/>
                  <a:sym typeface="Malgun Gothic"/>
                </a:rPr>
                <a:t>순수 </a:t>
              </a:r>
              <a:r>
                <a:rPr lang="en-US" altLang="ko-KR" sz="1200" i="0" u="none" strike="noStrike" cap="none" dirty="0">
                  <a:solidFill>
                    <a:schemeClr val="dk1"/>
                  </a:solidFill>
                  <a:latin typeface="+mj-ea"/>
                  <a:ea typeface="+mj-ea"/>
                  <a:cs typeface="Malgun Gothic"/>
                  <a:sym typeface="Malgun Gothic"/>
                </a:rPr>
                <a:t>C </a:t>
              </a:r>
              <a:r>
                <a:rPr lang="ko-KR" altLang="en-US" sz="1200" i="0" u="none" strike="noStrike" cap="none" dirty="0">
                  <a:solidFill>
                    <a:schemeClr val="dk1"/>
                  </a:solidFill>
                  <a:latin typeface="+mj-ea"/>
                  <a:ea typeface="+mj-ea"/>
                  <a:cs typeface="Malgun Gothic"/>
                  <a:sym typeface="Malgun Gothic"/>
                </a:rPr>
                <a:t>소스 파일을 작성하기 위해서는 </a:t>
              </a:r>
              <a:r>
                <a:rPr lang="en-US" altLang="ko-KR" sz="1200" i="0" u="none" strike="noStrike" cap="none" dirty="0">
                  <a:solidFill>
                    <a:schemeClr val="dk1"/>
                  </a:solidFill>
                  <a:latin typeface="+mj-ea"/>
                  <a:ea typeface="+mj-ea"/>
                  <a:cs typeface="Malgun Gothic"/>
                  <a:sym typeface="Malgun Gothic"/>
                </a:rPr>
                <a:t>‘</a:t>
              </a:r>
              <a:r>
                <a:rPr lang="en-US" altLang="ko-KR" sz="1200" i="0" u="none" strike="noStrike" cap="none" dirty="0" err="1">
                  <a:solidFill>
                    <a:schemeClr val="dk1"/>
                  </a:solidFill>
                  <a:latin typeface="+mj-ea"/>
                  <a:ea typeface="+mj-ea"/>
                  <a:cs typeface="Malgun Gothic"/>
                  <a:sym typeface="Malgun Gothic"/>
                </a:rPr>
                <a:t>Main.c</a:t>
              </a:r>
              <a:r>
                <a:rPr lang="en-US" altLang="ko-KR" sz="1200" i="0" u="none" strike="noStrike" cap="none" dirty="0">
                  <a:solidFill>
                    <a:schemeClr val="dk1"/>
                  </a:solidFill>
                  <a:latin typeface="+mj-ea"/>
                  <a:ea typeface="+mj-ea"/>
                  <a:cs typeface="Malgun Gothic"/>
                  <a:sym typeface="Malgun Gothic"/>
                </a:rPr>
                <a:t>’</a:t>
              </a:r>
              <a:r>
                <a:rPr lang="ko-KR" altLang="en-US" sz="1200" i="0" u="none" strike="noStrike" cap="none" dirty="0">
                  <a:solidFill>
                    <a:schemeClr val="dk1"/>
                  </a:solidFill>
                  <a:latin typeface="+mj-ea"/>
                  <a:ea typeface="+mj-ea"/>
                  <a:cs typeface="Malgun Gothic"/>
                  <a:sym typeface="Malgun Gothic"/>
                </a:rPr>
                <a:t>와 같이 </a:t>
              </a:r>
              <a:r>
                <a:rPr lang="ko-KR" altLang="en-US" sz="1200" i="0" u="none" strike="noStrike" cap="none" dirty="0" err="1">
                  <a:solidFill>
                    <a:schemeClr val="dk1"/>
                  </a:solidFill>
                  <a:latin typeface="+mj-ea"/>
                  <a:ea typeface="+mj-ea"/>
                  <a:cs typeface="Malgun Gothic"/>
                  <a:sym typeface="Malgun Gothic"/>
                </a:rPr>
                <a:t>확장자를</a:t>
              </a:r>
              <a:r>
                <a:rPr lang="ko-KR" altLang="en-US" sz="1200" i="0" u="none" strike="noStrike" cap="none" dirty="0">
                  <a:solidFill>
                    <a:schemeClr val="dk1"/>
                  </a:solidFill>
                  <a:latin typeface="+mj-ea"/>
                  <a:ea typeface="+mj-ea"/>
                  <a:cs typeface="Malgun Gothic"/>
                  <a:sym typeface="Malgun Gothic"/>
                </a:rPr>
                <a:t> 직접 입력해야 함</a:t>
              </a:r>
              <a:endParaRPr sz="120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Malgun Gothic"/>
                <a:sym typeface="Malgun Gothic"/>
              </a:endParaRPr>
            </a:p>
          </p:txBody>
        </p:sp>
        <p:sp>
          <p:nvSpPr>
            <p:cNvPr id="8" name="Google Shape;121;p8">
              <a:extLst>
                <a:ext uri="{FF2B5EF4-FFF2-40B4-BE49-F238E27FC236}">
                  <a16:creationId xmlns:a16="http://schemas.microsoft.com/office/drawing/2014/main" xmlns="" id="{A258A828-9D50-4F29-B355-ACD7D1307329}"/>
                </a:ext>
              </a:extLst>
            </p:cNvPr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sz="12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100" dirty="0"/>
            </a:p>
          </p:txBody>
        </p:sp>
        <p:sp>
          <p:nvSpPr>
            <p:cNvPr id="9" name="Google Shape;122;p8">
              <a:extLst>
                <a:ext uri="{FF2B5EF4-FFF2-40B4-BE49-F238E27FC236}">
                  <a16:creationId xmlns:a16="http://schemas.microsoft.com/office/drawing/2014/main" xmlns="" id="{CEF2E79E-6955-4DEB-9BCB-5B70D9A64AB3}"/>
                </a:ext>
              </a:extLst>
            </p:cNvPr>
            <p:cNvSpPr txBox="1"/>
            <p:nvPr/>
          </p:nvSpPr>
          <p:spPr>
            <a:xfrm>
              <a:off x="2256715" y="1911000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479D"/>
                </a:buClr>
                <a:buSzPts val="1800"/>
                <a:buFont typeface="Noto Sans Symbols"/>
                <a:buNone/>
              </a:pPr>
              <a:r>
                <a:rPr lang="en-US" altLang="ko-KR" b="1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cpp</a:t>
              </a: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와 </a:t>
              </a:r>
              <a:r>
                <a:rPr lang="en-US" altLang="ko-KR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 </a:t>
              </a:r>
              <a:r>
                <a:rPr lang="ko-KR" altLang="en-US" b="1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확장자</a:t>
              </a:r>
              <a:endParaRPr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627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소스 파일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 startAt="3"/>
            </a:pPr>
            <a:r>
              <a:rPr lang="ko-KR" altLang="en-US" b="1" dirty="0"/>
              <a:t>입력을 완료하고 </a:t>
            </a:r>
            <a:r>
              <a:rPr lang="en-US" altLang="ko-KR" b="1" dirty="0"/>
              <a:t>&lt;</a:t>
            </a:r>
            <a:r>
              <a:rPr lang="ko-KR" altLang="en-US" b="1" dirty="0"/>
              <a:t>추가</a:t>
            </a:r>
            <a:r>
              <a:rPr lang="en-US" altLang="ko-KR" b="1" dirty="0"/>
              <a:t>&gt; </a:t>
            </a:r>
            <a:r>
              <a:rPr lang="ko-KR" altLang="en-US" b="1" dirty="0"/>
              <a:t>버튼을 클릭하면 </a:t>
            </a:r>
            <a:r>
              <a:rPr lang="en-US" altLang="ko-KR" b="1" dirty="0" err="1"/>
              <a:t>Main.c</a:t>
            </a:r>
            <a:r>
              <a:rPr lang="en-US" altLang="ko-KR" b="1" dirty="0"/>
              <a:t> </a:t>
            </a:r>
            <a:r>
              <a:rPr lang="ko-KR" altLang="en-US" b="1" dirty="0"/>
              <a:t>파일이 추가됨</a:t>
            </a:r>
          </a:p>
        </p:txBody>
      </p:sp>
      <p:pic>
        <p:nvPicPr>
          <p:cNvPr id="4098" name="Picture 2" descr="C:\Users\변소현\Desktop\난생처음 C 언어 프로그래밍\그림\Ch2\p46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2502143"/>
            <a:ext cx="6502400" cy="338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618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소스 파일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 startAt="4"/>
            </a:pPr>
            <a:r>
              <a:rPr lang="ko-KR" altLang="en-US" b="1" dirty="0"/>
              <a:t>코드 편집기에 다음과 같이 코드를 입력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835541" y="2712283"/>
            <a:ext cx="3486293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최초의 프로그램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603053466"/>
              </p:ext>
            </p:extLst>
          </p:nvPr>
        </p:nvGraphicFramePr>
        <p:xfrm>
          <a:off x="925577" y="3075636"/>
          <a:ext cx="7416825" cy="1883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/>
                        <a:t>"</a:t>
                      </a:r>
                      <a:r>
                        <a:rPr lang="ko-KR" altLang="en-US" dirty="0">
                          <a:latin typeface="Consolas" panose="020B0609020204030204" pitchFamily="49" charset="0"/>
                        </a:rPr>
                        <a:t>난생처음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C </a:t>
                      </a:r>
                      <a:r>
                        <a:rPr lang="ko-KR" altLang="en-US" dirty="0"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dirty="0"/>
                        <a:t>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}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756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소스 파일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 startAt="5"/>
            </a:pPr>
            <a:r>
              <a:rPr lang="en-US" altLang="ko-KR" b="1" dirty="0"/>
              <a:t>VS2022 </a:t>
            </a:r>
            <a:r>
              <a:rPr lang="ko-KR" altLang="en-US" b="1" dirty="0"/>
              <a:t>메뉴에서 </a:t>
            </a:r>
            <a:r>
              <a:rPr lang="en-US" altLang="ko-KR" b="1" dirty="0"/>
              <a:t>[</a:t>
            </a:r>
            <a:r>
              <a:rPr lang="ko-KR" altLang="en-US" b="1" dirty="0"/>
              <a:t>디버그</a:t>
            </a:r>
            <a:r>
              <a:rPr lang="en-US" altLang="ko-KR" b="1" dirty="0"/>
              <a:t>] [</a:t>
            </a:r>
            <a:r>
              <a:rPr lang="ko-KR" altLang="en-US" b="1" dirty="0" err="1"/>
              <a:t>디버</a:t>
            </a:r>
            <a:r>
              <a:rPr lang="ko-KR" altLang="en-US" b="1" dirty="0"/>
              <a:t> </a:t>
            </a:r>
            <a:r>
              <a:rPr lang="ko-KR" altLang="en-US" b="1" dirty="0" err="1"/>
              <a:t>그하지</a:t>
            </a:r>
            <a:r>
              <a:rPr lang="ko-KR" altLang="en-US" b="1" dirty="0"/>
              <a:t> 않고 시작</a:t>
            </a:r>
            <a:r>
              <a:rPr lang="en-US" altLang="ko-KR" b="1" dirty="0"/>
              <a:t>]</a:t>
            </a:r>
            <a:r>
              <a:rPr lang="ko-KR" altLang="en-US" b="1" dirty="0"/>
              <a:t>을 선택하거나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Ctrl+F5</a:t>
            </a:r>
            <a:r>
              <a:rPr lang="ko-KR" altLang="en-US" b="1" dirty="0"/>
              <a:t>를 눌러서 실행</a:t>
            </a:r>
          </a:p>
        </p:txBody>
      </p:sp>
      <p:pic>
        <p:nvPicPr>
          <p:cNvPr id="5122" name="Picture 2" descr="C:\Users\변소현\Desktop\난생처음 C 언어 프로그래밍\그림\Ch2\p47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3094038"/>
            <a:ext cx="5287963" cy="261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781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소스 파일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 startAt="6"/>
            </a:pPr>
            <a:r>
              <a:rPr lang="ko-KR" altLang="en-US" b="1" dirty="0"/>
              <a:t>다음과 같은 콘솔 창이 뜨면서 결과가 출력됨</a:t>
            </a:r>
          </a:p>
        </p:txBody>
      </p:sp>
      <p:pic>
        <p:nvPicPr>
          <p:cNvPr id="6146" name="Picture 2" descr="C:\Users\변소현\Desktop\난생처음 C 언어 프로그래밍\그림\Ch2\p48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588" y="2752725"/>
            <a:ext cx="5075237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101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소스 파일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 startAt="7"/>
            </a:pPr>
            <a:r>
              <a:rPr lang="en-US" altLang="ko-KR" b="1" dirty="0"/>
              <a:t>[</a:t>
            </a:r>
            <a:r>
              <a:rPr lang="ko-KR" altLang="en-US" b="1" dirty="0"/>
              <a:t>코드 </a:t>
            </a:r>
            <a:r>
              <a:rPr lang="en-US" altLang="ko-KR" b="1" dirty="0"/>
              <a:t>2-1] 5</a:t>
            </a:r>
            <a:r>
              <a:rPr lang="ko-KR" altLang="en-US" b="1" dirty="0"/>
              <a:t>행의 </a:t>
            </a:r>
            <a:r>
              <a:rPr lang="en-US" altLang="ko-KR" b="1" dirty="0" err="1"/>
              <a:t>printf</a:t>
            </a:r>
            <a:r>
              <a:rPr lang="ko-KR" altLang="en-US" b="1" dirty="0"/>
              <a:t>를 </a:t>
            </a:r>
            <a:r>
              <a:rPr lang="en-US" altLang="ko-KR" b="1" dirty="0" err="1"/>
              <a:t>prnit</a:t>
            </a:r>
            <a:r>
              <a:rPr lang="ko-KR" altLang="en-US" b="1" dirty="0"/>
              <a:t>로 잘못 입력한 경우</a:t>
            </a:r>
            <a:r>
              <a:rPr lang="en-US" altLang="ko-KR" b="1" dirty="0"/>
              <a:t>,</a:t>
            </a:r>
            <a:br>
              <a:rPr lang="en-US" altLang="ko-KR" b="1" dirty="0"/>
            </a:br>
            <a:r>
              <a:rPr lang="ko-KR" altLang="en-US" b="1" dirty="0"/>
              <a:t>다음과 같은 창이 뜨면 </a:t>
            </a:r>
            <a:r>
              <a:rPr lang="en-US" altLang="ko-KR" b="1" dirty="0"/>
              <a:t>‘</a:t>
            </a:r>
            <a:r>
              <a:rPr lang="ko-KR" altLang="en-US" b="1" dirty="0"/>
              <a:t>이 대화 상자를 다시 표시 안 함</a:t>
            </a:r>
            <a:r>
              <a:rPr lang="en-US" altLang="ko-KR" b="1" dirty="0"/>
              <a:t>’</a:t>
            </a:r>
            <a:r>
              <a:rPr lang="ko-KR" altLang="en-US" b="1" dirty="0"/>
              <a:t>에 체크 후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>&lt;</a:t>
            </a:r>
            <a:r>
              <a:rPr lang="ko-KR" altLang="en-US" b="1" dirty="0"/>
              <a:t>아니요</a:t>
            </a:r>
            <a:r>
              <a:rPr lang="en-US" altLang="ko-KR" b="1" dirty="0"/>
              <a:t>&gt;</a:t>
            </a:r>
            <a:r>
              <a:rPr lang="ko-KR" altLang="en-US" b="1" dirty="0"/>
              <a:t>를 누름</a:t>
            </a:r>
          </a:p>
        </p:txBody>
      </p:sp>
      <p:pic>
        <p:nvPicPr>
          <p:cNvPr id="7170" name="Picture 2" descr="C:\Users\변소현\Desktop\난생처음 C 언어 프로그래밍\그림\Ch2\p48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813" y="3529013"/>
            <a:ext cx="4016375" cy="172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37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소스 파일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 startAt="8"/>
            </a:pPr>
            <a:r>
              <a:rPr lang="ko-KR" altLang="en-US" b="1" dirty="0"/>
              <a:t>다시 프로그램을 실행하면 </a:t>
            </a:r>
            <a:r>
              <a:rPr lang="en-US" altLang="ko-KR" b="1" dirty="0"/>
              <a:t>VS2022</a:t>
            </a:r>
            <a:r>
              <a:rPr lang="ko-KR" altLang="en-US" b="1" dirty="0"/>
              <a:t>의 </a:t>
            </a:r>
            <a:r>
              <a:rPr lang="en-US" altLang="ko-KR" b="1" dirty="0"/>
              <a:t>[</a:t>
            </a:r>
            <a:r>
              <a:rPr lang="ko-KR" altLang="en-US" b="1" dirty="0"/>
              <a:t>출력</a:t>
            </a:r>
            <a:r>
              <a:rPr lang="en-US" altLang="ko-KR" b="1" dirty="0"/>
              <a:t>] </a:t>
            </a:r>
            <a:r>
              <a:rPr lang="ko-KR" altLang="en-US" b="1" dirty="0"/>
              <a:t>창에</a:t>
            </a:r>
            <a:r>
              <a:rPr lang="en-US" altLang="ko-KR" b="1" dirty="0"/>
              <a:t> </a:t>
            </a:r>
            <a:r>
              <a:rPr lang="ko-KR" altLang="en-US" b="1" dirty="0"/>
              <a:t>다음과 같은 메시지가 출력되고 빌드에 실패함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3214688"/>
            <a:ext cx="6838950" cy="768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8801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헤더 파일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stdio.h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ko-KR" altLang="en-US" dirty="0"/>
              <a:t> 헤더 파일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컴퓨터가 소스 파일 </a:t>
            </a:r>
            <a:r>
              <a:rPr lang="en-US" altLang="ko-KR" dirty="0" err="1"/>
              <a:t>Main.c</a:t>
            </a:r>
            <a:r>
              <a:rPr lang="ko-KR" altLang="en-US" dirty="0"/>
              <a:t>를 읽을 때 </a:t>
            </a:r>
            <a:r>
              <a:rPr lang="en-US" altLang="ko-KR" dirty="0" smtClean="0">
                <a:solidFill>
                  <a:srgbClr val="FF0000"/>
                </a:solidFill>
              </a:rPr>
              <a:t>&lt;</a:t>
            </a:r>
            <a:r>
              <a:rPr lang="en-US" altLang="ko-KR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stdio.h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ko-KR" altLang="en-US" dirty="0"/>
              <a:t>라는</a:t>
            </a:r>
            <a:r>
              <a:rPr lang="en-US" altLang="ko-KR" dirty="0"/>
              <a:t> </a:t>
            </a:r>
            <a:r>
              <a:rPr lang="ko-KR" altLang="en-US" dirty="0"/>
              <a:t>헤더 파일을 참조하라는 의미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위 행을 삭제하면 아래와 같은 오류 문구가 출력됨</a:t>
            </a:r>
            <a:endParaRPr lang="en-US" altLang="ko-KR" dirty="0"/>
          </a:p>
        </p:txBody>
      </p:sp>
      <p:sp>
        <p:nvSpPr>
          <p:cNvPr id="9" name="Google Shape;117;p8"/>
          <p:cNvSpPr/>
          <p:nvPr/>
        </p:nvSpPr>
        <p:spPr>
          <a:xfrm>
            <a:off x="900029" y="2026581"/>
            <a:ext cx="7200800" cy="507069"/>
          </a:xfrm>
          <a:prstGeom prst="roundRect">
            <a:avLst>
              <a:gd name="adj" fmla="val 16667"/>
            </a:avLst>
          </a:prstGeom>
          <a:solidFill>
            <a:srgbClr val="E5DF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#include </a:t>
            </a:r>
            <a:r>
              <a:rPr lang="en-US" sz="1600" dirty="0" smtClean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600" dirty="0" err="1" smtClean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stdio.h</a:t>
            </a:r>
            <a:r>
              <a:rPr lang="en-U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029" y="4667250"/>
            <a:ext cx="7286526" cy="79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172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1123949" y="1914525"/>
            <a:ext cx="6886575" cy="3194703"/>
            <a:chOff x="1138237" y="1628775"/>
            <a:chExt cx="6886575" cy="3194703"/>
          </a:xfrm>
        </p:grpSpPr>
        <p:pic>
          <p:nvPicPr>
            <p:cNvPr id="1024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8237" y="1628775"/>
              <a:ext cx="6886575" cy="1960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5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3721783"/>
              <a:ext cx="6315075" cy="1101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13602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소스 파일과 헤더 파일이란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488" y="1814716"/>
            <a:ext cx="6696074" cy="3851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2274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sz="4000" dirty="0"/>
              <a:t>C </a:t>
            </a:r>
            <a:r>
              <a:rPr lang="ko-KR" altLang="en-US" sz="4000" dirty="0"/>
              <a:t>코드의 기초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코드를 구성하는 기본 요소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키워드</a:t>
            </a:r>
            <a:r>
              <a:rPr lang="en-US" altLang="ko-KR" b="1" dirty="0"/>
              <a:t>(Keyword, </a:t>
            </a:r>
            <a:r>
              <a:rPr lang="ko-KR" altLang="en-US" b="1" dirty="0" err="1"/>
              <a:t>예약어</a:t>
            </a:r>
            <a:r>
              <a:rPr lang="en-US" altLang="ko-KR" b="1" dirty="0"/>
              <a:t>)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의미가 고정되어 다른 의미로 사용될 수 없는 단어</a:t>
            </a:r>
            <a:endParaRPr lang="en-US" altLang="ko-KR" dirty="0"/>
          </a:p>
        </p:txBody>
      </p:sp>
      <p:pic>
        <p:nvPicPr>
          <p:cNvPr id="13314" name="Picture 2" descr="C:\Users\변소현\Desktop\난생처음 C 언어 프로그래밍\그림\Ch2\그림 2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25" y="3190462"/>
            <a:ext cx="6049963" cy="206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코드를 구성하는 기본 요소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 err="1"/>
              <a:t>식별자</a:t>
            </a:r>
            <a:r>
              <a:rPr lang="en-US" altLang="ko-KR" b="1" dirty="0"/>
              <a:t>(Identifier)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프로그램을 구성하는 각종 요소</a:t>
            </a:r>
            <a:r>
              <a:rPr lang="en-US" altLang="ko-KR" dirty="0"/>
              <a:t>(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/>
              <a:t>함수 등</a:t>
            </a:r>
            <a:r>
              <a:rPr lang="en-US" altLang="ko-KR" dirty="0"/>
              <a:t>)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식별하기 위하여 프로그래머가 직접 지은 이름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식별자를</a:t>
            </a:r>
            <a:r>
              <a:rPr lang="ko-KR" altLang="en-US" b="1" dirty="0"/>
              <a:t> 만드는 규칙</a:t>
            </a:r>
            <a:endParaRPr lang="ko-KR" altLang="en-US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eriod"/>
            </a:pPr>
            <a:r>
              <a:rPr lang="ko-KR" altLang="en-US" dirty="0"/>
              <a:t>키워드</a:t>
            </a:r>
            <a:r>
              <a:rPr lang="en-US" altLang="ko-KR" dirty="0"/>
              <a:t>(</a:t>
            </a:r>
            <a:r>
              <a:rPr lang="ko-KR" altLang="en-US" dirty="0" err="1"/>
              <a:t>예약어</a:t>
            </a:r>
            <a:r>
              <a:rPr lang="en-US" altLang="ko-KR" dirty="0"/>
              <a:t>)</a:t>
            </a:r>
            <a:r>
              <a:rPr lang="ko-KR" altLang="en-US" dirty="0"/>
              <a:t>는 식별자가 될 수 없음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eriod"/>
            </a:pPr>
            <a:r>
              <a:rPr lang="ko-KR" altLang="en-US" dirty="0"/>
              <a:t>첫 문자로 숫자가 올 수 없음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eriod"/>
            </a:pPr>
            <a:r>
              <a:rPr lang="ko-KR" altLang="en-US" dirty="0"/>
              <a:t>대소문자를 구분함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39715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0"/>
            <a:ext cx="8424936" cy="34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코드를 구성하는 기본 요소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 err="1"/>
              <a:t>리터럴</a:t>
            </a:r>
            <a:r>
              <a:rPr lang="en-US" altLang="ko-KR" b="1" dirty="0"/>
              <a:t>(Literal)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그 자체로서 값을 나타내는 것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리터럴의</a:t>
            </a:r>
            <a:r>
              <a:rPr lang="ko-KR" altLang="en-US" b="1" dirty="0"/>
              <a:t> 종류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숫자 </a:t>
            </a:r>
            <a:r>
              <a:rPr lang="ko-KR" altLang="en-US" dirty="0" err="1"/>
              <a:t>리터럴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숫자를 의미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문자 </a:t>
            </a:r>
            <a:r>
              <a:rPr lang="ko-KR" altLang="en-US" dirty="0" err="1"/>
              <a:t>리터럴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작은따옴포</a:t>
            </a:r>
            <a:r>
              <a:rPr lang="en-US" altLang="ko-KR" dirty="0"/>
              <a:t>(‘’)</a:t>
            </a:r>
            <a:r>
              <a:rPr lang="ko-KR" altLang="en-US" dirty="0"/>
              <a:t>로 이루어진 한 개의 문자</a:t>
            </a:r>
            <a:r>
              <a:rPr lang="en-US" altLang="ko-KR" dirty="0"/>
              <a:t>, </a:t>
            </a:r>
            <a:r>
              <a:rPr lang="ko-KR" altLang="en-US" dirty="0"/>
              <a:t>숫자를 의미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문자열 </a:t>
            </a:r>
            <a:r>
              <a:rPr lang="ko-KR" altLang="en-US" dirty="0" err="1"/>
              <a:t>리터럴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큰따옴표</a:t>
            </a:r>
            <a:r>
              <a:rPr lang="en-US" altLang="ko-KR" dirty="0"/>
              <a:t>(“”)</a:t>
            </a:r>
            <a:r>
              <a:rPr lang="ko-KR" altLang="en-US" dirty="0"/>
              <a:t>로 이루어진 문자열을 의미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62936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196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코드를 구성하는 기본 요소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연산자</a:t>
            </a:r>
            <a:r>
              <a:rPr lang="en-US" altLang="ko-KR" b="1" dirty="0"/>
              <a:t>(Operator)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사칙연산 기호인 </a:t>
            </a:r>
            <a:r>
              <a:rPr lang="en-US" altLang="ko-KR" dirty="0"/>
              <a:t>+, -, *, / </a:t>
            </a:r>
            <a:r>
              <a:rPr lang="ko-KR" altLang="en-US" dirty="0"/>
              <a:t>등이 있음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수학의 연산자와 차이가 있음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기호 </a:t>
            </a:r>
            <a:r>
              <a:rPr lang="en-US" altLang="ko-KR" dirty="0"/>
              <a:t>=</a:t>
            </a:r>
            <a:r>
              <a:rPr lang="ko-KR" altLang="en-US" dirty="0"/>
              <a:t>의 경우 </a:t>
            </a:r>
            <a:r>
              <a:rPr lang="en-US" altLang="ko-KR" dirty="0"/>
              <a:t>‘</a:t>
            </a:r>
            <a:r>
              <a:rPr lang="ko-KR" altLang="en-US" dirty="0"/>
              <a:t>대입</a:t>
            </a:r>
            <a:r>
              <a:rPr lang="en-US" altLang="ko-KR" dirty="0"/>
              <a:t>’</a:t>
            </a:r>
            <a:r>
              <a:rPr lang="ko-KR" altLang="en-US" dirty="0"/>
              <a:t>을 나타냄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문장 부호</a:t>
            </a:r>
            <a:r>
              <a:rPr lang="en-US" altLang="ko-KR" b="1" dirty="0"/>
              <a:t>(Punctuator)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작은따옴표</a:t>
            </a:r>
            <a:r>
              <a:rPr lang="en-US" altLang="ko-KR" dirty="0"/>
              <a:t>(‘’), </a:t>
            </a:r>
            <a:r>
              <a:rPr lang="ko-KR" altLang="en-US" dirty="0"/>
              <a:t>큰따옴표</a:t>
            </a:r>
            <a:r>
              <a:rPr lang="en-US" altLang="ko-KR" dirty="0"/>
              <a:t>(“”), </a:t>
            </a:r>
            <a:r>
              <a:rPr lang="ko-KR" altLang="en-US" dirty="0"/>
              <a:t>중괄호</a:t>
            </a:r>
            <a:r>
              <a:rPr lang="en-US" altLang="ko-KR" dirty="0"/>
              <a:t>({}), </a:t>
            </a:r>
            <a:r>
              <a:rPr lang="ko-KR" altLang="en-US" dirty="0"/>
              <a:t>세미콜론</a:t>
            </a:r>
            <a:r>
              <a:rPr lang="en-US" altLang="ko-KR" dirty="0"/>
              <a:t>(;)</a:t>
            </a:r>
            <a:r>
              <a:rPr lang="ko-KR" altLang="en-US" dirty="0"/>
              <a:t> 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61036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196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코드를 구성하는 기본 요소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토큰 분석하기</a:t>
            </a:r>
            <a:endParaRPr 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[</a:t>
            </a:r>
            <a:r>
              <a:rPr lang="en-US" altLang="ko-KR" dirty="0" err="1">
                <a:latin typeface="Consolas" panose="020B0609020204030204" pitchFamily="49" charset="0"/>
              </a:rPr>
              <a:t>int</a:t>
            </a:r>
            <a:r>
              <a:rPr lang="en-US" altLang="ko-KR" dirty="0">
                <a:latin typeface="Consolas" panose="020B0609020204030204" pitchFamily="49" charset="0"/>
              </a:rPr>
              <a:t>, a, =, b, +, 1, ;]</a:t>
            </a:r>
            <a:r>
              <a:rPr lang="en-US" altLang="ko-KR" dirty="0"/>
              <a:t> </a:t>
            </a:r>
            <a:r>
              <a:rPr lang="ko-KR" altLang="en-US" dirty="0"/>
              <a:t>총 </a:t>
            </a:r>
            <a:r>
              <a:rPr lang="en-US" altLang="ko-KR" dirty="0"/>
              <a:t>7</a:t>
            </a:r>
            <a:r>
              <a:rPr lang="ko-KR" altLang="en-US" dirty="0"/>
              <a:t>개의 토큰으로 분리됨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>
                <a:latin typeface="Consolas" panose="020B0609020204030204" pitchFamily="49" charset="0"/>
              </a:rPr>
              <a:t>int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키워드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a, b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식별자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=, +</a:t>
            </a:r>
            <a:r>
              <a:rPr lang="en-US" altLang="ko-KR" dirty="0"/>
              <a:t> :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1</a:t>
            </a:r>
            <a:r>
              <a:rPr lang="en-US" altLang="ko-KR" dirty="0"/>
              <a:t> : </a:t>
            </a:r>
            <a:r>
              <a:rPr lang="ko-KR" altLang="en-US" dirty="0" err="1"/>
              <a:t>리터럴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;</a:t>
            </a:r>
            <a:r>
              <a:rPr lang="en-US" altLang="ko-KR" dirty="0"/>
              <a:t> : </a:t>
            </a:r>
            <a:r>
              <a:rPr lang="ko-KR" altLang="en-US" dirty="0"/>
              <a:t>문장부호</a:t>
            </a:r>
            <a:endParaRPr lang="en-US" altLang="ko-KR" dirty="0"/>
          </a:p>
        </p:txBody>
      </p:sp>
      <p:sp>
        <p:nvSpPr>
          <p:cNvPr id="4" name="Google Shape;117;p8"/>
          <p:cNvSpPr/>
          <p:nvPr/>
        </p:nvSpPr>
        <p:spPr>
          <a:xfrm>
            <a:off x="1242929" y="2362200"/>
            <a:ext cx="6529471" cy="507069"/>
          </a:xfrm>
          <a:prstGeom prst="roundRect">
            <a:avLst>
              <a:gd name="adj" fmla="val 16667"/>
            </a:avLst>
          </a:prstGeom>
          <a:solidFill>
            <a:srgbClr val="E5DF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= b + 1;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528923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197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 startAt="2"/>
            </a:pPr>
            <a:r>
              <a:rPr lang="ko-KR" altLang="en-US" sz="2400" dirty="0"/>
              <a:t>정수 </a:t>
            </a:r>
            <a:r>
              <a:rPr lang="ko-KR" altLang="en-US" sz="2400" dirty="0" err="1"/>
              <a:t>리터럴과</a:t>
            </a:r>
            <a:r>
              <a:rPr lang="ko-KR" altLang="en-US" sz="2400" dirty="0"/>
              <a:t> 진법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기본적으로 </a:t>
            </a:r>
            <a:r>
              <a:rPr lang="en-US" altLang="ko-KR" dirty="0"/>
              <a:t>10</a:t>
            </a:r>
            <a:r>
              <a:rPr lang="ko-KR" altLang="en-US" dirty="0"/>
              <a:t>진법을 가정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숫자 앞에 진법을 나타내는 접두사를 붙여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다른 진법을 숫자를 나타낼 수 있음</a:t>
            </a:r>
          </a:p>
        </p:txBody>
      </p:sp>
      <p:pic>
        <p:nvPicPr>
          <p:cNvPr id="14338" name="Picture 2" descr="C:\Users\변소현\Desktop\난생처음 C 언어 프로그래밍\그림\Ch2\표 2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3533775"/>
            <a:ext cx="55245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Google Shape;101;p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39552" y="1196751"/>
                <a:ext cx="8064896" cy="5137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14350" lvl="0" indent="-51435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2400"/>
                  <a:buFont typeface="Malgun Gothic"/>
                  <a:buAutoNum type="romanUcPeriod" startAt="2"/>
                </a:pPr>
                <a:r>
                  <a:rPr lang="ko-KR" altLang="en-US" sz="2400" dirty="0"/>
                  <a:t>정수 </a:t>
                </a:r>
                <a:r>
                  <a:rPr lang="ko-KR" altLang="en-US" sz="2400" dirty="0" err="1"/>
                  <a:t>리터럴과</a:t>
                </a:r>
                <a:r>
                  <a:rPr lang="ko-KR" altLang="en-US" sz="2400" dirty="0"/>
                  <a:t> 진법</a:t>
                </a:r>
              </a:p>
              <a:p>
                <a:pPr marL="628650" lvl="2" indent="-180975">
                  <a:lnSpc>
                    <a:spcPct val="150000"/>
                  </a:lnSpc>
                  <a:spcBef>
                    <a:spcPts val="360"/>
                  </a:spcBef>
                  <a:buClr>
                    <a:srgbClr val="3C479D"/>
                  </a:buClr>
                </a:pPr>
                <a:r>
                  <a:rPr lang="en-US" altLang="ko-KR" b="1" dirty="0"/>
                  <a:t>2</a:t>
                </a:r>
                <a:r>
                  <a:rPr lang="ko-KR" altLang="en-US" b="1" dirty="0"/>
                  <a:t>진법</a:t>
                </a:r>
                <a:endParaRPr lang="ko-KR" altLang="en-US" dirty="0"/>
              </a:p>
              <a:p>
                <a:pPr marL="809625" lvl="3" indent="-180975">
                  <a:lnSpc>
                    <a:spcPct val="150000"/>
                  </a:lnSpc>
                  <a:spcBef>
                    <a:spcPts val="620"/>
                  </a:spcBef>
                  <a:buClr>
                    <a:srgbClr val="3C479D"/>
                  </a:buClr>
                </a:pPr>
                <a:r>
                  <a:rPr lang="ko-KR" altLang="en-US" dirty="0"/>
                  <a:t>접두사 </a:t>
                </a:r>
                <a:r>
                  <a:rPr lang="en-US" altLang="ko-KR" dirty="0"/>
                  <a:t>0b</a:t>
                </a:r>
                <a:r>
                  <a:rPr lang="ko-KR" altLang="en-US" dirty="0"/>
                  <a:t>가 있으면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진법 </a:t>
                </a:r>
                <a:r>
                  <a:rPr lang="ko-KR" altLang="en-US" dirty="0" err="1"/>
                  <a:t>리터럴로</a:t>
                </a:r>
                <a:r>
                  <a:rPr lang="ko-KR" altLang="en-US" dirty="0"/>
                  <a:t> 해석됨</a:t>
                </a:r>
              </a:p>
              <a:p>
                <a:pPr marL="809625" lvl="3" indent="-180975">
                  <a:lnSpc>
                    <a:spcPct val="150000"/>
                  </a:lnSpc>
                  <a:spcBef>
                    <a:spcPts val="620"/>
                  </a:spcBef>
                  <a:buClr>
                    <a:srgbClr val="3C479D"/>
                  </a:buClr>
                </a:pPr>
                <a:r>
                  <a:rPr lang="ko-KR" altLang="en-US" dirty="0"/>
                  <a:t>컴퓨터 </a:t>
                </a:r>
                <a:r>
                  <a:rPr lang="ko-KR" altLang="en-US" dirty="0" err="1"/>
                  <a:t>메모리의최소</a:t>
                </a:r>
                <a:r>
                  <a:rPr lang="ko-KR" altLang="en-US" dirty="0"/>
                  <a:t> 단위인 비트</a:t>
                </a:r>
                <a:r>
                  <a:rPr lang="en-US" altLang="ko-KR" dirty="0"/>
                  <a:t>(0 </a:t>
                </a:r>
                <a:r>
                  <a:rPr lang="ko-KR" altLang="en-US" dirty="0"/>
                  <a:t>혹은 </a:t>
                </a:r>
                <a:r>
                  <a:rPr lang="en-US" altLang="ko-KR" dirty="0"/>
                  <a:t>1) </a:t>
                </a:r>
                <a:r>
                  <a:rPr lang="ko-KR" altLang="en-US" dirty="0"/>
                  <a:t>하나가</a:t>
                </a:r>
                <a:br>
                  <a:rPr lang="ko-KR" altLang="en-US" dirty="0"/>
                </a:br>
                <a:r>
                  <a:rPr lang="en-US" altLang="ko-KR" dirty="0"/>
                  <a:t>2</a:t>
                </a:r>
                <a:r>
                  <a:rPr lang="ko-KR" altLang="en-US" dirty="0"/>
                  <a:t>진법 숫자 하나를 그대로 나타낼 수 있음</a:t>
                </a:r>
              </a:p>
              <a:p>
                <a:pPr marL="809625" lvl="3" indent="-180975">
                  <a:lnSpc>
                    <a:spcPct val="150000"/>
                  </a:lnSpc>
                  <a:spcBef>
                    <a:spcPts val="620"/>
                  </a:spcBef>
                  <a:buClr>
                    <a:srgbClr val="3C479D"/>
                  </a:buClr>
                </a:pPr>
                <a:r>
                  <a:rPr lang="ko-KR" altLang="en-US" dirty="0"/>
                  <a:t>메모리의 상태를 설정할 때 많이 사용됨 </a:t>
                </a:r>
              </a:p>
              <a:p>
                <a:pPr marL="628650" lvl="2" indent="-180975">
                  <a:lnSpc>
                    <a:spcPct val="150000"/>
                  </a:lnSpc>
                  <a:spcBef>
                    <a:spcPts val="360"/>
                  </a:spcBef>
                  <a:buClr>
                    <a:srgbClr val="3C479D"/>
                  </a:buClr>
                </a:pPr>
                <a:r>
                  <a:rPr lang="en-US" altLang="ko-KR" b="1" dirty="0"/>
                  <a:t>8</a:t>
                </a:r>
                <a:r>
                  <a:rPr lang="ko-KR" altLang="en-US" b="1" dirty="0"/>
                  <a:t>진법</a:t>
                </a:r>
                <a:endParaRPr lang="ko-KR" altLang="en-US" dirty="0"/>
              </a:p>
              <a:p>
                <a:pPr marL="809625" lvl="3" indent="-180975">
                  <a:lnSpc>
                    <a:spcPct val="150000"/>
                  </a:lnSpc>
                  <a:spcBef>
                    <a:spcPts val="620"/>
                  </a:spcBef>
                  <a:buClr>
                    <a:srgbClr val="3C479D"/>
                  </a:buClr>
                </a:pPr>
                <a:r>
                  <a:rPr lang="ko-KR" altLang="en-US" dirty="0"/>
                  <a:t>접두사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이 있으면 </a:t>
                </a:r>
                <a:r>
                  <a:rPr lang="en-US" altLang="ko-KR" dirty="0"/>
                  <a:t>8</a:t>
                </a:r>
                <a:r>
                  <a:rPr lang="ko-KR" altLang="en-US" dirty="0"/>
                  <a:t>진법 </a:t>
                </a:r>
                <a:r>
                  <a:rPr lang="ko-KR" altLang="en-US" dirty="0" err="1"/>
                  <a:t>리터럴로</a:t>
                </a:r>
                <a:r>
                  <a:rPr lang="ko-KR" altLang="en-US" dirty="0"/>
                  <a:t> 해석됨</a:t>
                </a:r>
              </a:p>
              <a:p>
                <a:pPr marL="809625" lvl="3" indent="-180975">
                  <a:lnSpc>
                    <a:spcPct val="150000"/>
                  </a:lnSpc>
                  <a:spcBef>
                    <a:spcPts val="620"/>
                  </a:spcBef>
                  <a:buClr>
                    <a:srgbClr val="3C479D"/>
                  </a:buClr>
                </a:pPr>
                <a:r>
                  <a:rPr lang="en-US" altLang="ko-KR" dirty="0"/>
                  <a:t>8</a:t>
                </a:r>
                <a:r>
                  <a:rPr lang="ko-KR" altLang="en-US" dirty="0"/>
                  <a:t>진법 숫자 하나는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비트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로 표현됨</a:t>
                </a:r>
              </a:p>
              <a:p>
                <a:pPr marL="809625" lvl="3" indent="-180975">
                  <a:lnSpc>
                    <a:spcPct val="150000"/>
                  </a:lnSpc>
                  <a:spcBef>
                    <a:spcPts val="620"/>
                  </a:spcBef>
                  <a:buClr>
                    <a:srgbClr val="3C479D"/>
                  </a:buClr>
                </a:pPr>
                <a:r>
                  <a:rPr lang="ko-KR" altLang="en-US" dirty="0"/>
                  <a:t>컴퓨터는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의 승수를 주로 사용하여 </a:t>
                </a:r>
                <a:r>
                  <a:rPr lang="en-US" altLang="ko-KR" dirty="0"/>
                  <a:t>8</a:t>
                </a:r>
                <a:r>
                  <a:rPr lang="ko-KR" altLang="en-US" dirty="0"/>
                  <a:t>진법 </a:t>
                </a:r>
                <a:r>
                  <a:rPr lang="ko-KR" altLang="en-US" dirty="0" err="1"/>
                  <a:t>리터럴은</a:t>
                </a:r>
                <a:r>
                  <a:rPr lang="ko-KR" altLang="en-US" dirty="0"/>
                  <a:t> 잘 사용되지 않음</a:t>
                </a:r>
              </a:p>
            </p:txBody>
          </p:sp>
        </mc:Choice>
        <mc:Fallback xmlns="">
          <p:sp>
            <p:nvSpPr>
              <p:cNvPr id="101" name="Google Shape;101;p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9552" y="1196751"/>
                <a:ext cx="8064896" cy="5137374"/>
              </a:xfrm>
              <a:prstGeom prst="rect">
                <a:avLst/>
              </a:prstGeom>
              <a:blipFill rotWithShape="1">
                <a:blip r:embed="rId3"/>
                <a:stretch>
                  <a:fillRect l="-14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6808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137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 startAt="2"/>
            </a:pPr>
            <a:r>
              <a:rPr lang="ko-KR" altLang="en-US" sz="2400" dirty="0"/>
              <a:t>정수 </a:t>
            </a:r>
            <a:r>
              <a:rPr lang="ko-KR" altLang="en-US" sz="2400" dirty="0" err="1"/>
              <a:t>리터럴과</a:t>
            </a:r>
            <a:r>
              <a:rPr lang="ko-KR" altLang="en-US" sz="2400" dirty="0"/>
              <a:t> 진법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16</a:t>
            </a:r>
            <a:r>
              <a:rPr lang="ko-KR" altLang="en-US" b="1" dirty="0"/>
              <a:t>진법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접두사 </a:t>
            </a:r>
            <a:r>
              <a:rPr lang="en-US" altLang="ko-KR" dirty="0"/>
              <a:t>0x</a:t>
            </a:r>
            <a:r>
              <a:rPr lang="ko-KR" altLang="en-US" dirty="0"/>
              <a:t>가 있으면 </a:t>
            </a:r>
            <a:r>
              <a:rPr lang="en-US" altLang="ko-KR" dirty="0"/>
              <a:t>2</a:t>
            </a:r>
            <a:r>
              <a:rPr lang="ko-KR" altLang="en-US" dirty="0"/>
              <a:t>진법 </a:t>
            </a:r>
            <a:r>
              <a:rPr lang="ko-KR" altLang="en-US" dirty="0" err="1"/>
              <a:t>리터럴로</a:t>
            </a:r>
            <a:r>
              <a:rPr lang="ko-KR" altLang="en-US" dirty="0"/>
              <a:t> 해석됨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2</a:t>
            </a:r>
            <a:r>
              <a:rPr lang="ko-KR" altLang="en-US" dirty="0"/>
              <a:t>진법과 대응할 수 있어 </a:t>
            </a:r>
            <a:r>
              <a:rPr lang="en-US" altLang="ko-KR" dirty="0"/>
              <a:t>10</a:t>
            </a:r>
            <a:r>
              <a:rPr lang="ko-KR" altLang="en-US" dirty="0"/>
              <a:t>진법 다음으로 많이 사용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2</a:t>
            </a:r>
            <a:r>
              <a:rPr lang="ko-KR" altLang="en-US" b="1" dirty="0"/>
              <a:t>진법을 </a:t>
            </a:r>
            <a:r>
              <a:rPr lang="en-US" altLang="ko-KR" b="1" dirty="0"/>
              <a:t>16</a:t>
            </a:r>
            <a:r>
              <a:rPr lang="ko-KR" altLang="en-US" b="1" dirty="0"/>
              <a:t>진법으로 바꾸는 법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2</a:t>
            </a:r>
            <a:r>
              <a:rPr lang="ko-KR" altLang="en-US" dirty="0"/>
              <a:t>진법의 숫자 </a:t>
            </a:r>
            <a:r>
              <a:rPr lang="en-US" altLang="ko-KR" dirty="0"/>
              <a:t>4</a:t>
            </a:r>
            <a:r>
              <a:rPr lang="ko-KR" altLang="en-US" dirty="0"/>
              <a:t>개를 묶어서 </a:t>
            </a:r>
            <a:r>
              <a:rPr lang="en-US" altLang="ko-KR" dirty="0"/>
              <a:t>16</a:t>
            </a:r>
            <a:r>
              <a:rPr lang="ko-KR" altLang="en-US" dirty="0"/>
              <a:t>진법 숫자 하나로 변환</a:t>
            </a:r>
          </a:p>
        </p:txBody>
      </p:sp>
    </p:spTree>
    <p:extLst>
      <p:ext uri="{BB962C8B-B14F-4D97-AF65-F5344CB8AC3E}">
        <p14:creationId xmlns:p14="http://schemas.microsoft.com/office/powerpoint/2010/main" val="3811149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137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 startAt="2"/>
            </a:pPr>
            <a:r>
              <a:rPr lang="ko-KR" altLang="en-US" sz="2400" dirty="0"/>
              <a:t>정수 </a:t>
            </a:r>
            <a:r>
              <a:rPr lang="ko-KR" altLang="en-US" sz="2400" dirty="0" err="1"/>
              <a:t>리터럴과</a:t>
            </a:r>
            <a:r>
              <a:rPr lang="ko-KR" altLang="en-US" sz="2400" dirty="0"/>
              <a:t> 진법</a:t>
            </a:r>
          </a:p>
        </p:txBody>
      </p:sp>
      <p:pic>
        <p:nvPicPr>
          <p:cNvPr id="16386" name="Picture 2" descr="C:\Users\변소현\Desktop\난생처음 C 언어 프로그래밍\그림\Ch2\그림 2-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899" y="1952625"/>
            <a:ext cx="5363251" cy="440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626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주석</a:t>
            </a:r>
            <a:r>
              <a:rPr lang="en-US" altLang="ko-KR" sz="2400" dirty="0"/>
              <a:t>(Comments)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주석의 개념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코드의 의미를 설명하는 등의 용도로 코드에 쓰인 것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주석의 형식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// : </a:t>
            </a:r>
            <a:r>
              <a:rPr lang="ko-KR" altLang="en-US" dirty="0"/>
              <a:t>한 줄 주석</a:t>
            </a:r>
            <a:r>
              <a:rPr lang="en-US" altLang="ko-KR" dirty="0"/>
              <a:t>, </a:t>
            </a:r>
            <a:r>
              <a:rPr lang="ko-KR" altLang="en-US" dirty="0"/>
              <a:t>해당 줄의 모든 문자들을 주석 처리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/**/ : </a:t>
            </a:r>
            <a:r>
              <a:rPr lang="ko-KR" altLang="en-US" dirty="0"/>
              <a:t>여러 줄 주석</a:t>
            </a:r>
            <a:r>
              <a:rPr lang="en-US" altLang="ko-KR" dirty="0"/>
              <a:t>, /*</a:t>
            </a:r>
            <a:r>
              <a:rPr lang="ko-KR" altLang="en-US" dirty="0"/>
              <a:t>와 </a:t>
            </a:r>
            <a:r>
              <a:rPr lang="en-US" altLang="ko-KR" dirty="0"/>
              <a:t>*/ </a:t>
            </a:r>
            <a:r>
              <a:rPr lang="ko-KR" altLang="en-US" dirty="0"/>
              <a:t>사이의 모든 문자들을 주석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3272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dirty="0"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주석</a:t>
            </a:r>
            <a:r>
              <a:rPr lang="en-US" altLang="ko-KR" sz="2400" dirty="0"/>
              <a:t>(Comments)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주석의 활용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35540" y="259711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-2]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주석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920397800"/>
              </p:ext>
            </p:extLst>
          </p:nvPr>
        </p:nvGraphicFramePr>
        <p:xfrm>
          <a:off x="925576" y="2960471"/>
          <a:ext cx="7416825" cy="239573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한 줄 주석입니다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/*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여러 줄 주석으로 이런 식으로 코드를 무효 처리할 수 있습니다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 err="1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("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난생처음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C </a:t>
                      </a:r>
                      <a:r>
                        <a:rPr lang="ko-KR" alt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");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   */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0;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 }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296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코드의 기초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1195387" y="1826455"/>
            <a:ext cx="6772275" cy="3531759"/>
            <a:chOff x="1195387" y="1131130"/>
            <a:chExt cx="6772275" cy="3531759"/>
          </a:xfrm>
        </p:grpSpPr>
        <p:pic>
          <p:nvPicPr>
            <p:cNvPr id="1741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5387" y="1131130"/>
              <a:ext cx="6772275" cy="2374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037" y="3767139"/>
              <a:ext cx="6367463" cy="89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75479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sz="4000" dirty="0"/>
              <a:t>C </a:t>
            </a:r>
            <a:r>
              <a:rPr lang="ko-KR" altLang="en-US" sz="4000" dirty="0"/>
              <a:t>프로그램의 기초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프로그램의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함수</a:t>
            </a:r>
            <a:r>
              <a:rPr lang="en-US" altLang="ko-KR" sz="2400" dirty="0"/>
              <a:t>(Function)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함수의 개념</a:t>
            </a:r>
            <a:endParaRPr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 altLang="en-US" dirty="0"/>
              <a:t>특정 기능을 수행하는 코드의 묶음</a:t>
            </a:r>
            <a:endParaRPr lang="en-US" altLang="ko-KR"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en-US" altLang="ko-KR" dirty="0"/>
              <a:t> x </a:t>
            </a:r>
            <a:r>
              <a:rPr lang="ko-KR" altLang="en-US" dirty="0"/>
              <a:t>값이 정해지면 연산 결과에 따라 </a:t>
            </a:r>
            <a:r>
              <a:rPr lang="en-US" altLang="ko-KR" dirty="0"/>
              <a:t>y </a:t>
            </a:r>
            <a:r>
              <a:rPr lang="ko-KR" altLang="en-US" dirty="0"/>
              <a:t>값이 자연스럽게 정해짐</a:t>
            </a:r>
            <a:endParaRPr lang="en-US" altLang="ko-KR" dirty="0"/>
          </a:p>
        </p:txBody>
      </p:sp>
      <p:sp>
        <p:nvSpPr>
          <p:cNvPr id="5" name="Google Shape;117;p8"/>
          <p:cNvSpPr/>
          <p:nvPr/>
        </p:nvSpPr>
        <p:spPr>
          <a:xfrm>
            <a:off x="1242928" y="3352800"/>
            <a:ext cx="6529471" cy="507069"/>
          </a:xfrm>
          <a:prstGeom prst="roundRect">
            <a:avLst>
              <a:gd name="adj" fmla="val 16667"/>
            </a:avLst>
          </a:prstGeom>
          <a:solidFill>
            <a:srgbClr val="E5DF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y = x + 1</a:t>
            </a:r>
            <a:endParaRPr sz="1600" dirty="0">
              <a:solidFill>
                <a:schemeClr val="tx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230F7AF8-67E0-476B-A7B3-A3FE0DB74911}"/>
              </a:ext>
            </a:extLst>
          </p:cNvPr>
          <p:cNvGrpSpPr/>
          <p:nvPr/>
        </p:nvGrpSpPr>
        <p:grpSpPr>
          <a:xfrm>
            <a:off x="835541" y="4320092"/>
            <a:ext cx="7506861" cy="1529782"/>
            <a:chOff x="835541" y="4585268"/>
            <a:chExt cx="7506861" cy="1529782"/>
          </a:xfrm>
        </p:grpSpPr>
        <p:sp>
          <p:nvSpPr>
            <p:cNvPr id="6" name="Google Shape;102;p7"/>
            <p:cNvSpPr txBox="1"/>
            <p:nvPr/>
          </p:nvSpPr>
          <p:spPr>
            <a:xfrm>
              <a:off x="835541" y="4585268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-3] </a:t>
              </a: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 = x + 1</a:t>
              </a:r>
              <a:endParaRPr dirty="0"/>
            </a:p>
          </p:txBody>
        </p:sp>
        <p:graphicFrame>
          <p:nvGraphicFramePr>
            <p:cNvPr id="7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239861115"/>
                </p:ext>
              </p:extLst>
            </p:nvPr>
          </p:nvGraphicFramePr>
          <p:xfrm>
            <a:off x="925577" y="4948621"/>
            <a:ext cx="7416825" cy="1166429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</a:tblGrid>
                <a:tr h="116642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y(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x)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>
                            <a:solidFill>
                              <a:srgbClr val="9D87B7"/>
                            </a:solidFill>
                            <a:latin typeface="Consolas" panose="020B0609020204030204" pitchFamily="49" charset="0"/>
                          </a:rPr>
                          <a:t>return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x + 1;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</p:grpSp>
      <p:sp>
        <p:nvSpPr>
          <p:cNvPr id="8" name="아래쪽 화살표 7"/>
          <p:cNvSpPr/>
          <p:nvPr/>
        </p:nvSpPr>
        <p:spPr>
          <a:xfrm>
            <a:off x="4431414" y="3955274"/>
            <a:ext cx="285848" cy="422237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프로그램의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함수</a:t>
            </a:r>
            <a:r>
              <a:rPr lang="en-US" altLang="ko-KR" sz="2400" dirty="0"/>
              <a:t>(Function)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함수의 개념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함수 본체에 </a:t>
            </a:r>
            <a:r>
              <a:rPr lang="ko-KR" altLang="en-US" dirty="0" err="1"/>
              <a:t>함수값을</a:t>
            </a:r>
            <a:r>
              <a:rPr lang="ko-KR" altLang="en-US" dirty="0"/>
              <a:t> 반환하는 것 외에도 추가적인 처리가 가능함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따라서 함수 본체의 시작과 끝을 중괄호</a:t>
            </a:r>
            <a:r>
              <a:rPr lang="en-US" altLang="ko-KR" dirty="0"/>
              <a:t>({})</a:t>
            </a:r>
            <a:r>
              <a:rPr lang="ko-KR" altLang="en-US" dirty="0"/>
              <a:t>를 사용하여 명확히 함</a:t>
            </a:r>
            <a:endParaRPr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835541" y="3429000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-4]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 본체의 추가적인 처리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2160787029"/>
              </p:ext>
            </p:extLst>
          </p:nvPr>
        </p:nvGraphicFramePr>
        <p:xfrm>
          <a:off x="925577" y="3792353"/>
          <a:ext cx="7416825" cy="137161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664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y(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x)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변수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x);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x + 1;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772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프로그램의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491927" y="118722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함수</a:t>
            </a:r>
            <a:r>
              <a:rPr lang="en-US" altLang="ko-KR" sz="2400" dirty="0"/>
              <a:t>(Function)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함수의 개념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98272CB4-23F8-4F4B-AAB7-33C88C7E55B8}"/>
              </a:ext>
            </a:extLst>
          </p:cNvPr>
          <p:cNvGrpSpPr/>
          <p:nvPr/>
        </p:nvGrpSpPr>
        <p:grpSpPr>
          <a:xfrm>
            <a:off x="835541" y="3579876"/>
            <a:ext cx="7506861" cy="1734963"/>
            <a:chOff x="835541" y="3771900"/>
            <a:chExt cx="7506861" cy="1734963"/>
          </a:xfrm>
        </p:grpSpPr>
        <p:sp>
          <p:nvSpPr>
            <p:cNvPr id="6" name="Google Shape;102;p7"/>
            <p:cNvSpPr txBox="1"/>
            <p:nvPr/>
          </p:nvSpPr>
          <p:spPr>
            <a:xfrm>
              <a:off x="835541" y="3771900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-5]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매개변수 </a:t>
              </a: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함수</a:t>
              </a:r>
              <a:endParaRPr dirty="0"/>
            </a:p>
          </p:txBody>
        </p:sp>
        <p:graphicFrame>
          <p:nvGraphicFramePr>
            <p:cNvPr id="7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632739551"/>
                </p:ext>
              </p:extLst>
            </p:nvPr>
          </p:nvGraphicFramePr>
          <p:xfrm>
            <a:off x="925577" y="4135253"/>
            <a:ext cx="7416825" cy="137161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</a:tblGrid>
                <a:tr h="116642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sum(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a,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b)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c = a + b;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aseline="0" dirty="0">
                            <a:solidFill>
                              <a:srgbClr val="9D87B7"/>
                            </a:solidFill>
                            <a:latin typeface="Consolas" panose="020B0609020204030204" pitchFamily="49" charset="0"/>
                          </a:rPr>
                          <a:t>return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c;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</p:grpSp>
      <p:sp>
        <p:nvSpPr>
          <p:cNvPr id="8" name="Google Shape;117;p8"/>
          <p:cNvSpPr/>
          <p:nvPr/>
        </p:nvSpPr>
        <p:spPr>
          <a:xfrm>
            <a:off x="1242928" y="2390775"/>
            <a:ext cx="6529471" cy="507069"/>
          </a:xfrm>
          <a:prstGeom prst="roundRect">
            <a:avLst>
              <a:gd name="adj" fmla="val 16667"/>
            </a:avLst>
          </a:prstGeom>
          <a:solidFill>
            <a:srgbClr val="E5DF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sum(a, b) = a + b</a:t>
            </a:r>
            <a:endParaRPr sz="1600" dirty="0">
              <a:solidFill>
                <a:schemeClr val="tx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9" name="아래쪽 화살표 7">
            <a:extLst>
              <a:ext uri="{FF2B5EF4-FFF2-40B4-BE49-F238E27FC236}">
                <a16:creationId xmlns:a16="http://schemas.microsoft.com/office/drawing/2014/main" xmlns="" id="{B7E8C391-67D3-4729-B4BC-24DE7A292EA4}"/>
              </a:ext>
            </a:extLst>
          </p:cNvPr>
          <p:cNvSpPr/>
          <p:nvPr/>
        </p:nvSpPr>
        <p:spPr>
          <a:xfrm>
            <a:off x="4431414" y="3050018"/>
            <a:ext cx="285848" cy="422237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475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프로그램의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491927" y="118722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함수</a:t>
            </a:r>
            <a:r>
              <a:rPr lang="en-US" altLang="ko-KR" sz="2400" dirty="0"/>
              <a:t>(Function)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함수의 개념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인자를 전달하여 함수를 호출할 수 있음</a:t>
            </a:r>
          </a:p>
        </p:txBody>
      </p:sp>
      <p:sp>
        <p:nvSpPr>
          <p:cNvPr id="8" name="Google Shape;117;p8"/>
          <p:cNvSpPr/>
          <p:nvPr/>
        </p:nvSpPr>
        <p:spPr>
          <a:xfrm>
            <a:off x="1242927" y="2921931"/>
            <a:ext cx="6529471" cy="507069"/>
          </a:xfrm>
          <a:prstGeom prst="roundRect">
            <a:avLst>
              <a:gd name="adj" fmla="val 16667"/>
            </a:avLst>
          </a:prstGeom>
          <a:solidFill>
            <a:srgbClr val="E5DF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result = sum(1, 2);</a:t>
            </a:r>
            <a:endParaRPr sz="1600" dirty="0">
              <a:solidFill>
                <a:schemeClr val="tx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" name="오른쪽 중괄호 2"/>
          <p:cNvSpPr/>
          <p:nvPr/>
        </p:nvSpPr>
        <p:spPr>
          <a:xfrm rot="5400000">
            <a:off x="3276601" y="3367086"/>
            <a:ext cx="461962" cy="328615"/>
          </a:xfrm>
          <a:prstGeom prst="rightBrac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F843AF5-3874-46AB-A3FB-36E403261723}"/>
              </a:ext>
            </a:extLst>
          </p:cNvPr>
          <p:cNvSpPr txBox="1"/>
          <p:nvPr/>
        </p:nvSpPr>
        <p:spPr>
          <a:xfrm>
            <a:off x="3253836" y="3752617"/>
            <a:ext cx="580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  <a:latin typeface="+mj-ea"/>
                <a:ea typeface="+mj-ea"/>
              </a:rPr>
              <a:t>인자</a:t>
            </a:r>
          </a:p>
        </p:txBody>
      </p:sp>
    </p:spTree>
    <p:extLst>
      <p:ext uri="{BB962C8B-B14F-4D97-AF65-F5344CB8AC3E}">
        <p14:creationId xmlns:p14="http://schemas.microsoft.com/office/powerpoint/2010/main" val="1016012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프로그램의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en-US" altLang="ko-KR" sz="2400" dirty="0"/>
              <a:t>main </a:t>
            </a:r>
            <a:r>
              <a:rPr lang="ko-KR" altLang="en-US" sz="2400" dirty="0"/>
              <a:t>함수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C </a:t>
            </a:r>
            <a:r>
              <a:rPr lang="ko-KR" altLang="en-US" b="1" dirty="0"/>
              <a:t>프로그램의 시작 함수</a:t>
            </a:r>
            <a:r>
              <a:rPr lang="en-US" altLang="ko-KR" b="1" dirty="0"/>
              <a:t>(Entry Function)</a:t>
            </a:r>
            <a:r>
              <a:rPr lang="ko-KR" altLang="en-US" b="1" dirty="0"/>
              <a:t>의 이름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main </a:t>
            </a:r>
            <a:r>
              <a:rPr lang="ko-KR" altLang="en-US" b="1" dirty="0"/>
              <a:t>함수의 두 가지 형식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&lt;</a:t>
            </a:r>
            <a:r>
              <a:rPr lang="ko-KR" altLang="en-US" dirty="0"/>
              <a:t>표준 형식 </a:t>
            </a:r>
            <a:r>
              <a:rPr lang="en-US" altLang="ko-KR" dirty="0"/>
              <a:t>1&gt; : </a:t>
            </a:r>
            <a:r>
              <a:rPr lang="ko-KR" altLang="en-US" dirty="0"/>
              <a:t>매개 변수가 없음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&lt;</a:t>
            </a:r>
            <a:r>
              <a:rPr lang="ko-KR" altLang="en-US" dirty="0"/>
              <a:t>표준 형식 </a:t>
            </a:r>
            <a:r>
              <a:rPr lang="en-US" altLang="ko-KR" dirty="0"/>
              <a:t>2&gt; : </a:t>
            </a:r>
            <a:r>
              <a:rPr lang="ko-KR" altLang="en-US" dirty="0"/>
              <a:t>매개 변수가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endParaRPr lang="en-US" altLang="ko-KR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487" y="4176724"/>
            <a:ext cx="6696075" cy="149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1190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프로그램의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7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en-US" altLang="ko-KR" sz="2400" dirty="0"/>
              <a:t>main </a:t>
            </a:r>
            <a:r>
              <a:rPr lang="ko-KR" altLang="en-US" sz="2400" dirty="0"/>
              <a:t>함수</a:t>
            </a:r>
            <a:endParaRPr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35540" y="1777968"/>
            <a:ext cx="5574785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-6]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프로그램에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함수가 두 개인 경우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682749978"/>
              </p:ext>
            </p:extLst>
          </p:nvPr>
        </p:nvGraphicFramePr>
        <p:xfrm>
          <a:off x="925576" y="2125859"/>
          <a:ext cx="7416825" cy="341986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main(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argc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**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argv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91"/>
          <a:stretch/>
        </p:blipFill>
        <p:spPr bwMode="auto">
          <a:xfrm>
            <a:off x="4132269" y="4963149"/>
            <a:ext cx="4777735" cy="835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9161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프로그램의 기초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7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en-US" altLang="ko-KR" sz="2400" dirty="0"/>
              <a:t>main </a:t>
            </a:r>
            <a:r>
              <a:rPr lang="ko-KR" altLang="en-US" sz="2400" dirty="0"/>
              <a:t>함수</a:t>
            </a:r>
            <a:endParaRPr sz="2400" dirty="0"/>
          </a:p>
        </p:txBody>
      </p:sp>
      <p:sp>
        <p:nvSpPr>
          <p:cNvPr id="8" name="Google Shape;119;p8"/>
          <p:cNvSpPr/>
          <p:nvPr/>
        </p:nvSpPr>
        <p:spPr>
          <a:xfrm>
            <a:off x="968208" y="2030815"/>
            <a:ext cx="7230894" cy="4284260"/>
          </a:xfrm>
          <a:prstGeom prst="rect">
            <a:avLst/>
          </a:prstGeom>
          <a:solidFill>
            <a:srgbClr val="EAF1DD"/>
          </a:solidFill>
          <a:ln w="12700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120;p8"/>
          <p:cNvSpPr txBox="1"/>
          <p:nvPr/>
        </p:nvSpPr>
        <p:spPr>
          <a:xfrm>
            <a:off x="1035681" y="2478293"/>
            <a:ext cx="7095947" cy="229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7675" marR="0" lvl="1" indent="-180975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3C479D"/>
              </a:buClr>
              <a:buSzPts val="1600"/>
              <a:buFont typeface="Noto Sans Symbols"/>
              <a:buChar char="▪"/>
            </a:pPr>
            <a:r>
              <a:rPr lang="en-US" altLang="ko-KR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</a:t>
            </a:r>
            <a:r>
              <a:rPr lang="en-US" altLang="ko-KR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2-7]</a:t>
            </a:r>
            <a:r>
              <a:rPr lang="ko-KR" altLang="en-US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</a:t>
            </a:r>
            <a:r>
              <a:rPr lang="en-US" altLang="ko-KR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</a:t>
            </a:r>
            <a:r>
              <a:rPr lang="en-US" altLang="ko-KR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2-1]</a:t>
            </a:r>
            <a:r>
              <a:rPr lang="ko-KR" altLang="en-US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</a:t>
            </a:r>
            <a:r>
              <a:rPr lang="en-US" altLang="ko-KR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</a:t>
            </a:r>
            <a:r>
              <a:rPr lang="ko-KR" altLang="en-US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 본체 끝에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return 0; </a:t>
            </a:r>
            <a:r>
              <a:rPr lang="ko-KR" altLang="en-US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구문을 삭제한 것</a:t>
            </a:r>
            <a:endParaRPr lang="en-US" altLang="ko-KR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47675" marR="0" lvl="1" indent="-180975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3C479D"/>
              </a:buClr>
              <a:buSzPts val="16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 본체에서 명시적으로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return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보이지 않을 경우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컴파일러가 기본으로 </a:t>
            </a:r>
            <a:r>
              <a: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반환되는 코드를 추가해줌</a:t>
            </a:r>
            <a:endParaRPr lang="en-US" altLang="ko-KR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47675" marR="0" lvl="1" indent="-180975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3C479D"/>
              </a:buClr>
              <a:buSzPts val="1600"/>
              <a:buFont typeface="Noto Sans Symbols"/>
              <a:buChar char="▪"/>
            </a:pPr>
            <a:r>
              <a:rPr lang="ko-KR" altLang="en-US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</a:t>
            </a:r>
            <a:r>
              <a:rPr lang="en-US" altLang="ko-KR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r>
              <a:rPr lang="ko-KR" altLang="en-US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 </a:t>
            </a:r>
            <a:r>
              <a:rPr lang="en-US" altLang="ko-KR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return</a:t>
            </a:r>
            <a:r>
              <a:rPr lang="ko-KR" altLang="en-US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생략할 수 있음</a:t>
            </a:r>
            <a:endParaRPr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21;p8"/>
          <p:cNvSpPr/>
          <p:nvPr/>
        </p:nvSpPr>
        <p:spPr>
          <a:xfrm>
            <a:off x="963949" y="2030816"/>
            <a:ext cx="1380195" cy="450046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</a:t>
            </a:r>
            <a:r>
              <a:rPr lang="en-US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더 </a:t>
            </a:r>
            <a:r>
              <a:rPr lang="en-US" b="1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알기</a:t>
            </a:r>
            <a:endParaRPr sz="1200" dirty="0"/>
          </a:p>
        </p:txBody>
      </p:sp>
      <p:sp>
        <p:nvSpPr>
          <p:cNvPr id="11" name="Google Shape;122;p8"/>
          <p:cNvSpPr txBox="1"/>
          <p:nvPr/>
        </p:nvSpPr>
        <p:spPr>
          <a:xfrm>
            <a:off x="2400215" y="2080581"/>
            <a:ext cx="4291026" cy="36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3C479D"/>
              </a:buClr>
              <a:buSzPts val="1800"/>
            </a:pP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return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생략하는 경우</a:t>
            </a:r>
            <a:endParaRPr sz="1600" b="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382882" y="4178220"/>
            <a:ext cx="6031985" cy="1686678"/>
            <a:chOff x="1382882" y="4537503"/>
            <a:chExt cx="6031985" cy="1686678"/>
          </a:xfrm>
        </p:grpSpPr>
        <p:sp>
          <p:nvSpPr>
            <p:cNvPr id="12" name="Google Shape;102;p7"/>
            <p:cNvSpPr txBox="1"/>
            <p:nvPr/>
          </p:nvSpPr>
          <p:spPr>
            <a:xfrm>
              <a:off x="1382882" y="4537503"/>
              <a:ext cx="3951118" cy="254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r>
                <a:rPr 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-7] </a:t>
              </a:r>
              <a:r>
                <a:rPr lang="en-US" altLang="ko-KR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main</a:t>
              </a:r>
              <a:r>
                <a:rPr lang="ko-KR" alt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에서 </a:t>
              </a:r>
              <a:r>
                <a:rPr lang="en-US" altLang="ko-KR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return</a:t>
              </a:r>
              <a:r>
                <a:rPr lang="ko-KR" alt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생략하는 경우</a:t>
              </a:r>
              <a:endParaRPr sz="1200" dirty="0"/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363170041"/>
                </p:ext>
              </p:extLst>
            </p:nvPr>
          </p:nvGraphicFramePr>
          <p:xfrm>
            <a:off x="1472919" y="4834181"/>
            <a:ext cx="5941948" cy="139000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46134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5595814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</a:tblGrid>
                <a:tr h="1098858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</a:t>
                        </a:r>
                        <a:endParaRPr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73265" marR="73265" marT="36632" marB="36632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200" dirty="0" smtClean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200" dirty="0" err="1" smtClean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2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sz="12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난생처음 </a:t>
                        </a:r>
                        <a:r>
                          <a:rPr lang="en-US" altLang="ko-KR" sz="12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C </a:t>
                        </a:r>
                        <a:r>
                          <a:rPr lang="ko-KR" altLang="en-US" sz="12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프로그래밍</a:t>
                        </a:r>
                        <a:r>
                          <a:rPr lang="en-US" altLang="ko-KR" sz="12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73265" marR="73265" marT="36632" marB="36632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28890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프로그램의 기초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2219645"/>
            <a:ext cx="7924665" cy="2391963"/>
            <a:chOff x="683573" y="1844824"/>
            <a:chExt cx="7924665" cy="98704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987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2-1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126883" y="2235680"/>
            <a:ext cx="6366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두 수를 곱하는 함수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89306" y="2607518"/>
            <a:ext cx="7781027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두 개의 정수를 곱하여 반환하는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Multiply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함수를 작성해봅시다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144" y="3178098"/>
            <a:ext cx="6991350" cy="129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8779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en-US" altLang="ko-KR" dirty="0">
                <a:solidFill>
                  <a:schemeClr val="tx1"/>
                </a:solidFill>
              </a:rPr>
              <a:t>C </a:t>
            </a:r>
            <a:r>
              <a:rPr lang="ko-KR" altLang="en-US" dirty="0">
                <a:solidFill>
                  <a:schemeClr val="tx1"/>
                </a:solidFill>
              </a:rPr>
              <a:t>프로그램의 기초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5155" y="2574067"/>
            <a:ext cx="7924665" cy="1709866"/>
            <a:chOff x="615155" y="2052510"/>
            <a:chExt cx="7924665" cy="1709866"/>
          </a:xfrm>
        </p:grpSpPr>
        <p:grpSp>
          <p:nvGrpSpPr>
            <p:cNvPr id="9" name="Google Shape;129;p9"/>
            <p:cNvGrpSpPr/>
            <p:nvPr/>
          </p:nvGrpSpPr>
          <p:grpSpPr>
            <a:xfrm>
              <a:off x="615155" y="2052510"/>
              <a:ext cx="7924665" cy="1709866"/>
              <a:chOff x="683573" y="1844824"/>
              <a:chExt cx="7924665" cy="74932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0" name="Google Shape;130;p9"/>
              <p:cNvSpPr/>
              <p:nvPr/>
            </p:nvSpPr>
            <p:spPr>
              <a:xfrm>
                <a:off x="688238" y="1844824"/>
                <a:ext cx="7920000" cy="749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2-1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2126883" y="2066403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904940349"/>
                </p:ext>
              </p:extLst>
            </p:nvPr>
          </p:nvGraphicFramePr>
          <p:xfrm>
            <a:off x="871407" y="2538859"/>
            <a:ext cx="7416825" cy="1105512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</a:tblGrid>
                <a:tr h="110551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latin typeface="Consolas" panose="020B0609020204030204" pitchFamily="49" charset="0"/>
                          </a:rPr>
                          <a:t>multiplay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dirty="0" err="1"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I,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j)</a:t>
                        </a: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  </a:t>
                        </a:r>
                        <a:r>
                          <a:rPr lang="en-US" altLang="ko-KR" dirty="0">
                            <a:solidFill>
                              <a:srgbClr val="9D87B7"/>
                            </a:solidFill>
                            <a:latin typeface="Consolas" panose="020B0609020204030204" pitchFamily="49" charset="0"/>
                          </a:rPr>
                          <a:t>return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*j;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33512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표준 입출력이란</a:t>
            </a:r>
            <a:r>
              <a:rPr lang="en-US" altLang="ko-KR" sz="4000" dirty="0"/>
              <a:t>?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2625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표준 입출력이란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시스템 콘솔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표준 입출력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가장 기본적인 장치를 사용하는 입출력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키보드로 입력을 받고 모니터로 출력하는 것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시스템 콘솔의 개념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dirty="0"/>
              <a:t>[</a:t>
            </a:r>
            <a:r>
              <a:rPr lang="ko-KR" altLang="en-US" dirty="0"/>
              <a:t>검색</a:t>
            </a:r>
            <a:r>
              <a:rPr lang="en-US" altLang="ko-KR" dirty="0"/>
              <a:t>]</a:t>
            </a:r>
            <a:r>
              <a:rPr lang="ko-KR" altLang="en-US" dirty="0"/>
              <a:t>에서 </a:t>
            </a:r>
            <a:r>
              <a:rPr lang="en-US" altLang="ko-KR" dirty="0" err="1"/>
              <a:t>cmd</a:t>
            </a:r>
            <a:r>
              <a:rPr lang="ko-KR" altLang="en-US" dirty="0"/>
              <a:t>를 입력 후 나타나는 </a:t>
            </a:r>
            <a:r>
              <a:rPr lang="en-US" altLang="ko-KR" dirty="0"/>
              <a:t>[</a:t>
            </a:r>
            <a:r>
              <a:rPr lang="ko-KR" altLang="en-US" dirty="0"/>
              <a:t>명령 프롬프트</a:t>
            </a:r>
            <a:r>
              <a:rPr lang="en-US" altLang="ko-KR" dirty="0"/>
              <a:t>]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텍스트 기반의 입출력 수행 시스템 콘솔</a:t>
            </a:r>
            <a:endParaRPr dirty="0"/>
          </a:p>
        </p:txBody>
      </p:sp>
      <p:pic>
        <p:nvPicPr>
          <p:cNvPr id="22530" name="Picture 2" descr="C:\Users\변소현\Desktop\난생처음 C 언어 프로그래밍\그림\Ch2\그림 2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4541838"/>
            <a:ext cx="5554663" cy="199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0133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표준 입출력이란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표준 출력 함수 </a:t>
            </a:r>
            <a:r>
              <a:rPr lang="en-US" altLang="ko-KR" sz="2400" dirty="0" err="1"/>
              <a:t>printf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altLang="ko-KR" b="1" dirty="0" err="1">
                <a:latin typeface="Consolas" panose="020B0609020204030204" pitchFamily="49" charset="0"/>
              </a:rPr>
              <a:t>printf</a:t>
            </a:r>
            <a:r>
              <a:rPr lang="en-US" altLang="ko-KR" b="1" dirty="0">
                <a:latin typeface="Consolas" panose="020B0609020204030204" pitchFamily="49" charset="0"/>
              </a:rPr>
              <a:t> </a:t>
            </a:r>
            <a:r>
              <a:rPr lang="ko-KR" altLang="en-US" b="1" dirty="0">
                <a:latin typeface="Consolas" panose="020B0609020204030204" pitchFamily="49" charset="0"/>
              </a:rPr>
              <a:t>함수의 개념</a:t>
            </a:r>
            <a:endParaRPr dirty="0">
              <a:latin typeface="Consolas" panose="020B0609020204030204" pitchFamily="49" charset="0"/>
            </a:endParaRP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콘솔에 문자열을 출력하는 함수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>
                <a:latin typeface="Consolas" panose="020B0609020204030204" pitchFamily="49" charset="0"/>
              </a:rPr>
              <a:t>printf</a:t>
            </a:r>
            <a:r>
              <a:rPr lang="en-US" altLang="ko-KR" b="1" dirty="0">
                <a:latin typeface="Consolas" panose="020B0609020204030204" pitchFamily="49" charset="0"/>
              </a:rPr>
              <a:t> </a:t>
            </a:r>
            <a:r>
              <a:rPr lang="ko-KR" altLang="en-US" b="1" dirty="0">
                <a:latin typeface="Consolas" panose="020B0609020204030204" pitchFamily="49" charset="0"/>
              </a:rPr>
              <a:t>함수의 형태</a:t>
            </a:r>
            <a:endParaRPr lang="en-US" altLang="ko-KR" b="1" dirty="0">
              <a:latin typeface="Consolas" panose="020B0609020204030204" pitchFamily="49" charset="0"/>
            </a:endParaRPr>
          </a:p>
        </p:txBody>
      </p:sp>
      <p:sp>
        <p:nvSpPr>
          <p:cNvPr id="5" name="Google Shape;117;p8"/>
          <p:cNvSpPr/>
          <p:nvPr/>
        </p:nvSpPr>
        <p:spPr>
          <a:xfrm>
            <a:off x="1242927" y="3236255"/>
            <a:ext cx="6529471" cy="507069"/>
          </a:xfrm>
          <a:prstGeom prst="roundRect">
            <a:avLst>
              <a:gd name="adj" fmla="val 16667"/>
            </a:avLst>
          </a:prstGeom>
          <a:solidFill>
            <a:srgbClr val="E5DF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printf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const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char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* format, ...);</a:t>
            </a:r>
            <a:endParaRPr sz="1600" dirty="0">
              <a:solidFill>
                <a:schemeClr val="tx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899729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표준 입출력이란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67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표준 출력 함수 </a:t>
            </a:r>
            <a:r>
              <a:rPr lang="en-US" altLang="ko-KR" sz="2400" dirty="0" err="1"/>
              <a:t>printf</a:t>
            </a:r>
            <a:endParaRPr sz="2400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835540" y="1994760"/>
            <a:ext cx="5574785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-8]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printf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2740876748"/>
              </p:ext>
            </p:extLst>
          </p:nvPr>
        </p:nvGraphicFramePr>
        <p:xfrm>
          <a:off x="925576" y="2342651"/>
          <a:ext cx="7416825" cy="1627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2022,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632"/>
          <a:stretch/>
        </p:blipFill>
        <p:spPr bwMode="auto">
          <a:xfrm>
            <a:off x="5626996" y="3730124"/>
            <a:ext cx="2675756" cy="594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 descr="C:\Users\변소현\Desktop\난생처음 C 언어 프로그래밍\그림\Ch2\그림 2-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319" y="4286441"/>
            <a:ext cx="4824412" cy="136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9075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표준 입출력이란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201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표준 출력 함수 </a:t>
            </a:r>
            <a:r>
              <a:rPr lang="en-US" altLang="ko-KR" sz="2400" dirty="0" err="1"/>
              <a:t>printf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>
                <a:latin typeface="Consolas" panose="020B0609020204030204" pitchFamily="49" charset="0"/>
              </a:rPr>
              <a:t>출력 제어 문자</a:t>
            </a:r>
            <a:r>
              <a:rPr lang="en-US" altLang="ko-KR" b="1" dirty="0">
                <a:latin typeface="Consolas" panose="020B0609020204030204" pitchFamily="49" charset="0"/>
              </a:rPr>
              <a:t>(Escape Sequence)</a:t>
            </a:r>
            <a:endParaRPr dirty="0">
              <a:latin typeface="Consolas" panose="020B0609020204030204" pitchFamily="49" charset="0"/>
            </a:endParaRP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콘솔에 문자열을 출력하는 함수</a:t>
            </a:r>
            <a:endParaRPr lang="en-US" altLang="ko-KR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835540" y="2918685"/>
            <a:ext cx="5574785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-9]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줄 출력을 위한 시도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2404387261"/>
              </p:ext>
            </p:extLst>
          </p:nvPr>
        </p:nvGraphicFramePr>
        <p:xfrm>
          <a:off x="925576" y="3266576"/>
          <a:ext cx="7416825" cy="1883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39" y="5218142"/>
            <a:ext cx="7603611" cy="56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5492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표준 입출력이란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201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표준 출력 함수 </a:t>
            </a:r>
            <a:r>
              <a:rPr lang="en-US" altLang="ko-KR" sz="2400" dirty="0" err="1"/>
              <a:t>printf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>
                <a:latin typeface="Consolas" panose="020B0609020204030204" pitchFamily="49" charset="0"/>
              </a:rPr>
              <a:t>출력 제어 문자</a:t>
            </a:r>
            <a:r>
              <a:rPr lang="en-US" altLang="ko-KR" b="1" dirty="0">
                <a:latin typeface="Consolas" panose="020B0609020204030204" pitchFamily="49" charset="0"/>
              </a:rPr>
              <a:t>(Escape Sequence)</a:t>
            </a:r>
            <a:endParaRPr dirty="0">
              <a:latin typeface="Consolas" panose="020B0609020204030204" pitchFamily="49" charset="0"/>
            </a:endParaRP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>
                <a:latin typeface="Consolas" panose="020B0609020204030204" pitchFamily="49" charset="0"/>
              </a:rPr>
              <a:t>printf</a:t>
            </a:r>
            <a:r>
              <a:rPr lang="ko-KR" altLang="en-US" dirty="0"/>
              <a:t>를 한 번만 호출해도 두 줄에 걸쳐서 출력할 수 있음</a:t>
            </a:r>
            <a:endParaRPr lang="en-US" altLang="ko-KR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835540" y="2918685"/>
            <a:ext cx="5574785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-10]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제어 문자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1362693476"/>
              </p:ext>
            </p:extLst>
          </p:nvPr>
        </p:nvGraphicFramePr>
        <p:xfrm>
          <a:off x="925576" y="3266576"/>
          <a:ext cx="7416825" cy="1627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\r\</a:t>
                      </a:r>
                      <a:r>
                        <a:rPr lang="en-US" altLang="ko-KR" baseline="0" dirty="0" err="1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950467"/>
            <a:ext cx="7591425" cy="816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78438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표준 입출력이란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201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표준 출력 함수 </a:t>
            </a:r>
            <a:r>
              <a:rPr lang="en-US" altLang="ko-KR" sz="2400" dirty="0" err="1"/>
              <a:t>printf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>
                <a:latin typeface="Consolas" panose="020B0609020204030204" pitchFamily="49" charset="0"/>
              </a:rPr>
              <a:t>출력 제어 문자의 종류</a:t>
            </a:r>
            <a:endParaRPr lang="en-US" altLang="ko-KR" dirty="0"/>
          </a:p>
        </p:txBody>
      </p:sp>
      <p:pic>
        <p:nvPicPr>
          <p:cNvPr id="2050" name="Picture 2" descr="C:\Users\변소현\Desktop\난생처음 C 언어 프로그래밍\그림\Ch2\표 2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5" y="2566988"/>
            <a:ext cx="6240463" cy="336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4052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표준 입출력이란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201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표준 입력 함수 </a:t>
            </a:r>
            <a:r>
              <a:rPr lang="en-US" altLang="ko-KR" sz="2400" dirty="0" err="1"/>
              <a:t>scanf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>
                <a:latin typeface="Consolas" panose="020B0609020204030204" pitchFamily="49" charset="0"/>
              </a:rPr>
              <a:t>scanf</a:t>
            </a:r>
            <a:r>
              <a:rPr lang="en-US" altLang="ko-KR" b="1" dirty="0">
                <a:latin typeface="Consolas" panose="020B0609020204030204" pitchFamily="49" charset="0"/>
              </a:rPr>
              <a:t> </a:t>
            </a:r>
            <a:r>
              <a:rPr lang="ko-KR" altLang="en-US" b="1" dirty="0">
                <a:latin typeface="Consolas" panose="020B0609020204030204" pitchFamily="49" charset="0"/>
              </a:rPr>
              <a:t>함수의 형태</a:t>
            </a:r>
            <a:endParaRPr lang="ko-KR" altLang="en-US" dirty="0">
              <a:latin typeface="Consolas" panose="020B0609020204030204" pitchFamily="49" charset="0"/>
            </a:endParaRP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>
                <a:latin typeface="Consolas" panose="020B0609020204030204" pitchFamily="49" charset="0"/>
              </a:rPr>
              <a:t>콘솔로부터 키보드 입력을 받는 함수</a:t>
            </a:r>
            <a:endParaRPr lang="en-US" altLang="ko-KR" dirty="0">
              <a:latin typeface="Consolas" panose="020B0609020204030204" pitchFamily="49" charset="0"/>
            </a:endParaRP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>
                <a:latin typeface="Consolas" panose="020B0609020204030204" pitchFamily="49" charset="0"/>
              </a:rPr>
              <a:t>printf</a:t>
            </a:r>
            <a:r>
              <a:rPr lang="ko-KR" altLang="en-US" dirty="0">
                <a:latin typeface="Consolas" panose="020B0609020204030204" pitchFamily="49" charset="0"/>
              </a:rPr>
              <a:t>와 형태가 같음</a:t>
            </a:r>
            <a:endParaRPr lang="en-US" altLang="ko-KR" dirty="0">
              <a:latin typeface="Consolas" panose="020B0609020204030204" pitchFamily="49" charset="0"/>
            </a:endParaRPr>
          </a:p>
        </p:txBody>
      </p:sp>
      <p:sp>
        <p:nvSpPr>
          <p:cNvPr id="5" name="Google Shape;117;p8">
            <a:extLst>
              <a:ext uri="{FF2B5EF4-FFF2-40B4-BE49-F238E27FC236}">
                <a16:creationId xmlns:a16="http://schemas.microsoft.com/office/drawing/2014/main" xmlns="" id="{99FC01E1-19D3-463B-B599-F4222057E426}"/>
              </a:ext>
            </a:extLst>
          </p:cNvPr>
          <p:cNvSpPr/>
          <p:nvPr/>
        </p:nvSpPr>
        <p:spPr>
          <a:xfrm>
            <a:off x="1242927" y="3241971"/>
            <a:ext cx="6529471" cy="507069"/>
          </a:xfrm>
          <a:prstGeom prst="roundRect">
            <a:avLst>
              <a:gd name="adj" fmla="val 16667"/>
            </a:avLst>
          </a:prstGeom>
          <a:solidFill>
            <a:srgbClr val="E5DF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scanf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const char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* format, …);</a:t>
            </a:r>
            <a:endParaRPr sz="1600" dirty="0">
              <a:solidFill>
                <a:schemeClr val="tx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9711877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표준 입출력이란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표준 입력 함수 </a:t>
            </a:r>
            <a:r>
              <a:rPr lang="en-US" altLang="ko-KR" sz="2400" dirty="0" err="1"/>
              <a:t>scanf</a:t>
            </a:r>
            <a:endParaRPr lang="ko-KR" altLang="en-US"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35540" y="1984470"/>
            <a:ext cx="5574785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-11] </a:t>
            </a:r>
            <a:r>
              <a:rPr lang="en-US" altLang="ko-KR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scanf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497548362"/>
              </p:ext>
            </p:extLst>
          </p:nvPr>
        </p:nvGraphicFramePr>
        <p:xfrm>
          <a:off x="925576" y="2332361"/>
          <a:ext cx="7416825" cy="393193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 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  <a:endParaRPr lang="en-US" altLang="ko-KR" dirty="0">
                        <a:solidFill>
                          <a:srgbClr val="9D87B7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baseline="0" dirty="0">
                          <a:latin typeface="Consolas" panose="020B0609020204030204" pitchFamily="49" charset="0"/>
                        </a:rPr>
                        <a:t> name[16] = { 0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age;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이름이 뭐예요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?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name);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나이가 어떻게 되시죠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?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&amp;age);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이름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%s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나이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name, age);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2327D024-63F6-41D3-BFA9-CB2CD40E27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726"/>
          <a:stretch/>
        </p:blipFill>
        <p:spPr bwMode="auto">
          <a:xfrm>
            <a:off x="5673366" y="2390996"/>
            <a:ext cx="3150482" cy="1874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16332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표준 입출력이란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표준 입력 함수 </a:t>
            </a:r>
            <a:r>
              <a:rPr lang="en-US" altLang="ko-KR" sz="2400" dirty="0" err="1"/>
              <a:t>scanf</a:t>
            </a:r>
            <a:endParaRPr lang="en-US" altLang="ko-KR"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35540" y="1969233"/>
            <a:ext cx="5574785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-12] </a:t>
            </a:r>
            <a:r>
              <a:rPr lang="en-US" altLang="ko-KR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scanf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번 호출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973709246"/>
              </p:ext>
            </p:extLst>
          </p:nvPr>
        </p:nvGraphicFramePr>
        <p:xfrm>
          <a:off x="925576" y="2306834"/>
          <a:ext cx="7416825" cy="341986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 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  <a:endParaRPr lang="en-US" altLang="ko-KR" dirty="0">
                        <a:solidFill>
                          <a:srgbClr val="9D87B7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baseline="0" dirty="0">
                          <a:latin typeface="Consolas" panose="020B0609020204030204" pitchFamily="49" charset="0"/>
                        </a:rPr>
                        <a:t> name[16] = { 0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age;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이름과 나이를 공백으로 구분하여 입력하세요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s%d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name, &amp;age);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이름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%s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나이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name, age);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FCA54BC8-A8F1-457D-BC9D-7F1E4A5DCD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16"/>
          <a:stretch/>
        </p:blipFill>
        <p:spPr bwMode="auto">
          <a:xfrm>
            <a:off x="5213704" y="2368188"/>
            <a:ext cx="3737791" cy="1383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75437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표준 입출력이란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1434958"/>
            <a:ext cx="6286500" cy="4680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99267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 err="1">
                <a:solidFill>
                  <a:schemeClr val="tx1"/>
                </a:solidFill>
              </a:rPr>
              <a:t>실수형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79937"/>
            <a:ext cx="7924665" cy="4986358"/>
            <a:chOff x="683573" y="1844824"/>
            <a:chExt cx="7924665" cy="2057613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20576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2-2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95971"/>
            <a:ext cx="6366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latin typeface="+mj-ea"/>
                <a:ea typeface="+mj-ea"/>
              </a:rPr>
              <a:t>입력받은</a:t>
            </a:r>
            <a:r>
              <a:rPr lang="ko-KR" altLang="en-US" sz="1600" b="1" dirty="0">
                <a:latin typeface="+mj-ea"/>
                <a:ea typeface="+mj-ea"/>
              </a:rPr>
              <a:t> 두 수를 곱하고 출력하기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89306" y="1767809"/>
            <a:ext cx="7781027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두 수를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입력받아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곱한 값을 출력하는 프로그램을 작성해봅시다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199" y="2481340"/>
            <a:ext cx="6845239" cy="1000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000" y="3757674"/>
            <a:ext cx="7005638" cy="1348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79272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 err="1">
                <a:solidFill>
                  <a:schemeClr val="tx1"/>
                </a:solidFill>
              </a:rPr>
              <a:t>실수형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569430"/>
            <a:ext cx="7924665" cy="4512193"/>
            <a:chOff x="683573" y="1844824"/>
            <a:chExt cx="7924665" cy="139521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395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11206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2-2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584336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4215220061"/>
              </p:ext>
            </p:extLst>
          </p:nvPr>
        </p:nvGraphicFramePr>
        <p:xfrm>
          <a:off x="871407" y="2143125"/>
          <a:ext cx="7416825" cy="367589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178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두 정수를 공백으로 구분하여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scanf(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"%d%d“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&amp;a,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&amp;b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c = a * 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printf(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두 수의 곱은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%d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입니다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c);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3855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프로그램 생성 및 실행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15837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프로그램 생성 및 실행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간단한 메아리 프로그램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메아리</a:t>
            </a:r>
            <a:r>
              <a:rPr lang="en-US" altLang="ko-KR" b="1" dirty="0"/>
              <a:t>(Echo)</a:t>
            </a:r>
            <a:r>
              <a:rPr lang="ko-KR" altLang="en-US" b="1" dirty="0"/>
              <a:t> 프로그램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입력</a:t>
            </a:r>
            <a:r>
              <a:rPr lang="en-US" altLang="ko-KR" dirty="0"/>
              <a:t>(</a:t>
            </a:r>
            <a:r>
              <a:rPr lang="ko-KR" altLang="en-US" dirty="0"/>
              <a:t>요청</a:t>
            </a:r>
            <a:r>
              <a:rPr lang="en-US" altLang="ko-KR" dirty="0"/>
              <a:t>)</a:t>
            </a:r>
            <a:r>
              <a:rPr lang="ko-KR" altLang="en-US" dirty="0"/>
              <a:t>한 것을 그대로 출력</a:t>
            </a:r>
            <a:r>
              <a:rPr lang="en-US" altLang="ko-KR" dirty="0"/>
              <a:t>(</a:t>
            </a:r>
            <a:r>
              <a:rPr lang="ko-KR" altLang="en-US" dirty="0"/>
              <a:t>응답</a:t>
            </a:r>
            <a:r>
              <a:rPr lang="en-US" altLang="ko-KR" dirty="0"/>
              <a:t>)</a:t>
            </a:r>
            <a:r>
              <a:rPr lang="ko-KR" altLang="en-US" dirty="0"/>
              <a:t>하는 프로그램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네트워크 프로그래밍 시 클라이언트와 서버 사이의</a:t>
            </a:r>
            <a:r>
              <a:rPr lang="en-US" altLang="ko-KR" dirty="0"/>
              <a:t> </a:t>
            </a:r>
            <a:r>
              <a:rPr lang="ko-KR" altLang="en-US" dirty="0"/>
              <a:t>입출력이 잘 되는지 간단히 확인할 때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756636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프로그램 생성 및 실행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120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간단한 메아리 프로그램</a:t>
            </a:r>
            <a:endParaRPr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835540" y="1838166"/>
            <a:ext cx="5574785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-13]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메아리 프로그램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106546517"/>
              </p:ext>
            </p:extLst>
          </p:nvPr>
        </p:nvGraphicFramePr>
        <p:xfrm>
          <a:off x="925576" y="2178743"/>
          <a:ext cx="7416825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input[128] = { 0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입력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"%[^</a:t>
                      </a:r>
                      <a:r>
                        <a:rPr lang="en-US" altLang="ko-KR" baseline="0" dirty="0">
                          <a:solidFill>
                            <a:srgbClr val="9D87B7"/>
                          </a:solidFill>
                          <a:latin typeface="Consolas" panose="020B0609020204030204" pitchFamily="49" charset="0"/>
                        </a:rPr>
                        <a:t>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]s"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input);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출력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%s"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input);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76" y="5346750"/>
            <a:ext cx="7555985" cy="835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09611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프로그램 생성 및 실행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생성된 프로그램 위치 확인하기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dirty="0"/>
              <a:t>프로젝트 속성 페이지의 설정 값에 따라</a:t>
            </a:r>
            <a:r>
              <a:rPr lang="en-US" altLang="ko-KR" dirty="0"/>
              <a:t> </a:t>
            </a:r>
            <a:r>
              <a:rPr lang="ko-KR" altLang="en-US" dirty="0"/>
              <a:t>프로젝트를 빌드하여 생성된 프로그램의 위치가 결정됨</a:t>
            </a:r>
            <a:endParaRPr lang="en-US" altLang="ko-KR" dirty="0"/>
          </a:p>
        </p:txBody>
      </p:sp>
      <p:pic>
        <p:nvPicPr>
          <p:cNvPr id="7170" name="Picture 2" descr="C:\Users\변소현\Desktop\난생처음 C 언어 프로그래밍\그림\Ch2\그림 2-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478" y="2695526"/>
            <a:ext cx="5811044" cy="377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3389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프로그램 생성 및 실행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생성된 프로그램 위치 확인하기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프로젝트 실습 디렉터리</a:t>
            </a:r>
            <a:endParaRPr lang="en-US" altLang="ko-KR" b="1" dirty="0"/>
          </a:p>
          <a:p>
            <a:pPr marL="447675" lvl="2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None/>
            </a:pPr>
            <a:endParaRPr lang="en-US" altLang="ko-KR" b="1" dirty="0"/>
          </a:p>
          <a:p>
            <a:pPr marL="447675" lvl="2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None/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솔루션 디렉터리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솔루션 파일이 있는 곳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경로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D:\CProgramming\CSolution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솔루션 파일 </a:t>
            </a:r>
            <a:r>
              <a:rPr lang="en-US" altLang="ko-KR" dirty="0"/>
              <a:t>: CSolution.sln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6" y="2281239"/>
            <a:ext cx="7515224" cy="55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95496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프로그램 생성 및 실행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생성된 프로그램 위치 확인하기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프로젝트 디렉터리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프로젝트 파일이 있는 곳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경로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D:\CProgramming\CSolution\CProject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프로젝트 파일 </a:t>
            </a:r>
            <a:r>
              <a:rPr lang="en-US" altLang="ko-KR" dirty="0"/>
              <a:t>: </a:t>
            </a:r>
            <a:r>
              <a:rPr lang="en-US" altLang="ko-KR" dirty="0" err="1"/>
              <a:t>CProject.vcxproj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957839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프로그램 생성 및 실행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생성된 프로그램 위치 확인하기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프로젝트 디렉터리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2-7]</a:t>
            </a:r>
            <a:r>
              <a:rPr lang="ko-KR" altLang="en-US" dirty="0"/>
              <a:t>의 ①</a:t>
            </a:r>
            <a:r>
              <a:rPr lang="en-US" altLang="ko-KR" dirty="0"/>
              <a:t>, </a:t>
            </a:r>
            <a:r>
              <a:rPr lang="ko-KR" altLang="en-US" dirty="0"/>
              <a:t>②</a:t>
            </a:r>
            <a:r>
              <a:rPr lang="en-US" altLang="ko-KR" dirty="0"/>
              <a:t>, </a:t>
            </a:r>
            <a:r>
              <a:rPr lang="ko-KR" altLang="en-US" dirty="0"/>
              <a:t>③ 해석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r>
              <a:rPr lang="en-US" altLang="ko-KR" dirty="0"/>
              <a:t>• $(</a:t>
            </a:r>
            <a:r>
              <a:rPr lang="en-US" altLang="ko-KR" dirty="0" err="1"/>
              <a:t>SolutionDir</a:t>
            </a:r>
            <a:r>
              <a:rPr lang="en-US" altLang="ko-KR" dirty="0"/>
              <a:t>) : </a:t>
            </a:r>
            <a:r>
              <a:rPr lang="ko-KR" altLang="en-US" dirty="0"/>
              <a:t>솔루션 디렉터리 즉 </a:t>
            </a:r>
            <a:r>
              <a:rPr lang="en-US" altLang="ko-KR" dirty="0"/>
              <a:t>:\CProgramming\CSolution\</a:t>
            </a:r>
            <a:r>
              <a:rPr lang="ko-KR" altLang="en-US" dirty="0"/>
              <a:t>을 의미함</a:t>
            </a: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r>
              <a:rPr lang="en-US" altLang="ko-KR" dirty="0"/>
              <a:t>• $(Platform) : </a:t>
            </a:r>
            <a:r>
              <a:rPr lang="ko-KR" altLang="en-US" dirty="0"/>
              <a:t>①의 </a:t>
            </a:r>
            <a:r>
              <a:rPr lang="en-US" altLang="ko-KR" dirty="0"/>
              <a:t>64</a:t>
            </a:r>
            <a:r>
              <a:rPr lang="ko-KR" altLang="en-US" dirty="0"/>
              <a:t>비트 시스템을 의미함</a:t>
            </a: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r>
              <a:rPr lang="en-US" altLang="ko-KR" dirty="0"/>
              <a:t>• $(Configuration) : </a:t>
            </a:r>
            <a:r>
              <a:rPr lang="ko-KR" altLang="en-US" dirty="0"/>
              <a:t>①의 </a:t>
            </a:r>
            <a:r>
              <a:rPr lang="en-US" altLang="ko-KR" dirty="0"/>
              <a:t>Release</a:t>
            </a:r>
            <a:r>
              <a:rPr lang="ko-KR" altLang="en-US" dirty="0"/>
              <a:t>를 나타냄</a:t>
            </a:r>
            <a:r>
              <a:rPr lang="en-US" altLang="ko-KR" dirty="0"/>
              <a:t> </a:t>
            </a:r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r>
              <a:rPr lang="en-US" altLang="ko-KR" dirty="0"/>
              <a:t>• $(</a:t>
            </a:r>
            <a:r>
              <a:rPr lang="en-US" altLang="ko-KR" dirty="0" err="1"/>
              <a:t>ProjectName</a:t>
            </a:r>
            <a:r>
              <a:rPr lang="en-US" altLang="ko-KR" dirty="0"/>
              <a:t>) : </a:t>
            </a:r>
            <a:r>
              <a:rPr lang="ko-KR" altLang="en-US" dirty="0"/>
              <a:t>프로젝트 이름</a:t>
            </a:r>
            <a:r>
              <a:rPr lang="en-US" altLang="ko-KR" dirty="0"/>
              <a:t> </a:t>
            </a:r>
            <a:r>
              <a:rPr lang="ko-KR" altLang="en-US" dirty="0"/>
              <a:t>즉 </a:t>
            </a:r>
            <a:r>
              <a:rPr lang="en-US" altLang="ko-KR" dirty="0" err="1"/>
              <a:t>CProject</a:t>
            </a:r>
            <a:r>
              <a:rPr lang="ko-KR" altLang="en-US" dirty="0"/>
              <a:t>를 의미함</a:t>
            </a: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r>
              <a:rPr lang="en-US" altLang="ko-KR" dirty="0"/>
              <a:t>• </a:t>
            </a:r>
            <a:r>
              <a:rPr lang="ko-KR" altLang="en-US" dirty="0"/>
              <a:t>프로그램의 경로 </a:t>
            </a:r>
            <a:r>
              <a:rPr lang="en-US" altLang="ko-KR" dirty="0"/>
              <a:t>: </a:t>
            </a:r>
            <a:r>
              <a:rPr lang="ko-KR" altLang="en-US" dirty="0"/>
              <a:t>②와 ③을 합친 경로</a:t>
            </a:r>
            <a:endParaRPr lang="en-US" altLang="ko-K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CA194F7E-11DB-4736-98C3-4B3CBB3467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63"/>
          <a:stretch/>
        </p:blipFill>
        <p:spPr bwMode="auto">
          <a:xfrm>
            <a:off x="1021127" y="2829196"/>
            <a:ext cx="7101747" cy="998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32680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프로그램 생성 및 실행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빌드</a:t>
            </a:r>
            <a:r>
              <a:rPr lang="ko-KR" altLang="en-US" sz="2400" dirty="0"/>
              <a:t> 및 프로그램 실행하기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altLang="ko-KR" b="1" dirty="0"/>
              <a:t>VS2022 </a:t>
            </a:r>
            <a:r>
              <a:rPr lang="ko-KR" altLang="en-US" b="1" dirty="0"/>
              <a:t>메뉴에서 실행하기</a:t>
            </a:r>
            <a:endParaRPr lang="en-US" altLang="ko-KR" b="1" dirty="0"/>
          </a:p>
        </p:txBody>
      </p:sp>
      <p:pic>
        <p:nvPicPr>
          <p:cNvPr id="10242" name="Picture 2" descr="C:\Users\변소현\Desktop\난생처음 C 언어 프로그래밍\그림\Ch2\그림 2-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5" y="2565755"/>
            <a:ext cx="5111750" cy="101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3884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프로그램 생성 및 실행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빌드</a:t>
            </a:r>
            <a:r>
              <a:rPr lang="ko-KR" altLang="en-US" sz="2400" dirty="0"/>
              <a:t> 및 프로그램 실행하기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탐색기를 이용하여 실행하기</a:t>
            </a:r>
            <a:endParaRPr lang="ko-KR" altLang="en-US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/>
            </a:pPr>
            <a:r>
              <a:rPr lang="ko-KR" altLang="en-US" dirty="0"/>
              <a:t>탐색기에서 프로그램이 생성된 폴더로 이동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dirty="0"/>
              <a:t>(D:\</a:t>
            </a:r>
            <a:r>
              <a:rPr lang="en-US" altLang="ko-KR" dirty="0" err="1"/>
              <a:t>CProgramming</a:t>
            </a:r>
            <a:r>
              <a:rPr lang="en-US" altLang="ko-KR" dirty="0"/>
              <a:t>\</a:t>
            </a:r>
            <a:r>
              <a:rPr lang="en-US" altLang="ko-KR" dirty="0" err="1"/>
              <a:t>CSolution</a:t>
            </a:r>
            <a:r>
              <a:rPr lang="en-US" altLang="ko-KR" dirty="0"/>
              <a:t>\x64\Release)</a:t>
            </a:r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/>
            </a:pPr>
            <a:r>
              <a:rPr lang="en-US" altLang="ko-KR" dirty="0"/>
              <a:t>CProject.exe </a:t>
            </a:r>
            <a:r>
              <a:rPr lang="ko-KR" altLang="en-US" dirty="0"/>
              <a:t>파일 </a:t>
            </a:r>
            <a:r>
              <a:rPr lang="ko-KR" altLang="en-US" dirty="0" err="1"/>
              <a:t>더블클릭하여</a:t>
            </a:r>
            <a:r>
              <a:rPr lang="ko-KR" altLang="en-US" dirty="0"/>
              <a:t> 실행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/>
            </a:pPr>
            <a:r>
              <a:rPr lang="ko-KR" altLang="en-US" dirty="0"/>
              <a:t>프로그램 실행 후 입력하여 </a:t>
            </a:r>
            <a:r>
              <a:rPr lang="ko-KR" altLang="en-US" dirty="0" err="1"/>
              <a:t>콘솔창이</a:t>
            </a:r>
            <a:r>
              <a:rPr lang="ko-KR" altLang="en-US" dirty="0"/>
              <a:t> 닫혀 출력 확인이 불가능한 경우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윈도우 </a:t>
            </a:r>
            <a:r>
              <a:rPr lang="en-US" altLang="ko-KR" dirty="0"/>
              <a:t>[</a:t>
            </a:r>
            <a:r>
              <a:rPr lang="ko-KR" altLang="en-US" dirty="0"/>
              <a:t>검색</a:t>
            </a:r>
            <a:r>
              <a:rPr lang="en-US" altLang="ko-KR" dirty="0"/>
              <a:t>]</a:t>
            </a:r>
            <a:r>
              <a:rPr lang="ko-KR" altLang="en-US" dirty="0"/>
              <a:t>에서 </a:t>
            </a:r>
            <a:r>
              <a:rPr lang="en-US" altLang="ko-KR" dirty="0" err="1"/>
              <a:t>cmd</a:t>
            </a:r>
            <a:r>
              <a:rPr lang="ko-KR" altLang="en-US" dirty="0"/>
              <a:t>를 입력 후 </a:t>
            </a:r>
            <a:r>
              <a:rPr lang="en-US" altLang="ko-KR" dirty="0"/>
              <a:t>[</a:t>
            </a:r>
            <a:r>
              <a:rPr lang="ko-KR" altLang="en-US" dirty="0"/>
              <a:t>명령 프롬프트</a:t>
            </a:r>
            <a:r>
              <a:rPr lang="en-US" altLang="ko-KR" dirty="0"/>
              <a:t>]</a:t>
            </a:r>
            <a:r>
              <a:rPr lang="ko-KR" altLang="en-US" dirty="0"/>
              <a:t>를 선택하여 직접 콘솔 열기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714786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프로그램 생성 및 실행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빌드</a:t>
            </a:r>
            <a:r>
              <a:rPr lang="ko-KR" altLang="en-US" sz="2400" dirty="0"/>
              <a:t> 및 프로그램 실행하기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탐색기를 이용하여 실행하기</a:t>
            </a:r>
            <a:endParaRPr lang="ko-KR" altLang="en-US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4"/>
            </a:pPr>
            <a:r>
              <a:rPr lang="ko-KR" altLang="en-US" dirty="0"/>
              <a:t>프로그램 파일이 있는 디렉터리로 이동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4"/>
            </a:pPr>
            <a:r>
              <a:rPr lang="ko-KR" altLang="en-US" dirty="0"/>
              <a:t>드라이브가 다른 경우 </a:t>
            </a:r>
            <a:r>
              <a:rPr lang="en-US" altLang="ko-KR" dirty="0"/>
              <a:t>D:</a:t>
            </a:r>
            <a:r>
              <a:rPr lang="ko-KR" altLang="en-US" dirty="0"/>
              <a:t>를 입력하여 드라이브 변경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4"/>
            </a:pPr>
            <a:r>
              <a:rPr lang="en-US" altLang="ko-KR" dirty="0"/>
              <a:t>cd(change directory) </a:t>
            </a:r>
            <a:r>
              <a:rPr lang="ko-KR" altLang="en-US" dirty="0"/>
              <a:t>바로 뒤에 이동할 경로를 입력</a:t>
            </a:r>
            <a:endParaRPr lang="en-US" altLang="ko-KR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4"/>
            </a:pPr>
            <a:r>
              <a:rPr lang="en-US" altLang="ko-KR" dirty="0"/>
              <a:t>CProject.exe </a:t>
            </a:r>
            <a:r>
              <a:rPr lang="ko-KR" altLang="en-US" dirty="0"/>
              <a:t>입력하면 프로그램이 실행됨</a:t>
            </a:r>
            <a:endParaRPr lang="en-US" altLang="ko-KR" dirty="0"/>
          </a:p>
        </p:txBody>
      </p:sp>
      <p:pic>
        <p:nvPicPr>
          <p:cNvPr id="11266" name="Picture 2" descr="C:\Users\변소현\Desktop\난생처음 C 언어 프로그래밍\그림\Ch2\그림 2-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238" y="4294188"/>
            <a:ext cx="3565525" cy="207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6506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프로그램 생성 및 실행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62" y="2160401"/>
            <a:ext cx="7550727" cy="139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20230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>
                <a:solidFill>
                  <a:schemeClr val="accent4"/>
                </a:solidFill>
              </a:rPr>
              <a:t>두 수를 활용한 세 가지 연산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두 수를 활용한 세 가지 연산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433637"/>
            <a:ext cx="8363272" cy="176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문제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 algn="just">
              <a:buNone/>
            </a:pPr>
            <a:r>
              <a:rPr lang="ko-KR" altLang="en-US" sz="1800" dirty="0"/>
              <a:t>두 수를 </a:t>
            </a:r>
            <a:r>
              <a:rPr lang="ko-KR" altLang="en-US" sz="1800" dirty="0" err="1"/>
              <a:t>입력받아</a:t>
            </a:r>
            <a:r>
              <a:rPr lang="ko-KR" altLang="en-US" sz="1800" dirty="0"/>
              <a:t> 곱하기</a:t>
            </a:r>
            <a:r>
              <a:rPr lang="en-US" altLang="ko-KR" sz="1800" dirty="0"/>
              <a:t>(+), </a:t>
            </a:r>
            <a:r>
              <a:rPr lang="ko-KR" altLang="en-US" sz="1800" dirty="0"/>
              <a:t>더하기</a:t>
            </a:r>
            <a:r>
              <a:rPr lang="en-US" altLang="ko-KR" sz="1800" dirty="0"/>
              <a:t>(+), </a:t>
            </a:r>
            <a:r>
              <a:rPr lang="ko-KR" altLang="en-US" sz="1800" dirty="0"/>
              <a:t>빼기</a:t>
            </a:r>
            <a:r>
              <a:rPr lang="en-US" altLang="ko-KR" sz="1800" dirty="0"/>
              <a:t>(-)</a:t>
            </a:r>
            <a:r>
              <a:rPr lang="ko-KR" altLang="en-US" sz="1800" dirty="0"/>
              <a:t>를 출력하는 프로그램을 작성해봅시다</a:t>
            </a:r>
            <a:r>
              <a:rPr lang="en-US" altLang="ko-KR" sz="1800" dirty="0"/>
              <a:t>. </a:t>
            </a:r>
            <a:r>
              <a:rPr lang="ko-KR" altLang="en-US" sz="1800" dirty="0"/>
              <a:t>이때 곱하기</a:t>
            </a:r>
            <a:r>
              <a:rPr lang="en-US" altLang="ko-KR" sz="1800" dirty="0"/>
              <a:t>, </a:t>
            </a:r>
            <a:r>
              <a:rPr lang="ko-KR" altLang="en-US" sz="1800" dirty="0"/>
              <a:t>더하기</a:t>
            </a:r>
            <a:r>
              <a:rPr lang="en-US" altLang="ko-KR" sz="1800" dirty="0"/>
              <a:t>, </a:t>
            </a:r>
            <a:r>
              <a:rPr lang="ko-KR" altLang="en-US" sz="1800" dirty="0"/>
              <a:t>빼기는 각각의 함수를 따로 구현하여 호출하여 사용합니다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" y="3526691"/>
            <a:ext cx="8372475" cy="2159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두 수를 활용한 세 가지 연산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433635"/>
            <a:ext cx="8363272" cy="396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Font typeface="Noto Sans Symbols"/>
              <a:buNone/>
            </a:pPr>
            <a:endParaRPr lang="en-US" altLang="ko-KR" sz="500" dirty="0">
              <a:solidFill>
                <a:srgbClr val="7030A0"/>
              </a:solidFill>
            </a:endParaRPr>
          </a:p>
          <a:p>
            <a:pPr marL="342900" indent="-342900">
              <a:buClr>
                <a:srgbClr val="9D87B7"/>
              </a:buClr>
              <a:buSzPct val="100000"/>
              <a:buFont typeface="+mj-lt"/>
              <a:buAutoNum type="arabicPeriod"/>
            </a:pPr>
            <a:r>
              <a:rPr lang="ko-KR" altLang="en-US" sz="1800" dirty="0"/>
              <a:t>두 정수의 곱</a:t>
            </a:r>
            <a:r>
              <a:rPr lang="en-US" altLang="ko-KR" sz="1800" dirty="0"/>
              <a:t>, </a:t>
            </a:r>
            <a:r>
              <a:rPr lang="ko-KR" altLang="en-US" sz="1800" dirty="0"/>
              <a:t>합</a:t>
            </a:r>
            <a:r>
              <a:rPr lang="en-US" altLang="ko-KR" sz="1800" dirty="0"/>
              <a:t>, </a:t>
            </a:r>
            <a:r>
              <a:rPr lang="ko-KR" altLang="en-US" sz="1800" dirty="0"/>
              <a:t>차를 구하는 매개변수 두 개인 함수</a:t>
            </a:r>
            <a:r>
              <a:rPr lang="en-US" altLang="ko-KR" sz="1800" dirty="0"/>
              <a:t> </a:t>
            </a:r>
            <a:r>
              <a:rPr lang="en-US" altLang="ko-KR" sz="1800" dirty="0">
                <a:latin typeface="Consolas" panose="020B0609020204030204" pitchFamily="49" charset="0"/>
              </a:rPr>
              <a:t>multiply, add, subtract</a:t>
            </a:r>
            <a:r>
              <a:rPr lang="ko-KR" altLang="en-US" sz="1800" dirty="0"/>
              <a:t>를 작성한다</a:t>
            </a:r>
            <a:r>
              <a:rPr lang="en-US" altLang="ko-KR" sz="1800" dirty="0"/>
              <a:t>.</a:t>
            </a:r>
          </a:p>
          <a:p>
            <a:pPr marL="342900" indent="-342900">
              <a:buClr>
                <a:srgbClr val="9D87B7"/>
              </a:buClr>
              <a:buSzPct val="100000"/>
              <a:buFont typeface="+mj-lt"/>
              <a:buAutoNum type="arabicPeriod"/>
            </a:pPr>
            <a:endParaRPr lang="en-US" altLang="ko-KR" sz="1200" dirty="0"/>
          </a:p>
          <a:p>
            <a:pPr marL="342900" indent="-342900">
              <a:buClr>
                <a:srgbClr val="9D87B7"/>
              </a:buClr>
              <a:buSzPct val="100000"/>
              <a:buFont typeface="+mj-lt"/>
              <a:buAutoNum type="arabicPeriod"/>
            </a:pPr>
            <a:r>
              <a:rPr lang="ko-KR" altLang="en-US" sz="1800" dirty="0"/>
              <a:t>정수 변수 </a:t>
            </a:r>
            <a:r>
              <a:rPr lang="en-US" altLang="ko-KR" sz="1800" dirty="0"/>
              <a:t>a, b</a:t>
            </a:r>
            <a:r>
              <a:rPr lang="ko-KR" altLang="en-US" sz="1800" dirty="0"/>
              <a:t>를 마련하고 서식 문자열 </a:t>
            </a:r>
            <a:r>
              <a:rPr lang="en-US" altLang="ko-KR" sz="1800" dirty="0">
                <a:solidFill>
                  <a:schemeClr val="tx1"/>
                </a:solidFill>
                <a:latin typeface="Consolas" panose="020B0609020204030204" pitchFamily="49" charset="0"/>
              </a:rPr>
              <a:t>"%</a:t>
            </a:r>
            <a:r>
              <a:rPr lang="en-US" altLang="ko-KR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d%d</a:t>
            </a:r>
            <a:r>
              <a:rPr lang="en-US" altLang="ko-KR" sz="18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1800" dirty="0"/>
              <a:t>로</a:t>
            </a:r>
            <a:r>
              <a:rPr lang="en-US" altLang="ko-KR" sz="1800" dirty="0"/>
              <a:t> </a:t>
            </a:r>
            <a:r>
              <a:rPr lang="en-US" altLang="ko-KR" sz="1800" dirty="0" err="1">
                <a:latin typeface="Consolas" panose="020B0609020204030204" pitchFamily="49" charset="0"/>
              </a:rPr>
              <a:t>scanf</a:t>
            </a:r>
            <a:r>
              <a:rPr lang="ko-KR" altLang="en-US" sz="1800" dirty="0"/>
              <a:t>를 호출하여 </a:t>
            </a:r>
            <a:r>
              <a:rPr lang="en-US" altLang="ko-KR" sz="1800" dirty="0">
                <a:latin typeface="Consolas" panose="020B0609020204030204" pitchFamily="49" charset="0"/>
              </a:rPr>
              <a:t>&amp;a, &amp;b</a:t>
            </a:r>
            <a:r>
              <a:rPr lang="ko-KR" altLang="en-US" sz="1800" dirty="0"/>
              <a:t>를 인자로 전달한다</a:t>
            </a:r>
            <a:r>
              <a:rPr lang="en-US" altLang="ko-KR" sz="1800" dirty="0"/>
              <a:t>.</a:t>
            </a:r>
          </a:p>
          <a:p>
            <a:pPr marL="342900" indent="-342900">
              <a:buClr>
                <a:srgbClr val="9D87B7"/>
              </a:buClr>
              <a:buSzPct val="100000"/>
              <a:buFont typeface="+mj-lt"/>
              <a:buAutoNum type="arabicPeriod"/>
            </a:pPr>
            <a:endParaRPr lang="en-US" altLang="ko-KR" sz="1200" dirty="0"/>
          </a:p>
          <a:p>
            <a:pPr marL="342900" indent="-342900">
              <a:buClr>
                <a:srgbClr val="9D87B7"/>
              </a:buClr>
              <a:buSzPct val="100000"/>
              <a:buFont typeface="+mj-lt"/>
              <a:buAutoNum type="arabicPeriod"/>
            </a:pPr>
            <a:r>
              <a:rPr lang="ko-KR" altLang="en-US" sz="1800" dirty="0"/>
              <a:t>변수 </a:t>
            </a:r>
            <a:r>
              <a:rPr lang="en-US" altLang="ko-KR" sz="1800" dirty="0">
                <a:latin typeface="Consolas" panose="020B0609020204030204" pitchFamily="49" charset="0"/>
              </a:rPr>
              <a:t>c1, c2, c3</a:t>
            </a:r>
            <a:r>
              <a:rPr lang="ko-KR" altLang="en-US" sz="1800" dirty="0"/>
              <a:t>를 마련하고 각각 세 함수를 호출한 결과를 저장한다</a:t>
            </a:r>
            <a:r>
              <a:rPr lang="en-US" altLang="ko-KR" sz="1800" dirty="0"/>
              <a:t>.</a:t>
            </a:r>
          </a:p>
          <a:p>
            <a:pPr marL="342900" indent="-342900">
              <a:buClr>
                <a:srgbClr val="9D87B7"/>
              </a:buClr>
              <a:buSzPct val="100000"/>
              <a:buFont typeface="+mj-lt"/>
              <a:buAutoNum type="arabicPeriod"/>
            </a:pPr>
            <a:endParaRPr lang="en-US" altLang="ko-KR" sz="1200" dirty="0"/>
          </a:p>
          <a:p>
            <a:pPr marL="342900" indent="-342900">
              <a:buClr>
                <a:srgbClr val="9D87B7"/>
              </a:buClr>
              <a:buSzPct val="100000"/>
              <a:buFont typeface="+mj-lt"/>
              <a:buAutoNum type="arabicPeriod"/>
            </a:pPr>
            <a:r>
              <a:rPr lang="ko-KR" altLang="en-US" sz="1800" dirty="0"/>
              <a:t>서식 문자열 안에 출력 제어 문자열 </a:t>
            </a:r>
            <a:r>
              <a:rPr lang="en-US" altLang="ko-KR" sz="1800" dirty="0">
                <a:latin typeface="Consolas" panose="020B0609020204030204" pitchFamily="49" charset="0"/>
              </a:rPr>
              <a:t>\r\n</a:t>
            </a:r>
            <a:r>
              <a:rPr lang="ko-KR" altLang="en-US" sz="1800" dirty="0"/>
              <a:t>을 사용하여</a:t>
            </a:r>
            <a:r>
              <a:rPr lang="en-US" altLang="ko-KR" sz="1800" dirty="0"/>
              <a:t> </a:t>
            </a:r>
            <a:r>
              <a:rPr lang="ko-KR" altLang="en-US" sz="1800" dirty="0"/>
              <a:t>단 한 번의 </a:t>
            </a:r>
            <a:r>
              <a:rPr lang="en-US" altLang="ko-KR" sz="1800" dirty="0" err="1">
                <a:latin typeface="Consolas" panose="020B0609020204030204" pitchFamily="49" charset="0"/>
              </a:rPr>
              <a:t>printf</a:t>
            </a:r>
            <a:r>
              <a:rPr lang="ko-KR" altLang="en-US" sz="1800" dirty="0"/>
              <a:t>를 호출하여 세 줄에 걸쳐서</a:t>
            </a:r>
            <a:r>
              <a:rPr lang="en-US" altLang="ko-KR" sz="1800" dirty="0"/>
              <a:t> </a:t>
            </a:r>
            <a:r>
              <a:rPr lang="en-US" altLang="ko-KR" sz="1800" dirty="0">
                <a:latin typeface="Consolas" panose="020B0609020204030204" pitchFamily="49" charset="0"/>
              </a:rPr>
              <a:t>c1, c2, c3</a:t>
            </a:r>
            <a:r>
              <a:rPr lang="ko-KR" altLang="en-US" sz="1800" dirty="0"/>
              <a:t>가 출력되도록 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20690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두 수를 활용한 세 가지 연산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013012"/>
            <a:ext cx="8363272" cy="99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989981396"/>
              </p:ext>
            </p:extLst>
          </p:nvPr>
        </p:nvGraphicFramePr>
        <p:xfrm>
          <a:off x="873112" y="1515237"/>
          <a:ext cx="7416825" cy="444399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multiply(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j)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* j;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add(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j)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+ j;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subtract(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j)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- j;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두 수를 활용한 세 가지 연산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577401042"/>
              </p:ext>
            </p:extLst>
          </p:nvPr>
        </p:nvGraphicFramePr>
        <p:xfrm>
          <a:off x="873112" y="1752981"/>
          <a:ext cx="7416825" cy="314554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25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두 정수를 공백으로 구분하여 입력하세요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d%d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&amp;a, &amp;b);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c1 = multiply(a, b);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c2 = add(a, b);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c3 = subtract(a, b);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곱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합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차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c1, c2, c3);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xmlns="" id="{9E6A39AB-708D-42AA-891B-51AB206FD688}"/>
              </a:ext>
            </a:extLst>
          </p:cNvPr>
          <p:cNvSpPr txBox="1">
            <a:spLocks/>
          </p:cNvSpPr>
          <p:nvPr/>
        </p:nvSpPr>
        <p:spPr>
          <a:xfrm>
            <a:off x="323528" y="1013012"/>
            <a:ext cx="8363272" cy="99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536045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2545</Words>
  <Application>Microsoft Office PowerPoint</Application>
  <PresentationFormat>화면 슬라이드 쇼(4:3)</PresentationFormat>
  <Paragraphs>627</Paragraphs>
  <Slides>69</Slides>
  <Notes>52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69</vt:i4>
      </vt:variant>
    </vt:vector>
  </HeadingPairs>
  <TitlesOfParts>
    <vt:vector size="70" baseType="lpstr">
      <vt:lpstr>Office 테마</vt:lpstr>
      <vt:lpstr>Chapter 02. C 프로그래밍의 기초</vt:lpstr>
      <vt:lpstr>PowerPoint 프레젠테이션</vt:lpstr>
      <vt:lpstr>PowerPoint 프레젠테이션</vt:lpstr>
      <vt:lpstr>PowerPoint 프레젠테이션</vt:lpstr>
      <vt:lpstr>01. 소스 파일과 헤더 파일이란?</vt:lpstr>
      <vt:lpstr>01. 소스 파일과 헤더 파일이란?</vt:lpstr>
      <vt:lpstr>01. 소스 파일과 헤더 파일이란?</vt:lpstr>
      <vt:lpstr>01. 소스 파일과 헤더 파일이란?</vt:lpstr>
      <vt:lpstr>01. 소스 파일과 헤더 파일이란?</vt:lpstr>
      <vt:lpstr>01. 소스 파일과 헤더 파일이란?</vt:lpstr>
      <vt:lpstr>01. 소스 파일과 헤더 파일이란?</vt:lpstr>
      <vt:lpstr>01. 소스 파일과 헤더 파일이란?</vt:lpstr>
      <vt:lpstr>01. 소스 파일과 헤더 파일이란?</vt:lpstr>
      <vt:lpstr>01. 소스 파일과 헤더 파일이란?</vt:lpstr>
      <vt:lpstr>01. 소스 파일과 헤더 파일이란?</vt:lpstr>
      <vt:lpstr>01. 소스 파일과 헤더 파일이란?</vt:lpstr>
      <vt:lpstr>PowerPoint 프레젠테이션</vt:lpstr>
      <vt:lpstr>02. C 코드의 기초</vt:lpstr>
      <vt:lpstr>02. C 코드의 기초</vt:lpstr>
      <vt:lpstr>02. C 코드의 기초</vt:lpstr>
      <vt:lpstr>02. C 코드의 기초</vt:lpstr>
      <vt:lpstr>02. C 코드의 기초</vt:lpstr>
      <vt:lpstr>02. C 코드의 기초</vt:lpstr>
      <vt:lpstr>02. C 코드의 기초</vt:lpstr>
      <vt:lpstr>02. C 코드의 기초</vt:lpstr>
      <vt:lpstr>02. C 코드의 기초</vt:lpstr>
      <vt:lpstr>02. C 코드의 기초</vt:lpstr>
      <vt:lpstr>02. C 코드의 기초</vt:lpstr>
      <vt:lpstr>02. C 코드의 기초</vt:lpstr>
      <vt:lpstr>PowerPoint 프레젠테이션</vt:lpstr>
      <vt:lpstr>03. C 프로그램의 기초</vt:lpstr>
      <vt:lpstr>03. C 프로그램의 기초</vt:lpstr>
      <vt:lpstr>03. C 프로그램의 기초</vt:lpstr>
      <vt:lpstr>03. C 프로그램의 기초</vt:lpstr>
      <vt:lpstr>03. C 프로그램의 기초</vt:lpstr>
      <vt:lpstr>03. C 프로그램의 기초</vt:lpstr>
      <vt:lpstr>03. C 프로그램의 기초</vt:lpstr>
      <vt:lpstr>03. C 프로그램의 기초</vt:lpstr>
      <vt:lpstr>03. C 프로그램의 기초</vt:lpstr>
      <vt:lpstr>PowerPoint 프레젠테이션</vt:lpstr>
      <vt:lpstr>04. 표준 입출력이란?</vt:lpstr>
      <vt:lpstr>04. 표준 입출력이란?</vt:lpstr>
      <vt:lpstr>04. 표준 입출력이란?</vt:lpstr>
      <vt:lpstr>04. 표준 입출력이란?</vt:lpstr>
      <vt:lpstr>04. 표준 입출력이란?</vt:lpstr>
      <vt:lpstr>04. 표준 입출력이란?</vt:lpstr>
      <vt:lpstr>04. 표준 입출력이란?</vt:lpstr>
      <vt:lpstr>04. 표준 입출력이란?</vt:lpstr>
      <vt:lpstr>04. 표준 입출력이란?</vt:lpstr>
      <vt:lpstr>04. 표준 입출력이란?</vt:lpstr>
      <vt:lpstr>04. 실수형</vt:lpstr>
      <vt:lpstr>04. 실수형</vt:lpstr>
      <vt:lpstr>PowerPoint 프레젠테이션</vt:lpstr>
      <vt:lpstr>05. 프로그램 생성 및 실행</vt:lpstr>
      <vt:lpstr>05. 프로그램 생성 및 실행</vt:lpstr>
      <vt:lpstr>05. 프로그램 생성 및 실행</vt:lpstr>
      <vt:lpstr>05. 프로그램 생성 및 실행</vt:lpstr>
      <vt:lpstr>05. 프로그램 생성 및 실행</vt:lpstr>
      <vt:lpstr>05. 프로그램 생성 및 실행</vt:lpstr>
      <vt:lpstr>05. 프로그램 생성 및 실행</vt:lpstr>
      <vt:lpstr>05. 프로그램 생성 및 실행</vt:lpstr>
      <vt:lpstr>05. 프로그램 생성 및 실행</vt:lpstr>
      <vt:lpstr>05. 프로그램 생성 및 실행</vt:lpstr>
      <vt:lpstr>PowerPoint 프레젠테이션</vt:lpstr>
      <vt:lpstr>[실전예제] 두 수를 활용한 세 가지 연산</vt:lpstr>
      <vt:lpstr>[실전예제] 두 수를 활용한 세 가지 연산</vt:lpstr>
      <vt:lpstr>[실전예제] 두 수를 활용한 세 가지 연산</vt:lpstr>
      <vt:lpstr>[실전예제] 두 수를 활용한 세 가지 연산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이해원</cp:lastModifiedBy>
  <cp:revision>88</cp:revision>
  <dcterms:created xsi:type="dcterms:W3CDTF">2012-07-11T10:23:22Z</dcterms:created>
  <dcterms:modified xsi:type="dcterms:W3CDTF">2022-01-26T01:49:06Z</dcterms:modified>
</cp:coreProperties>
</file>