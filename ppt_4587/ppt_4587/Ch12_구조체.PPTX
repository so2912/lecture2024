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56" r:id="rId2"/>
    <p:sldId id="257" r:id="rId3"/>
    <p:sldId id="258" r:id="rId4"/>
    <p:sldId id="259" r:id="rId5"/>
    <p:sldId id="260" r:id="rId6"/>
    <p:sldId id="525" r:id="rId7"/>
    <p:sldId id="558" r:id="rId8"/>
    <p:sldId id="580" r:id="rId9"/>
    <p:sldId id="581" r:id="rId10"/>
    <p:sldId id="582" r:id="rId11"/>
    <p:sldId id="583" r:id="rId12"/>
    <p:sldId id="584" r:id="rId13"/>
    <p:sldId id="560" r:id="rId14"/>
    <p:sldId id="561" r:id="rId15"/>
    <p:sldId id="261" r:id="rId16"/>
    <p:sldId id="273" r:id="rId17"/>
    <p:sldId id="585" r:id="rId18"/>
    <p:sldId id="586" r:id="rId19"/>
    <p:sldId id="587" r:id="rId20"/>
    <p:sldId id="588" r:id="rId21"/>
    <p:sldId id="589" r:id="rId22"/>
    <p:sldId id="591" r:id="rId23"/>
    <p:sldId id="592" r:id="rId24"/>
    <p:sldId id="594" r:id="rId25"/>
    <p:sldId id="595" r:id="rId26"/>
    <p:sldId id="596" r:id="rId27"/>
    <p:sldId id="533" r:id="rId28"/>
    <p:sldId id="433" r:id="rId29"/>
    <p:sldId id="434" r:id="rId30"/>
    <p:sldId id="597" r:id="rId31"/>
    <p:sldId id="287" r:id="rId32"/>
    <p:sldId id="288" r:id="rId33"/>
    <p:sldId id="568" r:id="rId34"/>
    <p:sldId id="639" r:id="rId35"/>
    <p:sldId id="549" r:id="rId36"/>
    <p:sldId id="439" r:id="rId37"/>
    <p:sldId id="440" r:id="rId38"/>
    <p:sldId id="577" r:id="rId39"/>
    <p:sldId id="601" r:id="rId40"/>
    <p:sldId id="602" r:id="rId41"/>
    <p:sldId id="604" r:id="rId42"/>
    <p:sldId id="603" r:id="rId43"/>
    <p:sldId id="605" r:id="rId44"/>
    <p:sldId id="606" r:id="rId45"/>
    <p:sldId id="607" r:id="rId46"/>
    <p:sldId id="608" r:id="rId47"/>
    <p:sldId id="609" r:id="rId48"/>
    <p:sldId id="611" r:id="rId49"/>
    <p:sldId id="612" r:id="rId50"/>
    <p:sldId id="613" r:id="rId51"/>
    <p:sldId id="614" r:id="rId52"/>
    <p:sldId id="615" r:id="rId53"/>
    <p:sldId id="616" r:id="rId54"/>
    <p:sldId id="617" r:id="rId55"/>
    <p:sldId id="618" r:id="rId56"/>
    <p:sldId id="619" r:id="rId57"/>
    <p:sldId id="620" r:id="rId58"/>
    <p:sldId id="621" r:id="rId59"/>
    <p:sldId id="622" r:id="rId60"/>
    <p:sldId id="623" r:id="rId61"/>
    <p:sldId id="624" r:id="rId62"/>
    <p:sldId id="625" r:id="rId63"/>
    <p:sldId id="626" r:id="rId64"/>
    <p:sldId id="627" r:id="rId65"/>
    <p:sldId id="628" r:id="rId66"/>
    <p:sldId id="630" r:id="rId67"/>
    <p:sldId id="631" r:id="rId68"/>
    <p:sldId id="632" r:id="rId69"/>
    <p:sldId id="633" r:id="rId70"/>
    <p:sldId id="634" r:id="rId71"/>
    <p:sldId id="316" r:id="rId72"/>
    <p:sldId id="264" r:id="rId73"/>
    <p:sldId id="578" r:id="rId74"/>
    <p:sldId id="318" r:id="rId75"/>
    <p:sldId id="635" r:id="rId76"/>
    <p:sldId id="636" r:id="rId77"/>
    <p:sldId id="637" r:id="rId78"/>
    <p:sldId id="267" r:id="rId7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4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E1AD"/>
    <a:srgbClr val="22FAC7"/>
    <a:srgbClr val="66FFCC"/>
    <a:srgbClr val="00FFCC"/>
    <a:srgbClr val="00FFFF"/>
    <a:srgbClr val="F7F47C"/>
    <a:srgbClr val="FDE2CB"/>
    <a:srgbClr val="FBFBD1"/>
    <a:srgbClr val="9D87B7"/>
    <a:srgbClr val="B4A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464" autoAdjust="0"/>
  </p:normalViewPr>
  <p:slideViewPr>
    <p:cSldViewPr snapToGrid="0">
      <p:cViewPr varScale="1">
        <p:scale>
          <a:sx n="105" d="100"/>
          <a:sy n="105" d="100"/>
        </p:scale>
        <p:origin x="2016" y="114"/>
      </p:cViewPr>
      <p:guideLst>
        <p:guide orient="horz" pos="2160"/>
        <p:guide pos="2880"/>
        <p:guide orient="horz" pos="2190"/>
        <p:guide pos="28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9613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8519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78</a:t>
            </a: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2021 Hanbit Academy,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12. </a:t>
            </a:r>
            <a:r>
              <a:rPr lang="ko-KR" altLang="en-US" sz="3600" b="1" dirty="0">
                <a:solidFill>
                  <a:schemeClr val="lt1"/>
                </a:solidFill>
              </a:rPr>
              <a:t>구조체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03. 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심화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739458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구조체란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구조체 연산자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구조체 인자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구조체 메모리 구조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공용체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열거체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50000"/>
              </a:lnSpc>
              <a:buClr>
                <a:schemeClr val="dk1"/>
              </a:buClr>
              <a:buSzPts val="2000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인구 조사 프로그램 완성하기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/>
              <a:t>구조체와 구조체 변수의 개념을 이해하고 정의할 수 있다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구조체 연산자의 종류를 살펴본다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구조체 매개변수와 구조체 포인터 매개변수의 쓰임을 살펴본다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구조체의 크기와 </a:t>
            </a:r>
            <a:r>
              <a:rPr lang="ko-KR" altLang="en-US" dirty="0" err="1"/>
              <a:t>패딩의</a:t>
            </a:r>
            <a:r>
              <a:rPr lang="ko-KR" altLang="en-US" dirty="0"/>
              <a:t> 개념을 살펴본다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 err="1"/>
              <a:t>열거체의</a:t>
            </a:r>
            <a:r>
              <a:rPr lang="ko-KR" altLang="en-US" dirty="0"/>
              <a:t> 개념을 이해하고 정의할 수 있다</a:t>
            </a:r>
            <a:r>
              <a:rPr lang="en-US" altLang="ko-KR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dirty="0"/>
              <a:t>구조체란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구조체의 개념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구조체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하나 이상의 타입의 객체를 일렬로 모은 집합 타임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구조체 객체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구조체를 정의하여 생성된 타입으로 정의된 객체</a:t>
            </a:r>
          </a:p>
        </p:txBody>
      </p:sp>
      <p:pic>
        <p:nvPicPr>
          <p:cNvPr id="1026" name="Picture 2" descr="C:\Users\변소현\Desktop\난생처음 C 언어 프로그래밍\그림\Ch12\그림 12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13" y="3516313"/>
            <a:ext cx="4899025" cy="260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9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35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구조체의 정의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정의 형식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TagName</a:t>
            </a:r>
            <a:r>
              <a:rPr lang="en-US" altLang="ko-KR" dirty="0"/>
              <a:t> : </a:t>
            </a:r>
            <a:r>
              <a:rPr lang="ko-KR" altLang="en-US" dirty="0"/>
              <a:t>구조체의 태그 이름</a:t>
            </a:r>
            <a:r>
              <a:rPr lang="en-US" altLang="ko-KR" dirty="0"/>
              <a:t>(</a:t>
            </a:r>
            <a:r>
              <a:rPr lang="ko-KR" altLang="en-US" dirty="0"/>
              <a:t>구조체 이름</a:t>
            </a:r>
            <a:r>
              <a:rPr lang="en-US" altLang="ko-KR" dirty="0"/>
              <a:t>)</a:t>
            </a:r>
            <a:r>
              <a:rPr lang="ko-KR" altLang="en-US" dirty="0"/>
              <a:t>을 나타냄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Type : </a:t>
            </a:r>
            <a:r>
              <a:rPr lang="ko-KR" altLang="en-US" dirty="0"/>
              <a:t>구조체 멤버</a:t>
            </a:r>
            <a:r>
              <a:rPr lang="en-US" altLang="ko-KR" dirty="0"/>
              <a:t>(</a:t>
            </a:r>
            <a:r>
              <a:rPr lang="ko-KR" altLang="en-US" dirty="0"/>
              <a:t>구조체를 구성하는 객체 하나</a:t>
            </a:r>
            <a:r>
              <a:rPr lang="en-US" altLang="ko-KR" dirty="0"/>
              <a:t>)</a:t>
            </a:r>
            <a:r>
              <a:rPr lang="ko-KR" altLang="en-US" dirty="0"/>
              <a:t>의 타입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Name : </a:t>
            </a:r>
            <a:r>
              <a:rPr lang="ko-KR" altLang="en-US" dirty="0"/>
              <a:t>구조체 멤버의 이름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918" y="1991338"/>
            <a:ext cx="6996588" cy="19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441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35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구조체 변수의 정의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태그 미사용 구조체 변수 정의</a:t>
            </a:r>
            <a:endParaRPr lang="ko-KR" altLang="en-US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1082808" y="2057881"/>
            <a:ext cx="58609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구조체 변수 정의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1 -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태그와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typedef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미사용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4130434387"/>
              </p:ext>
            </p:extLst>
          </p:nvPr>
        </p:nvGraphicFramePr>
        <p:xfrm>
          <a:off x="1172844" y="2398255"/>
          <a:ext cx="6779261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{</a:t>
                      </a:r>
                      <a:endParaRPr lang="en-US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} s;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3;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613" y="2462814"/>
            <a:ext cx="1629484" cy="566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725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35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구조체 변수의 정의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태그 사용 구조체 변수 정의</a:t>
            </a:r>
            <a:endParaRPr lang="ko-KR" altLang="en-US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1082808" y="205788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-2]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구조체 변수 정의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2 –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태그 사용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3651623270"/>
              </p:ext>
            </p:extLst>
          </p:nvPr>
        </p:nvGraphicFramePr>
        <p:xfrm>
          <a:off x="1172844" y="2398255"/>
          <a:ext cx="6779261" cy="365761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STag</a:t>
                      </a:r>
                      <a:endParaRPr lang="en-US" altLang="ko-KR" dirty="0">
                        <a:solidFill>
                          <a:srgbClr val="05E1AD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STag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3;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191" y="2474696"/>
            <a:ext cx="1629484" cy="566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3017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35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구조체 변수의 정의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typedef</a:t>
            </a:r>
            <a:r>
              <a:rPr lang="en-US" altLang="ko-KR" b="1" dirty="0"/>
              <a:t> </a:t>
            </a:r>
            <a:r>
              <a:rPr lang="ko-KR" altLang="en-US" b="1" dirty="0"/>
              <a:t>구조체 변수 정의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typedef</a:t>
            </a:r>
            <a:r>
              <a:rPr lang="ko-KR" altLang="en-US" dirty="0"/>
              <a:t>를 이용하여 구조체 타입에 별칭을 재정의함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49" y="2493516"/>
            <a:ext cx="7085302" cy="2099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33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35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구조체 변수의 정의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typedef</a:t>
            </a:r>
            <a:r>
              <a:rPr lang="en-US" altLang="ko-KR" b="1" dirty="0"/>
              <a:t> </a:t>
            </a:r>
            <a:r>
              <a:rPr lang="ko-KR" altLang="en-US" b="1" dirty="0"/>
              <a:t>구조체 변수 정의</a:t>
            </a: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B1233B4-B84B-4B34-A465-D25966A0438D}"/>
              </a:ext>
            </a:extLst>
          </p:cNvPr>
          <p:cNvGrpSpPr/>
          <p:nvPr/>
        </p:nvGrpSpPr>
        <p:grpSpPr>
          <a:xfrm>
            <a:off x="1082808" y="2025115"/>
            <a:ext cx="6869297" cy="4456518"/>
            <a:chOff x="1082808" y="1924531"/>
            <a:chExt cx="6869297" cy="4456518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1924531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-3]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구조체 변수 정의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3-typedef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사용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677014337"/>
                </p:ext>
              </p:extLst>
            </p:nvPr>
          </p:nvGraphicFramePr>
          <p:xfrm>
            <a:off x="1172844" y="2264905"/>
            <a:ext cx="6779261" cy="411614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STag</a:t>
                        </a:r>
                        <a:endParaRPr lang="en-US" altLang="ko-KR" sz="1300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sz="130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STag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s1.m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s2.m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"s1.m: %d, s2.m: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 %d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s1.m, s2.m);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9068" y="2315503"/>
              <a:ext cx="2149029" cy="629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22858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135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구조체 변수의 초기화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구조체 변수도 정의할 때 중괄호 초기값을 이용하여 초기화할 수 있음</a:t>
            </a: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05C1DDA-70B1-4F3D-B27C-B1C6DEDDC106}"/>
              </a:ext>
            </a:extLst>
          </p:cNvPr>
          <p:cNvGrpSpPr/>
          <p:nvPr/>
        </p:nvGrpSpPr>
        <p:grpSpPr>
          <a:xfrm>
            <a:off x="1082808" y="2100553"/>
            <a:ext cx="6869297" cy="4218774"/>
            <a:chOff x="1082808" y="2100553"/>
            <a:chExt cx="6869297" cy="4218774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100553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구조체 변수의 초기화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83089045"/>
                </p:ext>
              </p:extLst>
            </p:nvPr>
          </p:nvGraphicFramePr>
          <p:xfrm>
            <a:off x="1172844" y="2440927"/>
            <a:ext cx="6779261" cy="387840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endParaRPr lang="en-US" altLang="ko-KR" sz="1300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double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m3;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sz="130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 = { 1, 2, 3.14 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"m1: %d, m2: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 %d, m3: %f</a:t>
                        </a:r>
                        <a:r>
                          <a:rPr lang="en-US" altLang="ko-KR" sz="13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s.m1, s.m2, s.m3);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 //s = { 1, 2, 3.14 };    //</a:t>
                        </a:r>
                        <a:r>
                          <a:rPr lang="ko-KR" altLang="en-US" sz="130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오류</a:t>
                        </a:r>
                        <a:endParaRPr lang="en-US" altLang="ko-KR" sz="130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6872" y="2536065"/>
              <a:ext cx="2470576" cy="555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7171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320" y="1343403"/>
            <a:ext cx="6433056" cy="4722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4077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2190154"/>
            <a:ext cx="7924665" cy="2181820"/>
            <a:chOff x="615155" y="1379935"/>
            <a:chExt cx="7924665" cy="2181820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5"/>
              <a:ext cx="7924665" cy="2181820"/>
              <a:chOff x="683573" y="1844825"/>
              <a:chExt cx="7924665" cy="90032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9003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인구 조사 프로그램 만들기</a:t>
              </a:r>
              <a:r>
                <a:rPr lang="en-US" altLang="ko-KR" sz="1600" b="1" dirty="0">
                  <a:latin typeface="+mj-ea"/>
                  <a:ea typeface="+mj-ea"/>
                </a:rPr>
                <a:t>1</a:t>
              </a:r>
              <a:endParaRPr lang="ko-KR" altLang="en-US" sz="1600" b="1" dirty="0">
                <a:latin typeface="+mj-ea"/>
                <a:ea typeface="+mj-ea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36842" y="1815434"/>
              <a:ext cx="7485956" cy="14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인구 조사 프로그램을 만들어봅시다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뒤에 이어서 나올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[LAB]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에서 필요한 기능을 차근차근 추가합니다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최종 코드는 이번 장 마지막의 </a:t>
              </a:r>
              <a:r>
                <a:rPr lang="ko-KR" altLang="en-US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실전예제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]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에서 확인할 수 있습니다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먼저 개인의 정보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(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이름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성별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나이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소득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)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를 나타내는 구조체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PersonInfo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를 정의해봅시다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6862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구조체란</a:t>
            </a:r>
            <a:r>
              <a:rPr lang="en-US" altLang="ko-KR" dirty="0">
                <a:solidFill>
                  <a:schemeClr val="tx1"/>
                </a:solidFill>
              </a:rPr>
              <a:t>?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9192" y="2447133"/>
            <a:ext cx="7924665" cy="2458242"/>
            <a:chOff x="615155" y="1213376"/>
            <a:chExt cx="7924665" cy="475554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6"/>
              <a:ext cx="7924665" cy="4755543"/>
              <a:chOff x="683573" y="1844825"/>
              <a:chExt cx="7924665" cy="140296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14029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223784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20408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511440636"/>
                </p:ext>
              </p:extLst>
            </p:nvPr>
          </p:nvGraphicFramePr>
          <p:xfrm>
            <a:off x="871407" y="2145431"/>
            <a:ext cx="7416825" cy="3608645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691487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07 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endPara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gender;     </a:t>
                        </a:r>
                        <a:r>
                          <a:rPr lang="en-US" altLang="ko-KR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1:</a:t>
                        </a:r>
                        <a:r>
                          <a:rPr lang="ko-KR" altLang="en-US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남성</a:t>
                        </a:r>
                        <a:r>
                          <a:rPr lang="en-US" altLang="ko-KR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, 2:</a:t>
                        </a:r>
                        <a:r>
                          <a:rPr lang="ko-KR" altLang="en-US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여성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name[9];    </a:t>
                        </a:r>
                        <a:r>
                          <a:rPr lang="en-US" altLang="ko-KR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한글 </a:t>
                        </a:r>
                        <a:r>
                          <a:rPr lang="en-US" altLang="ko-KR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4</a:t>
                        </a:r>
                        <a:r>
                          <a:rPr lang="ko-KR" altLang="en-US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자까지 가능함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age;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salary;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30731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구조체 연산자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대입 연산자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대입 연산자의 사용 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구조체 객체가 </a:t>
            </a:r>
            <a:r>
              <a:rPr lang="ko-KR" altLang="en-US" dirty="0" err="1"/>
              <a:t>피연산자인</a:t>
            </a:r>
            <a:r>
              <a:rPr lang="ko-KR" altLang="en-US" dirty="0"/>
              <a:t> 경우 유일하게 사용할 수 있는 연산자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피연산자인</a:t>
            </a:r>
            <a:r>
              <a:rPr lang="ko-KR" altLang="en-US" dirty="0"/>
              <a:t> 두 구조체 객체는 서로 타입이 동일해야 함</a:t>
            </a:r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288" y="3087373"/>
            <a:ext cx="7073475" cy="851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대입 연산자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82808" y="1706980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-5]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구조체 변수의 대입 및 초기화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285071426"/>
              </p:ext>
            </p:extLst>
          </p:nvPr>
        </p:nvGraphicFramePr>
        <p:xfrm>
          <a:off x="1172844" y="2047354"/>
          <a:ext cx="6779261" cy="435388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endParaRPr lang="en-US" altLang="ko-KR" sz="1300" dirty="0">
                        <a:solidFill>
                          <a:srgbClr val="05E1AD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arr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[2];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ko-KR" sz="1300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SType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SType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 = { 1, {2, 3}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SType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b =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SType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c;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c = 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"b: {%d, %d, %d}</a:t>
                      </a:r>
                      <a:r>
                        <a:rPr lang="en-US" altLang="ko-KR" sz="13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b.m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b.arr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b.arr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"c: {%d, %d, %d}"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c.m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c.arr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[0], </a:t>
                      </a:r>
                      <a:r>
                        <a:rPr lang="en-US" altLang="ko-KR" sz="13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c.arr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353" y="2122373"/>
            <a:ext cx="1904396" cy="76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0043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대입 연산자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9A2C76A-0690-4864-8812-591DD9A828AB}"/>
              </a:ext>
            </a:extLst>
          </p:cNvPr>
          <p:cNvGrpSpPr/>
          <p:nvPr/>
        </p:nvGrpSpPr>
        <p:grpSpPr>
          <a:xfrm>
            <a:off x="1082808" y="1767559"/>
            <a:ext cx="7449632" cy="3997984"/>
            <a:chOff x="1082808" y="1657831"/>
            <a:chExt cx="7449632" cy="3997984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1657831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-6]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대입 연산자와 배열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구조체 객체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767886450"/>
                </p:ext>
              </p:extLst>
            </p:nvPr>
          </p:nvGraphicFramePr>
          <p:xfrm>
            <a:off x="1172844" y="1998205"/>
            <a:ext cx="7359596" cy="365761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2871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3088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endParaRPr lang="en-US" altLang="ko-KR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m[2];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SArray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arr1[2] = { 1, 2 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//</a:t>
                        </a:r>
                        <a:r>
                          <a:rPr lang="en-US" altLang="ko-KR" baseline="0" dirty="0" err="1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arr2[2] = arr1;    //</a:t>
                        </a:r>
                        <a:r>
                          <a:rPr lang="ko-KR" altLang="en-US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오류 </a:t>
                        </a:r>
                        <a:endPara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arr3[2];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//arr3 = arr1;           //</a:t>
                        </a:r>
                        <a:r>
                          <a:rPr lang="ko-KR" altLang="en-US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오류</a:t>
                        </a:r>
                        <a:endPara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83125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대입 연산자</a:t>
            </a:r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60703600"/>
              </p:ext>
            </p:extLst>
          </p:nvPr>
        </p:nvGraphicFramePr>
        <p:xfrm>
          <a:off x="1172844" y="1915909"/>
          <a:ext cx="6779261" cy="212141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SArray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sarr1 = { { 1, 2 }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SArray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sarr2 = sarr1;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SArray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sarr3;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sarr3 = sarr1;        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문제 없음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"sarr2: {%d, %d}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sarr2.m[0], sarr2.m[1]);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printf(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"sarr3: {%d, %d}"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sarr3.m[0], sarr3.m[1]);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33" y="4153555"/>
            <a:ext cx="6967016" cy="786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640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직접 멤버 연산자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직접 멤버 연산자의 사용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구조체를 위한 연산자로 구조체</a:t>
            </a:r>
            <a:r>
              <a:rPr lang="en-US" altLang="ko-KR" dirty="0"/>
              <a:t>(</a:t>
            </a:r>
            <a:r>
              <a:rPr lang="ko-KR" altLang="en-US" dirty="0" err="1"/>
              <a:t>공용체</a:t>
            </a:r>
            <a:r>
              <a:rPr lang="en-US" altLang="ko-KR" dirty="0"/>
              <a:t>)</a:t>
            </a:r>
            <a:r>
              <a:rPr lang="ko-KR" altLang="en-US" dirty="0"/>
              <a:t>의 멤버에 접근하기 위하여 사용</a:t>
            </a:r>
            <a:endParaRPr lang="en-US" altLang="ko-K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059" y="2636008"/>
            <a:ext cx="7014332" cy="786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5481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직접 멤버 연산자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직접 멤버 연산자의 사용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E9C4A6B-382A-40EC-8CA6-3D43A0BA9CED}"/>
              </a:ext>
            </a:extLst>
          </p:cNvPr>
          <p:cNvGrpSpPr/>
          <p:nvPr/>
        </p:nvGrpSpPr>
        <p:grpSpPr>
          <a:xfrm>
            <a:off x="1082808" y="2090648"/>
            <a:ext cx="6869297" cy="4456518"/>
            <a:chOff x="1082808" y="2072360"/>
            <a:chExt cx="6869297" cy="4456518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072360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-7]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직접 멤버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(.)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연산자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540853476"/>
                </p:ext>
              </p:extLst>
            </p:nvPr>
          </p:nvGraphicFramePr>
          <p:xfrm>
            <a:off x="1172844" y="2412734"/>
            <a:ext cx="6779261" cy="411614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endParaRPr lang="en-US" altLang="ko-KR" sz="1300" b="1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[2];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sz="1300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s.m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s.arr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[0]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s.arr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[1] = 3;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"s: {%d, %d, %d}"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s.m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s.arr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[0],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s.arr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[1]);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1D6109D0-F03F-45C0-A5F4-64A4A0220C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3788"/>
            <a:stretch/>
          </p:blipFill>
          <p:spPr bwMode="auto">
            <a:xfrm>
              <a:off x="6061713" y="2449310"/>
              <a:ext cx="1843272" cy="532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1192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간접 멤버 연산자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간접 멤버 연산자의 사용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포인터를 위한 연산자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구조체 객체를 가리키는 포인터에 간접 연산을 적용한 결과는 구조체 객체가 됨</a:t>
            </a:r>
            <a:endParaRPr lang="en-US" altLang="ko-K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412" y="2534526"/>
            <a:ext cx="6419677" cy="75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874" y="3957863"/>
            <a:ext cx="6408923" cy="473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6393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간접 멤버 연산자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간접 멤버 연산자의 사용</a:t>
            </a: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7CD3431-D499-4C62-B49C-D55755DFBC6B}"/>
              </a:ext>
            </a:extLst>
          </p:cNvPr>
          <p:cNvGrpSpPr/>
          <p:nvPr/>
        </p:nvGrpSpPr>
        <p:grpSpPr>
          <a:xfrm>
            <a:off x="861444" y="2154656"/>
            <a:ext cx="7421112" cy="3697092"/>
            <a:chOff x="1082808" y="2072360"/>
            <a:chExt cx="7421112" cy="3697092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1082808" y="2072360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-8]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간접 멤버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(-&gt;)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연산자</a:t>
              </a:r>
              <a:endParaRPr dirty="0"/>
            </a:p>
          </p:txBody>
        </p:sp>
        <p:graphicFrame>
          <p:nvGraphicFramePr>
            <p:cNvPr id="7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379662705"/>
                </p:ext>
              </p:extLst>
            </p:nvPr>
          </p:nvGraphicFramePr>
          <p:xfrm>
            <a:off x="1172844" y="2412733"/>
            <a:ext cx="7331076" cy="3356719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44646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02336">
                    <a:extLst>
                      <a:ext uri="{9D8B030D-6E8A-4147-A177-3AD203B41FA5}">
                        <a16:colId xmlns:a16="http://schemas.microsoft.com/office/drawing/2014/main" val="2814006380"/>
                      </a:ext>
                    </a:extLst>
                  </a:gridCol>
                  <a:gridCol w="4087368">
                    <a:extLst>
                      <a:ext uri="{9D8B030D-6E8A-4147-A177-3AD203B41FA5}">
                        <a16:colId xmlns:a16="http://schemas.microsoft.com/office/drawing/2014/main" val="644688238"/>
                      </a:ext>
                    </a:extLst>
                  </a:gridCol>
                </a:tblGrid>
                <a:tr h="335671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endParaRPr lang="en-US" altLang="ko-KR" sz="1300" b="1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str1;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str2;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sz="1300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pS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&amp;s;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pS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-&gt;m = 2021;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pS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-&gt;str1 = 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난생처음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(*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pS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).str2 = 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"C </a:t>
                        </a:r>
                        <a:r>
                          <a:rPr lang="ko-KR" altLang="en-US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프로그래밍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 %s %s"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s.m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s.str1, s.str2);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  <p:pic>
        <p:nvPicPr>
          <p:cNvPr id="8" name="Picture 2">
            <a:extLst>
              <a:ext uri="{FF2B5EF4-FFF2-40B4-BE49-F238E27FC236}">
                <a16:creationId xmlns:a16="http://schemas.microsoft.com/office/drawing/2014/main" id="{A3033B6A-9CA8-48C4-9B4C-F76BC28E3D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078"/>
          <a:stretch/>
        </p:blipFill>
        <p:spPr bwMode="auto">
          <a:xfrm>
            <a:off x="5797025" y="5231797"/>
            <a:ext cx="2363337" cy="514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2021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사용</a:t>
            </a:r>
            <a:r>
              <a:rPr lang="en-US" altLang="ko-KR" sz="2400" dirty="0"/>
              <a:t> </a:t>
            </a:r>
            <a:r>
              <a:rPr lang="ko-KR" altLang="en-US" sz="2400" dirty="0"/>
              <a:t>불가 연산자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구조체 객체에서 사용할 수 없는 연산자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구조체 객체는 대입 연산자를 제외한 산술</a:t>
            </a:r>
            <a:r>
              <a:rPr lang="en-US" altLang="ko-KR" dirty="0"/>
              <a:t>, </a:t>
            </a:r>
            <a:r>
              <a:rPr lang="ko-KR" altLang="en-US" dirty="0"/>
              <a:t>비교</a:t>
            </a:r>
            <a:r>
              <a:rPr lang="en-US" altLang="ko-KR" dirty="0"/>
              <a:t>, </a:t>
            </a:r>
            <a:r>
              <a:rPr lang="ko-KR" altLang="en-US" dirty="0"/>
              <a:t>논리</a:t>
            </a:r>
            <a:r>
              <a:rPr lang="en-US" altLang="ko-KR" dirty="0"/>
              <a:t>, </a:t>
            </a:r>
            <a:r>
              <a:rPr lang="ko-KR" altLang="en-US" dirty="0"/>
              <a:t>비트 연산자의 피연산자가 될 수 없음</a:t>
            </a:r>
            <a:endParaRPr lang="en-US" altLang="ko-K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726" y="3066607"/>
            <a:ext cx="6996588" cy="514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592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사용</a:t>
            </a:r>
            <a:r>
              <a:rPr lang="en-US" altLang="ko-KR" sz="2400" dirty="0"/>
              <a:t> </a:t>
            </a:r>
            <a:r>
              <a:rPr lang="ko-KR" altLang="en-US" sz="2400" dirty="0"/>
              <a:t>불가 연산자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7848362-6809-422D-91A6-264C1B21ABF1}"/>
              </a:ext>
            </a:extLst>
          </p:cNvPr>
          <p:cNvGrpSpPr/>
          <p:nvPr/>
        </p:nvGrpSpPr>
        <p:grpSpPr>
          <a:xfrm>
            <a:off x="1082808" y="1680211"/>
            <a:ext cx="6869297" cy="4694262"/>
            <a:chOff x="1082808" y="1680211"/>
            <a:chExt cx="6869297" cy="4694262"/>
          </a:xfrm>
        </p:grpSpPr>
        <p:sp>
          <p:nvSpPr>
            <p:cNvPr id="18" name="Google Shape;102;p7">
              <a:extLst>
                <a:ext uri="{FF2B5EF4-FFF2-40B4-BE49-F238E27FC236}">
                  <a16:creationId xmlns:a16="http://schemas.microsoft.com/office/drawing/2014/main" id="{D4E1263B-22AD-4C9B-B203-15B418289982}"/>
                </a:ext>
              </a:extLst>
            </p:cNvPr>
            <p:cNvSpPr txBox="1"/>
            <p:nvPr/>
          </p:nvSpPr>
          <p:spPr>
            <a:xfrm>
              <a:off x="1082808" y="1680211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-9]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구조체 사용 불가 연산자</a:t>
              </a:r>
              <a:endParaRPr dirty="0"/>
            </a:p>
          </p:txBody>
        </p:sp>
        <p:graphicFrame>
          <p:nvGraphicFramePr>
            <p:cNvPr id="24" name="Google Shape;104;p7">
              <a:extLst>
                <a:ext uri="{FF2B5EF4-FFF2-40B4-BE49-F238E27FC236}">
                  <a16:creationId xmlns:a16="http://schemas.microsoft.com/office/drawing/2014/main" id="{63525234-6DE7-47FD-9D4F-6CB6617960B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03612960"/>
                </p:ext>
              </p:extLst>
            </p:nvPr>
          </p:nvGraphicFramePr>
          <p:xfrm>
            <a:off x="1172844" y="2020585"/>
            <a:ext cx="6779261" cy="435388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endPara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i="0" u="none" strike="noStrike" cap="none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cs typeface="맑은 고딕"/>
                            <a:sym typeface="Arial"/>
                          </a:rPr>
                          <a:t>char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i="0" u="none" strike="noStrike" cap="none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cs typeface="맑은 고딕"/>
                            <a:sym typeface="Arial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sz="1300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i="0" u="none" strike="noStrike" cap="none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cs typeface="맑은 고딕"/>
                            <a:sym typeface="Arial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a, b;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a % 2;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++a;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a++;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a &gt; b;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a &lt; 1;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pt-BR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a == b;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a != 1;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9" name="그룹 8"/>
            <p:cNvGrpSpPr/>
            <p:nvPr/>
          </p:nvGrpSpPr>
          <p:grpSpPr>
            <a:xfrm>
              <a:off x="3209544" y="4480560"/>
              <a:ext cx="800982" cy="1600201"/>
              <a:chOff x="2803835" y="5607293"/>
              <a:chExt cx="800982" cy="1600201"/>
            </a:xfrm>
          </p:grpSpPr>
          <p:sp>
            <p:nvSpPr>
              <p:cNvPr id="10" name="오른쪽 중괄호 9"/>
              <p:cNvSpPr/>
              <p:nvPr/>
            </p:nvSpPr>
            <p:spPr>
              <a:xfrm>
                <a:off x="2803835" y="5607293"/>
                <a:ext cx="82296" cy="1600201"/>
              </a:xfrm>
              <a:prstGeom prst="righ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2976167" y="6271756"/>
                <a:ext cx="628650" cy="2667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FF0000"/>
                    </a:solidFill>
                  </a:rPr>
                  <a:t>오류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9914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사용</a:t>
            </a:r>
            <a:r>
              <a:rPr lang="en-US" altLang="ko-KR" sz="2400" dirty="0"/>
              <a:t> </a:t>
            </a:r>
            <a:r>
              <a:rPr lang="ko-KR" altLang="en-US" sz="2400" dirty="0"/>
              <a:t>불가 연산자</a:t>
            </a:r>
          </a:p>
        </p:txBody>
      </p:sp>
      <p:grpSp>
        <p:nvGrpSpPr>
          <p:cNvPr id="13" name="Google Shape;118;p8"/>
          <p:cNvGrpSpPr>
            <a:grpSpLocks noChangeAspect="1"/>
          </p:cNvGrpSpPr>
          <p:nvPr/>
        </p:nvGrpSpPr>
        <p:grpSpPr>
          <a:xfrm>
            <a:off x="1048397" y="1633631"/>
            <a:ext cx="6981177" cy="5014818"/>
            <a:chOff x="-351138" y="1780618"/>
            <a:chExt cx="9252255" cy="8574792"/>
          </a:xfrm>
        </p:grpSpPr>
        <p:sp>
          <p:nvSpPr>
            <p:cNvPr id="15" name="Google Shape;119;p8"/>
            <p:cNvSpPr/>
            <p:nvPr/>
          </p:nvSpPr>
          <p:spPr>
            <a:xfrm>
              <a:off x="-326750" y="1862052"/>
              <a:ext cx="9227867" cy="8493358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" name="Google Shape;120;p8"/>
            <p:cNvSpPr txBox="1"/>
            <p:nvPr/>
          </p:nvSpPr>
          <p:spPr>
            <a:xfrm>
              <a:off x="-351138" y="2232809"/>
              <a:ext cx="7772191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구조체 객체만이 </a:t>
              </a:r>
              <a:r>
                <a:rPr lang="ko-KR" altLang="en-US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조건식으로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사용될 수 없음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" name="Google Shape;121;p8"/>
            <p:cNvSpPr/>
            <p:nvPr/>
          </p:nvSpPr>
          <p:spPr>
            <a:xfrm>
              <a:off x="-326750" y="1862053"/>
              <a:ext cx="1805179" cy="52648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sz="16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dirty="0"/>
            </a:p>
          </p:txBody>
        </p:sp>
        <p:sp>
          <p:nvSpPr>
            <p:cNvPr id="19" name="Google Shape;122;p8"/>
            <p:cNvSpPr txBox="1"/>
            <p:nvPr/>
          </p:nvSpPr>
          <p:spPr>
            <a:xfrm>
              <a:off x="1424827" y="1780618"/>
              <a:ext cx="5595372" cy="6594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조건식으로서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배열</a:t>
              </a: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포인터</a:t>
              </a: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구조체 객체</a:t>
              </a:r>
              <a:endParaRPr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D09F85F-CE83-4637-A523-05D904D0722A}"/>
              </a:ext>
            </a:extLst>
          </p:cNvPr>
          <p:cNvGrpSpPr/>
          <p:nvPr/>
        </p:nvGrpSpPr>
        <p:grpSpPr>
          <a:xfrm>
            <a:off x="1063758" y="2453651"/>
            <a:ext cx="6869297" cy="3981030"/>
            <a:chOff x="1063758" y="2353067"/>
            <a:chExt cx="6869297" cy="3981030"/>
          </a:xfrm>
        </p:grpSpPr>
        <p:sp>
          <p:nvSpPr>
            <p:cNvPr id="20" name="Google Shape;102;p7"/>
            <p:cNvSpPr txBox="1"/>
            <p:nvPr/>
          </p:nvSpPr>
          <p:spPr>
            <a:xfrm>
              <a:off x="1063758" y="2353067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12</a:t>
              </a:r>
              <a:r>
                <a:rPr 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-9] </a:t>
              </a:r>
              <a:r>
                <a:rPr lang="ko-KR" altLang="en-US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구조체 사용 불가 연산자</a:t>
              </a:r>
              <a:endParaRPr sz="1200" dirty="0"/>
            </a:p>
          </p:txBody>
        </p:sp>
        <p:graphicFrame>
          <p:nvGraphicFramePr>
            <p:cNvPr id="21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569800571"/>
                </p:ext>
              </p:extLst>
            </p:nvPr>
          </p:nvGraphicFramePr>
          <p:xfrm>
            <a:off x="1153794" y="2693441"/>
            <a:ext cx="6779261" cy="364065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endPara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i="0" u="none" strike="noStrike" cap="none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cs typeface="맑은 고딕"/>
                            <a:sym typeface="Arial"/>
                          </a:rPr>
                          <a:t>   </a:t>
                        </a:r>
                        <a:r>
                          <a:rPr lang="en-US" altLang="ko-KR" sz="1300" b="1" i="0" u="none" strike="noStrike" cap="none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cs typeface="맑은 고딕"/>
                            <a:sym typeface="Arial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sz="1300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i="0" u="none" strike="noStrike" cap="none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cs typeface="맑은 고딕"/>
                            <a:sym typeface="Arial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i="0" u="none" strike="noStrike" cap="none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cs typeface="맑은 고딕"/>
                            <a:sym typeface="Arial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p;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i="0" u="none" strike="noStrike" cap="none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ea typeface="맑은 고딕"/>
                            <a:cs typeface="맑은 고딕"/>
                            <a:sym typeface="Arial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[2];</a:t>
                        </a: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SType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(p) {}        </a:t>
                        </a:r>
                        <a:r>
                          <a:rPr lang="en-US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문제 없음</a:t>
                        </a:r>
                        <a:endParaRPr lang="en-US" altLang="ko-KR" sz="13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defTabSz="914400" rtl="0" eaLnBrk="1" fontAlgn="auto" latinLnBrk="0" hangingPunct="1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Tx/>
                          <a:buFont typeface="Arial"/>
                          <a:buNone/>
                          <a:tabLst/>
                          <a:defRPr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arr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 {}      </a:t>
                        </a:r>
                        <a:r>
                          <a:rPr lang="en-US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문제 없음</a:t>
                        </a:r>
                        <a:endParaRPr lang="en-US" altLang="ko-KR" sz="13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defTabSz="914400" rtl="0" eaLnBrk="1" fontAlgn="auto" latinLnBrk="0" hangingPunct="1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Tx/>
                          <a:buFont typeface="Arial"/>
                          <a:buNone/>
                          <a:tabLst/>
                          <a:defRPr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(s) {}</a:t>
                        </a:r>
                      </a:p>
                      <a:p>
                        <a:pPr marL="0" marR="0" lvl="0" indent="0" algn="l" defTabSz="914400" rtl="0" eaLnBrk="1" fontAlgn="auto" latinLnBrk="0" hangingPunct="1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Tx/>
                          <a:buFont typeface="Arial"/>
                          <a:buNone/>
                          <a:tabLst/>
                          <a:defRPr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79694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158" y="1730544"/>
            <a:ext cx="6512209" cy="34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2731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612343" y="1898369"/>
            <a:ext cx="7924665" cy="3458169"/>
            <a:chOff x="612343" y="2066329"/>
            <a:chExt cx="7924665" cy="3458169"/>
          </a:xfrm>
        </p:grpSpPr>
        <p:grpSp>
          <p:nvGrpSpPr>
            <p:cNvPr id="3" name="그룹 2"/>
            <p:cNvGrpSpPr/>
            <p:nvPr/>
          </p:nvGrpSpPr>
          <p:grpSpPr>
            <a:xfrm>
              <a:off x="612343" y="2066329"/>
              <a:ext cx="7924665" cy="3458169"/>
              <a:chOff x="615155" y="1379935"/>
              <a:chExt cx="7924665" cy="3458169"/>
            </a:xfrm>
          </p:grpSpPr>
          <p:grpSp>
            <p:nvGrpSpPr>
              <p:cNvPr id="4" name="Google Shape;129;p9"/>
              <p:cNvGrpSpPr/>
              <p:nvPr/>
            </p:nvGrpSpPr>
            <p:grpSpPr>
              <a:xfrm>
                <a:off x="615155" y="1379935"/>
                <a:ext cx="7924665" cy="3458169"/>
                <a:chOff x="683573" y="1844825"/>
                <a:chExt cx="7924665" cy="1427009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5" name="Google Shape;130;p9"/>
                <p:cNvSpPr/>
                <p:nvPr/>
              </p:nvSpPr>
              <p:spPr>
                <a:xfrm>
                  <a:off x="688238" y="1844825"/>
                  <a:ext cx="7920000" cy="142700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rgbClr val="8AC9D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" name="Google Shape;132;p9"/>
                <p:cNvSpPr/>
                <p:nvPr/>
              </p:nvSpPr>
              <p:spPr>
                <a:xfrm>
                  <a:off x="683573" y="1844825"/>
                  <a:ext cx="1511728" cy="152935"/>
                </a:xfrm>
                <a:prstGeom prst="rect">
                  <a:avLst/>
                </a:prstGeom>
                <a:solidFill>
                  <a:srgbClr val="8AC9DA"/>
                </a:solidFill>
                <a:ln>
                  <a:solidFill>
                    <a:srgbClr val="8AC9DA"/>
                  </a:solidFill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 dirty="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LAB 12-2</a:t>
                  </a:r>
                  <a:endParaRPr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2126883" y="1395971"/>
                <a:ext cx="63664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+mj-ea"/>
                    <a:ea typeface="+mj-ea"/>
                  </a:rPr>
                  <a:t>인구 조사 프로그램 만들기</a:t>
                </a:r>
                <a:r>
                  <a:rPr lang="en-US" altLang="ko-KR" sz="1600" b="1" dirty="0">
                    <a:latin typeface="+mj-ea"/>
                    <a:ea typeface="+mj-ea"/>
                  </a:rPr>
                  <a:t>2</a:t>
                </a:r>
                <a:endParaRPr lang="ko-KR" altLang="en-US" sz="1600" b="1" dirty="0">
                  <a:latin typeface="+mj-ea"/>
                  <a:ea typeface="+mj-ea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836842" y="1815434"/>
                <a:ext cx="7485956" cy="7461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5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[LAB 12-1]</a:t>
                </a:r>
                <a:r>
                  <a:rPr lang="ko-KR" altLang="en-US" sz="15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에서 만든 개인 정보 구조체</a:t>
                </a:r>
                <a:r>
                  <a:rPr lang="en-US" altLang="ko-KR" sz="15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1500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PersonInfo</a:t>
                </a:r>
                <a:r>
                  <a:rPr lang="en-US" altLang="ko-KR" sz="15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5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를 동적 메모리에서 </a:t>
                </a:r>
                <a:r>
                  <a:rPr lang="ko-KR" altLang="en-US" sz="1500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할당받은</a:t>
                </a:r>
                <a:r>
                  <a:rPr lang="ko-KR" altLang="en-US" sz="15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 후 </a:t>
                </a:r>
                <a:r>
                  <a:rPr lang="ko-KR" altLang="en-US" sz="1500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입력받은</a:t>
                </a:r>
                <a:r>
                  <a:rPr lang="ko-KR" altLang="en-US" sz="15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 정보를 채우는 프로그램을 작성해봅시다</a:t>
                </a:r>
                <a:r>
                  <a:rPr lang="en-US" altLang="ko-KR" sz="1500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</a:t>
                </a:r>
                <a:endParaRPr lang="ko-KR" altLang="en-US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2009" y="3391066"/>
              <a:ext cx="5678395" cy="1047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472" y="4630646"/>
              <a:ext cx="6587468" cy="739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10183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구조체 연산자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3857" y="1169988"/>
            <a:ext cx="7924665" cy="4956492"/>
            <a:chOff x="615155" y="1213373"/>
            <a:chExt cx="7924665" cy="4956492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3"/>
              <a:ext cx="7924665" cy="4956492"/>
              <a:chOff x="683573" y="1844824"/>
              <a:chExt cx="7924665" cy="146224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46224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2282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666375264"/>
                </p:ext>
              </p:extLst>
            </p:nvPr>
          </p:nvGraphicFramePr>
          <p:xfrm>
            <a:off x="871407" y="1680672"/>
            <a:ext cx="7416825" cy="4353888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15664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nn-NO" altLang="ko-KR" sz="13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nn-NO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&lt;stdio.h&gt;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</a:t>
                        </a:r>
                        <a:r>
                          <a:rPr lang="nn-NO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 &lt;malloc.h&gt;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struct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gender;   </a:t>
                        </a:r>
                        <a:r>
                          <a:rPr lang="nn-NO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1:</a:t>
                        </a:r>
                        <a:r>
                          <a:rPr lang="ko-KR" altLang="en-US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남성</a:t>
                        </a:r>
                        <a:r>
                          <a:rPr lang="en-US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, 2:</a:t>
                        </a:r>
                        <a:r>
                          <a:rPr lang="ko-KR" altLang="en-US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여성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nn-NO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name[9];  </a:t>
                        </a:r>
                        <a:r>
                          <a:rPr lang="nn-NO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한글 </a:t>
                        </a:r>
                        <a:r>
                          <a:rPr lang="en-US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4</a:t>
                        </a:r>
                        <a:r>
                          <a:rPr lang="ko-KR" altLang="en-US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자까지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nn-NO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age;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nn-NO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salary;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nn-NO" altLang="ko-KR" sz="1300" b="1" dirty="0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sz="1300" b="1" dirty="0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p = malloc(</a:t>
                        </a:r>
                        <a:r>
                          <a:rPr lang="nn-NO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nn-NO" altLang="ko-KR" sz="1300" b="1" dirty="0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printf(</a:t>
                        </a:r>
                        <a:r>
                          <a:rPr lang="nn-NO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성별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(1:</a:t>
                        </a:r>
                        <a:r>
                          <a:rPr lang="ko-KR" altLang="en-US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남성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, 2:</a:t>
                        </a:r>
                        <a:r>
                          <a:rPr lang="ko-KR" altLang="en-US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여성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  <a:r>
                          <a:rPr lang="ko-KR" altLang="en-US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을 입력하세요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scanf(</a:t>
                        </a:r>
                        <a:r>
                          <a:rPr lang="nn-NO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"%c"</a:t>
                        </a:r>
                        <a:r>
                          <a:rPr lang="nn-NO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&amp;p-&gt;gender);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3098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포인터와 함수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23857" y="1842293"/>
            <a:ext cx="7924665" cy="3268663"/>
            <a:chOff x="615155" y="1213373"/>
            <a:chExt cx="7924665" cy="326866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3"/>
              <a:ext cx="7924665" cy="3268663"/>
              <a:chOff x="683573" y="1844824"/>
              <a:chExt cx="7924665" cy="964307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9643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2282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349532584"/>
                </p:ext>
              </p:extLst>
            </p:nvPr>
          </p:nvGraphicFramePr>
          <p:xfrm>
            <a:off x="871407" y="1680672"/>
            <a:ext cx="7416825" cy="2648963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648963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28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이름을 입력하세요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"%s"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p-&gt;name);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나이를 입력하세요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&amp;p-&gt;age);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연소득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ko-KR" altLang="en-US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만원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  <a:r>
                          <a:rPr lang="ko-KR" altLang="en-US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을 입력하세요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&amp;p-&gt;salary);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13965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구조체 인자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/>
              <a:t>구조체 매개변수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구조체가 함수의 인자로 사용될 경우 값 전달 방식으로 동작함</a:t>
            </a: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0ECA271-BABA-4BC2-9AF8-17147BB9F3DF}"/>
              </a:ext>
            </a:extLst>
          </p:cNvPr>
          <p:cNvGrpSpPr/>
          <p:nvPr/>
        </p:nvGrpSpPr>
        <p:grpSpPr>
          <a:xfrm>
            <a:off x="966600" y="2114551"/>
            <a:ext cx="7210800" cy="3505542"/>
            <a:chOff x="966600" y="2114551"/>
            <a:chExt cx="7210800" cy="350554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B1A51D5-C879-4434-9541-15896B5E6469}"/>
                </a:ext>
              </a:extLst>
            </p:cNvPr>
            <p:cNvGrpSpPr/>
            <p:nvPr/>
          </p:nvGrpSpPr>
          <p:grpSpPr>
            <a:xfrm>
              <a:off x="966600" y="2114551"/>
              <a:ext cx="7210800" cy="3505542"/>
              <a:chOff x="1082808" y="2114551"/>
              <a:chExt cx="7210800" cy="3505542"/>
            </a:xfrm>
          </p:grpSpPr>
          <p:sp>
            <p:nvSpPr>
              <p:cNvPr id="4" name="Google Shape;102;p7"/>
              <p:cNvSpPr txBox="1"/>
              <p:nvPr/>
            </p:nvSpPr>
            <p:spPr>
              <a:xfrm>
                <a:off x="1082808" y="2114551"/>
                <a:ext cx="5937117" cy="3403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r>
                  <a:rPr lang="en-US" sz="1600" b="1" i="0" u="none" strike="noStrike" cap="none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[</a:t>
                </a:r>
                <a:r>
                  <a:rPr lang="en-US" sz="1600" b="1" i="0" u="none" strike="noStrike" cap="none" dirty="0" err="1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코드</a:t>
                </a:r>
                <a:r>
                  <a:rPr lang="en-US" sz="1600" b="1" i="0" u="none" strike="noStrike" cap="none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en-US" sz="1600" b="1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12</a:t>
                </a:r>
                <a:r>
                  <a:rPr lang="en-US" sz="1600" b="1" i="0" u="none" strike="noStrike" cap="none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-11] </a:t>
                </a:r>
                <a:r>
                  <a:rPr lang="ko-KR" altLang="en-US" sz="1600" b="1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구조체 매개변수</a:t>
                </a:r>
                <a:endParaRPr dirty="0"/>
              </a:p>
            </p:txBody>
          </p:sp>
          <p:graphicFrame>
            <p:nvGraphicFramePr>
              <p:cNvPr id="5" name="Google Shape;104;p7"/>
              <p:cNvGraphicFramePr/>
              <p:nvPr>
                <p:extLst>
                  <p:ext uri="{D42A27DB-BD31-4B8C-83A1-F6EECF244321}">
                    <p14:modId xmlns:p14="http://schemas.microsoft.com/office/powerpoint/2010/main" val="2818437883"/>
                  </p:ext>
                </p:extLst>
              </p:nvPr>
            </p:nvGraphicFramePr>
            <p:xfrm>
              <a:off x="1172844" y="2454925"/>
              <a:ext cx="7120764" cy="3165168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{270F0E0B-0B7A-4AD7-8269-C2576374BDFF}</a:tableStyleId>
                  </a:tblPr>
                  <a:tblGrid>
                    <a:gridCol w="3949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216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0624">
                      <a:extLst>
                        <a:ext uri="{9D8B030D-6E8A-4147-A177-3AD203B41FA5}">
                          <a16:colId xmlns:a16="http://schemas.microsoft.com/office/drawing/2014/main" val="3742618062"/>
                        </a:ext>
                      </a:extLst>
                    </a:gridCol>
                    <a:gridCol w="2983608">
                      <a:extLst>
                        <a:ext uri="{9D8B030D-6E8A-4147-A177-3AD203B41FA5}">
                          <a16:colId xmlns:a16="http://schemas.microsoft.com/office/drawing/2014/main" val="2360968255"/>
                        </a:ext>
                      </a:extLst>
                    </a:gridCol>
                  </a:tblGrid>
                  <a:tr h="1180022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01</a:t>
                          </a:r>
                          <a:endParaRPr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02 </a:t>
                          </a:r>
                          <a:endParaRPr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03 </a:t>
                          </a:r>
                          <a:endParaRPr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04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05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06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07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08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09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10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11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12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13</a:t>
                          </a:r>
                        </a:p>
                      </a:txBody>
                      <a:tcPr marL="91450" marR="91450" marT="45725" marB="45725">
                        <a:lnL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#include </a:t>
                          </a:r>
                          <a:r>
                            <a:rPr lang="en-US" altLang="ko-KR" sz="1300" b="1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&lt;</a:t>
                          </a:r>
                          <a:r>
                            <a:rPr lang="en-US" altLang="ko-KR" sz="1300" b="1" dirty="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stdio.h</a:t>
                          </a:r>
                          <a:r>
                            <a:rPr lang="en-US" altLang="ko-KR" sz="1300" b="1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&gt;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 err="1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typedef</a:t>
                          </a:r>
                          <a:r>
                            <a:rPr lang="en-US" altLang="ko-KR" sz="1300" b="1" dirty="0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 </a:t>
                          </a:r>
                          <a:r>
                            <a:rPr lang="en-US" altLang="ko-KR" sz="1300" b="1" dirty="0" err="1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struct</a:t>
                          </a:r>
                          <a:endParaRPr lang="en-US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{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sz="1300" b="1" dirty="0" err="1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int</a:t>
                          </a:r>
                          <a:r>
                            <a:rPr lang="en-US" altLang="ko-KR" sz="1300" b="1" dirty="0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 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m;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} </a:t>
                          </a:r>
                          <a:r>
                            <a:rPr lang="en-US" altLang="ko-KR" sz="1300" b="1" dirty="0" err="1">
                              <a:solidFill>
                                <a:srgbClr val="05E1AD"/>
                              </a:solidFill>
                              <a:latin typeface="Consolas" panose="020B0609020204030204" pitchFamily="49" charset="0"/>
                            </a:rPr>
                            <a:t>SType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void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</a:t>
                          </a:r>
                          <a:r>
                            <a:rPr lang="en-US" altLang="ko-KR" sz="1300" b="1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func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altLang="ko-KR" sz="1300" b="1" dirty="0" err="1">
                              <a:solidFill>
                                <a:srgbClr val="05E1AD"/>
                              </a:solidFill>
                              <a:latin typeface="Consolas" panose="020B0609020204030204" pitchFamily="49" charset="0"/>
                            </a:rPr>
                            <a:t>SType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</a:t>
                          </a:r>
                          <a:r>
                            <a:rPr lang="en-US" altLang="ko-KR" sz="1300" b="1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arg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)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{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sz="1300" b="1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arg.m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= 2;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sz="1300" b="1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printf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altLang="ko-KR" sz="1300" b="1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"</a:t>
                          </a:r>
                          <a:r>
                            <a:rPr lang="en-US" altLang="ko-KR" sz="1300" b="1" dirty="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arg.m</a:t>
                          </a:r>
                          <a:r>
                            <a:rPr lang="en-US" altLang="ko-KR" sz="1300" b="1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: %d</a:t>
                          </a:r>
                          <a:r>
                            <a:rPr lang="en-US" altLang="ko-KR" sz="1300" b="1" dirty="0">
                              <a:solidFill>
                                <a:srgbClr val="7030A0"/>
                              </a:solidFill>
                              <a:latin typeface="Consolas" panose="020B0609020204030204" pitchFamily="49" charset="0"/>
                            </a:rPr>
                            <a:t>\r\n</a:t>
                          </a:r>
                          <a:r>
                            <a:rPr lang="en-US" altLang="ko-KR" sz="1300" b="1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"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altLang="ko-KR" sz="1300" b="1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arg.m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);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}</a:t>
                          </a:r>
                        </a:p>
                      </a:txBody>
                      <a:tcPr marL="91450" marR="91450" marT="45725" marB="45725">
                        <a:lnL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14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15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16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17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18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19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u="none" strike="noStrike" cap="none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20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 marL="91450" marR="91450" marT="45725" marB="45725">
                        <a:lnL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int 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main( )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{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sz="1300" b="1" dirty="0" err="1">
                              <a:solidFill>
                                <a:srgbClr val="05E1AD"/>
                              </a:solidFill>
                              <a:latin typeface="Consolas" panose="020B0609020204030204" pitchFamily="49" charset="0"/>
                            </a:rPr>
                            <a:t>SType</a:t>
                          </a:r>
                          <a:r>
                            <a:rPr lang="en-US" altLang="ko-KR" sz="1300" b="1" dirty="0">
                              <a:solidFill>
                                <a:srgbClr val="05E1AD"/>
                              </a:solidFill>
                              <a:latin typeface="Consolas" panose="020B0609020204030204" pitchFamily="49" charset="0"/>
                            </a:rPr>
                            <a:t> 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sz="1300" b="1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s.m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= 1;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sz="1300" b="1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func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(s);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en-US" altLang="ko-KR" sz="1300" b="1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printf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altLang="ko-KR" sz="1300" b="1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"</a:t>
                          </a:r>
                          <a:r>
                            <a:rPr lang="en-US" altLang="ko-KR" sz="1300" b="1" dirty="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s.m</a:t>
                          </a:r>
                          <a:r>
                            <a:rPr lang="en-US" altLang="ko-KR" sz="1300" b="1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: %d"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, </a:t>
                          </a:r>
                          <a:r>
                            <a:rPr lang="en-US" altLang="ko-KR" sz="1300" b="1" dirty="0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s.m</a:t>
                          </a: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);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sz="1300" b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}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 marL="91450" marR="91450" marT="45725" marB="45725">
                        <a:lnL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 algn="ctr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p:grpSp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71241856-E224-4BC4-98AD-5D9BB6616B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8725"/>
            <a:stretch/>
          </p:blipFill>
          <p:spPr bwMode="auto">
            <a:xfrm>
              <a:off x="6620901" y="4760342"/>
              <a:ext cx="1484751" cy="786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구조체 포인터 매개변수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C </a:t>
            </a:r>
            <a:r>
              <a:rPr lang="ko-KR" altLang="en-US" dirty="0"/>
              <a:t>프로그래밍에서는 가능하면 구조체 포인터 매개변수를 사용함</a:t>
            </a:r>
            <a:endParaRPr lang="en-US" altLang="ko-KR" dirty="0"/>
          </a:p>
          <a:p>
            <a:pPr marL="1085850" lvl="3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구조체 포인터 매개변수를 사용하면 참조 전달 방식과 비슷한 효과를 냄</a:t>
            </a:r>
            <a:endParaRPr lang="en-US" altLang="ko-KR" dirty="0"/>
          </a:p>
          <a:p>
            <a:pPr marL="1085850" lvl="3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값 전달 방식으로 인한 성능과 효율성 저하를 방지함</a:t>
            </a:r>
            <a:endParaRPr lang="en-US" altLang="ko-KR" dirty="0"/>
          </a:p>
          <a:p>
            <a:pPr marL="1085850" lvl="3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[</a:t>
            </a:r>
            <a:r>
              <a:rPr lang="ko-KR" altLang="en-US" dirty="0"/>
              <a:t>코드 </a:t>
            </a:r>
            <a:r>
              <a:rPr lang="en-US" altLang="ko-KR" dirty="0"/>
              <a:t>12-12] : [</a:t>
            </a:r>
            <a:r>
              <a:rPr lang="ko-KR" altLang="en-US" dirty="0"/>
              <a:t>코드 </a:t>
            </a:r>
            <a:r>
              <a:rPr lang="en-US" altLang="ko-KR" dirty="0"/>
              <a:t>12-11]</a:t>
            </a:r>
            <a:r>
              <a:rPr lang="ko-KR" altLang="en-US" dirty="0"/>
              <a:t>를 매개변수를 이용하여 수정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62618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구조체 포인터 매개변수</a:t>
            </a:r>
          </a:p>
        </p:txBody>
      </p:sp>
      <p:sp>
        <p:nvSpPr>
          <p:cNvPr id="12" name="Google Shape;102;p7"/>
          <p:cNvSpPr txBox="1"/>
          <p:nvPr/>
        </p:nvSpPr>
        <p:spPr>
          <a:xfrm>
            <a:off x="1082808" y="1599178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-12]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구조체 포인터 전달</a:t>
            </a:r>
            <a:endParaRPr dirty="0"/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226958459"/>
              </p:ext>
            </p:extLst>
          </p:nvPr>
        </p:nvGraphicFramePr>
        <p:xfrm>
          <a:off x="1172844" y="1939552"/>
          <a:ext cx="6779261" cy="446488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2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2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endParaRPr lang="en-US" altLang="ko-KR" sz="1200" b="1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ko-KR" sz="1200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SType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00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SType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-&gt;m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SType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200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</a:t>
                      </a:r>
                      <a:r>
                        <a:rPr lang="en-US" altLang="ko-KR" sz="1200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func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(&amp;s);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200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2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s.m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7C8B6F75-853A-42DA-916E-803F963709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60"/>
          <a:stretch/>
        </p:blipFill>
        <p:spPr bwMode="auto">
          <a:xfrm>
            <a:off x="6048001" y="1949718"/>
            <a:ext cx="1788408" cy="780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70347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017862" y="1855373"/>
            <a:ext cx="7002503" cy="3445390"/>
            <a:chOff x="998812" y="1855373"/>
            <a:chExt cx="7002503" cy="3445390"/>
          </a:xfrm>
        </p:grpSpPr>
        <p:pic>
          <p:nvPicPr>
            <p:cNvPr id="1331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8384" y="1855373"/>
              <a:ext cx="6972931" cy="1928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1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812" y="3881338"/>
              <a:ext cx="7002503" cy="1419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16365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619191" y="1771650"/>
            <a:ext cx="7924665" cy="3048001"/>
            <a:chOff x="619191" y="1181100"/>
            <a:chExt cx="7924665" cy="3048001"/>
          </a:xfrm>
        </p:grpSpPr>
        <p:grpSp>
          <p:nvGrpSpPr>
            <p:cNvPr id="3" name="그룹 2"/>
            <p:cNvGrpSpPr/>
            <p:nvPr/>
          </p:nvGrpSpPr>
          <p:grpSpPr>
            <a:xfrm>
              <a:off x="619191" y="1181100"/>
              <a:ext cx="7924665" cy="3048001"/>
              <a:chOff x="615155" y="898523"/>
              <a:chExt cx="7924665" cy="3048001"/>
            </a:xfrm>
          </p:grpSpPr>
          <p:grpSp>
            <p:nvGrpSpPr>
              <p:cNvPr id="4" name="Google Shape;129;p9"/>
              <p:cNvGrpSpPr/>
              <p:nvPr/>
            </p:nvGrpSpPr>
            <p:grpSpPr>
              <a:xfrm>
                <a:off x="615155" y="898523"/>
                <a:ext cx="7924665" cy="3048001"/>
                <a:chOff x="683573" y="1646170"/>
                <a:chExt cx="7924665" cy="1257753"/>
              </a:xfrm>
              <a:solidFill>
                <a:schemeClr val="accent5">
                  <a:lumMod val="20000"/>
                  <a:lumOff val="80000"/>
                </a:schemeClr>
              </a:solidFill>
            </p:grpSpPr>
            <p:sp>
              <p:nvSpPr>
                <p:cNvPr id="5" name="Google Shape;130;p9"/>
                <p:cNvSpPr/>
                <p:nvPr/>
              </p:nvSpPr>
              <p:spPr>
                <a:xfrm>
                  <a:off x="688238" y="1646170"/>
                  <a:ext cx="7920000" cy="125775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rgbClr val="8AC9D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" name="Google Shape;132;p9"/>
                <p:cNvSpPr/>
                <p:nvPr/>
              </p:nvSpPr>
              <p:spPr>
                <a:xfrm>
                  <a:off x="683573" y="1647056"/>
                  <a:ext cx="1511728" cy="152935"/>
                </a:xfrm>
                <a:prstGeom prst="rect">
                  <a:avLst/>
                </a:prstGeom>
                <a:solidFill>
                  <a:srgbClr val="8AC9DA"/>
                </a:solidFill>
                <a:ln>
                  <a:solidFill>
                    <a:srgbClr val="8AC9DA"/>
                  </a:solidFill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 dirty="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LAB 12-3</a:t>
                  </a:r>
                  <a:endParaRPr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9" name="TextBox 8"/>
              <p:cNvSpPr txBox="1"/>
              <p:nvPr/>
            </p:nvSpPr>
            <p:spPr>
              <a:xfrm>
                <a:off x="2126883" y="916704"/>
                <a:ext cx="63664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+mj-ea"/>
                    <a:ea typeface="+mj-ea"/>
                  </a:rPr>
                  <a:t>인구 조사 프로그램 만들기</a:t>
                </a:r>
                <a:r>
                  <a:rPr lang="en-US" altLang="ko-KR" sz="1600" b="1" dirty="0">
                    <a:latin typeface="+mj-ea"/>
                    <a:ea typeface="+mj-ea"/>
                  </a:rPr>
                  <a:t>3</a:t>
                </a:r>
                <a:endParaRPr lang="ko-KR" altLang="en-US" sz="1600" b="1" dirty="0">
                  <a:latin typeface="+mj-ea"/>
                  <a:ea typeface="+mj-ea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885627" y="1288542"/>
                <a:ext cx="7449665" cy="13488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[LAB 12-2]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에서 만든 인구 조사 프로그램에 기능을 추가해봅시다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 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먼저 구조체에 일련번호 및 활성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/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비활성 여부 멤버를 새로 추가합니다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 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그리고 </a:t>
                </a:r>
                <a:r>
                  <a:rPr lang="ko-KR" altLang="en-US" dirty="0" err="1">
                    <a:latin typeface="Consolas" panose="020B0609020204030204" pitchFamily="49" charset="0"/>
                    <a:ea typeface="맑은 고딕" panose="020B0503020000020004" pitchFamily="50" charset="-127"/>
                  </a:rPr>
                  <a:t>입력받은</a:t>
                </a:r>
                <a:r>
                  <a:rPr lang="ko-KR" altLang="en-US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 개인 정보 구조체 객체를 등록하는 함수를 정의하고 함수는 구조체 객체에 일련번호를 부여하고 활성 여부를 설정한 후에 전역 배열에 객체를 가리키는 포인터를 저장해봅시다</a:t>
                </a:r>
                <a:r>
                  <a:rPr lang="en-US" altLang="ko-KR" dirty="0">
                    <a:latin typeface="Consolas" panose="020B0609020204030204" pitchFamily="49" charset="0"/>
                    <a:ea typeface="맑은 고딕" panose="020B0503020000020004" pitchFamily="50" charset="-127"/>
                  </a:rPr>
                  <a:t>.</a:t>
                </a:r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433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0979" y="3010066"/>
              <a:ext cx="6577266" cy="1047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30196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280051"/>
            <a:ext cx="7924665" cy="4928726"/>
            <a:chOff x="615155" y="1556276"/>
            <a:chExt cx="7924665" cy="4928726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6"/>
              <a:ext cx="7924665" cy="4928726"/>
              <a:chOff x="683573" y="1844824"/>
              <a:chExt cx="7924665" cy="145405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454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11-3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860484387"/>
                </p:ext>
              </p:extLst>
            </p:nvPr>
          </p:nvGraphicFramePr>
          <p:xfrm>
            <a:off x="871407" y="2023571"/>
            <a:ext cx="7416825" cy="4353888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29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sz="1300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malloc.h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endParaRPr lang="en-US" altLang="ko-KR" sz="1300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serial;  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일련번호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enabled;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활성화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gender; 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1: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남성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, 2: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여성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name[9];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한글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4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자까지 가능함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age;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salary;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sz="1300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g_Index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g_Serial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defTabSz="914400" rtl="0" eaLnBrk="1" fontAlgn="auto" latinLnBrk="0" hangingPunct="1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Tx/>
                          <a:buFont typeface="Arial"/>
                          <a:buNone/>
                          <a:tabLst/>
                          <a:defRPr/>
                        </a:pPr>
                        <a:r>
                          <a:rPr lang="en-US" altLang="ko-KR" sz="1300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g_Arr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[1024];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2217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467335"/>
            <a:ext cx="7924665" cy="3569871"/>
            <a:chOff x="615155" y="1556272"/>
            <a:chExt cx="7924665" cy="3569871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2"/>
              <a:ext cx="7924665" cy="3569871"/>
              <a:chOff x="683573" y="1844824"/>
              <a:chExt cx="7924665" cy="1053168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0531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11-3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410710053"/>
                </p:ext>
              </p:extLst>
            </p:nvPr>
          </p:nvGraphicFramePr>
          <p:xfrm>
            <a:off x="871407" y="2023571"/>
            <a:ext cx="7416825" cy="2929429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29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29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Register(</a:t>
                        </a:r>
                        <a:r>
                          <a:rPr lang="en-US" altLang="ko-KR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pPerson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pPerson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-&gt;serial =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g_Serial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++;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pPerson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-&gt;enabled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g_Arr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g_Index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++] =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pPerson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       // ... [LAB 12-2]</a:t>
                        </a:r>
                        <a:r>
                          <a:rPr lang="ko-KR" altLang="en-US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의 내용 생략 </a:t>
                        </a:r>
                        <a:r>
                          <a:rPr lang="en-US" altLang="ko-KR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...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132469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구조체 메모리 구조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35255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구조체 메모리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/>
              <a:t>구조체의 크기</a:t>
            </a:r>
          </a:p>
          <a:p>
            <a:pPr marL="628650" lvl="2" indent="-180975">
              <a:lnSpc>
                <a:spcPct val="14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구조체의 크기를 구하는 연산자 </a:t>
            </a:r>
            <a:r>
              <a:rPr lang="en-US" altLang="ko-KR" dirty="0"/>
              <a:t>: </a:t>
            </a:r>
            <a:r>
              <a:rPr lang="en-US" altLang="ko-KR" dirty="0" err="1"/>
              <a:t>sizeof</a:t>
            </a:r>
            <a:r>
              <a:rPr lang="en-US" altLang="ko-KR" dirty="0"/>
              <a:t>(</a:t>
            </a:r>
            <a:r>
              <a:rPr lang="ko-KR" altLang="en-US" dirty="0"/>
              <a:t>구조체</a:t>
            </a:r>
            <a:r>
              <a:rPr lang="en-US" altLang="ko-KR" dirty="0"/>
              <a:t>) / </a:t>
            </a:r>
            <a:r>
              <a:rPr lang="en-US" altLang="ko-KR" dirty="0" err="1"/>
              <a:t>sizeof</a:t>
            </a:r>
            <a:r>
              <a:rPr lang="en-US" altLang="ko-KR" dirty="0"/>
              <a:t>(</a:t>
            </a:r>
            <a:r>
              <a:rPr lang="ko-KR" altLang="en-US" dirty="0"/>
              <a:t>구조체 객체</a:t>
            </a:r>
            <a:r>
              <a:rPr lang="en-US" altLang="ko-KR" dirty="0"/>
              <a:t>)</a:t>
            </a:r>
          </a:p>
        </p:txBody>
      </p:sp>
      <p:sp>
        <p:nvSpPr>
          <p:cNvPr id="4" name="Google Shape;102;p7"/>
          <p:cNvSpPr txBox="1"/>
          <p:nvPr/>
        </p:nvSpPr>
        <p:spPr>
          <a:xfrm>
            <a:off x="1082808" y="211455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-11]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구조체 매개변수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049881510"/>
              </p:ext>
            </p:extLst>
          </p:nvPr>
        </p:nvGraphicFramePr>
        <p:xfrm>
          <a:off x="1172844" y="2454925"/>
          <a:ext cx="6779261" cy="364065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endParaRPr lang="en-US" altLang="ko-KR" sz="1300" b="1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ko-KR" sz="1300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SType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size1 =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+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size2 =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SType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"size1: %d, size2: %d"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size1, size2);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922" y="2485173"/>
            <a:ext cx="2115097" cy="524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5F1FF844-7156-44D1-B1F9-83F90957E6C2}"/>
              </a:ext>
            </a:extLst>
          </p:cNvPr>
          <p:cNvGrpSpPr/>
          <p:nvPr/>
        </p:nvGrpSpPr>
        <p:grpSpPr>
          <a:xfrm>
            <a:off x="5568694" y="4789358"/>
            <a:ext cx="1760216" cy="238125"/>
            <a:chOff x="2882022" y="4287772"/>
            <a:chExt cx="827386" cy="3048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E98C097-7E8F-41D7-9B7E-22BE85D06DFF}"/>
                </a:ext>
              </a:extLst>
            </p:cNvPr>
            <p:cNvSpPr/>
            <p:nvPr/>
          </p:nvSpPr>
          <p:spPr>
            <a:xfrm>
              <a:off x="3052183" y="4287772"/>
              <a:ext cx="657225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rgbClr val="FF0000"/>
                  </a:solidFill>
                </a:rPr>
                <a:t>옳지 않은 방법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C7818EE7-BD4A-4579-96A1-2A11BBC3DD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2022" y="4592572"/>
              <a:ext cx="16705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3698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구조체 메모리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 err="1"/>
              <a:t>패딩의</a:t>
            </a:r>
            <a:r>
              <a:rPr lang="en-US" altLang="ko-KR" sz="2400" dirty="0"/>
              <a:t> </a:t>
            </a:r>
            <a:r>
              <a:rPr lang="ko-KR" altLang="en-US" sz="2400" dirty="0"/>
              <a:t>개념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패딩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어떤 데이터도 저장되지 않는 미사용 공간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 </a:t>
            </a:r>
            <a:r>
              <a:rPr lang="ko-KR" altLang="en-US" dirty="0"/>
              <a:t>메모리 영역을 해석할 때 읽거나 쓰지 않는 부분</a:t>
            </a:r>
            <a:endParaRPr lang="en-US" altLang="ko-KR" dirty="0"/>
          </a:p>
        </p:txBody>
      </p:sp>
      <p:pic>
        <p:nvPicPr>
          <p:cNvPr id="17410" name="Picture 2" descr="C:\Users\변소현\Desktop\난생처음 C 언어 프로그래밍\그림\Ch12\그림 12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592" y="3199344"/>
            <a:ext cx="3834928" cy="295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683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구조체 메모리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 err="1"/>
              <a:t>패딩의</a:t>
            </a:r>
            <a:r>
              <a:rPr lang="en-US" altLang="ko-KR" sz="2400" dirty="0"/>
              <a:t> </a:t>
            </a:r>
            <a:r>
              <a:rPr lang="ko-KR" altLang="en-US" sz="2400" dirty="0"/>
              <a:t>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구조체의 메모리 구조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/Zp8(</a:t>
            </a:r>
            <a:r>
              <a:rPr lang="ko-KR" altLang="en-US" dirty="0"/>
              <a:t>기본</a:t>
            </a:r>
            <a:r>
              <a:rPr lang="en-US" altLang="ko-KR" dirty="0"/>
              <a:t>) : </a:t>
            </a:r>
            <a:r>
              <a:rPr lang="ko-KR" altLang="en-US" dirty="0"/>
              <a:t>패딩 방법 중의 하나</a:t>
            </a:r>
            <a:r>
              <a:rPr lang="en-US" altLang="ko-KR" dirty="0"/>
              <a:t>, </a:t>
            </a:r>
            <a:r>
              <a:rPr lang="ko-KR" altLang="en-US" dirty="0"/>
              <a:t>컴파일러가 기본으로 선택한 최적의 상호 절충 지점</a:t>
            </a:r>
            <a:endParaRPr lang="en-US" altLang="ko-KR" dirty="0"/>
          </a:p>
        </p:txBody>
      </p:sp>
      <p:pic>
        <p:nvPicPr>
          <p:cNvPr id="16386" name="Picture 2" descr="C:\Users\변소현\Desktop\난생처음 C 언어 프로그래밍\그림\Ch12\그림 12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062" y="2724912"/>
            <a:ext cx="3711575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4880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구조체 메모리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</a:t>
            </a:r>
            <a:endParaRPr lang="ko-KR" altLang="en-US" dirty="0"/>
          </a:p>
        </p:txBody>
      </p:sp>
      <p:sp>
        <p:nvSpPr>
          <p:cNvPr id="5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 err="1"/>
              <a:t>패딩의</a:t>
            </a:r>
            <a:r>
              <a:rPr lang="en-US" altLang="ko-KR" sz="2400" dirty="0"/>
              <a:t> </a:t>
            </a:r>
            <a:r>
              <a:rPr lang="ko-KR" altLang="en-US" sz="2400" dirty="0"/>
              <a:t>개념</a:t>
            </a:r>
            <a:endParaRPr lang="en-US" altLang="ko-KR" b="1" dirty="0"/>
          </a:p>
        </p:txBody>
      </p:sp>
      <p:grpSp>
        <p:nvGrpSpPr>
          <p:cNvPr id="6" name="Google Shape;118;p8"/>
          <p:cNvGrpSpPr>
            <a:grpSpLocks noChangeAspect="1"/>
          </p:cNvGrpSpPr>
          <p:nvPr/>
        </p:nvGrpSpPr>
        <p:grpSpPr>
          <a:xfrm>
            <a:off x="1062361" y="2489307"/>
            <a:ext cx="6981177" cy="1842994"/>
            <a:chOff x="-351138" y="1780618"/>
            <a:chExt cx="9252255" cy="3151320"/>
          </a:xfrm>
        </p:grpSpPr>
        <p:sp>
          <p:nvSpPr>
            <p:cNvPr id="7" name="Google Shape;119;p8"/>
            <p:cNvSpPr/>
            <p:nvPr/>
          </p:nvSpPr>
          <p:spPr>
            <a:xfrm>
              <a:off x="-326750" y="1862052"/>
              <a:ext cx="9227867" cy="3069886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0;p8"/>
            <p:cNvSpPr txBox="1"/>
            <p:nvPr/>
          </p:nvSpPr>
          <p:spPr>
            <a:xfrm>
              <a:off x="-351138" y="2265383"/>
              <a:ext cx="9075526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구조체는 멤버들이 일렬로만 모인 것이기 때문에 순서대로 나열은 되지만 각 멤버 사이에 빈틈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ko-KR" altLang="en-US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패딩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추가될 수 있음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즉 요소의 크기와 요소의 개수를 곱해서 배열의 크기를 구할 수 있지만 구조체는 그렇게 할 수 없음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" name="Google Shape;121;p8"/>
            <p:cNvSpPr/>
            <p:nvPr/>
          </p:nvSpPr>
          <p:spPr>
            <a:xfrm>
              <a:off x="-326750" y="1862053"/>
              <a:ext cx="1805179" cy="52648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sz="16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dirty="0"/>
            </a:p>
          </p:txBody>
        </p:sp>
        <p:sp>
          <p:nvSpPr>
            <p:cNvPr id="10" name="Google Shape;122;p8"/>
            <p:cNvSpPr txBox="1"/>
            <p:nvPr/>
          </p:nvSpPr>
          <p:spPr>
            <a:xfrm>
              <a:off x="1424827" y="1780618"/>
              <a:ext cx="5595372" cy="6594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배열과 구조체의 차이점</a:t>
              </a: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</a:t>
              </a:r>
              <a:r>
                <a:rPr lang="ko-KR" altLang="en-US" sz="1600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패딩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endParaRPr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828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구조체 메모리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</a:t>
            </a:r>
            <a:endParaRPr lang="ko-KR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745" y="1997262"/>
            <a:ext cx="6512209" cy="3168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3629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구조체 메모리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구조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9191" y="1771650"/>
            <a:ext cx="7924665" cy="2857500"/>
            <a:chOff x="615155" y="898523"/>
            <a:chExt cx="7924665" cy="2857500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898523"/>
              <a:ext cx="7924665" cy="2857500"/>
              <a:chOff x="683573" y="1646170"/>
              <a:chExt cx="7924665" cy="117914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646170"/>
                <a:ext cx="7920000" cy="117914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647056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12-4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916704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인구 조사 프로그램 만들기</a:t>
              </a:r>
              <a:r>
                <a:rPr lang="en-US" altLang="ko-KR" sz="1600" b="1" dirty="0">
                  <a:latin typeface="+mj-ea"/>
                  <a:ea typeface="+mj-ea"/>
                </a:rPr>
                <a:t>4</a:t>
              </a:r>
              <a:endParaRPr lang="ko-KR" altLang="en-US" sz="1600" b="1" dirty="0">
                <a:latin typeface="+mj-ea"/>
                <a:ea typeface="+mj-ea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85627" y="1288542"/>
              <a:ext cx="7397419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[LAB 12-3]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에서 구현한 인구 조사 프로그램은 전역 배열을 사용합니다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하지만 조사할 수 있는 인구수는 가변적이므로 동적 메모리를 사용하도록 수정해봅시다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</a:p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최초 메모리 크기는 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4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명 기준이며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메모리 부족 시 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4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명씩 증가하도록 구현합니다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303" y="3324225"/>
            <a:ext cx="6689806" cy="103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82147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156224"/>
            <a:ext cx="7924665" cy="5235048"/>
            <a:chOff x="615155" y="1556274"/>
            <a:chExt cx="7924665" cy="5235048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4"/>
              <a:ext cx="7924665" cy="5235048"/>
              <a:chOff x="683573" y="1844824"/>
              <a:chExt cx="7924665" cy="154442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5444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12-4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378298540"/>
                </p:ext>
              </p:extLst>
            </p:nvPr>
          </p:nvGraphicFramePr>
          <p:xfrm>
            <a:off x="871407" y="2023571"/>
            <a:ext cx="7416825" cy="4574614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29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sz="13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defTabSz="914400" rtl="0" eaLnBrk="1" fontAlgn="auto" latinLnBrk="0" hangingPunct="1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Tx/>
                          <a:buFont typeface="Arial"/>
                          <a:buNone/>
                          <a:tabLst/>
                          <a:defRPr/>
                        </a:pPr>
                        <a:r>
                          <a:rPr lang="en-US" altLang="ko-KR" sz="12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19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sz="1300" b="1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malloc.h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endParaRPr lang="en-US" altLang="ko-KR" sz="1300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serial;  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일련번호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enabled;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활성화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gender; 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1: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남성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, 2: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여성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name[9];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한글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4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자까지 가능함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age;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salary;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sz="1300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**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g_pPI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g_PIIndex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g_PISize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4;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g_Serial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431322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156224"/>
            <a:ext cx="7924665" cy="5409168"/>
            <a:chOff x="615155" y="1556274"/>
            <a:chExt cx="7924665" cy="5409168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4"/>
              <a:ext cx="7924665" cy="5409168"/>
              <a:chOff x="683573" y="1844824"/>
              <a:chExt cx="7924665" cy="1595789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59578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12-4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327841966"/>
                </p:ext>
              </p:extLst>
            </p:nvPr>
          </p:nvGraphicFramePr>
          <p:xfrm>
            <a:off x="871407" y="2023571"/>
            <a:ext cx="7416825" cy="4829376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29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29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39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Register(</a:t>
                        </a:r>
                        <a:r>
                          <a:rPr lang="en-US" altLang="ko-KR" sz="1300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pPerson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   if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(!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g_pPI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g_pPI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malloc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*) *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g_PISize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pPerson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-&gt;serial =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g_Serial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++;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pPerson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-&gt;enabled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g_PIIndex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&gt;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g_PISize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g_PISize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+= 4;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g_pPI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realloc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g_pPI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PersonInfo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*) *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g_PISize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g_pPI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g_PIIndex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++] =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pPerson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  // ... [LAB 12-2]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의 내용 생략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...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474760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 err="1"/>
              <a:t>공용체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5507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공용체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 err="1"/>
              <a:t>공용체의</a:t>
            </a:r>
            <a:r>
              <a:rPr lang="ko-KR" altLang="en-US" sz="2400" dirty="0"/>
              <a:t> 개념과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 err="1"/>
              <a:t>공용체의</a:t>
            </a:r>
            <a:r>
              <a:rPr lang="ko-KR" altLang="en-US" dirty="0"/>
              <a:t> 개념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모든 멤버들이 같은 메모리 영역을 공유하는 특별한 형태의 구조체</a:t>
            </a:r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517" y="2575774"/>
            <a:ext cx="7132616" cy="2022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63574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공용체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/>
              <a:t>공용체의 개념과 정의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82808" y="1738123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-14]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공용체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4162546363"/>
              </p:ext>
            </p:extLst>
          </p:nvPr>
        </p:nvGraphicFramePr>
        <p:xfrm>
          <a:off x="1172844" y="2078497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union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ko-KR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UType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UType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u;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u.a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7;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u.a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%d, </a:t>
                      </a:r>
                      <a:r>
                        <a:rPr lang="en-US" altLang="ko-KR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u.b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%d, </a:t>
                      </a:r>
                      <a:r>
                        <a:rPr lang="en-US" altLang="ko-KR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u.c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u.a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u.b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u.c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906" y="2126114"/>
            <a:ext cx="2465661" cy="585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22903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공용체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 err="1"/>
              <a:t>공용체의</a:t>
            </a:r>
            <a:r>
              <a:rPr lang="ko-KR" altLang="en-US" sz="2400" dirty="0"/>
              <a:t> 개념과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 err="1"/>
              <a:t>공용체</a:t>
            </a:r>
            <a:r>
              <a:rPr lang="ko-KR" altLang="en-US" dirty="0"/>
              <a:t> 객체 </a:t>
            </a:r>
            <a:r>
              <a:rPr lang="en-US" altLang="ko-KR" dirty="0"/>
              <a:t>u</a:t>
            </a:r>
            <a:r>
              <a:rPr lang="ko-KR" altLang="en-US" dirty="0"/>
              <a:t>의 메모리 구조</a:t>
            </a:r>
            <a:endParaRPr lang="en-US" altLang="ko-KR" dirty="0"/>
          </a:p>
        </p:txBody>
      </p:sp>
      <p:pic>
        <p:nvPicPr>
          <p:cNvPr id="3074" name="Picture 2" descr="C:\Users\변소현\Desktop\난생처음 C 언어 프로그래밍\그림\Ch12\그림 12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2709863"/>
            <a:ext cx="3559175" cy="221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7755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공용체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공용체의</a:t>
            </a:r>
            <a:r>
              <a:rPr lang="ko-KR" altLang="en-US" sz="2400" dirty="0"/>
              <a:t> 크기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공유한 메모리 영역의 크기가</a:t>
            </a:r>
            <a:r>
              <a:rPr lang="en-US" altLang="ko-KR" dirty="0"/>
              <a:t> </a:t>
            </a:r>
            <a:r>
              <a:rPr lang="ko-KR" altLang="en-US" dirty="0"/>
              <a:t>바로 공용체의 크기임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1082808" y="2148460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-15]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공용체의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크기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010913602"/>
              </p:ext>
            </p:extLst>
          </p:nvPr>
        </p:nvGraphicFramePr>
        <p:xfrm>
          <a:off x="1172844" y="2488834"/>
          <a:ext cx="6779261" cy="364065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union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ko-KR" altLang="en-US" sz="1300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altLang="en-US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ko-KR" sz="1300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UType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UType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u;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u.a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7;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u.a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%d, </a:t>
                      </a:r>
                      <a:r>
                        <a:rPr lang="en-US" altLang="ko-KR" sz="1300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u.b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u.a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u.b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087" y="2542957"/>
            <a:ext cx="2244467" cy="572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5089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공용체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공용체의</a:t>
            </a:r>
            <a:r>
              <a:rPr lang="ko-KR" altLang="en-US" sz="2400" dirty="0"/>
              <a:t> 크기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두 멤버가 메모리 영역을 공유하기 위해서는 멤버 </a:t>
            </a:r>
            <a:r>
              <a:rPr lang="en-US" altLang="ko-KR" dirty="0"/>
              <a:t>a</a:t>
            </a:r>
            <a:r>
              <a:rPr lang="ko-KR" altLang="en-US" dirty="0"/>
              <a:t>의 영역이 멤버 </a:t>
            </a:r>
            <a:r>
              <a:rPr lang="en-US" altLang="ko-KR" dirty="0"/>
              <a:t>b</a:t>
            </a:r>
            <a:r>
              <a:rPr lang="ko-KR" altLang="en-US" dirty="0"/>
              <a:t>의 영역을 포함하는 구조가</a:t>
            </a:r>
            <a:r>
              <a:rPr lang="en-US" altLang="ko-KR" dirty="0"/>
              <a:t> </a:t>
            </a:r>
            <a:r>
              <a:rPr lang="ko-KR" altLang="en-US" dirty="0"/>
              <a:t>되어야 함</a:t>
            </a:r>
            <a:endParaRPr lang="en-US" altLang="ko-KR" dirty="0"/>
          </a:p>
        </p:txBody>
      </p:sp>
      <p:pic>
        <p:nvPicPr>
          <p:cNvPr id="5122" name="Picture 2" descr="C:\Users\변소현\Desktop\난생처음 C 언어 프로그래밍\그림\Ch12\그림 12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2736850"/>
            <a:ext cx="3521075" cy="281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6331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공용체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공용체의</a:t>
            </a:r>
            <a:r>
              <a:rPr lang="ko-KR" altLang="en-US" sz="2400" dirty="0"/>
              <a:t> 크기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82808" y="179070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-16]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공용체의 정수 멤버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실수 멤버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875207952"/>
              </p:ext>
            </p:extLst>
          </p:nvPr>
        </p:nvGraphicFramePr>
        <p:xfrm>
          <a:off x="1172844" y="2131075"/>
          <a:ext cx="6779261" cy="3913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union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ko-KR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UType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UType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u;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u.a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3.141592;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u.a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%d, </a:t>
                      </a:r>
                      <a:r>
                        <a:rPr lang="en-US" altLang="ko-KR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u.b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u.a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u.b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092" y="2252188"/>
            <a:ext cx="2895037" cy="65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45004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공용체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공용체의</a:t>
            </a:r>
            <a:r>
              <a:rPr lang="ko-KR" altLang="en-US" sz="2400" dirty="0"/>
              <a:t> 크기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84" y="1631814"/>
            <a:ext cx="5164444" cy="489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51031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 err="1">
                <a:solidFill>
                  <a:schemeClr val="tx1"/>
                </a:solidFill>
              </a:rPr>
              <a:t>공용체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9191" y="1771650"/>
            <a:ext cx="7924665" cy="3819525"/>
            <a:chOff x="615155" y="898523"/>
            <a:chExt cx="7924665" cy="3819525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898523"/>
              <a:ext cx="7924665" cy="3819525"/>
              <a:chOff x="683573" y="1646170"/>
              <a:chExt cx="7924665" cy="157612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646170"/>
                <a:ext cx="7920000" cy="15761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647056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12-5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916704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latin typeface="+mj-ea"/>
                  <a:ea typeface="+mj-ea"/>
                </a:rPr>
                <a:t>해시값</a:t>
              </a:r>
              <a:r>
                <a:rPr lang="ko-KR" altLang="en-US" sz="1600" b="1" dirty="0">
                  <a:latin typeface="+mj-ea"/>
                  <a:ea typeface="+mj-ea"/>
                </a:rPr>
                <a:t> 구하기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68460" y="1298067"/>
              <a:ext cx="7397419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해시 함수는 임의의 길이인 데이터를 고정된 길이의 데이터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해시값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)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로 </a:t>
              </a:r>
              <a:r>
                <a:rPr lang="ko-KR" altLang="en-US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매핑하는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함수입니다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4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글자의 아스키코드 문자열을 받아서 </a:t>
              </a:r>
              <a:r>
                <a:rPr lang="en-US" altLang="ko-KR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int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</a:t>
              </a:r>
              <a:r>
                <a:rPr lang="ko-KR" altLang="en-US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해시값을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도출하는 해시 함수를 만들어봅시다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60" y="3324225"/>
            <a:ext cx="7511130" cy="801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677" y="4466257"/>
            <a:ext cx="6440646" cy="611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92891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156224"/>
            <a:ext cx="7924665" cy="5235048"/>
            <a:chOff x="615155" y="1556274"/>
            <a:chExt cx="7924665" cy="5235048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4"/>
              <a:ext cx="7924665" cy="5235048"/>
              <a:chOff x="683573" y="1844824"/>
              <a:chExt cx="7924665" cy="154442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5444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12-5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303830211"/>
                </p:ext>
              </p:extLst>
            </p:nvPr>
          </p:nvGraphicFramePr>
          <p:xfrm>
            <a:off x="871407" y="2023571"/>
            <a:ext cx="7416825" cy="4681738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92942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06 </a:t>
                        </a:r>
                        <a:endParaRPr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union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[5];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hash;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HType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GetHash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const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*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HType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h;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= 0;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&lt; 4;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h.str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] =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];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h.str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[4] = 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'</a:t>
                        </a:r>
                        <a:r>
                          <a:rPr lang="en-U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\0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'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return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h.hash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419262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24680" y="1994424"/>
            <a:ext cx="7924665" cy="2510901"/>
            <a:chOff x="615155" y="1556274"/>
            <a:chExt cx="7924665" cy="2510901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556274"/>
              <a:ext cx="7924665" cy="2510901"/>
              <a:chOff x="683573" y="1844824"/>
              <a:chExt cx="7924665" cy="74075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7407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12-5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57117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483947009"/>
                </p:ext>
              </p:extLst>
            </p:nvPr>
          </p:nvGraphicFramePr>
          <p:xfrm>
            <a:off x="871407" y="2023571"/>
            <a:ext cx="7416825" cy="1919779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919779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"%s Hash: %d</a:t>
                        </a:r>
                        <a:r>
                          <a:rPr lang="en-U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"ABCD"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GetHash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"ABCD"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"%s Hash: %d"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"0123"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GetHash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"0123"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421151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 err="1"/>
              <a:t>열거체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79987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06. </a:t>
            </a:r>
            <a:r>
              <a:rPr lang="ko-KR" altLang="en-US" dirty="0" err="1">
                <a:solidFill>
                  <a:schemeClr val="tx1"/>
                </a:solidFill>
              </a:rPr>
              <a:t>열거체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 err="1"/>
              <a:t>열거체의</a:t>
            </a:r>
            <a:r>
              <a:rPr lang="ko-KR" altLang="en-US" sz="2400" dirty="0"/>
              <a:t>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식별 번호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프로그래밍에서 미리 정의된 선택 사항 중 하나를 고르는 경우 보통 식별 번호를 매칭하여 처리함</a:t>
            </a:r>
            <a:endParaRPr lang="en-US" altLang="ko-KR" dirty="0"/>
          </a:p>
        </p:txBody>
      </p:sp>
      <p:pic>
        <p:nvPicPr>
          <p:cNvPr id="9218" name="Picture 2" descr="C:\Users\변소현\Desktop\난생처음 C 언어 프로그래밍\그림\Ch12\그림 12-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754" y="2956100"/>
            <a:ext cx="2076405" cy="33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Users\변소현\Desktop\난생처음 C 언어 프로그래밍\그림\Ch12\표 12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427" y="3805525"/>
            <a:ext cx="3726295" cy="148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7695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06. </a:t>
            </a:r>
            <a:r>
              <a:rPr lang="ko-KR" altLang="en-US" dirty="0" err="1">
                <a:solidFill>
                  <a:schemeClr val="tx1"/>
                </a:solidFill>
              </a:rPr>
              <a:t>열거체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열거체의</a:t>
            </a:r>
            <a:r>
              <a:rPr lang="ko-KR" altLang="en-US" sz="2400" dirty="0"/>
              <a:t>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 err="1"/>
              <a:t>열거체의</a:t>
            </a:r>
            <a:r>
              <a:rPr lang="ko-KR" altLang="en-US" dirty="0"/>
              <a:t> 정의 형식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TagName</a:t>
            </a:r>
            <a:r>
              <a:rPr lang="en-US" altLang="ko-KR" dirty="0"/>
              <a:t> : </a:t>
            </a:r>
            <a:r>
              <a:rPr lang="ko-KR" altLang="en-US" dirty="0"/>
              <a:t>구조체나 </a:t>
            </a:r>
            <a:r>
              <a:rPr lang="ko-KR" altLang="en-US" dirty="0" err="1"/>
              <a:t>공용체의</a:t>
            </a:r>
            <a:r>
              <a:rPr lang="ko-KR" altLang="en-US" dirty="0"/>
              <a:t> 태그와 같은 역할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Name [=Value] : </a:t>
            </a:r>
            <a:r>
              <a:rPr lang="ko-KR" altLang="en-US" dirty="0"/>
              <a:t>선택 사항을 나타내기 위한 열거 이름에 부여되는 식별 번호</a:t>
            </a:r>
            <a:endParaRPr lang="en-US" altLang="ko-K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455" y="1971570"/>
            <a:ext cx="7037987" cy="2324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94466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06. </a:t>
            </a:r>
            <a:r>
              <a:rPr lang="ko-KR" altLang="en-US" dirty="0" err="1">
                <a:solidFill>
                  <a:schemeClr val="tx1"/>
                </a:solidFill>
              </a:rPr>
              <a:t>열거체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열거체의</a:t>
            </a:r>
            <a:r>
              <a:rPr lang="ko-KR" altLang="en-US" sz="2400" dirty="0"/>
              <a:t> 정의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82808" y="179070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-17]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태그 사용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열거체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731495575"/>
              </p:ext>
            </p:extLst>
          </p:nvPr>
        </p:nvGraphicFramePr>
        <p:xfrm>
          <a:off x="1172844" y="2131075"/>
          <a:ext cx="6779261" cy="391364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enum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CROPS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작물</a:t>
                      </a:r>
                      <a:endParaRPr lang="en-US" altLang="ko-KR" b="1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Rice,    </a:t>
                      </a:r>
                      <a:r>
                        <a:rPr lang="en-US" altLang="ko-KR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쌀</a:t>
                      </a:r>
                      <a:endParaRPr lang="en-US" altLang="ko-KR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Wheat,   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밀</a:t>
                      </a:r>
                      <a:endParaRPr lang="en-US" altLang="ko-KR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Corn     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옥수수</a:t>
                      </a:r>
                      <a:endParaRPr lang="en-US" altLang="ko-KR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"Rice: %d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Rice);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"Wheat: %d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Wheat);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"Corn: %d"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Corn);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184" y="2149472"/>
            <a:ext cx="1910697" cy="110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29548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06. </a:t>
            </a:r>
            <a:r>
              <a:rPr lang="ko-KR" altLang="en-US" dirty="0" err="1">
                <a:solidFill>
                  <a:schemeClr val="tx1"/>
                </a:solidFill>
              </a:rPr>
              <a:t>열거체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ko-KR" altLang="en-US" sz="2400" dirty="0" err="1"/>
              <a:t>열거체의</a:t>
            </a:r>
            <a:r>
              <a:rPr lang="ko-KR" altLang="en-US" sz="2400" dirty="0"/>
              <a:t> 변수의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코드의 명확성을 높이기 위해 </a:t>
            </a:r>
            <a:r>
              <a:rPr lang="ko-KR" altLang="en-US" dirty="0" err="1"/>
              <a:t>열거체</a:t>
            </a:r>
            <a:r>
              <a:rPr lang="ko-KR" altLang="en-US" dirty="0"/>
              <a:t> 변수를 사용함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B0060BB-CA5C-4459-910F-B10E83B3F175}"/>
              </a:ext>
            </a:extLst>
          </p:cNvPr>
          <p:cNvGrpSpPr/>
          <p:nvPr/>
        </p:nvGrpSpPr>
        <p:grpSpPr>
          <a:xfrm>
            <a:off x="1082808" y="2118383"/>
            <a:ext cx="6869297" cy="4218774"/>
            <a:chOff x="1082808" y="2072663"/>
            <a:chExt cx="6869297" cy="4218774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072663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-18] </a:t>
              </a:r>
              <a:r>
                <a:rPr lang="ko-KR" altLang="en-US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열거체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변수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685917943"/>
                </p:ext>
              </p:extLst>
            </p:nvPr>
          </p:nvGraphicFramePr>
          <p:xfrm>
            <a:off x="1172844" y="2413037"/>
            <a:ext cx="6779261" cy="387840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enum</a:t>
                        </a:r>
                        <a:r>
                          <a:rPr lang="ko-KR" altLang="en-US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CROPS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ko-KR" altLang="en-US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작물</a:t>
                        </a:r>
                        <a:endParaRPr lang="en-US" altLang="ko-KR" sz="13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Rice,    </a:t>
                        </a:r>
                        <a:r>
                          <a:rPr lang="en-US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쌀</a:t>
                        </a:r>
                        <a:endParaRPr lang="en-US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Wheat, 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밀</a:t>
                        </a:r>
                        <a:endParaRPr lang="en-US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Corn   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옥수수</a:t>
                        </a:r>
                        <a:endParaRPr lang="en-US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enum</a:t>
                        </a:r>
                        <a:r>
                          <a:rPr lang="ko-KR" altLang="en-US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CROPS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c1 = Rice;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c2 = Wheat;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"c1: %d, c2: %d"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c1, c2);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1229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045" y="2549353"/>
              <a:ext cx="1629484" cy="614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779943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06. </a:t>
            </a:r>
            <a:r>
              <a:rPr lang="ko-KR" altLang="en-US" dirty="0" err="1">
                <a:solidFill>
                  <a:schemeClr val="tx1"/>
                </a:solidFill>
              </a:rPr>
              <a:t>열거체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ko-KR" altLang="en-US" sz="2400" dirty="0" err="1"/>
              <a:t>열거체의</a:t>
            </a:r>
            <a:r>
              <a:rPr lang="ko-KR" altLang="en-US" sz="2400" dirty="0"/>
              <a:t> 변수의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코드의 명확성을 높이기 위해 </a:t>
            </a:r>
            <a:r>
              <a:rPr lang="ko-KR" altLang="en-US" dirty="0" err="1"/>
              <a:t>열거체</a:t>
            </a:r>
            <a:r>
              <a:rPr lang="ko-KR" altLang="en-US" dirty="0"/>
              <a:t> 변수 사용함</a:t>
            </a:r>
            <a:endParaRPr lang="en-US" altLang="ko-KR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1082808" y="2072663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-19]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typedef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열거체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정의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560644343"/>
              </p:ext>
            </p:extLst>
          </p:nvPr>
        </p:nvGraphicFramePr>
        <p:xfrm>
          <a:off x="1172844" y="2413037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e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num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Rice,    </a:t>
                      </a:r>
                      <a:r>
                        <a:rPr lang="en-US" altLang="ko-KR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쌀</a:t>
                      </a:r>
                      <a:endParaRPr lang="en-US" altLang="ko-KR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Wheat,   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밀</a:t>
                      </a:r>
                      <a:endParaRPr lang="en-US" altLang="ko-KR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Corn     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옥수수</a:t>
                      </a:r>
                      <a:endParaRPr lang="en-US" altLang="ko-KR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r>
                        <a:rPr lang="en-US" altLang="ko-KR" b="1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 CROPS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   CROPS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c1 = Corn;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CROPS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c2;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c2 = Wheat;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4458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06. </a:t>
            </a:r>
            <a:r>
              <a:rPr lang="ko-KR" altLang="en-US" dirty="0" err="1">
                <a:solidFill>
                  <a:schemeClr val="tx1"/>
                </a:solidFill>
              </a:rPr>
              <a:t>열거체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4"/>
            </a:pPr>
            <a:r>
              <a:rPr lang="ko-KR" altLang="en-US" sz="2400" dirty="0"/>
              <a:t>식별 번호의 활용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 err="1"/>
              <a:t>열거체</a:t>
            </a:r>
            <a:r>
              <a:rPr lang="ko-KR" altLang="en-US" dirty="0"/>
              <a:t> 변수와 열거 이름은 </a:t>
            </a:r>
            <a:r>
              <a:rPr lang="ko-KR" altLang="en-US" dirty="0" err="1"/>
              <a:t>조건식으로서</a:t>
            </a:r>
            <a:r>
              <a:rPr lang="ko-KR" altLang="en-US" dirty="0"/>
              <a:t> 사용될 수 있음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4A1DEB2-CB47-46ED-9475-152D8C826ED4}"/>
              </a:ext>
            </a:extLst>
          </p:cNvPr>
          <p:cNvGrpSpPr/>
          <p:nvPr/>
        </p:nvGrpSpPr>
        <p:grpSpPr>
          <a:xfrm>
            <a:off x="1082808" y="2154959"/>
            <a:ext cx="7778816" cy="4218774"/>
            <a:chOff x="1082808" y="2072663"/>
            <a:chExt cx="7778816" cy="4218774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072663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12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-20] </a:t>
              </a:r>
              <a:r>
                <a:rPr lang="ko-KR" altLang="en-US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조건식으로서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식별 번호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952065265"/>
                </p:ext>
              </p:extLst>
            </p:nvPr>
          </p:nvGraphicFramePr>
          <p:xfrm>
            <a:off x="1172844" y="2413037"/>
            <a:ext cx="6779261" cy="387840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83051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93192">
                    <a:extLst>
                      <a:ext uri="{9D8B030D-6E8A-4147-A177-3AD203B41FA5}">
                        <a16:colId xmlns:a16="http://schemas.microsoft.com/office/drawing/2014/main" val="2231365477"/>
                      </a:ext>
                    </a:extLst>
                  </a:gridCol>
                  <a:gridCol w="3160649">
                    <a:extLst>
                      <a:ext uri="{9D8B030D-6E8A-4147-A177-3AD203B41FA5}">
                        <a16:colId xmlns:a16="http://schemas.microsoft.com/office/drawing/2014/main" val="2730795380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enum</a:t>
                        </a:r>
                        <a:endParaRPr lang="en-US" altLang="ko-KR" sz="13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Rice,    </a:t>
                        </a:r>
                        <a:r>
                          <a:rPr lang="en-US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쌀</a:t>
                        </a:r>
                        <a:endParaRPr lang="en-US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Wheat, 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밀</a:t>
                        </a:r>
                        <a:endParaRPr lang="en-US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Corn     </a:t>
                        </a:r>
                        <a:r>
                          <a:rPr lang="en-US" altLang="ko-KR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</a:t>
                        </a:r>
                        <a:r>
                          <a:rPr lang="ko-KR" altLang="en-US" sz="1300" b="1" baseline="0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옥수수</a:t>
                        </a:r>
                        <a:endParaRPr lang="en-US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 </a:t>
                        </a:r>
                        <a:r>
                          <a:rPr lang="en-US" altLang="ko-KR" sz="1300" b="1" dirty="0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CROPS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>
                            <a:solidFill>
                              <a:srgbClr val="05E1AD"/>
                            </a:solidFill>
                            <a:latin typeface="Consolas" panose="020B0609020204030204" pitchFamily="49" charset="0"/>
                          </a:rPr>
                          <a:t>CROPS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c = Corn;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(c == Rice)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"Rice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29</a:t>
                        </a: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(c &gt; Wheat)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"Corn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switch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(c)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case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Rice: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"Rice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");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case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Wheat: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"Wheat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case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Corn: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"Corn</a:t>
                        </a:r>
                        <a:r>
                          <a:rPr lang="en-U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1535E453-F538-4EDF-A67F-9464FD8404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7" t="4887" b="6441"/>
            <a:stretch/>
          </p:blipFill>
          <p:spPr bwMode="auto">
            <a:xfrm>
              <a:off x="6775704" y="5294375"/>
              <a:ext cx="2085920" cy="914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199034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06. </a:t>
            </a:r>
            <a:r>
              <a:rPr lang="ko-KR" altLang="en-US" dirty="0" err="1">
                <a:solidFill>
                  <a:schemeClr val="tx1"/>
                </a:solidFill>
              </a:rPr>
              <a:t>열거체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4"/>
            </a:pPr>
            <a:r>
              <a:rPr lang="ko-KR" altLang="en-US" sz="2400" dirty="0"/>
              <a:t>식별 번호의 활용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54233" y="1682138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-21]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식별 번호 부여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4000785088"/>
              </p:ext>
            </p:extLst>
          </p:nvPr>
        </p:nvGraphicFramePr>
        <p:xfrm>
          <a:off x="1144269" y="2022512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enum</a:t>
                      </a:r>
                      <a:endParaRPr lang="en-US" altLang="ko-KR" b="1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Rice,    </a:t>
                      </a:r>
                      <a:r>
                        <a:rPr lang="en-US" altLang="ko-KR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ko-KR" altLang="en-US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쌀</a:t>
                      </a:r>
                      <a:endParaRPr lang="en-US" altLang="ko-KR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Wheat,   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밀</a:t>
                      </a:r>
                      <a:endParaRPr lang="en-US" altLang="ko-KR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Corn     </a:t>
                      </a:r>
                      <a:r>
                        <a:rPr lang="en-US" altLang="ko-KR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옥수수</a:t>
                      </a:r>
                      <a:endParaRPr lang="en-US" altLang="ko-KR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ko-KR" b="1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CROPS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"Rice:%d, Wheat: %d, Corn:%d"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Rice, Wheat, Corn);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33" y="5500212"/>
            <a:ext cx="7048930" cy="54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86971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06. </a:t>
            </a:r>
            <a:r>
              <a:rPr lang="ko-KR" altLang="en-US" dirty="0" err="1">
                <a:solidFill>
                  <a:schemeClr val="tx1"/>
                </a:solidFill>
              </a:rPr>
              <a:t>열거체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402949" y="1055984"/>
            <a:ext cx="6226576" cy="5620561"/>
            <a:chOff x="1307699" y="1113134"/>
            <a:chExt cx="6458010" cy="5829470"/>
          </a:xfrm>
        </p:grpSpPr>
        <p:pic>
          <p:nvPicPr>
            <p:cNvPr id="1536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699" y="1113134"/>
              <a:ext cx="6414301" cy="2440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8292" y="3668246"/>
              <a:ext cx="6387417" cy="327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42256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06. </a:t>
            </a:r>
            <a:r>
              <a:rPr lang="ko-KR" altLang="en-US" dirty="0" err="1">
                <a:solidFill>
                  <a:schemeClr val="tx1"/>
                </a:solidFill>
              </a:rPr>
              <a:t>열거체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9191" y="1771650"/>
            <a:ext cx="7924665" cy="3171826"/>
            <a:chOff x="615155" y="898523"/>
            <a:chExt cx="7924665" cy="3171826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898523"/>
              <a:ext cx="7924665" cy="3171826"/>
              <a:chOff x="683573" y="1646170"/>
              <a:chExt cx="7924665" cy="1308849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646170"/>
                <a:ext cx="7920000" cy="13088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647056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12-6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916704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패스트푸드 메뉴 주문하기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68460" y="1298067"/>
              <a:ext cx="7397419" cy="7461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햄버거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피자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치킨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스파게티 메뉴 중의 하나를 주문하는 함수 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Order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를 작성해봅시다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Order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함수로 주문한 메뉴를 출력해봅시다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199" y="3127278"/>
            <a:ext cx="5824014" cy="565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274" y="3844064"/>
            <a:ext cx="5480514" cy="830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97534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624680" y="1213374"/>
            <a:ext cx="7924665" cy="4758802"/>
            <a:chOff x="624680" y="1156224"/>
            <a:chExt cx="7924665" cy="4758802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24680" y="1156224"/>
              <a:ext cx="7924665" cy="4758802"/>
              <a:chOff x="683573" y="1844824"/>
              <a:chExt cx="7924665" cy="1403921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4039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12-6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36408" y="117112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</p:grp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3941562645"/>
              </p:ext>
            </p:extLst>
          </p:nvPr>
        </p:nvGraphicFramePr>
        <p:xfrm>
          <a:off x="880932" y="1680671"/>
          <a:ext cx="7416825" cy="416967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94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enum</a:t>
                      </a:r>
                      <a:endParaRPr lang="en-US" altLang="ko-KR" b="1" baseline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HAMBURGER,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PIZZA,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CHICKEN,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SPAGHETTI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ko-KR" b="1" baseline="0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Menu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Order(</a:t>
                      </a:r>
                      <a:r>
                        <a:rPr lang="en-US" altLang="ko-KR" b="1" baseline="0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Menu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switch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(m)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HAMBURGER: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"Hamburger"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6069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구조체 인자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624680" y="1213373"/>
            <a:ext cx="7924665" cy="4025376"/>
            <a:chOff x="624680" y="1156223"/>
            <a:chExt cx="7924665" cy="4025376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24680" y="1156223"/>
              <a:ext cx="7924665" cy="4025376"/>
              <a:chOff x="683573" y="1844824"/>
              <a:chExt cx="7924665" cy="1187549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4"/>
                <a:ext cx="7920000" cy="11875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0427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US" altLang="ko-KR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12-6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36408" y="1171126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</p:grp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702086090"/>
              </p:ext>
            </p:extLst>
          </p:nvPr>
        </p:nvGraphicFramePr>
        <p:xfrm>
          <a:off x="880932" y="1680671"/>
          <a:ext cx="7416825" cy="340157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94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PIZZA: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"Pizza"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CHICKEN: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"Chicken"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case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SPAGHETTI: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"Spaghetti"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altLang="ko-KR" b="1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Order(HAMBURGER);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7280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>
                <a:solidFill>
                  <a:schemeClr val="accent4"/>
                </a:solidFill>
              </a:rPr>
              <a:t>인구 조사 프로그램 완성하기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인구 조사 프로그램 완성하기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7" y="938336"/>
            <a:ext cx="8639498" cy="135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600" dirty="0">
                <a:solidFill>
                  <a:srgbClr val="7030A0"/>
                </a:solidFill>
              </a:rPr>
              <a:t>[</a:t>
            </a:r>
            <a:r>
              <a:rPr lang="ko-KR" altLang="en-US" sz="1600" dirty="0">
                <a:solidFill>
                  <a:srgbClr val="7030A0"/>
                </a:solidFill>
              </a:rPr>
              <a:t>문제</a:t>
            </a:r>
            <a:r>
              <a:rPr lang="en-US" altLang="ko-KR" sz="16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None/>
            </a:pPr>
            <a:r>
              <a:rPr lang="ko-KR" altLang="en-US" sz="1600" dirty="0"/>
              <a:t>개인 정보를 입력하면 평균 나이와 평균 </a:t>
            </a:r>
            <a:r>
              <a:rPr lang="ko-KR" altLang="en-US" sz="1600" dirty="0" err="1"/>
              <a:t>연소득까지</a:t>
            </a:r>
            <a:r>
              <a:rPr lang="ko-KR" altLang="en-US" sz="1600" dirty="0"/>
              <a:t> 통계를 내도록 앞의 </a:t>
            </a:r>
            <a:r>
              <a:rPr lang="en-US" altLang="ko-KR" sz="1600" dirty="0"/>
              <a:t>[LAB 12-1]</a:t>
            </a:r>
            <a:r>
              <a:rPr lang="ko-KR" altLang="en-US" sz="1600" dirty="0"/>
              <a:t>에서 </a:t>
            </a:r>
            <a:r>
              <a:rPr lang="en-US" altLang="ko-KR" sz="1600" dirty="0"/>
              <a:t>[LAB 12-4]</a:t>
            </a:r>
            <a:r>
              <a:rPr lang="ko-KR" altLang="en-US" sz="1600" dirty="0"/>
              <a:t>까지 작성한 인구 조사 프로그램을 마무리해봅시다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r>
              <a:rPr lang="ko-KR" altLang="en-US" sz="1600" dirty="0"/>
              <a:t>개인 정보 입력은 </a:t>
            </a:r>
            <a:r>
              <a:rPr lang="en-US" altLang="ko-KR" sz="1600" dirty="0"/>
              <a:t>1</a:t>
            </a:r>
            <a:r>
              <a:rPr lang="ko-KR" altLang="en-US" sz="1600" dirty="0"/>
              <a:t>번</a:t>
            </a:r>
            <a:r>
              <a:rPr lang="en-US" altLang="ko-KR" sz="1600" dirty="0"/>
              <a:t>, </a:t>
            </a:r>
            <a:r>
              <a:rPr lang="ko-KR" altLang="en-US" sz="1600" dirty="0"/>
              <a:t>통계 출력은 </a:t>
            </a:r>
            <a:r>
              <a:rPr lang="en-US" altLang="ko-KR" sz="1600" dirty="0"/>
              <a:t>2</a:t>
            </a:r>
            <a:r>
              <a:rPr lang="ko-KR" altLang="en-US" sz="1600" dirty="0"/>
              <a:t>번으로 </a:t>
            </a:r>
            <a:r>
              <a:rPr lang="ko-KR" altLang="en-US" sz="1600" dirty="0" err="1"/>
              <a:t>입력받은</a:t>
            </a:r>
            <a:r>
              <a:rPr lang="ko-KR" altLang="en-US" sz="1600" dirty="0"/>
              <a:t> 후 나이와 연소득의 평균을 출력합니다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개인 정보 구조체에서 성별을 나타내는 것은 </a:t>
            </a:r>
            <a:r>
              <a:rPr lang="ko-KR" altLang="en-US" sz="1600" dirty="0" err="1"/>
              <a:t>열거체를</a:t>
            </a:r>
            <a:r>
              <a:rPr lang="ko-KR" altLang="en-US" sz="1600" dirty="0"/>
              <a:t> 사용합시다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537" y="2883880"/>
            <a:ext cx="6316625" cy="3585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인구 조사 프로그램 완성하기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23528" y="1255225"/>
            <a:ext cx="8363272" cy="57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 err="1"/>
              <a:t>열거체</a:t>
            </a:r>
            <a:r>
              <a:rPr lang="ko-KR" altLang="en-US" sz="1800" dirty="0"/>
              <a:t> </a:t>
            </a:r>
            <a:r>
              <a:rPr lang="en-US" altLang="ko-KR" sz="1800" dirty="0"/>
              <a:t>Gender</a:t>
            </a:r>
            <a:r>
              <a:rPr lang="ko-KR" altLang="en-US" sz="1800" dirty="0"/>
              <a:t>를 정의하고</a:t>
            </a:r>
            <a:r>
              <a:rPr lang="en-US" altLang="ko-KR" sz="1800" dirty="0"/>
              <a:t>, </a:t>
            </a:r>
            <a:r>
              <a:rPr lang="ko-KR" altLang="en-US" sz="1800" dirty="0"/>
              <a:t>구조체 </a:t>
            </a:r>
            <a:r>
              <a:rPr lang="en-US" altLang="ko-KR" sz="1800" dirty="0" err="1"/>
              <a:t>PersonInfo</a:t>
            </a:r>
            <a:r>
              <a:rPr lang="ko-KR" altLang="en-US" sz="1800" dirty="0"/>
              <a:t>의 멤버 타입으로 사용한다</a:t>
            </a:r>
            <a:r>
              <a:rPr lang="en-US" altLang="ko-KR" sz="1800" dirty="0"/>
              <a:t>.</a:t>
            </a: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endParaRPr lang="en-US" altLang="ko-KR" sz="16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en-US" altLang="ko-KR" sz="1800" dirty="0"/>
              <a:t>Gender</a:t>
            </a:r>
            <a:r>
              <a:rPr lang="ko-KR" altLang="en-US" sz="1800" dirty="0"/>
              <a:t>는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ko-KR" altLang="en-US" sz="1800" dirty="0"/>
              <a:t>타입이므로 </a:t>
            </a:r>
            <a:r>
              <a:rPr lang="en-US" altLang="ko-KR" sz="1800" dirty="0" err="1"/>
              <a:t>scanf</a:t>
            </a:r>
            <a:r>
              <a:rPr lang="ko-KR" altLang="en-US" sz="1800" dirty="0"/>
              <a:t>로 </a:t>
            </a:r>
            <a:r>
              <a:rPr lang="ko-KR" altLang="en-US" sz="1800" dirty="0" err="1"/>
              <a:t>형식지정자</a:t>
            </a:r>
            <a:r>
              <a:rPr lang="ko-KR" altLang="en-US" sz="1800" dirty="0"/>
              <a:t> </a:t>
            </a:r>
            <a:r>
              <a:rPr lang="en-US" altLang="ko-KR" sz="1800" dirty="0"/>
              <a:t>%d</a:t>
            </a:r>
            <a:r>
              <a:rPr lang="ko-KR" altLang="en-US" sz="1800" dirty="0"/>
              <a:t>를 사용한다</a:t>
            </a:r>
            <a:r>
              <a:rPr lang="en-US" altLang="ko-KR" sz="1800" dirty="0"/>
              <a:t>.</a:t>
            </a: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endParaRPr lang="en-US" altLang="ko-KR" sz="18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 err="1"/>
              <a:t>그동안</a:t>
            </a:r>
            <a:r>
              <a:rPr lang="ko-KR" altLang="en-US" sz="1800" dirty="0"/>
              <a:t> 입력된 개인 정보의 평균</a:t>
            </a:r>
            <a:r>
              <a:rPr lang="en-US" altLang="ko-KR" sz="1800" dirty="0"/>
              <a:t>(</a:t>
            </a:r>
            <a:r>
              <a:rPr lang="ko-KR" altLang="en-US" sz="1800" dirty="0"/>
              <a:t>나이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연소득</a:t>
            </a:r>
            <a:r>
              <a:rPr lang="en-US" altLang="ko-KR" sz="1800" dirty="0"/>
              <a:t>)</a:t>
            </a:r>
            <a:r>
              <a:rPr lang="ko-KR" altLang="en-US" sz="1800" dirty="0"/>
              <a:t>을 계산하여 출력한다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7431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인구 조사 프로그램 완성하기</a:t>
            </a:r>
            <a:endParaRPr sz="28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47861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601864909"/>
              </p:ext>
            </p:extLst>
          </p:nvPr>
        </p:nvGraphicFramePr>
        <p:xfrm>
          <a:off x="882798" y="1495425"/>
          <a:ext cx="7416825" cy="482937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sz="13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malloc.h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nn-NO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enum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MALE = 1,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FEMALE = 2</a:t>
                      </a: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ko-KR" sz="1300" baseline="0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Gender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nn-NO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serial</a:t>
                      </a:r>
                      <a:r>
                        <a:rPr lang="nn-NO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nn-NO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일련번호</a:t>
                      </a:r>
                      <a:endParaRPr lang="en-US" altLang="ko-KR" sz="1300" b="1" baseline="0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enabled;  </a:t>
                      </a:r>
                      <a:r>
                        <a:rPr lang="en-US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활성화</a:t>
                      </a:r>
                      <a:endParaRPr lang="nn-NO" altLang="ko-KR" sz="1300" b="1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Gender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gender; </a:t>
                      </a:r>
                      <a:r>
                        <a:rPr lang="nn-NO" altLang="ko-KR" sz="13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nn-NO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MALE:</a:t>
                      </a:r>
                      <a:r>
                        <a:rPr lang="ko-KR" altLang="en-US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남성</a:t>
                      </a:r>
                      <a:r>
                        <a:rPr lang="en-US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ko-KR" altLang="en-US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FEMALE:</a:t>
                      </a:r>
                      <a:r>
                        <a:rPr lang="ko-KR" altLang="en-US" sz="1300" b="1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여성</a:t>
                      </a:r>
                      <a:endParaRPr lang="nn-NO" altLang="ko-KR" sz="1300" b="1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name[9];  </a:t>
                      </a:r>
                      <a:r>
                        <a:rPr lang="nn-NO" altLang="ko-KR" sz="13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ko-KR" altLang="en-US" sz="13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한글 </a:t>
                      </a:r>
                      <a:r>
                        <a:rPr lang="en-US" altLang="ko-KR" sz="13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  <a:r>
                        <a:rPr lang="ko-KR" altLang="en-US" sz="1300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자까지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nn-NO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age;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nn-NO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salary;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nn-NO" altLang="ko-KR" sz="1300" b="1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PersonInfo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nn-NO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인구 조사 프로그램 완성하기</a:t>
            </a:r>
            <a:endParaRPr sz="28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47861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43173447"/>
              </p:ext>
            </p:extLst>
          </p:nvPr>
        </p:nvGraphicFramePr>
        <p:xfrm>
          <a:off x="882798" y="1458849"/>
          <a:ext cx="7416825" cy="530486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37383940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41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42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="1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PersonInfo</a:t>
                      </a:r>
                      <a:r>
                        <a:rPr lang="nn-NO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** g_pPI;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g_PIIndex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g_PISize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4;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g_Serial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Register(</a:t>
                      </a:r>
                      <a:r>
                        <a:rPr lang="en-US" altLang="ko-KR" sz="1300" b="1" baseline="0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PersonInfo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pPerson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   if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(!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g_pPI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g_pPI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malloc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PersonInfo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*) *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g_PISize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pPerson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-&gt;serial =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g_Serial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pPerson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-&gt;enabled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g_PIIndex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&gt;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g_PISize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g_PISize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+= 4;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g_pPI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realloc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g_pPI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PersonInfo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*) *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g_PISize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g_pPI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g_PIIndex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++] =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pPerson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4284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인구 조사 프로그램 완성하기</a:t>
            </a:r>
            <a:endParaRPr sz="28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47861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865325832"/>
              </p:ext>
            </p:extLst>
          </p:nvPr>
        </p:nvGraphicFramePr>
        <p:xfrm>
          <a:off x="882798" y="1495425"/>
          <a:ext cx="7416825" cy="50671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43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44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45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46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47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48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49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59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60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61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6263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ShowStatistics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TotalAge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0,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TotalSalary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sz="1300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nn-NO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i = 0; i &lt; g_PIIndex; i++)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TotalAge += g_pPI[i]-&gt;age;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TotalSalary += g_pPI[i]-&gt;salary;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printf(</a:t>
                      </a:r>
                      <a:r>
                        <a:rPr lang="nn-NO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평균나이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</a:t>
                      </a:r>
                      <a:r>
                        <a:rPr lang="nn-NO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f\r\n"</a:t>
                      </a: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(</a:t>
                      </a:r>
                      <a:r>
                        <a:rPr lang="nn-NO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)TotalAge / g_PIIndex);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printf(</a:t>
                      </a:r>
                      <a:r>
                        <a:rPr lang="nn-NO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평균연소득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</a:t>
                      </a:r>
                      <a:r>
                        <a:rPr lang="nn-NO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f"</a:t>
                      </a: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(</a:t>
                      </a:r>
                      <a:r>
                        <a:rPr lang="nn-NO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)TotalSalary / g_PIIndex);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sz="1300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 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menu;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do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"1: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개인 정보 입력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, 2: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통계 처리 중 선택하세요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&amp;menu);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9960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800" dirty="0">
                <a:solidFill>
                  <a:schemeClr val="accent4"/>
                </a:solidFill>
              </a:rPr>
              <a:t>[</a:t>
            </a:r>
            <a:r>
              <a:rPr lang="ko-KR" altLang="en-US" sz="2800" dirty="0">
                <a:solidFill>
                  <a:schemeClr val="accent4"/>
                </a:solidFill>
              </a:rPr>
              <a:t>실전예제</a:t>
            </a:r>
            <a:r>
              <a:rPr lang="en-US" altLang="ko-KR" sz="2800" dirty="0">
                <a:solidFill>
                  <a:schemeClr val="accent4"/>
                </a:solidFill>
              </a:rPr>
              <a:t>] </a:t>
            </a:r>
            <a:r>
              <a:rPr lang="ko-KR" altLang="en-US" sz="2800" dirty="0">
                <a:solidFill>
                  <a:schemeClr val="tx1"/>
                </a:solidFill>
              </a:rPr>
              <a:t>인구 조사 프로그램 완성하기</a:t>
            </a:r>
            <a:endParaRPr sz="28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801557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18143527"/>
              </p:ext>
            </p:extLst>
          </p:nvPr>
        </p:nvGraphicFramePr>
        <p:xfrm>
          <a:off x="882798" y="1239393"/>
          <a:ext cx="7416825" cy="554260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64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65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66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67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68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69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79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80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81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82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83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84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85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86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(menu == 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PersonInfo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p =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malloc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 err="1">
                          <a:solidFill>
                            <a:srgbClr val="05E1AD"/>
                          </a:solidFill>
                          <a:latin typeface="Consolas" panose="020B0609020204030204" pitchFamily="49" charset="0"/>
                        </a:rPr>
                        <a:t>PersonInfo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성별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(1: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남성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, 2: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여성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을 입력하세요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&amp;p-&gt;gender);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이름을 입력하세요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p-&gt;name);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나이를 입력하세요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&amp;p-&gt;age);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연소득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만원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을 입력하세요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&amp;p-&gt;salary);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Register(p);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(menu ==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ShowStatistics</a:t>
                      </a: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7006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4127</TotalTime>
  <Words>4869</Words>
  <Application>Microsoft Office PowerPoint</Application>
  <PresentationFormat>화면 슬라이드 쇼(4:3)</PresentationFormat>
  <Paragraphs>1468</Paragraphs>
  <Slides>78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78</vt:i4>
      </vt:variant>
    </vt:vector>
  </HeadingPairs>
  <TitlesOfParts>
    <vt:vector size="85" baseType="lpstr">
      <vt:lpstr>Noto Sans Symbols</vt:lpstr>
      <vt:lpstr>Malgun Gothic</vt:lpstr>
      <vt:lpstr>Malgun Gothic</vt:lpstr>
      <vt:lpstr>Arial</vt:lpstr>
      <vt:lpstr>Consolas</vt:lpstr>
      <vt:lpstr>Verdana</vt:lpstr>
      <vt:lpstr>Office 테마</vt:lpstr>
      <vt:lpstr>Chapter 12. 구조체</vt:lpstr>
      <vt:lpstr>PowerPoint 프레젠테이션</vt:lpstr>
      <vt:lpstr>PowerPoint 프레젠테이션</vt:lpstr>
      <vt:lpstr>PowerPoint 프레젠테이션</vt:lpstr>
      <vt:lpstr>01. 구조체란?</vt:lpstr>
      <vt:lpstr>01. 구조체란?</vt:lpstr>
      <vt:lpstr>01. 구조체란?</vt:lpstr>
      <vt:lpstr>01. 구조체란?</vt:lpstr>
      <vt:lpstr>01. 구조체란?</vt:lpstr>
      <vt:lpstr>01. 구조체란?</vt:lpstr>
      <vt:lpstr>01. 구조체란?</vt:lpstr>
      <vt:lpstr>01. 구조체란?</vt:lpstr>
      <vt:lpstr>01. 구조체란?</vt:lpstr>
      <vt:lpstr>01. 구조체란?</vt:lpstr>
      <vt:lpstr>PowerPoint 프레젠테이션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구조체 연산자</vt:lpstr>
      <vt:lpstr>02. 포인터와 함수</vt:lpstr>
      <vt:lpstr>PowerPoint 프레젠테이션</vt:lpstr>
      <vt:lpstr>03. 구조체 인자</vt:lpstr>
      <vt:lpstr>03. 구조체 인자</vt:lpstr>
      <vt:lpstr>03. 구조체 인자</vt:lpstr>
      <vt:lpstr>03. 구조체 인자</vt:lpstr>
      <vt:lpstr>03. 구조체 인자</vt:lpstr>
      <vt:lpstr>03. 구조체 인자</vt:lpstr>
      <vt:lpstr>03. 구조체 인자</vt:lpstr>
      <vt:lpstr>PowerPoint 프레젠테이션</vt:lpstr>
      <vt:lpstr>04. 구조체 메모리 구조</vt:lpstr>
      <vt:lpstr>04. 구조체 메모리 구조</vt:lpstr>
      <vt:lpstr>04. 구조체 메모리 구조</vt:lpstr>
      <vt:lpstr>04. 구조체 메모리 구조</vt:lpstr>
      <vt:lpstr>04. 구조체 메모리 구조</vt:lpstr>
      <vt:lpstr>04. 구조체 메모리 구조</vt:lpstr>
      <vt:lpstr>03. 구조체 인자</vt:lpstr>
      <vt:lpstr>03. 구조체 인자</vt:lpstr>
      <vt:lpstr>PowerPoint 프레젠테이션</vt:lpstr>
      <vt:lpstr>05. 공용체</vt:lpstr>
      <vt:lpstr>05. 공용체</vt:lpstr>
      <vt:lpstr>05. 공용체</vt:lpstr>
      <vt:lpstr>05. 공용체</vt:lpstr>
      <vt:lpstr>05. 공용체</vt:lpstr>
      <vt:lpstr>05. 공용체</vt:lpstr>
      <vt:lpstr>05. 공용체</vt:lpstr>
      <vt:lpstr>05. 공용체</vt:lpstr>
      <vt:lpstr>03. 구조체 인자</vt:lpstr>
      <vt:lpstr>03. 구조체 인자</vt:lpstr>
      <vt:lpstr>PowerPoint 프레젠테이션</vt:lpstr>
      <vt:lpstr>06. 열거체</vt:lpstr>
      <vt:lpstr>06. 열거체</vt:lpstr>
      <vt:lpstr>06. 열거체</vt:lpstr>
      <vt:lpstr>06. 열거체</vt:lpstr>
      <vt:lpstr>06. 열거체</vt:lpstr>
      <vt:lpstr>06. 열거체</vt:lpstr>
      <vt:lpstr>06. 열거체</vt:lpstr>
      <vt:lpstr>06. 열거체</vt:lpstr>
      <vt:lpstr>06. 열거체</vt:lpstr>
      <vt:lpstr>03. 구조체 인자</vt:lpstr>
      <vt:lpstr>03. 구조체 인자</vt:lpstr>
      <vt:lpstr>PowerPoint 프레젠테이션</vt:lpstr>
      <vt:lpstr>[실전예제] 인구 조사 프로그램 완성하기</vt:lpstr>
      <vt:lpstr>[실전예제] 인구 조사 프로그램 완성하기</vt:lpstr>
      <vt:lpstr>[실전예제] 인구 조사 프로그램 완성하기</vt:lpstr>
      <vt:lpstr>[실전예제] 인구 조사 프로그램 완성하기</vt:lpstr>
      <vt:lpstr>[실전예제] 인구 조사 프로그램 완성하기</vt:lpstr>
      <vt:lpstr>[실전예제] 인구 조사 프로그램 완성하기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317</cp:revision>
  <dcterms:created xsi:type="dcterms:W3CDTF">2012-07-11T10:23:22Z</dcterms:created>
  <dcterms:modified xsi:type="dcterms:W3CDTF">2022-02-21T08:33:33Z</dcterms:modified>
</cp:coreProperties>
</file>